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25"/>
  </p:notesMasterIdLst>
  <p:sldIdLst>
    <p:sldId id="256" r:id="rId5"/>
    <p:sldId id="259" r:id="rId6"/>
    <p:sldId id="2147471103" r:id="rId7"/>
    <p:sldId id="2147471110" r:id="rId8"/>
    <p:sldId id="2147471105" r:id="rId9"/>
    <p:sldId id="2147471116" r:id="rId10"/>
    <p:sldId id="2147471106" r:id="rId11"/>
    <p:sldId id="2147471107" r:id="rId12"/>
    <p:sldId id="2147471108" r:id="rId13"/>
    <p:sldId id="2147471109" r:id="rId14"/>
    <p:sldId id="2147471112" r:id="rId15"/>
    <p:sldId id="2147471113" r:id="rId16"/>
    <p:sldId id="2147471122" r:id="rId17"/>
    <p:sldId id="2147471114" r:id="rId18"/>
    <p:sldId id="2147471111" r:id="rId19"/>
    <p:sldId id="2147471117" r:id="rId20"/>
    <p:sldId id="2147471118" r:id="rId21"/>
    <p:sldId id="2147471119" r:id="rId22"/>
    <p:sldId id="2147471120" r:id="rId23"/>
    <p:sldId id="2147471121" r:id="rId24"/>
  </p:sldIdLst>
  <p:sldSz cx="12192000" cy="6858000"/>
  <p:notesSz cx="6858000" cy="9144000"/>
  <p:embeddedFontLst>
    <p:embeddedFont>
      <p:font typeface="ＭＳ Ｐゴシック" panose="020B0600070205080204" pitchFamily="34" charset="-128"/>
      <p:regular r:id="rId26"/>
    </p:embeddedFont>
    <p:embeddedFont>
      <p:font typeface="CiscoSansTT" panose="020B0503020201020303" pitchFamily="34" charset="0"/>
      <p:regular r:id="rId27"/>
      <p:bold r:id="rId28"/>
      <p:italic r:id="rId29"/>
      <p:boldItalic r:id="rId30"/>
    </p:embeddedFont>
    <p:embeddedFont>
      <p:font typeface="CiscoSansTT Medium" panose="020B0903020201020303" pitchFamily="34" charset="0"/>
      <p:regular r:id="rId31"/>
      <p: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F26B43"/>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544DEE-15B3-425A-80B2-0F494E160C90}" v="38" dt="2026-06-25T09:54:38.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89137" autoAdjust="0"/>
  </p:normalViewPr>
  <p:slideViewPr>
    <p:cSldViewPr snapToGrid="0">
      <p:cViewPr varScale="1">
        <p:scale>
          <a:sx n="76" d="100"/>
          <a:sy n="76" d="100"/>
        </p:scale>
        <p:origin x="606" y="39"/>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D5C2C-4435-46CA-84BD-1B73AEB7204F}" type="datetimeFigureOut">
              <a:rPr lang="en-GB" smtClean="0"/>
              <a:t>25/06/2026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45134-E21D-4697-9B99-A9763DB77AC4}" type="slidenum">
              <a:rPr lang="en-GB" smtClean="0"/>
              <a:t>‹#›</a:t>
            </a:fld>
            <a:endParaRPr lang="en-GB"/>
          </a:p>
        </p:txBody>
      </p:sp>
    </p:spTree>
    <p:extLst>
      <p:ext uri="{BB962C8B-B14F-4D97-AF65-F5344CB8AC3E}">
        <p14:creationId xmlns:p14="http://schemas.microsoft.com/office/powerpoint/2010/main" val="56001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5</a:t>
            </a:fld>
            <a:endParaRPr lang="en-GB"/>
          </a:p>
        </p:txBody>
      </p:sp>
    </p:spTree>
    <p:extLst>
      <p:ext uri="{BB962C8B-B14F-4D97-AF65-F5344CB8AC3E}">
        <p14:creationId xmlns:p14="http://schemas.microsoft.com/office/powerpoint/2010/main" val="2915826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745134-E21D-4697-9B99-A9763DB77AC4}" type="slidenum">
              <a:rPr lang="en-GB" smtClean="0"/>
              <a:t>16</a:t>
            </a:fld>
            <a:endParaRPr lang="en-GB"/>
          </a:p>
        </p:txBody>
      </p:sp>
    </p:spTree>
    <p:extLst>
      <p:ext uri="{BB962C8B-B14F-4D97-AF65-F5344CB8AC3E}">
        <p14:creationId xmlns:p14="http://schemas.microsoft.com/office/powerpoint/2010/main" val="6539552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60198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96490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308109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7312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747354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8737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22890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205143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bg2">
                    <a:lumMod val="60000"/>
                    <a:lumOff val="40000"/>
                  </a:schemeClr>
                </a:solidFill>
                <a:effectLst/>
                <a:uLnTx/>
                <a:uFillTx/>
                <a:latin typeface="+mj-lt"/>
                <a:cs typeface="CiscoSansTT" panose="020B0503020201020303"/>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2849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512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567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2814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8835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1180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1303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1101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3719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23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189898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141A00D0-7712-950D-34B2-5551B85F9E7B}"/>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021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12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0218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915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098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451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9850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654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114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722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4089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9447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241207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997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8020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73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337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7719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0659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4675188"/>
          </a:xfrm>
          <a:prstGeom prst="roundRect">
            <a:avLst>
              <a:gd name="adj" fmla="val 0"/>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8928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dirty="0">
              <a:gradFill>
                <a:gsLst>
                  <a:gs pos="0">
                    <a:srgbClr val="009DE2"/>
                  </a:gs>
                  <a:gs pos="100000">
                    <a:schemeClr val="accent2"/>
                  </a:gs>
                </a:gsLst>
                <a:lin ang="2700000" scaled="1"/>
              </a:gradFill>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dirty="0"/>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0606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191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9521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9451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177809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24269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6549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6061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5914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8653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gu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21097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gu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3874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8602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72313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3148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290098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grpSp>
    </p:spTree>
    <p:extLst>
      <p:ext uri="{BB962C8B-B14F-4D97-AF65-F5344CB8AC3E}">
        <p14:creationId xmlns:p14="http://schemas.microsoft.com/office/powerpoint/2010/main" val="191034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pPr defTabSz="814318">
              <a:defRPr/>
            </a:pPr>
            <a:r>
              <a:rPr lang="en-US" dirty="0"/>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737073348"/>
      </p:ext>
    </p:extLst>
  </p:cSld>
  <p:clrMap bg1="dk1" tx1="lt1" bg2="dk2" tx2="lt2" accent1="accent1" accent2="accent2" accent3="accent3" accent4="accent4" accent5="accent5" accent6="accent6" hlink="hlink" folHlink="folHlink"/>
  <p:sldLayoutIdLst>
    <p:sldLayoutId id="2147483752" r:id="rId1"/>
    <p:sldLayoutId id="2147483748" r:id="rId2"/>
    <p:sldLayoutId id="2147483787" r:id="rId3"/>
    <p:sldLayoutId id="2147483788" r:id="rId4"/>
    <p:sldLayoutId id="2147483773" r:id="rId5"/>
    <p:sldLayoutId id="2147483799" r:id="rId6"/>
    <p:sldLayoutId id="2147483800" r:id="rId7"/>
    <p:sldLayoutId id="2147483801" r:id="rId8"/>
    <p:sldLayoutId id="2147483668" r:id="rId9"/>
    <p:sldLayoutId id="2147483747" r:id="rId10"/>
    <p:sldLayoutId id="2147483754" r:id="rId11"/>
    <p:sldLayoutId id="2147483753" r:id="rId12"/>
    <p:sldLayoutId id="2147483763" r:id="rId13"/>
    <p:sldLayoutId id="2147483764" r:id="rId14"/>
    <p:sldLayoutId id="2147483771" r:id="rId15"/>
    <p:sldLayoutId id="2147483777" r:id="rId16"/>
    <p:sldLayoutId id="2147483804" r:id="rId17"/>
    <p:sldLayoutId id="2147483789" r:id="rId18"/>
    <p:sldLayoutId id="2147483805" r:id="rId19"/>
    <p:sldLayoutId id="2147483812" r:id="rId20"/>
    <p:sldLayoutId id="2147483811" r:id="rId21"/>
    <p:sldLayoutId id="2147483809" r:id="rId22"/>
    <p:sldLayoutId id="2147483808" r:id="rId23"/>
    <p:sldLayoutId id="2147483807" r:id="rId24"/>
    <p:sldLayoutId id="2147483810" r:id="rId25"/>
    <p:sldLayoutId id="2147483796" r:id="rId26"/>
    <p:sldLayoutId id="2147483780" r:id="rId27"/>
    <p:sldLayoutId id="2147483784" r:id="rId28"/>
    <p:sldLayoutId id="2147483778" r:id="rId29"/>
    <p:sldLayoutId id="2147483781" r:id="rId30"/>
    <p:sldLayoutId id="2147483779" r:id="rId31"/>
    <p:sldLayoutId id="2147483774" r:id="rId32"/>
    <p:sldLayoutId id="2147483775" r:id="rId33"/>
    <p:sldLayoutId id="2147483776" r:id="rId34"/>
    <p:sldLayoutId id="2147483783" r:id="rId35"/>
    <p:sldLayoutId id="2147483797" r:id="rId36"/>
    <p:sldLayoutId id="2147483794" r:id="rId37"/>
    <p:sldLayoutId id="2147483806" r:id="rId38"/>
    <p:sldLayoutId id="2147483798" r:id="rId39"/>
    <p:sldLayoutId id="2147483791" r:id="rId40"/>
    <p:sldLayoutId id="2147483793" r:id="rId41"/>
    <p:sldLayoutId id="2147483792" r:id="rId42"/>
    <p:sldLayoutId id="2147483795" r:id="rId43"/>
    <p:sldLayoutId id="2147483762" r:id="rId44"/>
    <p:sldLayoutId id="2147483785" r:id="rId45"/>
    <p:sldLayoutId id="2147483786" r:id="rId46"/>
    <p:sldLayoutId id="2147483790" r:id="rId47"/>
    <p:sldLayoutId id="2147483756" r:id="rId48"/>
    <p:sldLayoutId id="2147483761" r:id="rId49"/>
    <p:sldLayoutId id="2147483758" r:id="rId50"/>
    <p:sldLayoutId id="2147483760" r:id="rId51"/>
    <p:sldLayoutId id="2147483757" r:id="rId52"/>
    <p:sldLayoutId id="2147483802" r:id="rId53"/>
    <p:sldLayoutId id="2147483751" r:id="rId54"/>
    <p:sldLayoutId id="2147483803" r:id="rId55"/>
    <p:sldLayoutId id="2147483749"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8.sv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1.xml"/><Relationship Id="rId2" Type="http://schemas.openxmlformats.org/officeDocument/2006/relationships/tags" Target="../tags/tag2.xml"/><Relationship Id="rId16" Type="http://schemas.openxmlformats.org/officeDocument/2006/relationships/slideLayout" Target="../slideLayouts/slideLayout10.xml"/><Relationship Id="rId20" Type="http://schemas.openxmlformats.org/officeDocument/2006/relationships/image" Target="../media/image10.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9.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tags" Target="../tags/tag18.xml"/><Relationship Id="rId7" Type="http://schemas.openxmlformats.org/officeDocument/2006/relationships/image" Target="../media/image11.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10.xml"/><Relationship Id="rId11" Type="http://schemas.openxmlformats.org/officeDocument/2006/relationships/image" Target="../media/image15.svg"/><Relationship Id="rId5" Type="http://schemas.openxmlformats.org/officeDocument/2006/relationships/tags" Target="../tags/tag20.xml"/><Relationship Id="rId10" Type="http://schemas.openxmlformats.org/officeDocument/2006/relationships/image" Target="../media/image14.svg"/><Relationship Id="rId4" Type="http://schemas.openxmlformats.org/officeDocument/2006/relationships/tags" Target="../tags/tag19.xml"/><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10.xml"/><Relationship Id="rId5" Type="http://schemas.openxmlformats.org/officeDocument/2006/relationships/image" Target="../media/image19.sv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10.xml"/><Relationship Id="rId5" Type="http://schemas.openxmlformats.org/officeDocument/2006/relationships/image" Target="../media/image18.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hyperlink" Target="https://phoenix.cisco.com/web_apps/cisco_marketing_dashboard/campaign_and_segmentation_insights/Technology_and_Campaign_Insights" TargetMode="External"/><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hyperlink" Target="https://phoenix.cisco.com/web_apps/cisco_marketing_dashboard/direct_insights/VDC_Executive_Dashboard" TargetMode="External"/><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phoenix.cisco.com/web_apps/cisco_marketing_dashboard/direct_insights/VDC_Executive_Dashboard" TargetMode="Externa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slideLayout" Target="../slideLayouts/slideLayout10.xml"/><Relationship Id="rId1" Type="http://schemas.openxmlformats.org/officeDocument/2006/relationships/tags" Target="../tags/tag21.xml"/><Relationship Id="rId6" Type="http://schemas.openxmlformats.org/officeDocument/2006/relationships/image" Target="../media/image9.svg"/><Relationship Id="rId5" Type="http://schemas.openxmlformats.org/officeDocument/2006/relationships/image" Target="../media/image18.svg"/><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0.svg"/><Relationship Id="rId2" Type="http://schemas.openxmlformats.org/officeDocument/2006/relationships/slideLayout" Target="../slideLayouts/slideLayout10.xml"/><Relationship Id="rId1" Type="http://schemas.openxmlformats.org/officeDocument/2006/relationships/tags" Target="../tags/tag22.xml"/><Relationship Id="rId6" Type="http://schemas.openxmlformats.org/officeDocument/2006/relationships/image" Target="../media/image18.svg"/><Relationship Id="rId5" Type="http://schemas.openxmlformats.org/officeDocument/2006/relationships/image" Target="../media/image28.svg"/><Relationship Id="rId4" Type="http://schemas.openxmlformats.org/officeDocument/2006/relationships/image" Target="../media/image27.sv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hoenix.cisco.com/web_apps/cisco_marketing_dashboard/pipeline_summary/MSP_Opportunity_Analysis" TargetMode="Externa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phoenix.cisco.com/web_apps/cisco_marketing_dashboard/campaign_and_segmentation_insights/Vehicle_Demand_Performance" TargetMode="Externa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phoenix.cisco.com/web_apps/cisco_marketing_dashboard/campaign_and_segmentation_insights/Content_Impact_Dashboard" TargetMode="Externa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Layout" Target="../slideLayouts/slideLayout10.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1D39-382D-6375-3CB6-09CB78137C7E}"/>
              </a:ext>
            </a:extLst>
          </p:cNvPr>
          <p:cNvSpPr>
            <a:spLocks noGrp="1"/>
          </p:cNvSpPr>
          <p:nvPr>
            <p:ph type="title"/>
          </p:nvPr>
        </p:nvSpPr>
        <p:spPr/>
        <p:txBody>
          <a:bodyPr/>
          <a:lstStyle/>
          <a:p>
            <a:r>
              <a:rPr lang="en-US" dirty="0"/>
              <a:t>Tagging &amp; Tracking Overview</a:t>
            </a:r>
            <a:endParaRPr lang="en-GB" dirty="0"/>
          </a:p>
        </p:txBody>
      </p:sp>
      <p:sp>
        <p:nvSpPr>
          <p:cNvPr id="3" name="Text Placeholder 2">
            <a:extLst>
              <a:ext uri="{FF2B5EF4-FFF2-40B4-BE49-F238E27FC236}">
                <a16:creationId xmlns:a16="http://schemas.microsoft.com/office/drawing/2014/main" id="{648F5C80-1130-72E4-70F1-0CC1D470584F}"/>
              </a:ext>
            </a:extLst>
          </p:cNvPr>
          <p:cNvSpPr>
            <a:spLocks noGrp="1"/>
          </p:cNvSpPr>
          <p:nvPr>
            <p:ph type="body" sz="quarter" idx="13"/>
          </p:nvPr>
        </p:nvSpPr>
        <p:spPr/>
        <p:txBody>
          <a:bodyPr/>
          <a:lstStyle/>
          <a:p>
            <a:endParaRPr lang="en-GB" dirty="0"/>
          </a:p>
        </p:txBody>
      </p:sp>
      <p:sp>
        <p:nvSpPr>
          <p:cNvPr id="4" name="Text Placeholder 3">
            <a:extLst>
              <a:ext uri="{FF2B5EF4-FFF2-40B4-BE49-F238E27FC236}">
                <a16:creationId xmlns:a16="http://schemas.microsoft.com/office/drawing/2014/main" id="{9B95BFB3-3D3E-ADA6-2793-49E3B882F4A8}"/>
              </a:ext>
            </a:extLst>
          </p:cNvPr>
          <p:cNvSpPr>
            <a:spLocks noGrp="1"/>
          </p:cNvSpPr>
          <p:nvPr>
            <p:ph type="body" sz="quarter" idx="16"/>
          </p:nvPr>
        </p:nvSpPr>
        <p:spPr/>
        <p:txBody>
          <a:bodyPr/>
          <a:lstStyle/>
          <a:p>
            <a:r>
              <a:rPr lang="en-US" dirty="0"/>
              <a:t>GTM Readiness &amp; Performance Teams</a:t>
            </a:r>
            <a:endParaRPr lang="en-GB" dirty="0"/>
          </a:p>
        </p:txBody>
      </p:sp>
      <p:sp>
        <p:nvSpPr>
          <p:cNvPr id="5" name="Text Placeholder 4">
            <a:extLst>
              <a:ext uri="{FF2B5EF4-FFF2-40B4-BE49-F238E27FC236}">
                <a16:creationId xmlns:a16="http://schemas.microsoft.com/office/drawing/2014/main" id="{F51C7C56-EEA8-46FB-D0F8-4ECF8E373C67}"/>
              </a:ext>
            </a:extLst>
          </p:cNvPr>
          <p:cNvSpPr>
            <a:spLocks noGrp="1"/>
          </p:cNvSpPr>
          <p:nvPr>
            <p:ph type="body" sz="quarter" idx="14"/>
          </p:nvPr>
        </p:nvSpPr>
        <p:spPr/>
        <p:txBody>
          <a:bodyPr/>
          <a:lstStyle/>
          <a:p>
            <a:endParaRPr lang="en-GB"/>
          </a:p>
        </p:txBody>
      </p:sp>
      <p:sp>
        <p:nvSpPr>
          <p:cNvPr id="6" name="Text Placeholder 5">
            <a:extLst>
              <a:ext uri="{FF2B5EF4-FFF2-40B4-BE49-F238E27FC236}">
                <a16:creationId xmlns:a16="http://schemas.microsoft.com/office/drawing/2014/main" id="{F29684D5-3F3F-AC27-89B8-4B3AEC74348B}"/>
              </a:ext>
            </a:extLst>
          </p:cNvPr>
          <p:cNvSpPr>
            <a:spLocks noGrp="1"/>
          </p:cNvSpPr>
          <p:nvPr>
            <p:ph type="body" sz="quarter" idx="12"/>
          </p:nvPr>
        </p:nvSpPr>
        <p:spPr/>
        <p:txBody>
          <a:bodyPr/>
          <a:lstStyle/>
          <a:p>
            <a:r>
              <a:rPr lang="en-US" dirty="0"/>
              <a:t>June 2026</a:t>
            </a:r>
            <a:endParaRPr lang="en-GB" dirty="0"/>
          </a:p>
        </p:txBody>
      </p:sp>
    </p:spTree>
    <p:extLst>
      <p:ext uri="{BB962C8B-B14F-4D97-AF65-F5344CB8AC3E}">
        <p14:creationId xmlns:p14="http://schemas.microsoft.com/office/powerpoint/2010/main" val="103829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655A1-F2D0-A4E5-037C-DC6C0FBF9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54D1B-BC39-F78E-CCD5-0F77B16CDC6B}"/>
              </a:ext>
            </a:extLst>
          </p:cNvPr>
          <p:cNvSpPr>
            <a:spLocks noGrp="1"/>
          </p:cNvSpPr>
          <p:nvPr>
            <p:ph type="title"/>
          </p:nvPr>
        </p:nvSpPr>
        <p:spPr/>
        <p:txBody>
          <a:bodyPr/>
          <a:lstStyle/>
          <a:p>
            <a:r>
              <a:rPr lang="en-US" dirty="0"/>
              <a:t>Module1: Introduction &amp; Overview</a:t>
            </a:r>
            <a:endParaRPr lang="en-GB" dirty="0"/>
          </a:p>
        </p:txBody>
      </p:sp>
    </p:spTree>
    <p:extLst>
      <p:ext uri="{BB962C8B-B14F-4D97-AF65-F5344CB8AC3E}">
        <p14:creationId xmlns:p14="http://schemas.microsoft.com/office/powerpoint/2010/main" val="47929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05469ABC-8D76-15E6-A25F-4D64C66AF433}"/>
              </a:ext>
            </a:extLst>
          </p:cNvPr>
          <p:cNvCxnSpPr/>
          <p:nvPr/>
        </p:nvCxnSpPr>
        <p:spPr>
          <a:xfrm>
            <a:off x="4223792" y="692696"/>
            <a:ext cx="0" cy="5904656"/>
          </a:xfrm>
          <a:prstGeom prst="line">
            <a:avLst/>
          </a:prstGeom>
          <a:noFill/>
          <a:ln>
            <a:gradFill>
              <a:gsLst>
                <a:gs pos="37000">
                  <a:srgbClr val="02C8FF"/>
                </a:gs>
                <a:gs pos="5000">
                  <a:srgbClr val="0A60FF"/>
                </a:gs>
                <a:gs pos="44000">
                  <a:srgbClr val="02C8FF"/>
                </a:gs>
                <a:gs pos="75000">
                  <a:srgbClr val="FF007F"/>
                </a:gs>
                <a:gs pos="95000">
                  <a:srgbClr val="FF9000"/>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0E796B39-96C1-2B47-A4F0-DD0544499523}"/>
              </a:ext>
            </a:extLst>
          </p:cNvPr>
          <p:cNvSpPr txBox="1"/>
          <p:nvPr/>
        </p:nvSpPr>
        <p:spPr>
          <a:xfrm>
            <a:off x="479376" y="2384884"/>
            <a:ext cx="3240360" cy="208823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GB" sz="4800">
                <a:solidFill>
                  <a:schemeClr val="bg1"/>
                </a:solidFill>
                <a:latin typeface="+mn-lt"/>
                <a:ea typeface="ＭＳ Ｐゴシック" charset="0"/>
              </a:rPr>
              <a:t>Agenda</a:t>
            </a:r>
            <a:r>
              <a:rPr lang="en-GB" sz="4800">
                <a:solidFill>
                  <a:schemeClr val="bg1"/>
                </a:solidFill>
                <a:latin typeface="+mn-lt"/>
              </a:rPr>
              <a:t>:</a:t>
            </a:r>
            <a:r>
              <a:rPr lang="en-GB" sz="4800">
                <a:solidFill>
                  <a:schemeClr val="bg1"/>
                </a:solidFill>
                <a:latin typeface="+mn-lt"/>
                <a:ea typeface="ＭＳ Ｐゴシック" charset="0"/>
              </a:rPr>
              <a:t> Training Overview</a:t>
            </a:r>
            <a:endParaRPr lang="en-GB" sz="4800" kern="1200">
              <a:solidFill>
                <a:schemeClr val="bg1"/>
              </a:solidFill>
              <a:latin typeface="+mn-lt"/>
              <a:ea typeface="ＭＳ Ｐゴシック" charset="0"/>
            </a:endParaRPr>
          </a:p>
        </p:txBody>
      </p:sp>
      <p:sp>
        <p:nvSpPr>
          <p:cNvPr id="30" name="TextBox 29">
            <a:extLst>
              <a:ext uri="{FF2B5EF4-FFF2-40B4-BE49-F238E27FC236}">
                <a16:creationId xmlns:a16="http://schemas.microsoft.com/office/drawing/2014/main" id="{9AE6AABA-B298-6D35-CCDD-5049140C1A21}"/>
              </a:ext>
            </a:extLst>
          </p:cNvPr>
          <p:cNvSpPr txBox="1"/>
          <p:nvPr/>
        </p:nvSpPr>
        <p:spPr>
          <a:xfrm>
            <a:off x="13296800" y="5157192"/>
            <a:ext cx="914400" cy="91440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err="1">
              <a:solidFill>
                <a:schemeClr val="bg1"/>
              </a:solidFill>
              <a:latin typeface="+mn-lt"/>
              <a:ea typeface="ＭＳ Ｐゴシック" charset="0"/>
            </a:endParaRPr>
          </a:p>
        </p:txBody>
      </p:sp>
      <p:grpSp>
        <p:nvGrpSpPr>
          <p:cNvPr id="8" name="Group 7">
            <a:extLst>
              <a:ext uri="{FF2B5EF4-FFF2-40B4-BE49-F238E27FC236}">
                <a16:creationId xmlns:a16="http://schemas.microsoft.com/office/drawing/2014/main" id="{32569EF3-D5FF-A4AE-F205-AA65E2F55173}"/>
              </a:ext>
            </a:extLst>
          </p:cNvPr>
          <p:cNvGrpSpPr/>
          <p:nvPr/>
        </p:nvGrpSpPr>
        <p:grpSpPr>
          <a:xfrm>
            <a:off x="4798740" y="1031940"/>
            <a:ext cx="7093905" cy="1097280"/>
            <a:chOff x="4798740" y="951530"/>
            <a:chExt cx="7093905" cy="1097280"/>
          </a:xfrm>
        </p:grpSpPr>
        <p:sp>
          <p:nvSpPr>
            <p:cNvPr id="18" name="Oval 17">
              <a:extLst>
                <a:ext uri="{FF2B5EF4-FFF2-40B4-BE49-F238E27FC236}">
                  <a16:creationId xmlns:a16="http://schemas.microsoft.com/office/drawing/2014/main" id="{171867FC-ACBE-DCA3-D15B-F8C221AB5C89}"/>
                </a:ext>
              </a:extLst>
            </p:cNvPr>
            <p:cNvSpPr/>
            <p:nvPr/>
          </p:nvSpPr>
          <p:spPr>
            <a:xfrm>
              <a:off x="4798740" y="1085009"/>
              <a:ext cx="830323" cy="830323"/>
            </a:xfrm>
            <a:prstGeom prst="ellipse">
              <a:avLst/>
            </a:prstGeom>
            <a:gradFill flip="none" rotWithShape="1">
              <a:gsLst>
                <a:gs pos="75000">
                  <a:srgbClr val="FF007F"/>
                </a:gs>
                <a:gs pos="44000">
                  <a:srgbClr val="02C8FF"/>
                </a:gs>
                <a:gs pos="37000">
                  <a:srgbClr val="02C8FF"/>
                </a:gs>
                <a:gs pos="5000">
                  <a:srgbClr val="0A60FF"/>
                </a:gs>
                <a:gs pos="95000">
                  <a:srgbClr val="FF9000"/>
                </a:gs>
              </a:gsLst>
              <a:lin ang="0" scaled="1"/>
              <a:tileRect/>
            </a:gradFill>
            <a:ln>
              <a:noFill/>
            </a:ln>
            <a:effectLst>
              <a:outerShdw blurRad="88900" dist="63500" dir="8100000" algn="tl" rotWithShape="0">
                <a:prstClr val="black">
                  <a:alpha val="40000"/>
                </a:prstClr>
              </a:outerShdw>
            </a:effectLst>
            <a:scene3d>
              <a:camera prst="orthographicFront"/>
              <a:lightRig rig="threePt" dir="t"/>
            </a:scene3d>
            <a:sp3d contourW="6350">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4400"/>
                <a:t>1</a:t>
              </a:r>
              <a:endParaRPr lang="en-GB"/>
            </a:p>
          </p:txBody>
        </p:sp>
        <p:sp>
          <p:nvSpPr>
            <p:cNvPr id="25" name="TextBox 24">
              <a:extLst>
                <a:ext uri="{FF2B5EF4-FFF2-40B4-BE49-F238E27FC236}">
                  <a16:creationId xmlns:a16="http://schemas.microsoft.com/office/drawing/2014/main" id="{EB3B6231-8E62-E4EE-D613-3627CCEAB99D}"/>
                </a:ext>
              </a:extLst>
            </p:cNvPr>
            <p:cNvSpPr txBox="1"/>
            <p:nvPr/>
          </p:nvSpPr>
          <p:spPr>
            <a:xfrm>
              <a:off x="6049618" y="951530"/>
              <a:ext cx="5843027" cy="1097280"/>
            </a:xfrm>
            <a:prstGeom prst="rect">
              <a:avLst/>
            </a:prstGeom>
            <a:noFill/>
          </p:spPr>
          <p:txBody>
            <a:bodyPr wrap="square" lIns="0" tIns="0" rIns="0" bIns="0" rtlCol="0" anchor="ctr">
              <a:noAutofit/>
            </a:bodyPr>
            <a:lstStyle>
              <a:defPPr>
                <a:defRPr lang="en-US"/>
              </a:defPPr>
              <a:lvl1pPr>
                <a:defRPr sz="1400">
                  <a:solidFill>
                    <a:schemeClr val="bg1">
                      <a:lumMod val="75000"/>
                      <a:lumOff val="25000"/>
                    </a:schemeClr>
                  </a:solidFill>
                </a:defRPr>
              </a:lvl1pPr>
            </a:lstStyle>
            <a:p>
              <a:r>
                <a:rPr lang="en-US" sz="2400" b="1" dirty="0">
                  <a:latin typeface="+mn-lt"/>
                </a:rPr>
                <a:t>Getting Started:</a:t>
              </a:r>
              <a:r>
                <a:rPr lang="en-US" sz="2400" dirty="0">
                  <a:latin typeface="+mn-lt"/>
                </a:rPr>
                <a:t> Need to put something here</a:t>
              </a:r>
              <a:endParaRPr lang="en-GB" sz="2400" dirty="0">
                <a:latin typeface="+mn-lt"/>
              </a:endParaRPr>
            </a:p>
          </p:txBody>
        </p:sp>
      </p:grpSp>
      <p:grpSp>
        <p:nvGrpSpPr>
          <p:cNvPr id="9" name="Group 8">
            <a:extLst>
              <a:ext uri="{FF2B5EF4-FFF2-40B4-BE49-F238E27FC236}">
                <a16:creationId xmlns:a16="http://schemas.microsoft.com/office/drawing/2014/main" id="{BD3246D8-91BD-5ED7-7854-0DC365903FE8}"/>
              </a:ext>
            </a:extLst>
          </p:cNvPr>
          <p:cNvGrpSpPr/>
          <p:nvPr/>
        </p:nvGrpSpPr>
        <p:grpSpPr>
          <a:xfrm>
            <a:off x="4798740" y="2880360"/>
            <a:ext cx="7093905" cy="1097280"/>
            <a:chOff x="4798740" y="2679019"/>
            <a:chExt cx="7093905" cy="1097280"/>
          </a:xfrm>
        </p:grpSpPr>
        <p:sp>
          <p:nvSpPr>
            <p:cNvPr id="29" name="TextBox 28">
              <a:extLst>
                <a:ext uri="{FF2B5EF4-FFF2-40B4-BE49-F238E27FC236}">
                  <a16:creationId xmlns:a16="http://schemas.microsoft.com/office/drawing/2014/main" id="{479E7B1A-E46C-3FD0-5DCC-0C5FA90C4CA4}"/>
                </a:ext>
              </a:extLst>
            </p:cNvPr>
            <p:cNvSpPr txBox="1"/>
            <p:nvPr/>
          </p:nvSpPr>
          <p:spPr>
            <a:xfrm>
              <a:off x="6049618" y="2679019"/>
              <a:ext cx="5843027" cy="1097280"/>
            </a:xfrm>
            <a:prstGeom prst="rect">
              <a:avLst/>
            </a:prstGeom>
            <a:noFill/>
          </p:spPr>
          <p:txBody>
            <a:bodyPr wrap="square" lIns="0" tIns="0" rIns="0" bIns="0" rtlCol="0" anchor="ctr">
              <a:noAutofit/>
            </a:bodyPr>
            <a:lstStyle>
              <a:defPPr>
                <a:defRPr lang="en-US"/>
              </a:defPPr>
              <a:lvl1pPr>
                <a:defRPr sz="1400">
                  <a:solidFill>
                    <a:schemeClr val="bg1">
                      <a:lumMod val="75000"/>
                      <a:lumOff val="25000"/>
                    </a:schemeClr>
                  </a:solidFill>
                </a:defRPr>
              </a:lvl1pPr>
            </a:lstStyle>
            <a:p>
              <a:r>
                <a:rPr lang="en-US" sz="2400" b="1" dirty="0">
                  <a:latin typeface="+mn-lt"/>
                </a:rPr>
                <a:t>The Data Journey:</a:t>
              </a:r>
              <a:r>
                <a:rPr lang="en-US" sz="2400" dirty="0">
                  <a:latin typeface="+mn-lt"/>
                </a:rPr>
                <a:t> ?????</a:t>
              </a:r>
            </a:p>
          </p:txBody>
        </p:sp>
        <p:sp>
          <p:nvSpPr>
            <p:cNvPr id="4" name="Oval 3">
              <a:extLst>
                <a:ext uri="{FF2B5EF4-FFF2-40B4-BE49-F238E27FC236}">
                  <a16:creationId xmlns:a16="http://schemas.microsoft.com/office/drawing/2014/main" id="{F71012EC-05F9-FE51-2CC6-950CDE7D78DA}"/>
                </a:ext>
              </a:extLst>
            </p:cNvPr>
            <p:cNvSpPr/>
            <p:nvPr/>
          </p:nvSpPr>
          <p:spPr>
            <a:xfrm>
              <a:off x="4798740" y="2812498"/>
              <a:ext cx="830323" cy="830323"/>
            </a:xfrm>
            <a:prstGeom prst="ellipse">
              <a:avLst/>
            </a:prstGeom>
            <a:gradFill flip="none" rotWithShape="1">
              <a:gsLst>
                <a:gs pos="75000">
                  <a:srgbClr val="FF007F"/>
                </a:gs>
                <a:gs pos="44000">
                  <a:srgbClr val="02C8FF"/>
                </a:gs>
                <a:gs pos="37000">
                  <a:srgbClr val="02C8FF"/>
                </a:gs>
                <a:gs pos="5000">
                  <a:srgbClr val="0A60FF"/>
                </a:gs>
                <a:gs pos="95000">
                  <a:srgbClr val="FF9000"/>
                </a:gs>
              </a:gsLst>
              <a:lin ang="0" scaled="1"/>
              <a:tileRect/>
            </a:gradFill>
            <a:ln>
              <a:noFill/>
            </a:ln>
            <a:effectLst>
              <a:outerShdw blurRad="88900" dist="63500" dir="8100000" algn="tl" rotWithShape="0">
                <a:prstClr val="black">
                  <a:alpha val="40000"/>
                </a:prstClr>
              </a:outerShdw>
            </a:effectLst>
            <a:scene3d>
              <a:camera prst="orthographicFront"/>
              <a:lightRig rig="threePt" dir="t"/>
            </a:scene3d>
            <a:sp3d contourW="6350">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4400"/>
                <a:t>2</a:t>
              </a:r>
              <a:endParaRPr lang="en-GB" sz="4400"/>
            </a:p>
          </p:txBody>
        </p:sp>
      </p:grpSp>
      <p:grpSp>
        <p:nvGrpSpPr>
          <p:cNvPr id="10" name="Group 9">
            <a:extLst>
              <a:ext uri="{FF2B5EF4-FFF2-40B4-BE49-F238E27FC236}">
                <a16:creationId xmlns:a16="http://schemas.microsoft.com/office/drawing/2014/main" id="{A8309FCC-2DF9-2C76-D399-A9B1B3BC0D6A}"/>
              </a:ext>
            </a:extLst>
          </p:cNvPr>
          <p:cNvGrpSpPr/>
          <p:nvPr/>
        </p:nvGrpSpPr>
        <p:grpSpPr>
          <a:xfrm>
            <a:off x="4798740" y="4728780"/>
            <a:ext cx="7093905" cy="1097280"/>
            <a:chOff x="4798740" y="4648370"/>
            <a:chExt cx="7093905" cy="1097280"/>
          </a:xfrm>
        </p:grpSpPr>
        <p:sp>
          <p:nvSpPr>
            <p:cNvPr id="31" name="TextBox 30">
              <a:extLst>
                <a:ext uri="{FF2B5EF4-FFF2-40B4-BE49-F238E27FC236}">
                  <a16:creationId xmlns:a16="http://schemas.microsoft.com/office/drawing/2014/main" id="{666C1903-0B90-C2F4-A302-2259874242B7}"/>
                </a:ext>
              </a:extLst>
            </p:cNvPr>
            <p:cNvSpPr txBox="1"/>
            <p:nvPr/>
          </p:nvSpPr>
          <p:spPr>
            <a:xfrm>
              <a:off x="6049618" y="4648370"/>
              <a:ext cx="5843027" cy="1097280"/>
            </a:xfrm>
            <a:prstGeom prst="rect">
              <a:avLst/>
            </a:prstGeom>
            <a:noFill/>
          </p:spPr>
          <p:txBody>
            <a:bodyPr wrap="square" lIns="0" tIns="0" rIns="0" bIns="0" rtlCol="0" anchor="ctr">
              <a:noAutofit/>
            </a:bodyPr>
            <a:lstStyle>
              <a:defPPr>
                <a:defRPr lang="en-US"/>
              </a:defPPr>
              <a:lvl1pPr>
                <a:defRPr sz="1400" b="1">
                  <a:solidFill>
                    <a:schemeClr val="bg1">
                      <a:lumMod val="75000"/>
                      <a:lumOff val="25000"/>
                    </a:schemeClr>
                  </a:solidFill>
                </a:defRPr>
              </a:lvl1pPr>
            </a:lstStyle>
            <a:p>
              <a:pPr lvl="0"/>
              <a:r>
                <a:rPr lang="en-US" sz="2400" dirty="0">
                  <a:latin typeface="+mn-lt"/>
                </a:rPr>
                <a:t>Setting Up for Success: </a:t>
              </a:r>
              <a:r>
                <a:rPr lang="en-US" sz="2400" b="0" dirty="0">
                  <a:latin typeface="+mn-lt"/>
                </a:rPr>
                <a:t>??????.</a:t>
              </a:r>
              <a:endParaRPr lang="en-GB" sz="2400" b="0" dirty="0">
                <a:latin typeface="+mn-lt"/>
              </a:endParaRPr>
            </a:p>
          </p:txBody>
        </p:sp>
        <p:sp>
          <p:nvSpPr>
            <p:cNvPr id="5" name="Oval 4">
              <a:extLst>
                <a:ext uri="{FF2B5EF4-FFF2-40B4-BE49-F238E27FC236}">
                  <a16:creationId xmlns:a16="http://schemas.microsoft.com/office/drawing/2014/main" id="{EB8A595F-8E33-DDA6-B66C-DF68384EB3F6}"/>
                </a:ext>
              </a:extLst>
            </p:cNvPr>
            <p:cNvSpPr/>
            <p:nvPr/>
          </p:nvSpPr>
          <p:spPr>
            <a:xfrm>
              <a:off x="4798740" y="4781849"/>
              <a:ext cx="830323" cy="830323"/>
            </a:xfrm>
            <a:prstGeom prst="ellipse">
              <a:avLst/>
            </a:prstGeom>
            <a:gradFill flip="none" rotWithShape="1">
              <a:gsLst>
                <a:gs pos="75000">
                  <a:srgbClr val="FF007F"/>
                </a:gs>
                <a:gs pos="44000">
                  <a:srgbClr val="02C8FF"/>
                </a:gs>
                <a:gs pos="37000">
                  <a:srgbClr val="02C8FF"/>
                </a:gs>
                <a:gs pos="5000">
                  <a:srgbClr val="0A60FF"/>
                </a:gs>
                <a:gs pos="95000">
                  <a:srgbClr val="FF9000"/>
                </a:gs>
              </a:gsLst>
              <a:lin ang="0" scaled="1"/>
              <a:tileRect/>
            </a:gradFill>
            <a:ln>
              <a:noFill/>
            </a:ln>
            <a:effectLst>
              <a:outerShdw blurRad="88900" dist="63500" dir="8100000" algn="tl" rotWithShape="0">
                <a:prstClr val="black">
                  <a:alpha val="40000"/>
                </a:prstClr>
              </a:outerShdw>
            </a:effectLst>
            <a:scene3d>
              <a:camera prst="orthographicFront"/>
              <a:lightRig rig="threePt" dir="t"/>
            </a:scene3d>
            <a:sp3d contourW="6350">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4400"/>
                <a:t>3</a:t>
              </a:r>
              <a:endParaRPr lang="en-GB" sz="4400"/>
            </a:p>
          </p:txBody>
        </p:sp>
      </p:grpSp>
    </p:spTree>
    <p:extLst>
      <p:ext uri="{BB962C8B-B14F-4D97-AF65-F5344CB8AC3E}">
        <p14:creationId xmlns:p14="http://schemas.microsoft.com/office/powerpoint/2010/main" val="43688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66E1A4-8C93-D78B-05FE-FB98B2F3F54F}"/>
              </a:ext>
            </a:extLst>
          </p:cNvPr>
          <p:cNvSpPr>
            <a:spLocks noGrp="1"/>
          </p:cNvSpPr>
          <p:nvPr>
            <p:ph type="title"/>
          </p:nvPr>
        </p:nvSpPr>
        <p:spPr/>
        <p:txBody>
          <a:bodyPr/>
          <a:lstStyle/>
          <a:p>
            <a:r>
              <a:rPr lang="en-US" dirty="0"/>
              <a:t>Strategic Value of Tagging &amp; Tracking</a:t>
            </a:r>
            <a:endParaRPr lang="en-GB" dirty="0"/>
          </a:p>
        </p:txBody>
      </p:sp>
      <p:sp>
        <p:nvSpPr>
          <p:cNvPr id="4" name="TextBox 3">
            <a:extLst>
              <a:ext uri="{FF2B5EF4-FFF2-40B4-BE49-F238E27FC236}">
                <a16:creationId xmlns:a16="http://schemas.microsoft.com/office/drawing/2014/main" id="{DF26E543-89F3-827D-3480-B326317FEBEE}"/>
              </a:ext>
            </a:extLst>
          </p:cNvPr>
          <p:cNvSpPr txBox="1"/>
          <p:nvPr/>
        </p:nvSpPr>
        <p:spPr>
          <a:xfrm>
            <a:off x="438733" y="1023598"/>
            <a:ext cx="11098635" cy="984375"/>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b="1" dirty="0">
                <a:solidFill>
                  <a:schemeClr val="bg1"/>
                </a:solidFill>
              </a:rPr>
              <a:t>Why We Track:</a:t>
            </a:r>
            <a:r>
              <a:rPr lang="en-GB" dirty="0">
                <a:solidFill>
                  <a:schemeClr val="bg1"/>
                </a:solidFill>
              </a:rPr>
              <a:t> Flawless data integrity connects every marketing dollar to real-world sales outcomes—proving ROI, unlocking automated customer journeys, and empowering sellers to win deals.</a:t>
            </a:r>
            <a:endParaRPr lang="en-GB" sz="1600" kern="1200" dirty="0">
              <a:solidFill>
                <a:schemeClr val="bg1"/>
              </a:solidFill>
              <a:latin typeface="+mn-lt"/>
              <a:ea typeface="ＭＳ Ｐゴシック" charset="0"/>
            </a:endParaRPr>
          </a:p>
        </p:txBody>
      </p:sp>
      <p:sp>
        <p:nvSpPr>
          <p:cNvPr id="5" name="TextBox 4">
            <a:extLst>
              <a:ext uri="{FF2B5EF4-FFF2-40B4-BE49-F238E27FC236}">
                <a16:creationId xmlns:a16="http://schemas.microsoft.com/office/drawing/2014/main" id="{6FA12C9B-B95C-2581-4F66-DAEC238FE2C6}"/>
              </a:ext>
            </a:extLst>
          </p:cNvPr>
          <p:cNvSpPr txBox="1"/>
          <p:nvPr/>
        </p:nvSpPr>
        <p:spPr>
          <a:xfrm>
            <a:off x="871650" y="3149964"/>
            <a:ext cx="2556588" cy="2740091"/>
          </a:xfrm>
          <a:prstGeom prst="rect">
            <a:avLst/>
          </a:prstGeom>
          <a:noFill/>
        </p:spPr>
        <p:txBody>
          <a:bodyPr wrap="square" lIns="0" tIns="0" rIns="0" bIns="0" rtlCol="0">
            <a:noAutofit/>
          </a:bodyPr>
          <a:lstStyle/>
          <a:p>
            <a:pPr algn="ctr"/>
            <a:r>
              <a:rPr lang="en-GB" dirty="0">
                <a:solidFill>
                  <a:schemeClr val="bg1"/>
                </a:solidFill>
              </a:rPr>
              <a:t>Pinpoint exactly which campaigns and channels yield actual closed-won pipeline. Shift budgets in real time from low-intent channels to top-performing initiatives.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6" name="TextBox 5">
            <a:extLst>
              <a:ext uri="{FF2B5EF4-FFF2-40B4-BE49-F238E27FC236}">
                <a16:creationId xmlns:a16="http://schemas.microsoft.com/office/drawing/2014/main" id="{247FF8F7-BD52-036D-80BA-57D929B00555}"/>
              </a:ext>
            </a:extLst>
          </p:cNvPr>
          <p:cNvSpPr txBox="1"/>
          <p:nvPr/>
        </p:nvSpPr>
        <p:spPr>
          <a:xfrm>
            <a:off x="4865532" y="3149964"/>
            <a:ext cx="2560320" cy="2743200"/>
          </a:xfrm>
          <a:prstGeom prst="rect">
            <a:avLst/>
          </a:prstGeom>
          <a:noFill/>
        </p:spPr>
        <p:txBody>
          <a:bodyPr wrap="square" lIns="0" tIns="0" rIns="0" bIns="0" rtlCol="0">
            <a:noAutofit/>
          </a:bodyPr>
          <a:lstStyle/>
          <a:p>
            <a:pPr algn="ctr"/>
            <a:r>
              <a:rPr lang="en-GB" dirty="0">
                <a:solidFill>
                  <a:schemeClr val="bg1"/>
                </a:solidFill>
              </a:rPr>
              <a:t>Trigger highly targeted, program-specific "always-on" nurture sequences. Deliver hyper-relevant content to the buyer based on precise digital hand-raisers.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5B27BD87-FB71-1073-13CA-ABD195D62783}"/>
              </a:ext>
            </a:extLst>
          </p:cNvPr>
          <p:cNvSpPr txBox="1"/>
          <p:nvPr/>
        </p:nvSpPr>
        <p:spPr>
          <a:xfrm>
            <a:off x="8861279" y="3149964"/>
            <a:ext cx="2560320" cy="2743200"/>
          </a:xfrm>
          <a:prstGeom prst="rect">
            <a:avLst/>
          </a:prstGeom>
          <a:noFill/>
        </p:spPr>
        <p:txBody>
          <a:bodyPr wrap="square" lIns="0" tIns="0" rIns="0" bIns="0" rtlCol="0">
            <a:noAutofit/>
          </a:bodyPr>
          <a:lstStyle/>
          <a:p>
            <a:pPr algn="ctr"/>
            <a:r>
              <a:rPr lang="en-GB" dirty="0">
                <a:solidFill>
                  <a:schemeClr val="bg1"/>
                </a:solidFill>
              </a:rPr>
              <a:t>Deliver rich, contextual content consumption details to CRM profiles. Help sales reps bypass dry, cold calls to start highly specific, high-value conversations.</a:t>
            </a:r>
          </a:p>
          <a:p>
            <a:pPr marL="182880" indent="-182880" algn="ctr"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nvGrpSpPr>
          <p:cNvPr id="15" name="Group 14">
            <a:extLst>
              <a:ext uri="{FF2B5EF4-FFF2-40B4-BE49-F238E27FC236}">
                <a16:creationId xmlns:a16="http://schemas.microsoft.com/office/drawing/2014/main" id="{3B1E1121-69AC-A602-8BCC-73CCC83AC181}"/>
              </a:ext>
            </a:extLst>
          </p:cNvPr>
          <p:cNvGrpSpPr/>
          <p:nvPr/>
        </p:nvGrpSpPr>
        <p:grpSpPr>
          <a:xfrm>
            <a:off x="8414729" y="2384567"/>
            <a:ext cx="3453421" cy="3447138"/>
            <a:chOff x="771331" y="2157451"/>
            <a:chExt cx="2929812" cy="3447138"/>
          </a:xfrm>
        </p:grpSpPr>
        <p:sp>
          <p:nvSpPr>
            <p:cNvPr id="16" name="Freeform: Shape 15">
              <a:extLst>
                <a:ext uri="{FF2B5EF4-FFF2-40B4-BE49-F238E27FC236}">
                  <a16:creationId xmlns:a16="http://schemas.microsoft.com/office/drawing/2014/main" id="{DED9FDD8-DA4D-862D-7AA2-F5E3F65B8EAE}"/>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Rectangle: Rounded Corners 16">
              <a:extLst>
                <a:ext uri="{FF2B5EF4-FFF2-40B4-BE49-F238E27FC236}">
                  <a16:creationId xmlns:a16="http://schemas.microsoft.com/office/drawing/2014/main" id="{3F86165F-349A-0E38-DC5B-38FA0B953B4D}"/>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Empower Sellers</a:t>
              </a:r>
              <a:endParaRPr lang="en-GB" sz="1600" b="1" dirty="0">
                <a:solidFill>
                  <a:schemeClr val="bg1"/>
                </a:solidFill>
              </a:endParaRPr>
            </a:p>
          </p:txBody>
        </p:sp>
      </p:grpSp>
      <p:grpSp>
        <p:nvGrpSpPr>
          <p:cNvPr id="18" name="Group 17">
            <a:extLst>
              <a:ext uri="{FF2B5EF4-FFF2-40B4-BE49-F238E27FC236}">
                <a16:creationId xmlns:a16="http://schemas.microsoft.com/office/drawing/2014/main" id="{714C1901-2E0A-2A39-EE0A-D93D34B784FD}"/>
              </a:ext>
            </a:extLst>
          </p:cNvPr>
          <p:cNvGrpSpPr/>
          <p:nvPr/>
        </p:nvGrpSpPr>
        <p:grpSpPr>
          <a:xfrm>
            <a:off x="423234" y="2384567"/>
            <a:ext cx="3453421" cy="3447138"/>
            <a:chOff x="771331" y="2157451"/>
            <a:chExt cx="2929812" cy="3447138"/>
          </a:xfrm>
        </p:grpSpPr>
        <p:sp>
          <p:nvSpPr>
            <p:cNvPr id="19" name="Freeform: Shape 18">
              <a:extLst>
                <a:ext uri="{FF2B5EF4-FFF2-40B4-BE49-F238E27FC236}">
                  <a16:creationId xmlns:a16="http://schemas.microsoft.com/office/drawing/2014/main" id="{31C86659-A1B1-A3F1-88A3-7581504DC270}"/>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Rectangle: Rounded Corners 19">
              <a:extLst>
                <a:ext uri="{FF2B5EF4-FFF2-40B4-BE49-F238E27FC236}">
                  <a16:creationId xmlns:a16="http://schemas.microsoft.com/office/drawing/2014/main" id="{8C1B7ECC-0941-911B-4B4F-44FCCFFD4783}"/>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Optimize Spend</a:t>
              </a:r>
              <a:endParaRPr lang="en-GB" sz="1600" b="1" dirty="0">
                <a:solidFill>
                  <a:schemeClr val="bg1"/>
                </a:solidFill>
              </a:endParaRPr>
            </a:p>
          </p:txBody>
        </p:sp>
      </p:grpSp>
      <p:grpSp>
        <p:nvGrpSpPr>
          <p:cNvPr id="21" name="Group 20">
            <a:extLst>
              <a:ext uri="{FF2B5EF4-FFF2-40B4-BE49-F238E27FC236}">
                <a16:creationId xmlns:a16="http://schemas.microsoft.com/office/drawing/2014/main" id="{FC0A651D-31FF-4392-7FB5-E57C231BC9F6}"/>
              </a:ext>
            </a:extLst>
          </p:cNvPr>
          <p:cNvGrpSpPr/>
          <p:nvPr/>
        </p:nvGrpSpPr>
        <p:grpSpPr>
          <a:xfrm>
            <a:off x="4418982" y="2384567"/>
            <a:ext cx="3453421" cy="3447138"/>
            <a:chOff x="771331" y="2157451"/>
            <a:chExt cx="2929812" cy="3447138"/>
          </a:xfrm>
        </p:grpSpPr>
        <p:sp>
          <p:nvSpPr>
            <p:cNvPr id="22" name="Freeform: Shape 21">
              <a:extLst>
                <a:ext uri="{FF2B5EF4-FFF2-40B4-BE49-F238E27FC236}">
                  <a16:creationId xmlns:a16="http://schemas.microsoft.com/office/drawing/2014/main" id="{109FD1C5-98F4-70D5-5598-77DEFBA7E9D3}"/>
                </a:ext>
              </a:extLst>
            </p:cNvPr>
            <p:cNvSpPr/>
            <p:nvPr/>
          </p:nvSpPr>
          <p:spPr>
            <a:xfrm>
              <a:off x="771331" y="2388637"/>
              <a:ext cx="2929812" cy="3215952"/>
            </a:xfrm>
            <a:custGeom>
              <a:avLst/>
              <a:gdLst>
                <a:gd name="csX0" fmla="*/ 227060 w 2929812"/>
                <a:gd name="csY0" fmla="*/ 0 h 3215952"/>
                <a:gd name="csX1" fmla="*/ 298579 w 2929812"/>
                <a:gd name="csY1" fmla="*/ 0 h 3215952"/>
                <a:gd name="csX2" fmla="*/ 298579 w 2929812"/>
                <a:gd name="csY2" fmla="*/ 160522 h 3215952"/>
                <a:gd name="csX3" fmla="*/ 380654 w 2929812"/>
                <a:gd name="csY3" fmla="*/ 242597 h 3215952"/>
                <a:gd name="csX4" fmla="*/ 2281679 w 2929812"/>
                <a:gd name="csY4" fmla="*/ 242597 h 3215952"/>
                <a:gd name="csX5" fmla="*/ 2363754 w 2929812"/>
                <a:gd name="csY5" fmla="*/ 160522 h 3215952"/>
                <a:gd name="csX6" fmla="*/ 2363754 w 2929812"/>
                <a:gd name="csY6" fmla="*/ 0 h 3215952"/>
                <a:gd name="csX7" fmla="*/ 2702752 w 2929812"/>
                <a:gd name="csY7" fmla="*/ 0 h 3215952"/>
                <a:gd name="csX8" fmla="*/ 2929812 w 2929812"/>
                <a:gd name="csY8" fmla="*/ 227060 h 3215952"/>
                <a:gd name="csX9" fmla="*/ 2929812 w 2929812"/>
                <a:gd name="csY9" fmla="*/ 2988892 h 3215952"/>
                <a:gd name="csX10" fmla="*/ 2702752 w 2929812"/>
                <a:gd name="csY10" fmla="*/ 3215952 h 3215952"/>
                <a:gd name="csX11" fmla="*/ 227060 w 2929812"/>
                <a:gd name="csY11" fmla="*/ 3215952 h 3215952"/>
                <a:gd name="csX12" fmla="*/ 0 w 2929812"/>
                <a:gd name="csY12" fmla="*/ 2988892 h 3215952"/>
                <a:gd name="csX13" fmla="*/ 0 w 2929812"/>
                <a:gd name="csY13" fmla="*/ 227060 h 3215952"/>
                <a:gd name="csX14" fmla="*/ 227060 w 2929812"/>
                <a:gd name="csY14" fmla="*/ 0 h 32159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29812" h="3215952">
                  <a:moveTo>
                    <a:pt x="227060" y="0"/>
                  </a:moveTo>
                  <a:lnTo>
                    <a:pt x="298579" y="0"/>
                  </a:lnTo>
                  <a:lnTo>
                    <a:pt x="298579" y="160522"/>
                  </a:lnTo>
                  <a:cubicBezTo>
                    <a:pt x="298579" y="205851"/>
                    <a:pt x="335325" y="242597"/>
                    <a:pt x="380654" y="242597"/>
                  </a:cubicBezTo>
                  <a:lnTo>
                    <a:pt x="2281679" y="242597"/>
                  </a:lnTo>
                  <a:cubicBezTo>
                    <a:pt x="2327008" y="242597"/>
                    <a:pt x="2363754" y="205851"/>
                    <a:pt x="2363754" y="160522"/>
                  </a:cubicBezTo>
                  <a:lnTo>
                    <a:pt x="2363754" y="0"/>
                  </a:lnTo>
                  <a:lnTo>
                    <a:pt x="2702752" y="0"/>
                  </a:lnTo>
                  <a:cubicBezTo>
                    <a:pt x="2828154" y="0"/>
                    <a:pt x="2929812" y="101658"/>
                    <a:pt x="2929812" y="227060"/>
                  </a:cubicBezTo>
                  <a:lnTo>
                    <a:pt x="2929812" y="2988892"/>
                  </a:lnTo>
                  <a:cubicBezTo>
                    <a:pt x="2929812" y="3114294"/>
                    <a:pt x="2828154" y="3215952"/>
                    <a:pt x="2702752" y="3215952"/>
                  </a:cubicBezTo>
                  <a:lnTo>
                    <a:pt x="227060" y="3215952"/>
                  </a:lnTo>
                  <a:cubicBezTo>
                    <a:pt x="101658" y="3215952"/>
                    <a:pt x="0" y="3114294"/>
                    <a:pt x="0" y="2988892"/>
                  </a:cubicBezTo>
                  <a:lnTo>
                    <a:pt x="0" y="227060"/>
                  </a:lnTo>
                  <a:cubicBezTo>
                    <a:pt x="0" y="101658"/>
                    <a:pt x="101658" y="0"/>
                    <a:pt x="227060"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3" name="Rectangle: Rounded Corners 22">
              <a:extLst>
                <a:ext uri="{FF2B5EF4-FFF2-40B4-BE49-F238E27FC236}">
                  <a16:creationId xmlns:a16="http://schemas.microsoft.com/office/drawing/2014/main" id="{665C5D5B-8439-6CF3-B036-AA3B728ECF31}"/>
                </a:ext>
              </a:extLst>
            </p:cNvPr>
            <p:cNvSpPr/>
            <p:nvPr/>
          </p:nvSpPr>
          <p:spPr>
            <a:xfrm>
              <a:off x="1069910" y="2157451"/>
              <a:ext cx="2065175"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b="1" dirty="0">
                  <a:solidFill>
                    <a:schemeClr val="bg1"/>
                  </a:solidFill>
                </a:rPr>
                <a:t>Personalize Journeys</a:t>
              </a:r>
              <a:endParaRPr lang="en-GB" sz="1600" b="1" dirty="0">
                <a:solidFill>
                  <a:schemeClr val="bg1"/>
                </a:solidFill>
              </a:endParaRPr>
            </a:p>
          </p:txBody>
        </p:sp>
      </p:grpSp>
    </p:spTree>
    <p:extLst>
      <p:ext uri="{BB962C8B-B14F-4D97-AF65-F5344CB8AC3E}">
        <p14:creationId xmlns:p14="http://schemas.microsoft.com/office/powerpoint/2010/main" val="138904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E6D7-58F9-BE56-D9E0-C93D45466DF9}"/>
              </a:ext>
            </a:extLst>
          </p:cNvPr>
          <p:cNvSpPr>
            <a:spLocks noGrp="1"/>
          </p:cNvSpPr>
          <p:nvPr>
            <p:ph type="title"/>
          </p:nvPr>
        </p:nvSpPr>
        <p:spPr/>
        <p:txBody>
          <a:bodyPr/>
          <a:lstStyle/>
          <a:p>
            <a:r>
              <a:rPr lang="en-US" dirty="0"/>
              <a:t>Tracking ID Types</a:t>
            </a:r>
            <a:endParaRPr lang="en-GB" dirty="0"/>
          </a:p>
        </p:txBody>
      </p:sp>
      <p:cxnSp>
        <p:nvCxnSpPr>
          <p:cNvPr id="3" name="Straight Connector 2">
            <a:extLst>
              <a:ext uri="{FF2B5EF4-FFF2-40B4-BE49-F238E27FC236}">
                <a16:creationId xmlns:a16="http://schemas.microsoft.com/office/drawing/2014/main" id="{D152FB28-095C-4138-B9B1-3F4EC735F4C4}"/>
              </a:ext>
            </a:extLst>
          </p:cNvPr>
          <p:cNvCxnSpPr>
            <a:cxnSpLocks/>
          </p:cNvCxnSpPr>
          <p:nvPr/>
        </p:nvCxnSpPr>
        <p:spPr>
          <a:xfrm>
            <a:off x="0" y="1694919"/>
            <a:ext cx="12192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D42CEC42-B49C-2D13-DE2B-11AFD66B1493}"/>
              </a:ext>
            </a:extLst>
          </p:cNvPr>
          <p:cNvCxnSpPr>
            <a:cxnSpLocks/>
          </p:cNvCxnSpPr>
          <p:nvPr/>
        </p:nvCxnSpPr>
        <p:spPr>
          <a:xfrm>
            <a:off x="1892561" y="3204454"/>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FC2F0993-D423-B81C-88F4-568327C69033}"/>
              </a:ext>
            </a:extLst>
          </p:cNvPr>
          <p:cNvCxnSpPr>
            <a:cxnSpLocks/>
          </p:cNvCxnSpPr>
          <p:nvPr/>
        </p:nvCxnSpPr>
        <p:spPr>
          <a:xfrm>
            <a:off x="1972775" y="407537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5C9468E8-C408-D2AB-7FA9-709CD5C6FD20}"/>
              </a:ext>
            </a:extLst>
          </p:cNvPr>
          <p:cNvSpPr txBox="1"/>
          <p:nvPr/>
        </p:nvSpPr>
        <p:spPr>
          <a:xfrm>
            <a:off x="323850" y="3488636"/>
            <a:ext cx="1280160" cy="302558"/>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What it Does</a:t>
            </a:r>
            <a:endParaRPr lang="en-GB" sz="1600" kern="1200" dirty="0" err="1">
              <a:solidFill>
                <a:schemeClr val="bg1"/>
              </a:solidFill>
              <a:latin typeface="+mn-lt"/>
              <a:ea typeface="ＭＳ Ｐゴシック" charset="0"/>
            </a:endParaRPr>
          </a:p>
        </p:txBody>
      </p:sp>
      <p:sp>
        <p:nvSpPr>
          <p:cNvPr id="31" name="TextBox 30">
            <a:extLst>
              <a:ext uri="{FF2B5EF4-FFF2-40B4-BE49-F238E27FC236}">
                <a16:creationId xmlns:a16="http://schemas.microsoft.com/office/drawing/2014/main" id="{7836EA72-DB0C-6AE9-C170-4600BDC66451}"/>
              </a:ext>
            </a:extLst>
          </p:cNvPr>
          <p:cNvSpPr txBox="1"/>
          <p:nvPr/>
        </p:nvSpPr>
        <p:spPr>
          <a:xfrm>
            <a:off x="323850" y="4754620"/>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Key Rules</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C6E39CF5-FAC2-263D-ECFF-5AA6D26D09AB}"/>
              </a:ext>
            </a:extLst>
          </p:cNvPr>
          <p:cNvSpPr txBox="1"/>
          <p:nvPr/>
        </p:nvSpPr>
        <p:spPr>
          <a:xfrm>
            <a:off x="323850" y="5918709"/>
            <a:ext cx="1280160" cy="301752"/>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Example</a:t>
            </a:r>
            <a:endParaRPr lang="en-GB" sz="1600" kern="1200" dirty="0" err="1">
              <a:solidFill>
                <a:schemeClr val="bg1"/>
              </a:solidFill>
              <a:latin typeface="+mn-lt"/>
              <a:ea typeface="ＭＳ Ｐゴシック" charset="0"/>
            </a:endParaRPr>
          </a:p>
        </p:txBody>
      </p:sp>
      <p:cxnSp>
        <p:nvCxnSpPr>
          <p:cNvPr id="34" name="Straight Connector 33">
            <a:extLst>
              <a:ext uri="{FF2B5EF4-FFF2-40B4-BE49-F238E27FC236}">
                <a16:creationId xmlns:a16="http://schemas.microsoft.com/office/drawing/2014/main" id="{AFB517D5-EC1F-E3B4-8884-FFE4FCDD363C}"/>
              </a:ext>
            </a:extLst>
          </p:cNvPr>
          <p:cNvCxnSpPr>
            <a:cxnSpLocks/>
          </p:cNvCxnSpPr>
          <p:nvPr/>
        </p:nvCxnSpPr>
        <p:spPr>
          <a:xfrm>
            <a:off x="2015542" y="5692106"/>
            <a:ext cx="9144000" cy="0"/>
          </a:xfrm>
          <a:prstGeom prst="line">
            <a:avLst/>
          </a:prstGeom>
          <a:noFill/>
          <a:ln>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nvGrpSpPr>
          <p:cNvPr id="51" name="Group 50">
            <a:extLst>
              <a:ext uri="{FF2B5EF4-FFF2-40B4-BE49-F238E27FC236}">
                <a16:creationId xmlns:a16="http://schemas.microsoft.com/office/drawing/2014/main" id="{2F72A423-B701-C765-6B46-FBED58EBE774}"/>
              </a:ext>
            </a:extLst>
          </p:cNvPr>
          <p:cNvGrpSpPr/>
          <p:nvPr/>
        </p:nvGrpSpPr>
        <p:grpSpPr>
          <a:xfrm>
            <a:off x="1935708" y="859000"/>
            <a:ext cx="2944368" cy="5518362"/>
            <a:chOff x="1935708" y="859000"/>
            <a:chExt cx="2944368" cy="5518362"/>
          </a:xfrm>
        </p:grpSpPr>
        <p:sp>
          <p:nvSpPr>
            <p:cNvPr id="6" name="TextBox 5">
              <a:extLst>
                <a:ext uri="{FF2B5EF4-FFF2-40B4-BE49-F238E27FC236}">
                  <a16:creationId xmlns:a16="http://schemas.microsoft.com/office/drawing/2014/main" id="{77C7EAC6-B28F-030E-4D1C-1A7F5965F358}"/>
                </a:ext>
              </a:extLst>
            </p:cNvPr>
            <p:cNvSpPr txBox="1"/>
            <p:nvPr>
              <p:custDataLst>
                <p:tags r:id="rId11"/>
              </p:custDataLst>
            </p:nvPr>
          </p:nvSpPr>
          <p:spPr>
            <a:xfrm>
              <a:off x="213796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Activity ID</a:t>
              </a:r>
            </a:p>
          </p:txBody>
        </p:sp>
        <p:grpSp>
          <p:nvGrpSpPr>
            <p:cNvPr id="22" name="Group 21">
              <a:extLst>
                <a:ext uri="{FF2B5EF4-FFF2-40B4-BE49-F238E27FC236}">
                  <a16:creationId xmlns:a16="http://schemas.microsoft.com/office/drawing/2014/main" id="{DD7F81BE-04F6-AFAA-AED3-0414ADB924AD}"/>
                </a:ext>
              </a:extLst>
            </p:cNvPr>
            <p:cNvGrpSpPr/>
            <p:nvPr/>
          </p:nvGrpSpPr>
          <p:grpSpPr>
            <a:xfrm>
              <a:off x="3014726" y="1301754"/>
              <a:ext cx="786332" cy="786331"/>
              <a:chOff x="2401016" y="1237421"/>
              <a:chExt cx="786332" cy="786331"/>
            </a:xfrm>
          </p:grpSpPr>
          <p:sp>
            <p:nvSpPr>
              <p:cNvPr id="5" name="Shape1_20250523_195849">
                <a:extLst>
                  <a:ext uri="{FF2B5EF4-FFF2-40B4-BE49-F238E27FC236}">
                    <a16:creationId xmlns:a16="http://schemas.microsoft.com/office/drawing/2014/main" id="{23226C90-692E-903A-C0E5-B201B233B8E6}"/>
                  </a:ext>
                </a:extLst>
              </p:cNvPr>
              <p:cNvSpPr txBox="1">
                <a:spLocks noChangeAspect="1"/>
              </p:cNvSpPr>
              <p:nvPr>
                <p:custDataLst>
                  <p:tags r:id="rId14"/>
                </p:custDataLst>
              </p:nvPr>
            </p:nvSpPr>
            <p:spPr>
              <a:xfrm>
                <a:off x="2401016" y="123742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8" name="dark1" descr="Mandala with solid fill">
                <a:extLst>
                  <a:ext uri="{FF2B5EF4-FFF2-40B4-BE49-F238E27FC236}">
                    <a16:creationId xmlns:a16="http://schemas.microsoft.com/office/drawing/2014/main" id="{71B791A4-A4E3-6376-C283-232F6844BFCE}"/>
                  </a:ext>
                </a:extLst>
              </p:cNvPr>
              <p:cNvPicPr>
                <a:picLocks noChangeAspect="1"/>
              </p:cNvPicPr>
              <p:nvPr>
                <p:custDataLst>
                  <p:tags r:id="rId15"/>
                </p:custDataLst>
              </p:nvPr>
            </p:nvPicPr>
            <p:blipFill>
              <a:blip>
                <a:extLst>
                  <a:ext uri="{96DAC541-7B7A-43D3-8B79-37D633B846F1}">
                    <asvg:svgBlip xmlns:asvg="http://schemas.microsoft.com/office/drawing/2016/SVG/main" r:embed="rId18"/>
                  </a:ext>
                </a:extLst>
              </a:blip>
              <a:srcRect/>
              <a:stretch/>
            </p:blipFill>
            <p:spPr>
              <a:xfrm>
                <a:off x="2517484" y="1353888"/>
                <a:ext cx="553396" cy="553396"/>
              </a:xfrm>
              <a:prstGeom prst="rect">
                <a:avLst/>
              </a:prstGeom>
            </p:spPr>
          </p:pic>
        </p:grpSp>
        <p:sp>
          <p:nvSpPr>
            <p:cNvPr id="7" name="TextBox 6">
              <a:extLst>
                <a:ext uri="{FF2B5EF4-FFF2-40B4-BE49-F238E27FC236}">
                  <a16:creationId xmlns:a16="http://schemas.microsoft.com/office/drawing/2014/main" id="{C0528976-02CC-EE72-2174-76E6047FE8D5}"/>
                </a:ext>
              </a:extLst>
            </p:cNvPr>
            <p:cNvSpPr txBox="1"/>
            <p:nvPr>
              <p:custDataLst>
                <p:tags r:id="rId12"/>
              </p:custDataLst>
            </p:nvPr>
          </p:nvSpPr>
          <p:spPr>
            <a:xfrm>
              <a:off x="1935708" y="2164436"/>
              <a:ext cx="2944368" cy="970317"/>
            </a:xfrm>
            <a:prstGeom prst="rect">
              <a:avLst/>
            </a:prstGeom>
            <a:noFill/>
          </p:spPr>
          <p:txBody>
            <a:bodyPr vert="horz" wrap="square" lIns="18288" tIns="18288" rIns="18288" bIns="18288" rtlCol="0" anchor="t">
              <a:no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lvl="0" algn="ctr"/>
              <a:r>
                <a:rPr lang="en-GB" sz="1200" dirty="0">
                  <a:solidFill>
                    <a:schemeClr val="bg1"/>
                  </a:solidFill>
                  <a:latin typeface="+mn-lt"/>
                </a:rPr>
                <a:t>The </a:t>
              </a:r>
              <a:r>
                <a:rPr lang="en-GB" sz="1200" b="1" dirty="0">
                  <a:solidFill>
                    <a:schemeClr val="bg1"/>
                  </a:solidFill>
                  <a:latin typeface="+mn-lt"/>
                </a:rPr>
                <a:t>Activity ID</a:t>
              </a:r>
              <a:r>
                <a:rPr lang="en-GB" sz="1200" dirty="0">
                  <a:solidFill>
                    <a:schemeClr val="bg1"/>
                  </a:solidFill>
                  <a:latin typeface="+mn-lt"/>
                </a:rPr>
                <a:t> is the foundational umbrella identifier used to track specific marketing initiatives that generate customer activity in support of global campaigns and programs.</a:t>
              </a:r>
              <a:endParaRPr kumimoji="0" lang="en-IN" sz="1200" b="0" i="0" u="none" strike="noStrike" kern="1200" cap="none" spc="0" normalizeH="0" baseline="0" noProof="0" dirty="0">
                <a:solidFill>
                  <a:schemeClr val="bg1"/>
                </a:solidFill>
                <a:uLnTx/>
                <a:uFillTx/>
                <a:latin typeface="+mn-lt"/>
                <a:ea typeface="ＭＳ Ｐゴシック" charset="0"/>
                <a:cs typeface="CiscoSansTT Light" panose="020B0503020201020303" pitchFamily="34" charset="0"/>
                <a:sym typeface="Wingdings"/>
              </a:endParaRPr>
            </a:p>
          </p:txBody>
        </p:sp>
        <p:sp>
          <p:nvSpPr>
            <p:cNvPr id="19" name="TextBox 18">
              <a:extLst>
                <a:ext uri="{FF2B5EF4-FFF2-40B4-BE49-F238E27FC236}">
                  <a16:creationId xmlns:a16="http://schemas.microsoft.com/office/drawing/2014/main" id="{DC744436-9A59-01CA-167B-D417824192CD}"/>
                </a:ext>
              </a:extLst>
            </p:cNvPr>
            <p:cNvSpPr txBox="1"/>
            <p:nvPr>
              <p:custDataLst>
                <p:tags r:id="rId13"/>
              </p:custDataLst>
            </p:nvPr>
          </p:nvSpPr>
          <p:spPr>
            <a:xfrm>
              <a:off x="1935708"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Acts as the mandatory trigger for lead generation, entering the scoring program, and adding prospects to nurture journeys.</a:t>
              </a:r>
              <a:endParaRPr lang="en-IN" sz="1000" dirty="0">
                <a:sym typeface="Wingdings"/>
              </a:endParaRPr>
            </a:p>
          </p:txBody>
        </p:sp>
        <p:sp>
          <p:nvSpPr>
            <p:cNvPr id="39" name="Rectangle 3">
              <a:extLst>
                <a:ext uri="{FF2B5EF4-FFF2-40B4-BE49-F238E27FC236}">
                  <a16:creationId xmlns:a16="http://schemas.microsoft.com/office/drawing/2014/main" id="{EA4495F9-0935-F2DB-B623-22C3163E1090}"/>
                </a:ext>
              </a:extLst>
            </p:cNvPr>
            <p:cNvSpPr>
              <a:spLocks noChangeArrowheads="1"/>
            </p:cNvSpPr>
            <p:nvPr/>
          </p:nvSpPr>
          <p:spPr bwMode="auto">
            <a:xfrm>
              <a:off x="1935708" y="4222022"/>
              <a:ext cx="294436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bg1"/>
                  </a:solidFill>
                  <a:effectLst/>
                </a:rPr>
                <a:t>Financial Alignment:</a:t>
              </a:r>
              <a:r>
                <a:rPr kumimoji="0" lang="en-US" altLang="en-US" sz="1000" b="0" i="0" u="none" strike="noStrike" cap="none" normalizeH="0" baseline="0" dirty="0">
                  <a:ln>
                    <a:noFill/>
                  </a:ln>
                  <a:solidFill>
                    <a:schemeClr val="bg1"/>
                  </a:solidFill>
                  <a:effectLst/>
                </a:rPr>
                <a:t> Every Activity ID </a:t>
              </a:r>
              <a:r>
                <a:rPr kumimoji="0" lang="en-US" altLang="en-US" sz="1000" b="1" i="0" u="none" strike="noStrike" cap="none" normalizeH="0" baseline="0" dirty="0">
                  <a:ln>
                    <a:noFill/>
                  </a:ln>
                  <a:solidFill>
                    <a:schemeClr val="bg1"/>
                  </a:solidFill>
                  <a:effectLst/>
                </a:rPr>
                <a:t>must</a:t>
              </a:r>
              <a:r>
                <a:rPr kumimoji="0" lang="en-US" altLang="en-US" sz="1000" b="0" i="0" u="none" strike="noStrike" cap="none" normalizeH="0" baseline="0" dirty="0">
                  <a:ln>
                    <a:noFill/>
                  </a:ln>
                  <a:solidFill>
                    <a:schemeClr val="bg1"/>
                  </a:solidFill>
                  <a:effectLst/>
                </a:rPr>
                <a:t> align with a specific cost value in marketing (e.g., an Allocadia budget line item, formal sales requests, or a specific series of events/webinars).</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bg1"/>
                  </a:solidFill>
                  <a:effectLst/>
                </a:rPr>
                <a:t>Naming Convention:</a:t>
              </a:r>
              <a:r>
                <a:rPr kumimoji="0" lang="en-US" altLang="en-US" sz="1000" b="0" i="0" u="none" strike="noStrike" cap="none" normalizeH="0" baseline="0" dirty="0">
                  <a:ln>
                    <a:noFill/>
                  </a:ln>
                  <a:solidFill>
                    <a:schemeClr val="bg1"/>
                  </a:solidFill>
                  <a:effectLst/>
                </a:rPr>
                <a:t> Names must reflect the specific marketing initiative, including its objective and target audience.</a:t>
              </a:r>
            </a:p>
          </p:txBody>
        </p:sp>
        <p:sp>
          <p:nvSpPr>
            <p:cNvPr id="44" name="TextBox 43">
              <a:extLst>
                <a:ext uri="{FF2B5EF4-FFF2-40B4-BE49-F238E27FC236}">
                  <a16:creationId xmlns:a16="http://schemas.microsoft.com/office/drawing/2014/main" id="{5C772AEB-0401-9798-95D0-282CE5AD06CC}"/>
                </a:ext>
              </a:extLst>
            </p:cNvPr>
            <p:cNvSpPr txBox="1"/>
            <p:nvPr/>
          </p:nvSpPr>
          <p:spPr>
            <a:xfrm>
              <a:off x="1935708" y="5761809"/>
              <a:ext cx="294436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bg1"/>
                  </a:solidFill>
                </a:defRPr>
              </a:lvl1pPr>
            </a:lstStyle>
            <a:p>
              <a:r>
                <a:rPr lang="en-GB" dirty="0">
                  <a:solidFill>
                    <a:schemeClr val="accent2"/>
                  </a:solidFill>
                </a:rPr>
                <a:t>cc0013423</a:t>
              </a:r>
            </a:p>
            <a:p>
              <a:r>
                <a:rPr lang="en-GB" sz="800" dirty="0">
                  <a:solidFill>
                    <a:schemeClr val="accent2"/>
                  </a:solidFill>
                </a:rPr>
                <a:t>EMEA Band A Digital Marketing - ABX Cross-sell Cloud management solution to Manufacturing Catalyst customers</a:t>
              </a:r>
            </a:p>
          </p:txBody>
        </p:sp>
      </p:grpSp>
      <p:grpSp>
        <p:nvGrpSpPr>
          <p:cNvPr id="52" name="Group 51">
            <a:extLst>
              <a:ext uri="{FF2B5EF4-FFF2-40B4-BE49-F238E27FC236}">
                <a16:creationId xmlns:a16="http://schemas.microsoft.com/office/drawing/2014/main" id="{C1B9F61A-EFCD-F04D-7B98-4C108F25F6C8}"/>
              </a:ext>
            </a:extLst>
          </p:cNvPr>
          <p:cNvGrpSpPr/>
          <p:nvPr/>
        </p:nvGrpSpPr>
        <p:grpSpPr>
          <a:xfrm>
            <a:off x="5176266" y="859000"/>
            <a:ext cx="2944368" cy="5272141"/>
            <a:chOff x="4998238" y="859000"/>
            <a:chExt cx="2944368" cy="5272141"/>
          </a:xfrm>
        </p:grpSpPr>
        <p:sp>
          <p:nvSpPr>
            <p:cNvPr id="11" name="TextBox 10">
              <a:extLst>
                <a:ext uri="{FF2B5EF4-FFF2-40B4-BE49-F238E27FC236}">
                  <a16:creationId xmlns:a16="http://schemas.microsoft.com/office/drawing/2014/main" id="{5E1B3A82-9CE6-5B6D-53CB-C26897A774FE}"/>
                </a:ext>
              </a:extLst>
            </p:cNvPr>
            <p:cNvSpPr txBox="1"/>
            <p:nvPr>
              <p:custDataLst>
                <p:tags r:id="rId6"/>
              </p:custDataLst>
            </p:nvPr>
          </p:nvSpPr>
          <p:spPr>
            <a:xfrm>
              <a:off x="5200498"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rPr>
                <a:t>Drive To ID</a:t>
              </a:r>
            </a:p>
          </p:txBody>
        </p:sp>
        <p:grpSp>
          <p:nvGrpSpPr>
            <p:cNvPr id="23" name="Group 22">
              <a:extLst>
                <a:ext uri="{FF2B5EF4-FFF2-40B4-BE49-F238E27FC236}">
                  <a16:creationId xmlns:a16="http://schemas.microsoft.com/office/drawing/2014/main" id="{F5FFC877-AD7E-41A8-426F-93B2A87F9ECF}"/>
                </a:ext>
              </a:extLst>
            </p:cNvPr>
            <p:cNvGrpSpPr/>
            <p:nvPr/>
          </p:nvGrpSpPr>
          <p:grpSpPr>
            <a:xfrm>
              <a:off x="6077256" y="1301754"/>
              <a:ext cx="786332" cy="786331"/>
              <a:chOff x="4981422" y="1366087"/>
              <a:chExt cx="786332" cy="786331"/>
            </a:xfrm>
          </p:grpSpPr>
          <p:sp>
            <p:nvSpPr>
              <p:cNvPr id="10" name="Shape2_20250523_195849">
                <a:extLst>
                  <a:ext uri="{FF2B5EF4-FFF2-40B4-BE49-F238E27FC236}">
                    <a16:creationId xmlns:a16="http://schemas.microsoft.com/office/drawing/2014/main" id="{C7C037AF-2E26-463F-6B96-AB83A1C3A42C}"/>
                  </a:ext>
                </a:extLst>
              </p:cNvPr>
              <p:cNvSpPr txBox="1">
                <a:spLocks noChangeAspect="1"/>
              </p:cNvSpPr>
              <p:nvPr>
                <p:custDataLst>
                  <p:tags r:id="rId9"/>
                </p:custDataLst>
              </p:nvPr>
            </p:nvSpPr>
            <p:spPr>
              <a:xfrm>
                <a:off x="4981422" y="136608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a:sym typeface="Arial"/>
                  </a:rPr>
                  <a:t> </a:t>
                </a:r>
                <a:endParaRPr>
                  <a:sym typeface="Arial"/>
                </a:endParaRPr>
              </a:p>
            </p:txBody>
          </p:sp>
          <p:pic>
            <p:nvPicPr>
              <p:cNvPr id="13" name="dark2" descr="Steering Wheel with solid fill">
                <a:extLst>
                  <a:ext uri="{FF2B5EF4-FFF2-40B4-BE49-F238E27FC236}">
                    <a16:creationId xmlns:a16="http://schemas.microsoft.com/office/drawing/2014/main" id="{DCB98C5D-DEEC-BF2F-833D-48640A23F757}"/>
                  </a:ext>
                </a:extLst>
              </p:cNvPr>
              <p:cNvPicPr>
                <a:picLocks noChangeAspect="1"/>
              </p:cNvPicPr>
              <p:nvPr>
                <p:custDataLst>
                  <p:tags r:id="rId10"/>
                </p:custDataLst>
              </p:nvPr>
            </p:nvPicPr>
            <p:blipFill>
              <a:blip>
                <a:extLst>
                  <a:ext uri="{96DAC541-7B7A-43D3-8B79-37D633B846F1}">
                    <asvg:svgBlip xmlns:asvg="http://schemas.microsoft.com/office/drawing/2016/SVG/main" r:embed="rId19"/>
                  </a:ext>
                </a:extLst>
              </a:blip>
              <a:srcRect/>
              <a:stretch/>
            </p:blipFill>
            <p:spPr>
              <a:xfrm>
                <a:off x="5102911" y="1487575"/>
                <a:ext cx="543355" cy="543355"/>
              </a:xfrm>
              <a:prstGeom prst="rect">
                <a:avLst/>
              </a:prstGeom>
            </p:spPr>
          </p:pic>
        </p:grpSp>
        <p:sp>
          <p:nvSpPr>
            <p:cNvPr id="12" name="TextBox 11">
              <a:extLst>
                <a:ext uri="{FF2B5EF4-FFF2-40B4-BE49-F238E27FC236}">
                  <a16:creationId xmlns:a16="http://schemas.microsoft.com/office/drawing/2014/main" id="{79591D38-232F-C703-F1F7-248E81F24772}"/>
                </a:ext>
              </a:extLst>
            </p:cNvPr>
            <p:cNvSpPr txBox="1"/>
            <p:nvPr>
              <p:custDataLst>
                <p:tags r:id="rId7"/>
              </p:custDataLst>
            </p:nvPr>
          </p:nvSpPr>
          <p:spPr>
            <a:xfrm>
              <a:off x="4998238" y="2164436"/>
              <a:ext cx="2944368" cy="970317"/>
            </a:xfrm>
            <a:prstGeom prst="rect">
              <a:avLst/>
            </a:prstGeom>
            <a:noFill/>
          </p:spPr>
          <p:txBody>
            <a:bodyPr vert="horz" wrap="square" lIns="18288" tIns="18288" rIns="18288" bIns="18288" rtlCol="0" anchor="t">
              <a:no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Drive To ID </a:t>
              </a:r>
              <a:r>
                <a:rPr lang="en-GB" dirty="0"/>
                <a:t>denotes the specific marketing channel or vehicle being used to direct customers to our digital destinations (such as Cisco.com).</a:t>
              </a:r>
              <a:endParaRPr lang="en-IN" dirty="0">
                <a:sym typeface="Wingdings"/>
              </a:endParaRPr>
            </a:p>
          </p:txBody>
        </p:sp>
        <p:sp>
          <p:nvSpPr>
            <p:cNvPr id="20" name="TextBox 19">
              <a:extLst>
                <a:ext uri="{FF2B5EF4-FFF2-40B4-BE49-F238E27FC236}">
                  <a16:creationId xmlns:a16="http://schemas.microsoft.com/office/drawing/2014/main" id="{468069DE-1119-4C29-EDE9-ECA2D2422C40}"/>
                </a:ext>
              </a:extLst>
            </p:cNvPr>
            <p:cNvSpPr txBox="1"/>
            <p:nvPr>
              <p:custDataLst>
                <p:tags r:id="rId8"/>
              </p:custDataLst>
            </p:nvPr>
          </p:nvSpPr>
          <p:spPr>
            <a:xfrm>
              <a:off x="4998238"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Tracks the path a user took to get to our site, such as Paid Search or social media platforms.</a:t>
              </a:r>
              <a:endParaRPr lang="en-IN" sz="1000" dirty="0">
                <a:sym typeface="Wingdings"/>
              </a:endParaRPr>
            </a:p>
          </p:txBody>
        </p:sp>
        <p:sp>
          <p:nvSpPr>
            <p:cNvPr id="41" name="Rectangle 4">
              <a:extLst>
                <a:ext uri="{FF2B5EF4-FFF2-40B4-BE49-F238E27FC236}">
                  <a16:creationId xmlns:a16="http://schemas.microsoft.com/office/drawing/2014/main" id="{BCD46CAD-5981-7EBD-8F3A-DE06CE9684E3}"/>
                </a:ext>
              </a:extLst>
            </p:cNvPr>
            <p:cNvSpPr>
              <a:spLocks noChangeArrowheads="1"/>
            </p:cNvSpPr>
            <p:nvPr/>
          </p:nvSpPr>
          <p:spPr bwMode="auto">
            <a:xfrm>
              <a:off x="4998238" y="4298966"/>
              <a:ext cx="294436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b="1" dirty="0">
                  <a:solidFill>
                    <a:schemeClr val="bg1"/>
                  </a:solidFill>
                </a:rPr>
                <a:t>One-to-Many Relationship: </a:t>
              </a:r>
              <a:r>
                <a:rPr lang="en-US" altLang="en-US" sz="1000" dirty="0">
                  <a:solidFill>
                    <a:schemeClr val="bg1"/>
                  </a:solidFill>
                </a:rPr>
                <a:t>A single Activity ID can be communicated through one or multiple Drive To IDs (e.g., one campaign running across both Facebook and LinkedIn).</a:t>
              </a:r>
            </a:p>
            <a:p>
              <a:pPr eaLnBrk="0" fontAlgn="base" hangingPunct="0">
                <a:spcBef>
                  <a:spcPct val="0"/>
                </a:spcBef>
                <a:spcAft>
                  <a:spcPct val="0"/>
                </a:spcAft>
                <a:tabLst>
                  <a:tab pos="2003425" algn="l"/>
                </a:tabLst>
              </a:pPr>
              <a:r>
                <a:rPr lang="en-US" altLang="en-US" sz="1000" b="1" dirty="0">
                  <a:solidFill>
                    <a:schemeClr val="bg1"/>
                  </a:solidFill>
                </a:rPr>
                <a:t>Exceptions: </a:t>
              </a:r>
              <a:r>
                <a:rPr lang="en-US" altLang="en-US" sz="1000" dirty="0">
                  <a:solidFill>
                    <a:schemeClr val="bg1"/>
                  </a:solidFill>
                </a:rPr>
                <a:t>Not all marketing vehicles will require a Drive To ID (e.g., offline or non-digital channels like direct audio).</a:t>
              </a:r>
            </a:p>
          </p:txBody>
        </p:sp>
        <p:sp>
          <p:nvSpPr>
            <p:cNvPr id="45" name="TextBox 44">
              <a:extLst>
                <a:ext uri="{FF2B5EF4-FFF2-40B4-BE49-F238E27FC236}">
                  <a16:creationId xmlns:a16="http://schemas.microsoft.com/office/drawing/2014/main" id="{AF59B741-ABCB-7758-E079-D67521D19BD3}"/>
                </a:ext>
              </a:extLst>
            </p:cNvPr>
            <p:cNvSpPr txBox="1"/>
            <p:nvPr/>
          </p:nvSpPr>
          <p:spPr>
            <a:xfrm>
              <a:off x="4998238" y="5761809"/>
              <a:ext cx="2944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800" b="1">
                  <a:solidFill>
                    <a:schemeClr val="accent2"/>
                  </a:solidFill>
                </a:defRPr>
              </a:lvl1pPr>
            </a:lstStyle>
            <a:p>
              <a:r>
                <a:rPr lang="en-GB" sz="1000" dirty="0"/>
                <a:t>oemels001119</a:t>
              </a:r>
            </a:p>
            <a:p>
              <a:r>
                <a:rPr lang="en-GB" dirty="0"/>
                <a:t>Owned - Email - Eloqua Campaign Emails</a:t>
              </a:r>
            </a:p>
          </p:txBody>
        </p:sp>
      </p:grpSp>
      <p:grpSp>
        <p:nvGrpSpPr>
          <p:cNvPr id="53" name="Group 52">
            <a:extLst>
              <a:ext uri="{FF2B5EF4-FFF2-40B4-BE49-F238E27FC236}">
                <a16:creationId xmlns:a16="http://schemas.microsoft.com/office/drawing/2014/main" id="{40A30337-318C-09FE-6919-43FDD6D64C9A}"/>
              </a:ext>
            </a:extLst>
          </p:cNvPr>
          <p:cNvGrpSpPr/>
          <p:nvPr/>
        </p:nvGrpSpPr>
        <p:grpSpPr>
          <a:xfrm>
            <a:off x="8416824" y="859000"/>
            <a:ext cx="2944368" cy="5379863"/>
            <a:chOff x="8416824" y="859000"/>
            <a:chExt cx="2944368" cy="5379863"/>
          </a:xfrm>
        </p:grpSpPr>
        <p:sp>
          <p:nvSpPr>
            <p:cNvPr id="16" name="TextBox 15">
              <a:extLst>
                <a:ext uri="{FF2B5EF4-FFF2-40B4-BE49-F238E27FC236}">
                  <a16:creationId xmlns:a16="http://schemas.microsoft.com/office/drawing/2014/main" id="{8A7A35A0-03EE-19E9-7969-2207779240B9}"/>
                </a:ext>
              </a:extLst>
            </p:cNvPr>
            <p:cNvSpPr txBox="1"/>
            <p:nvPr>
              <p:custDataLst>
                <p:tags r:id="rId1"/>
              </p:custDataLst>
            </p:nvPr>
          </p:nvSpPr>
          <p:spPr>
            <a:xfrm>
              <a:off x="8619084" y="859000"/>
              <a:ext cx="2539848" cy="494379"/>
            </a:xfrm>
            <a:prstGeom prst="rect">
              <a:avLst/>
            </a:prstGeom>
            <a:noFill/>
          </p:spPr>
          <p:txBody>
            <a:bodyPr vert="horz" wrap="square" lIns="18288" tIns="18288" rIns="18288" bIns="18288" rtlCol="0" anchor="ctr">
              <a:normAutofit/>
            </a:bodyPr>
            <a:lstStyle>
              <a:defPPr>
                <a:defRPr lang="en-US"/>
              </a:defPPr>
              <a:lvl1pPr algn="l" defTabSz="609559" rtl="0" fontAlgn="base">
                <a:spcBef>
                  <a:spcPct val="0"/>
                </a:spcBef>
                <a:spcAft>
                  <a:spcPct val="0"/>
                </a:spcAft>
                <a:defRPr kern="1200">
                  <a:solidFill>
                    <a:schemeClr val="tx1"/>
                  </a:solidFill>
                  <a:latin typeface="Arial"/>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a:ea typeface="ＭＳ Ｐゴシック" charset="0"/>
                  <a:cs typeface="ＭＳ Ｐゴシック" charset="0"/>
                </a:defRPr>
              </a:lvl5pPr>
              <a:lvl6pPr marL="3047797" algn="l" defTabSz="609559" rtl="0" eaLnBrk="1" latinLnBrk="0" hangingPunct="1">
                <a:defRPr kern="1200">
                  <a:solidFill>
                    <a:schemeClr val="tx1"/>
                  </a:solidFill>
                  <a:latin typeface="Arial"/>
                  <a:ea typeface="ＭＳ Ｐゴシック" charset="0"/>
                  <a:cs typeface="ＭＳ Ｐゴシック" charset="0"/>
                </a:defRPr>
              </a:lvl6pPr>
              <a:lvl7pPr marL="3657357" algn="l" defTabSz="609559" rtl="0" eaLnBrk="1" latinLnBrk="0" hangingPunct="1">
                <a:defRPr kern="1200">
                  <a:solidFill>
                    <a:schemeClr val="tx1"/>
                  </a:solidFill>
                  <a:latin typeface="Arial"/>
                  <a:ea typeface="ＭＳ Ｐゴシック" charset="0"/>
                  <a:cs typeface="ＭＳ Ｐゴシック" charset="0"/>
                </a:defRPr>
              </a:lvl7pPr>
              <a:lvl8pPr marL="4266915" algn="l" defTabSz="609559" rtl="0" eaLnBrk="1" latinLnBrk="0" hangingPunct="1">
                <a:defRPr kern="1200">
                  <a:solidFill>
                    <a:schemeClr val="tx1"/>
                  </a:solidFill>
                  <a:latin typeface="Arial"/>
                  <a:ea typeface="ＭＳ Ｐゴシック" charset="0"/>
                  <a:cs typeface="ＭＳ Ｐゴシック" charset="0"/>
                </a:defRPr>
              </a:lvl8pPr>
              <a:lvl9pPr marL="4876475" algn="l" defTabSz="609559" rtl="0" eaLnBrk="1" latinLnBrk="0" hangingPunct="1">
                <a:defRPr kern="1200">
                  <a:solidFill>
                    <a:schemeClr val="tx1"/>
                  </a:solidFill>
                  <a:latin typeface="Arial"/>
                  <a:ea typeface="ＭＳ Ｐゴシック" charset="0"/>
                  <a:cs typeface="ＭＳ Ｐゴシック" charset="0"/>
                </a:defRPr>
              </a:lvl9pPr>
            </a:lstStyle>
            <a:p>
              <a:pPr marL="0" marR="0" lvl="0" indent="0" algn="ctr" defTabSz="609559" fontAlgn="base">
                <a:lnSpc>
                  <a:spcPct val="100000"/>
                </a:lnSpc>
                <a:spcBef>
                  <a:spcPct val="0"/>
                </a:spcBef>
                <a:spcAft>
                  <a:spcPct val="0"/>
                </a:spcAft>
                <a:buSzTx/>
                <a:buNone/>
              </a:pPr>
              <a:r>
                <a:rPr lang="en-IN" b="1" dirty="0">
                  <a:solidFill>
                    <a:srgbClr val="07182D"/>
                  </a:solidFill>
                  <a:latin typeface="CiscoSansTT" panose="020B0503020201020303" pitchFamily="34" charset="0"/>
                  <a:cs typeface="CiscoSansTT" panose="020B0503020201020303" pitchFamily="34" charset="0"/>
                  <a:sym typeface="Wingdings"/>
                </a:rPr>
                <a:t>Offer ID</a:t>
              </a:r>
              <a:endParaRPr kumimoji="0" lang="en-IN" sz="1800" b="1" i="0" u="none" strike="noStrike" kern="1200" cap="none" spc="0" normalizeH="0" baseline="0" noProof="0" dirty="0">
                <a:solidFill>
                  <a:srgbClr val="07182D"/>
                </a:solidFill>
                <a:uLnTx/>
                <a:uFillTx/>
                <a:latin typeface="CiscoSansTT" panose="020B0503020201020303" pitchFamily="34" charset="0"/>
                <a:ea typeface="ＭＳ Ｐゴシック" charset="0"/>
                <a:cs typeface="CiscoSansTT" panose="020B0503020201020303" pitchFamily="34" charset="0"/>
                <a:sym typeface="Wingdings"/>
              </a:endParaRPr>
            </a:p>
          </p:txBody>
        </p:sp>
        <p:sp>
          <p:nvSpPr>
            <p:cNvPr id="17" name="TextBox 16">
              <a:extLst>
                <a:ext uri="{FF2B5EF4-FFF2-40B4-BE49-F238E27FC236}">
                  <a16:creationId xmlns:a16="http://schemas.microsoft.com/office/drawing/2014/main" id="{83E8E3F1-7B33-A2CD-F83D-27BF4E0D7CCB}"/>
                </a:ext>
              </a:extLst>
            </p:cNvPr>
            <p:cNvSpPr txBox="1"/>
            <p:nvPr>
              <p:custDataLst>
                <p:tags r:id="rId2"/>
              </p:custDataLst>
            </p:nvPr>
          </p:nvSpPr>
          <p:spPr>
            <a:xfrm>
              <a:off x="8416824" y="2164436"/>
              <a:ext cx="2944368" cy="970317"/>
            </a:xfrm>
            <a:prstGeom prst="rect">
              <a:avLst/>
            </a:prstGeom>
            <a:noFill/>
          </p:spPr>
          <p:txBody>
            <a:bodyPr vert="horz" wrap="square" lIns="18288" tIns="18288" rIns="18288" bIns="18288" rtlCol="0" anchor="t">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dirty="0"/>
                <a:t>The </a:t>
              </a:r>
              <a:r>
                <a:rPr lang="en-GB" b="1" dirty="0"/>
                <a:t>Offer ID </a:t>
              </a:r>
              <a:r>
                <a:rPr lang="en-GB" dirty="0"/>
                <a:t>tracks the specific value exchange given to customers to encourage engagement.</a:t>
              </a:r>
              <a:endParaRPr lang="en-IN" dirty="0">
                <a:sym typeface="Wingdings"/>
              </a:endParaRPr>
            </a:p>
          </p:txBody>
        </p:sp>
        <p:grpSp>
          <p:nvGrpSpPr>
            <p:cNvPr id="24" name="Group 23">
              <a:extLst>
                <a:ext uri="{FF2B5EF4-FFF2-40B4-BE49-F238E27FC236}">
                  <a16:creationId xmlns:a16="http://schemas.microsoft.com/office/drawing/2014/main" id="{B757657E-9313-FFC7-7014-E41779436A94}"/>
                </a:ext>
              </a:extLst>
            </p:cNvPr>
            <p:cNvGrpSpPr/>
            <p:nvPr/>
          </p:nvGrpSpPr>
          <p:grpSpPr>
            <a:xfrm>
              <a:off x="9495842" y="1301754"/>
              <a:ext cx="786332" cy="786331"/>
              <a:chOff x="9431957" y="1247111"/>
              <a:chExt cx="786332" cy="786331"/>
            </a:xfrm>
          </p:grpSpPr>
          <p:sp>
            <p:nvSpPr>
              <p:cNvPr id="15" name="Shape3_20250523_195849">
                <a:extLst>
                  <a:ext uri="{FF2B5EF4-FFF2-40B4-BE49-F238E27FC236}">
                    <a16:creationId xmlns:a16="http://schemas.microsoft.com/office/drawing/2014/main" id="{026B841E-F32C-7980-B1D8-D02CF174DD7D}"/>
                  </a:ext>
                </a:extLst>
              </p:cNvPr>
              <p:cNvSpPr txBox="1">
                <a:spLocks noChangeAspect="1"/>
              </p:cNvSpPr>
              <p:nvPr>
                <p:custDataLst>
                  <p:tags r:id="rId4"/>
                </p:custDataLst>
              </p:nvPr>
            </p:nvSpPr>
            <p:spPr>
              <a:xfrm>
                <a:off x="9431957" y="124711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r>
                  <a:rPr lang="en-IN" dirty="0">
                    <a:sym typeface="Arial"/>
                  </a:rPr>
                  <a:t> </a:t>
                </a:r>
                <a:endParaRPr dirty="0">
                  <a:sym typeface="Arial"/>
                </a:endParaRPr>
              </a:p>
            </p:txBody>
          </p:sp>
          <p:pic>
            <p:nvPicPr>
              <p:cNvPr id="18" name="dark3" descr="Shield Tick with solid fill">
                <a:extLst>
                  <a:ext uri="{FF2B5EF4-FFF2-40B4-BE49-F238E27FC236}">
                    <a16:creationId xmlns:a16="http://schemas.microsoft.com/office/drawing/2014/main" id="{79D934DF-C0CE-3769-75F6-36DC31DB1928}"/>
                  </a:ext>
                </a:extLst>
              </p:cNvPr>
              <p:cNvPicPr>
                <a:picLocks noChangeAspect="1"/>
              </p:cNvPicPr>
              <p:nvPr>
                <p:custDataLst>
                  <p:tags r:id="rId5"/>
                </p:custDataLst>
              </p:nvPr>
            </p:nvPicPr>
            <p:blipFill>
              <a:blip>
                <a:extLst>
                  <a:ext uri="{96DAC541-7B7A-43D3-8B79-37D633B846F1}">
                    <asvg:svgBlip xmlns:asvg="http://schemas.microsoft.com/office/drawing/2016/SVG/main" r:embed="rId20"/>
                  </a:ext>
                </a:extLst>
              </a:blip>
              <a:srcRect/>
              <a:stretch/>
            </p:blipFill>
            <p:spPr>
              <a:xfrm>
                <a:off x="9548425" y="1363578"/>
                <a:ext cx="553396" cy="553396"/>
              </a:xfrm>
              <a:prstGeom prst="rect">
                <a:avLst/>
              </a:prstGeom>
            </p:spPr>
          </p:pic>
        </p:grpSp>
        <p:sp>
          <p:nvSpPr>
            <p:cNvPr id="21" name="TextBox 20">
              <a:extLst>
                <a:ext uri="{FF2B5EF4-FFF2-40B4-BE49-F238E27FC236}">
                  <a16:creationId xmlns:a16="http://schemas.microsoft.com/office/drawing/2014/main" id="{E6B62D36-F7C1-A801-0693-D2BEBE80E7E6}"/>
                </a:ext>
              </a:extLst>
            </p:cNvPr>
            <p:cNvSpPr txBox="1"/>
            <p:nvPr>
              <p:custDataLst>
                <p:tags r:id="rId3"/>
              </p:custDataLst>
            </p:nvPr>
          </p:nvSpPr>
          <p:spPr>
            <a:xfrm>
              <a:off x="8416824" y="3274155"/>
              <a:ext cx="2944368" cy="731520"/>
            </a:xfrm>
            <a:prstGeom prst="rect">
              <a:avLst/>
            </a:prstGeom>
            <a:noFill/>
          </p:spPr>
          <p:txBody>
            <a:bodyPr vert="horz" wrap="square" lIns="18288" tIns="18288" rIns="18288" bIns="18288" rtlCol="0" anchor="ctr">
              <a:normAutofit/>
            </a:bodyPr>
            <a:lstStyle>
              <a:defPPr>
                <a:defRPr lang="en-US"/>
              </a:defPPr>
              <a:lvl1pPr lvl="0" algn="ctr" defTabSz="609559" fontAlgn="base">
                <a:spcBef>
                  <a:spcPct val="0"/>
                </a:spcBef>
                <a:spcAft>
                  <a:spcPct val="0"/>
                </a:spcAft>
                <a:defRPr sz="1200">
                  <a:solidFill>
                    <a:schemeClr val="bg1"/>
                  </a:solidFill>
                  <a:ea typeface="ＭＳ Ｐゴシック" charset="0"/>
                  <a:cs typeface="ＭＳ Ｐゴシック" charset="0"/>
                </a:defRPr>
              </a:lvl1pPr>
              <a:lvl2pPr marL="609559" defTabSz="609559" fontAlgn="base">
                <a:spcBef>
                  <a:spcPct val="0"/>
                </a:spcBef>
                <a:spcAft>
                  <a:spcPct val="0"/>
                </a:spcAft>
                <a:defRPr>
                  <a:latin typeface="Arial"/>
                  <a:ea typeface="ＭＳ Ｐゴシック" charset="0"/>
                  <a:cs typeface="ＭＳ Ｐゴシック" charset="0"/>
                </a:defRPr>
              </a:lvl2pPr>
              <a:lvl3pPr marL="1219119" defTabSz="609559" fontAlgn="base">
                <a:spcBef>
                  <a:spcPct val="0"/>
                </a:spcBef>
                <a:spcAft>
                  <a:spcPct val="0"/>
                </a:spcAft>
                <a:defRPr>
                  <a:latin typeface="Arial"/>
                  <a:ea typeface="ＭＳ Ｐゴシック" charset="0"/>
                  <a:cs typeface="ＭＳ Ｐゴシック" charset="0"/>
                </a:defRPr>
              </a:lvl3pPr>
              <a:lvl4pPr marL="1828678" defTabSz="609559" fontAlgn="base">
                <a:spcBef>
                  <a:spcPct val="0"/>
                </a:spcBef>
                <a:spcAft>
                  <a:spcPct val="0"/>
                </a:spcAft>
                <a:defRPr>
                  <a:latin typeface="Arial"/>
                  <a:ea typeface="ＭＳ Ｐゴシック" charset="0"/>
                  <a:cs typeface="ＭＳ Ｐゴシック" charset="0"/>
                </a:defRPr>
              </a:lvl4pPr>
              <a:lvl5pPr marL="2438238" defTabSz="609559" fontAlgn="base">
                <a:spcBef>
                  <a:spcPct val="0"/>
                </a:spcBef>
                <a:spcAft>
                  <a:spcPct val="0"/>
                </a:spcAft>
                <a:defRPr>
                  <a:latin typeface="Arial"/>
                  <a:ea typeface="ＭＳ Ｐゴシック" charset="0"/>
                  <a:cs typeface="ＭＳ Ｐゴシック" charset="0"/>
                </a:defRPr>
              </a:lvl5pPr>
              <a:lvl6pPr marL="3047797" defTabSz="609559">
                <a:defRPr>
                  <a:latin typeface="Arial"/>
                  <a:ea typeface="ＭＳ Ｐゴシック" charset="0"/>
                  <a:cs typeface="ＭＳ Ｐゴシック" charset="0"/>
                </a:defRPr>
              </a:lvl6pPr>
              <a:lvl7pPr marL="3657357" defTabSz="609559">
                <a:defRPr>
                  <a:latin typeface="Arial"/>
                  <a:ea typeface="ＭＳ Ｐゴシック" charset="0"/>
                  <a:cs typeface="ＭＳ Ｐゴシック" charset="0"/>
                </a:defRPr>
              </a:lvl7pPr>
              <a:lvl8pPr marL="4266915" defTabSz="609559">
                <a:defRPr>
                  <a:latin typeface="Arial"/>
                  <a:ea typeface="ＭＳ Ｐゴシック" charset="0"/>
                  <a:cs typeface="ＭＳ Ｐゴシック" charset="0"/>
                </a:defRPr>
              </a:lvl8pPr>
              <a:lvl9pPr marL="4876475" defTabSz="609559">
                <a:defRPr>
                  <a:latin typeface="Arial"/>
                  <a:ea typeface="ＭＳ Ｐゴシック" charset="0"/>
                  <a:cs typeface="ＭＳ Ｐゴシック" charset="0"/>
                </a:defRPr>
              </a:lvl9pPr>
            </a:lstStyle>
            <a:p>
              <a:r>
                <a:rPr lang="en-GB" sz="1000" dirty="0"/>
                <a:t>Monitors the performance of assets or incentives provided to customers in exchange for a specific action, such as filling out a form.</a:t>
              </a:r>
              <a:endParaRPr lang="en-IN" sz="1000" dirty="0">
                <a:sym typeface="Wingdings"/>
              </a:endParaRPr>
            </a:p>
          </p:txBody>
        </p:sp>
        <p:sp>
          <p:nvSpPr>
            <p:cNvPr id="43" name="Rectangle 5">
              <a:extLst>
                <a:ext uri="{FF2B5EF4-FFF2-40B4-BE49-F238E27FC236}">
                  <a16:creationId xmlns:a16="http://schemas.microsoft.com/office/drawing/2014/main" id="{BCCDF231-28C7-143F-DC6F-CBA2E210C8AB}"/>
                </a:ext>
              </a:extLst>
            </p:cNvPr>
            <p:cNvSpPr>
              <a:spLocks noChangeArrowheads="1"/>
            </p:cNvSpPr>
            <p:nvPr/>
          </p:nvSpPr>
          <p:spPr bwMode="auto">
            <a:xfrm>
              <a:off x="8416824" y="4145077"/>
              <a:ext cx="2944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000" b="1" dirty="0">
                  <a:solidFill>
                    <a:schemeClr val="bg1"/>
                  </a:solidFill>
                </a:rPr>
                <a:t>One ID Per Asset: </a:t>
              </a:r>
              <a:r>
                <a:rPr lang="en-US" altLang="en-US" sz="1000" dirty="0">
                  <a:solidFill>
                    <a:schemeClr val="bg1"/>
                  </a:solidFill>
                </a:rPr>
                <a:t>Use exactly one unique Offer ID for a specific asset or offer. Do not create multiple Offer IDs based on the different channels or campaigns driving traffic to that offer.</a:t>
              </a:r>
            </a:p>
            <a:p>
              <a:pPr eaLnBrk="0" fontAlgn="base" hangingPunct="0">
                <a:spcBef>
                  <a:spcPct val="0"/>
                </a:spcBef>
                <a:spcAft>
                  <a:spcPct val="0"/>
                </a:spcAft>
              </a:pPr>
              <a:r>
                <a:rPr lang="en-US" altLang="en-US" sz="1000" b="1" dirty="0">
                  <a:solidFill>
                    <a:schemeClr val="bg1"/>
                  </a:solidFill>
                </a:rPr>
                <a:t>Sales Enablement (Naming): </a:t>
              </a:r>
              <a:r>
                <a:rPr lang="en-US" altLang="en-US" sz="1000" dirty="0">
                  <a:solidFill>
                    <a:schemeClr val="bg1"/>
                  </a:solidFill>
                </a:rPr>
                <a:t>The offer name serves as a direct signal to sellers; the name must contain enough context for them to use it as a conversation starter.</a:t>
              </a:r>
            </a:p>
          </p:txBody>
        </p:sp>
        <p:sp>
          <p:nvSpPr>
            <p:cNvPr id="46" name="TextBox 45">
              <a:extLst>
                <a:ext uri="{FF2B5EF4-FFF2-40B4-BE49-F238E27FC236}">
                  <a16:creationId xmlns:a16="http://schemas.microsoft.com/office/drawing/2014/main" id="{F9427C46-E35F-3A3D-9B70-9C8A3D9C9006}"/>
                </a:ext>
              </a:extLst>
            </p:cNvPr>
            <p:cNvSpPr txBox="1"/>
            <p:nvPr/>
          </p:nvSpPr>
          <p:spPr>
            <a:xfrm>
              <a:off x="8416824" y="5838753"/>
              <a:ext cx="29443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spcBef>
                  <a:spcPct val="0"/>
                </a:spcBef>
                <a:spcAft>
                  <a:spcPct val="0"/>
                </a:spcAft>
                <a:defRPr sz="1000" b="1">
                  <a:solidFill>
                    <a:schemeClr val="accent2"/>
                  </a:solidFill>
                </a:defRPr>
              </a:lvl1pPr>
            </a:lstStyle>
            <a:p>
              <a:r>
                <a:rPr lang="en-GB" dirty="0"/>
                <a:t>trlsc027054</a:t>
              </a:r>
            </a:p>
            <a:p>
              <a:r>
                <a:rPr lang="en-US" b="0" dirty="0"/>
                <a:t>Cisco Secure Firewall Free Trial Security</a:t>
              </a:r>
              <a:endParaRPr lang="en-GB" b="0" dirty="0"/>
            </a:p>
          </p:txBody>
        </p:sp>
      </p:grpSp>
    </p:spTree>
    <p:extLst>
      <p:ext uri="{BB962C8B-B14F-4D97-AF65-F5344CB8AC3E}">
        <p14:creationId xmlns:p14="http://schemas.microsoft.com/office/powerpoint/2010/main" val="385175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16141-C933-6C26-D534-C30A91B00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3AC6B-87FB-D4C9-E45C-18E3680A0BE8}"/>
              </a:ext>
            </a:extLst>
          </p:cNvPr>
          <p:cNvSpPr>
            <a:spLocks noGrp="1"/>
          </p:cNvSpPr>
          <p:nvPr>
            <p:ph type="title"/>
          </p:nvPr>
        </p:nvSpPr>
        <p:spPr/>
        <p:txBody>
          <a:bodyPr/>
          <a:lstStyle/>
          <a:p>
            <a:r>
              <a:rPr lang="en-US" dirty="0"/>
              <a:t>Module2: Activity IDs</a:t>
            </a:r>
            <a:endParaRPr lang="en-GB" dirty="0"/>
          </a:p>
        </p:txBody>
      </p:sp>
    </p:spTree>
    <p:extLst>
      <p:ext uri="{BB962C8B-B14F-4D97-AF65-F5344CB8AC3E}">
        <p14:creationId xmlns:p14="http://schemas.microsoft.com/office/powerpoint/2010/main" val="365906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8BD1C-97DE-907E-D6C1-802F29DF13F5}"/>
              </a:ext>
            </a:extLst>
          </p:cNvPr>
          <p:cNvSpPr>
            <a:spLocks noGrp="1"/>
          </p:cNvSpPr>
          <p:nvPr>
            <p:ph type="title"/>
          </p:nvPr>
        </p:nvSpPr>
        <p:spPr/>
        <p:txBody>
          <a:bodyPr/>
          <a:lstStyle/>
          <a:p>
            <a:r>
              <a:rPr lang="en-US" dirty="0"/>
              <a:t>Operational Impact of an Activity ID</a:t>
            </a:r>
            <a:endParaRPr lang="en-GB" dirty="0"/>
          </a:p>
        </p:txBody>
      </p:sp>
      <p:sp>
        <p:nvSpPr>
          <p:cNvPr id="38" name="TextBox 37">
            <a:extLst>
              <a:ext uri="{FF2B5EF4-FFF2-40B4-BE49-F238E27FC236}">
                <a16:creationId xmlns:a16="http://schemas.microsoft.com/office/drawing/2014/main" id="{3A2AB497-5B1C-2015-8186-2F34E8210B93}"/>
              </a:ext>
            </a:extLst>
          </p:cNvPr>
          <p:cNvSpPr txBox="1"/>
          <p:nvPr/>
        </p:nvSpPr>
        <p:spPr>
          <a:xfrm>
            <a:off x="410136" y="1905369"/>
            <a:ext cx="3543300" cy="3526888"/>
          </a:xfrm>
          <a:prstGeom prst="rect">
            <a:avLst/>
          </a:prstGeom>
          <a:noFill/>
        </p:spPr>
        <p:txBody>
          <a:bodyPr wrap="square" lIns="0" tIns="0" rIns="0" bIns="0" rtlCol="0" anchor="ctr">
            <a:noAutofit/>
          </a:bodyPr>
          <a:lstStyle/>
          <a:p>
            <a:pPr algn="ctr"/>
            <a:r>
              <a:rPr lang="en-GB" b="1" cap="all" dirty="0">
                <a:solidFill>
                  <a:schemeClr val="bg1"/>
                </a:solidFill>
              </a:rPr>
              <a:t>The Engine of Data Integrity</a:t>
            </a:r>
          </a:p>
          <a:p>
            <a:pPr algn="ctr"/>
            <a:endParaRPr lang="en-GB" b="1" cap="all" dirty="0">
              <a:solidFill>
                <a:schemeClr val="bg1"/>
              </a:solidFill>
            </a:endParaRPr>
          </a:p>
          <a:p>
            <a:pPr algn="ctr"/>
            <a:r>
              <a:rPr lang="en-GB" dirty="0">
                <a:solidFill>
                  <a:schemeClr val="bg1"/>
                </a:solidFill>
              </a:rPr>
              <a:t>Activity IDs are not just tracking parameters—they are critical systemic requirements that directly drive downstream sales context, automated lead routing, and pipeline reporting accuracy.</a:t>
            </a:r>
          </a:p>
        </p:txBody>
      </p:sp>
      <p:grpSp>
        <p:nvGrpSpPr>
          <p:cNvPr id="64" name="Group 63">
            <a:extLst>
              <a:ext uri="{FF2B5EF4-FFF2-40B4-BE49-F238E27FC236}">
                <a16:creationId xmlns:a16="http://schemas.microsoft.com/office/drawing/2014/main" id="{225B8164-ED9F-C6B9-2877-08F35C10A775}"/>
              </a:ext>
            </a:extLst>
          </p:cNvPr>
          <p:cNvGrpSpPr/>
          <p:nvPr/>
        </p:nvGrpSpPr>
        <p:grpSpPr>
          <a:xfrm>
            <a:off x="4504970" y="4062169"/>
            <a:ext cx="7183660" cy="786331"/>
            <a:chOff x="4504970" y="4404399"/>
            <a:chExt cx="7183660" cy="786331"/>
          </a:xfrm>
        </p:grpSpPr>
        <p:sp>
          <p:nvSpPr>
            <p:cNvPr id="21" name="Rectangle: Rounded Corners 20">
              <a:extLst>
                <a:ext uri="{FF2B5EF4-FFF2-40B4-BE49-F238E27FC236}">
                  <a16:creationId xmlns:a16="http://schemas.microsoft.com/office/drawing/2014/main" id="{8D2F8AF4-09E0-E060-365A-0AC9EA9DA233}"/>
                </a:ext>
              </a:extLst>
            </p:cNvPr>
            <p:cNvSpPr/>
            <p:nvPr/>
          </p:nvSpPr>
          <p:spPr>
            <a:xfrm>
              <a:off x="6385110" y="4404399"/>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2" name="Arrow: Pentagon 21">
              <a:extLst>
                <a:ext uri="{FF2B5EF4-FFF2-40B4-BE49-F238E27FC236}">
                  <a16:creationId xmlns:a16="http://schemas.microsoft.com/office/drawing/2014/main" id="{6221FEE2-453D-E16D-8616-55575415736D}"/>
                </a:ext>
              </a:extLst>
            </p:cNvPr>
            <p:cNvSpPr/>
            <p:nvPr/>
          </p:nvSpPr>
          <p:spPr>
            <a:xfrm>
              <a:off x="5012572" y="4404399"/>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TextBox 30">
              <a:extLst>
                <a:ext uri="{FF2B5EF4-FFF2-40B4-BE49-F238E27FC236}">
                  <a16:creationId xmlns:a16="http://schemas.microsoft.com/office/drawing/2014/main" id="{055C4042-92C8-7C8F-BB52-11E64B95346C}"/>
                </a:ext>
              </a:extLst>
            </p:cNvPr>
            <p:cNvSpPr txBox="1"/>
            <p:nvPr/>
          </p:nvSpPr>
          <p:spPr>
            <a:xfrm>
              <a:off x="5559244" y="4546180"/>
              <a:ext cx="1737360" cy="502769"/>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Marketing Journeys</a:t>
              </a:r>
              <a:endParaRPr lang="en-GB" sz="1600" kern="1200" dirty="0" err="1">
                <a:solidFill>
                  <a:schemeClr val="bg1"/>
                </a:solidFill>
                <a:latin typeface="+mn-lt"/>
                <a:ea typeface="ＭＳ Ｐゴシック" charset="0"/>
              </a:endParaRPr>
            </a:p>
          </p:txBody>
        </p:sp>
        <p:grpSp>
          <p:nvGrpSpPr>
            <p:cNvPr id="54" name="Group 53">
              <a:extLst>
                <a:ext uri="{FF2B5EF4-FFF2-40B4-BE49-F238E27FC236}">
                  <a16:creationId xmlns:a16="http://schemas.microsoft.com/office/drawing/2014/main" id="{C9E45C74-2106-9DFD-C4D7-E97C6C0D9B83}"/>
                </a:ext>
              </a:extLst>
            </p:cNvPr>
            <p:cNvGrpSpPr/>
            <p:nvPr/>
          </p:nvGrpSpPr>
          <p:grpSpPr>
            <a:xfrm>
              <a:off x="4504970" y="4404399"/>
              <a:ext cx="786332" cy="786331"/>
              <a:chOff x="4122653" y="4386771"/>
              <a:chExt cx="786332" cy="786331"/>
            </a:xfrm>
          </p:grpSpPr>
          <p:sp>
            <p:nvSpPr>
              <p:cNvPr id="23" name="Shape1_20250523_195849">
                <a:extLst>
                  <a:ext uri="{FF2B5EF4-FFF2-40B4-BE49-F238E27FC236}">
                    <a16:creationId xmlns:a16="http://schemas.microsoft.com/office/drawing/2014/main" id="{31B1CF74-B14F-DE66-6ECB-1EB96A7FF165}"/>
                  </a:ext>
                </a:extLst>
              </p:cNvPr>
              <p:cNvSpPr txBox="1">
                <a:spLocks noChangeAspect="1"/>
              </p:cNvSpPr>
              <p:nvPr>
                <p:custDataLst>
                  <p:tags r:id="rId5"/>
                </p:custDataLst>
              </p:nvPr>
            </p:nvSpPr>
            <p:spPr>
              <a:xfrm>
                <a:off x="4122653" y="438677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2" name="Graphic 41" descr="Playbook with solid fill">
                <a:extLst>
                  <a:ext uri="{FF2B5EF4-FFF2-40B4-BE49-F238E27FC236}">
                    <a16:creationId xmlns:a16="http://schemas.microsoft.com/office/drawing/2014/main" id="{174BA133-34C6-D7F9-563F-2FDCC53E73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41499" y="4505616"/>
                <a:ext cx="548640" cy="548640"/>
              </a:xfrm>
              <a:prstGeom prst="rect">
                <a:avLst/>
              </a:prstGeom>
            </p:spPr>
          </p:pic>
        </p:grpSp>
      </p:grpSp>
      <p:grpSp>
        <p:nvGrpSpPr>
          <p:cNvPr id="61" name="Group 60">
            <a:extLst>
              <a:ext uri="{FF2B5EF4-FFF2-40B4-BE49-F238E27FC236}">
                <a16:creationId xmlns:a16="http://schemas.microsoft.com/office/drawing/2014/main" id="{EFDDC7A7-33E5-1D91-8C49-2EC25921B155}"/>
              </a:ext>
            </a:extLst>
          </p:cNvPr>
          <p:cNvGrpSpPr/>
          <p:nvPr/>
        </p:nvGrpSpPr>
        <p:grpSpPr>
          <a:xfrm>
            <a:off x="4504970" y="1082293"/>
            <a:ext cx="7183660" cy="786331"/>
            <a:chOff x="4504970" y="1438647"/>
            <a:chExt cx="7183660" cy="786331"/>
          </a:xfrm>
        </p:grpSpPr>
        <p:sp>
          <p:nvSpPr>
            <p:cNvPr id="9" name="Rectangle: Rounded Corners 8">
              <a:extLst>
                <a:ext uri="{FF2B5EF4-FFF2-40B4-BE49-F238E27FC236}">
                  <a16:creationId xmlns:a16="http://schemas.microsoft.com/office/drawing/2014/main" id="{CE4E09D7-DC2E-8B6E-20A1-781BAD89EA21}"/>
                </a:ext>
              </a:extLst>
            </p:cNvPr>
            <p:cNvSpPr/>
            <p:nvPr/>
          </p:nvSpPr>
          <p:spPr>
            <a:xfrm>
              <a:off x="6385110" y="1438647"/>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Arrow: Pentagon 7">
              <a:extLst>
                <a:ext uri="{FF2B5EF4-FFF2-40B4-BE49-F238E27FC236}">
                  <a16:creationId xmlns:a16="http://schemas.microsoft.com/office/drawing/2014/main" id="{C78489B2-3EF2-0137-5B58-985F69CED2C0}"/>
                </a:ext>
              </a:extLst>
            </p:cNvPr>
            <p:cNvSpPr/>
            <p:nvPr/>
          </p:nvSpPr>
          <p:spPr>
            <a:xfrm>
              <a:off x="5012572" y="1438647"/>
              <a:ext cx="2334002" cy="786331"/>
            </a:xfrm>
            <a:prstGeom prst="homePlate">
              <a:avLst/>
            </a:prstGeom>
            <a:solidFill>
              <a:schemeClr val="tx2">
                <a:lumMod val="20000"/>
                <a:lumOff val="80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tx1">
                    <a:lumMod val="95000"/>
                  </a:schemeClr>
                </a:solidFill>
              </a:endParaRPr>
            </a:p>
          </p:txBody>
        </p:sp>
        <p:sp>
          <p:nvSpPr>
            <p:cNvPr id="28" name="TextBox 27">
              <a:extLst>
                <a:ext uri="{FF2B5EF4-FFF2-40B4-BE49-F238E27FC236}">
                  <a16:creationId xmlns:a16="http://schemas.microsoft.com/office/drawing/2014/main" id="{8EB3E9CC-28B6-2B3B-C94D-7781670721DE}"/>
                </a:ext>
              </a:extLst>
            </p:cNvPr>
            <p:cNvSpPr txBox="1"/>
            <p:nvPr/>
          </p:nvSpPr>
          <p:spPr>
            <a:xfrm>
              <a:off x="5559244" y="1683775"/>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Lead Scoring</a:t>
              </a:r>
              <a:endParaRPr lang="en-GB" sz="1600" kern="1200" dirty="0" err="1">
                <a:solidFill>
                  <a:schemeClr val="bg1"/>
                </a:solidFill>
                <a:latin typeface="+mn-lt"/>
                <a:ea typeface="ＭＳ Ｐゴシック" charset="0"/>
              </a:endParaRPr>
            </a:p>
          </p:txBody>
        </p:sp>
        <p:grpSp>
          <p:nvGrpSpPr>
            <p:cNvPr id="51" name="Group 50">
              <a:extLst>
                <a:ext uri="{FF2B5EF4-FFF2-40B4-BE49-F238E27FC236}">
                  <a16:creationId xmlns:a16="http://schemas.microsoft.com/office/drawing/2014/main" id="{031AB112-F987-B385-ED96-BA965F5F3FA2}"/>
                </a:ext>
              </a:extLst>
            </p:cNvPr>
            <p:cNvGrpSpPr/>
            <p:nvPr/>
          </p:nvGrpSpPr>
          <p:grpSpPr>
            <a:xfrm>
              <a:off x="4504970" y="1438647"/>
              <a:ext cx="786332" cy="786331"/>
              <a:chOff x="4123829" y="1434346"/>
              <a:chExt cx="786332" cy="786331"/>
            </a:xfrm>
          </p:grpSpPr>
          <p:sp>
            <p:nvSpPr>
              <p:cNvPr id="3" name="Shape1_20250523_195849">
                <a:extLst>
                  <a:ext uri="{FF2B5EF4-FFF2-40B4-BE49-F238E27FC236}">
                    <a16:creationId xmlns:a16="http://schemas.microsoft.com/office/drawing/2014/main" id="{1D4AAE0B-AB84-B22C-2B09-41985947BA3B}"/>
                  </a:ext>
                </a:extLst>
              </p:cNvPr>
              <p:cNvSpPr txBox="1">
                <a:spLocks noChangeAspect="1"/>
              </p:cNvSpPr>
              <p:nvPr>
                <p:custDataLst>
                  <p:tags r:id="rId4"/>
                </p:custDataLst>
              </p:nvPr>
            </p:nvSpPr>
            <p:spPr>
              <a:xfrm>
                <a:off x="4123829" y="1434346"/>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50" name="Graphic 49" descr="Tally with solid fill">
                <a:extLst>
                  <a:ext uri="{FF2B5EF4-FFF2-40B4-BE49-F238E27FC236}">
                    <a16:creationId xmlns:a16="http://schemas.microsoft.com/office/drawing/2014/main" id="{6AE87D82-DEAE-F9F0-74B1-03EFCA766CA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42675" y="1553191"/>
                <a:ext cx="548640" cy="548640"/>
              </a:xfrm>
              <a:prstGeom prst="rect">
                <a:avLst/>
              </a:prstGeom>
            </p:spPr>
          </p:pic>
        </p:grpSp>
        <p:sp>
          <p:nvSpPr>
            <p:cNvPr id="56" name="TextBox 55">
              <a:extLst>
                <a:ext uri="{FF2B5EF4-FFF2-40B4-BE49-F238E27FC236}">
                  <a16:creationId xmlns:a16="http://schemas.microsoft.com/office/drawing/2014/main" id="{73381CB2-C7CB-0AD0-2004-DDD36711CC73}"/>
                </a:ext>
              </a:extLst>
            </p:cNvPr>
            <p:cNvSpPr txBox="1"/>
            <p:nvPr/>
          </p:nvSpPr>
          <p:spPr>
            <a:xfrm>
              <a:off x="7458632" y="1582552"/>
              <a:ext cx="4023360" cy="498520"/>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200" dirty="0">
                  <a:solidFill>
                    <a:schemeClr val="bg1"/>
                  </a:solidFill>
                </a:rPr>
                <a:t>Bypasses the scoring model entirely if transactions lack a CCID, blocking vital last-touch details from sellers.</a:t>
              </a:r>
              <a:endParaRPr lang="en-GB" sz="1200" kern="1200" dirty="0">
                <a:solidFill>
                  <a:schemeClr val="bg1"/>
                </a:solidFill>
                <a:latin typeface="+mn-lt"/>
                <a:ea typeface="ＭＳ Ｐゴシック" charset="0"/>
              </a:endParaRPr>
            </a:p>
          </p:txBody>
        </p:sp>
      </p:grpSp>
      <p:grpSp>
        <p:nvGrpSpPr>
          <p:cNvPr id="62" name="Group 61">
            <a:extLst>
              <a:ext uri="{FF2B5EF4-FFF2-40B4-BE49-F238E27FC236}">
                <a16:creationId xmlns:a16="http://schemas.microsoft.com/office/drawing/2014/main" id="{0EFDFFB3-0FD7-9F92-29B6-5E282E69263F}"/>
              </a:ext>
            </a:extLst>
          </p:cNvPr>
          <p:cNvGrpSpPr/>
          <p:nvPr/>
        </p:nvGrpSpPr>
        <p:grpSpPr>
          <a:xfrm>
            <a:off x="4504970" y="2075585"/>
            <a:ext cx="7183660" cy="786331"/>
            <a:chOff x="4504970" y="2404478"/>
            <a:chExt cx="7183660" cy="786331"/>
          </a:xfrm>
        </p:grpSpPr>
        <p:sp>
          <p:nvSpPr>
            <p:cNvPr id="13" name="Rectangle: Rounded Corners 12">
              <a:extLst>
                <a:ext uri="{FF2B5EF4-FFF2-40B4-BE49-F238E27FC236}">
                  <a16:creationId xmlns:a16="http://schemas.microsoft.com/office/drawing/2014/main" id="{533C1131-C5FE-F5DA-87A8-80440DB9C507}"/>
                </a:ext>
              </a:extLst>
            </p:cNvPr>
            <p:cNvSpPr/>
            <p:nvPr/>
          </p:nvSpPr>
          <p:spPr>
            <a:xfrm>
              <a:off x="6385110" y="2404478"/>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Arrow: Pentagon 13">
              <a:extLst>
                <a:ext uri="{FF2B5EF4-FFF2-40B4-BE49-F238E27FC236}">
                  <a16:creationId xmlns:a16="http://schemas.microsoft.com/office/drawing/2014/main" id="{AD0D076A-E3FD-B975-6489-AA2DE5BC1F00}"/>
                </a:ext>
              </a:extLst>
            </p:cNvPr>
            <p:cNvSpPr/>
            <p:nvPr/>
          </p:nvSpPr>
          <p:spPr>
            <a:xfrm>
              <a:off x="5012572" y="2404478"/>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9" name="TextBox 28">
              <a:extLst>
                <a:ext uri="{FF2B5EF4-FFF2-40B4-BE49-F238E27FC236}">
                  <a16:creationId xmlns:a16="http://schemas.microsoft.com/office/drawing/2014/main" id="{F4776E3F-97C8-8B58-B8E5-6727FE95938A}"/>
                </a:ext>
              </a:extLst>
            </p:cNvPr>
            <p:cNvSpPr txBox="1"/>
            <p:nvPr/>
          </p:nvSpPr>
          <p:spPr>
            <a:xfrm>
              <a:off x="5559244" y="2649606"/>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Lead Generation</a:t>
              </a:r>
              <a:endParaRPr lang="en-GB" sz="1600" kern="1200" dirty="0" err="1">
                <a:solidFill>
                  <a:schemeClr val="bg1"/>
                </a:solidFill>
                <a:latin typeface="+mn-lt"/>
                <a:ea typeface="ＭＳ Ｐゴシック" charset="0"/>
              </a:endParaRPr>
            </a:p>
          </p:txBody>
        </p:sp>
        <p:grpSp>
          <p:nvGrpSpPr>
            <p:cNvPr id="52" name="Group 51">
              <a:extLst>
                <a:ext uri="{FF2B5EF4-FFF2-40B4-BE49-F238E27FC236}">
                  <a16:creationId xmlns:a16="http://schemas.microsoft.com/office/drawing/2014/main" id="{A2ED9FD6-7EAB-EF1A-246C-5B762AFE7452}"/>
                </a:ext>
              </a:extLst>
            </p:cNvPr>
            <p:cNvGrpSpPr/>
            <p:nvPr/>
          </p:nvGrpSpPr>
          <p:grpSpPr>
            <a:xfrm>
              <a:off x="4504970" y="2404478"/>
              <a:ext cx="786332" cy="786331"/>
              <a:chOff x="4122653" y="2372981"/>
              <a:chExt cx="786332" cy="786331"/>
            </a:xfrm>
          </p:grpSpPr>
          <p:sp>
            <p:nvSpPr>
              <p:cNvPr id="15" name="Shape1_20250523_195849">
                <a:extLst>
                  <a:ext uri="{FF2B5EF4-FFF2-40B4-BE49-F238E27FC236}">
                    <a16:creationId xmlns:a16="http://schemas.microsoft.com/office/drawing/2014/main" id="{8D4C4D6E-0770-4CD4-B007-F199449EA089}"/>
                  </a:ext>
                </a:extLst>
              </p:cNvPr>
              <p:cNvSpPr txBox="1">
                <a:spLocks noChangeAspect="1"/>
              </p:cNvSpPr>
              <p:nvPr>
                <p:custDataLst>
                  <p:tags r:id="rId3"/>
                </p:custDataLst>
              </p:nvPr>
            </p:nvSpPr>
            <p:spPr>
              <a:xfrm>
                <a:off x="4122653" y="2372981"/>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6" name="Graphic 45" descr="Programmer female with solid fill">
                <a:extLst>
                  <a:ext uri="{FF2B5EF4-FFF2-40B4-BE49-F238E27FC236}">
                    <a16:creationId xmlns:a16="http://schemas.microsoft.com/office/drawing/2014/main" id="{D8FFAB8D-1699-010C-E1AC-66B0D8F203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41499" y="2491826"/>
                <a:ext cx="548640" cy="548640"/>
              </a:xfrm>
              <a:prstGeom prst="rect">
                <a:avLst/>
              </a:prstGeom>
              <a:effectLst/>
            </p:spPr>
          </p:pic>
        </p:grpSp>
        <p:sp>
          <p:nvSpPr>
            <p:cNvPr id="57" name="TextBox 56">
              <a:extLst>
                <a:ext uri="{FF2B5EF4-FFF2-40B4-BE49-F238E27FC236}">
                  <a16:creationId xmlns:a16="http://schemas.microsoft.com/office/drawing/2014/main" id="{A681CF0C-3B08-93EA-710B-D999E0C83410}"/>
                </a:ext>
              </a:extLst>
            </p:cNvPr>
            <p:cNvSpPr txBox="1"/>
            <p:nvPr/>
          </p:nvSpPr>
          <p:spPr>
            <a:xfrm>
              <a:off x="7458632" y="2600397"/>
              <a:ext cx="4018432" cy="394493"/>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1200" dirty="0">
                  <a:solidFill>
                    <a:schemeClr val="bg1"/>
                  </a:solidFill>
                </a:rPr>
                <a:t>Enforced by system rules in SFDC; leads cannot be generated in the VDC without an active Activity ID.</a:t>
              </a:r>
              <a:endParaRPr lang="en-GB" sz="1200" kern="1200" dirty="0">
                <a:solidFill>
                  <a:schemeClr val="bg1"/>
                </a:solidFill>
                <a:latin typeface="+mn-lt"/>
                <a:ea typeface="ＭＳ Ｐゴシック" charset="0"/>
              </a:endParaRPr>
            </a:p>
          </p:txBody>
        </p:sp>
      </p:grpSp>
      <p:grpSp>
        <p:nvGrpSpPr>
          <p:cNvPr id="63" name="Group 62">
            <a:extLst>
              <a:ext uri="{FF2B5EF4-FFF2-40B4-BE49-F238E27FC236}">
                <a16:creationId xmlns:a16="http://schemas.microsoft.com/office/drawing/2014/main" id="{CAA8F769-013C-2403-6DD0-D254A98F555B}"/>
              </a:ext>
            </a:extLst>
          </p:cNvPr>
          <p:cNvGrpSpPr/>
          <p:nvPr/>
        </p:nvGrpSpPr>
        <p:grpSpPr>
          <a:xfrm>
            <a:off x="4504970" y="3068877"/>
            <a:ext cx="7183660" cy="786331"/>
            <a:chOff x="4504970" y="3412992"/>
            <a:chExt cx="7183660" cy="786331"/>
          </a:xfrm>
        </p:grpSpPr>
        <p:sp>
          <p:nvSpPr>
            <p:cNvPr id="17" name="Rectangle: Rounded Corners 16">
              <a:extLst>
                <a:ext uri="{FF2B5EF4-FFF2-40B4-BE49-F238E27FC236}">
                  <a16:creationId xmlns:a16="http://schemas.microsoft.com/office/drawing/2014/main" id="{B3056046-CA60-5264-B504-950DCDCB52D6}"/>
                </a:ext>
              </a:extLst>
            </p:cNvPr>
            <p:cNvSpPr/>
            <p:nvPr/>
          </p:nvSpPr>
          <p:spPr>
            <a:xfrm>
              <a:off x="6385110" y="3412992"/>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8" name="Arrow: Pentagon 17">
              <a:extLst>
                <a:ext uri="{FF2B5EF4-FFF2-40B4-BE49-F238E27FC236}">
                  <a16:creationId xmlns:a16="http://schemas.microsoft.com/office/drawing/2014/main" id="{EA580A6E-9C5B-0D99-5C07-D0FC601461EB}"/>
                </a:ext>
              </a:extLst>
            </p:cNvPr>
            <p:cNvSpPr/>
            <p:nvPr/>
          </p:nvSpPr>
          <p:spPr>
            <a:xfrm>
              <a:off x="5012572" y="3412992"/>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0" name="TextBox 29">
              <a:extLst>
                <a:ext uri="{FF2B5EF4-FFF2-40B4-BE49-F238E27FC236}">
                  <a16:creationId xmlns:a16="http://schemas.microsoft.com/office/drawing/2014/main" id="{3BB0145A-542D-51A9-B942-0A3EA0E3FBFD}"/>
                </a:ext>
              </a:extLst>
            </p:cNvPr>
            <p:cNvSpPr txBox="1"/>
            <p:nvPr/>
          </p:nvSpPr>
          <p:spPr>
            <a:xfrm>
              <a:off x="5559244" y="3535556"/>
              <a:ext cx="1737360" cy="54120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 Alignment</a:t>
              </a:r>
              <a:endParaRPr lang="en-GB" sz="1600" kern="1200" dirty="0" err="1">
                <a:solidFill>
                  <a:schemeClr val="bg1"/>
                </a:solidFill>
                <a:latin typeface="+mn-lt"/>
                <a:ea typeface="ＭＳ Ｐゴシック" charset="0"/>
              </a:endParaRPr>
            </a:p>
          </p:txBody>
        </p:sp>
        <p:grpSp>
          <p:nvGrpSpPr>
            <p:cNvPr id="53" name="Group 52">
              <a:extLst>
                <a:ext uri="{FF2B5EF4-FFF2-40B4-BE49-F238E27FC236}">
                  <a16:creationId xmlns:a16="http://schemas.microsoft.com/office/drawing/2014/main" id="{6942F44A-A6BD-F588-AF6C-BF5237B99F35}"/>
                </a:ext>
              </a:extLst>
            </p:cNvPr>
            <p:cNvGrpSpPr/>
            <p:nvPr/>
          </p:nvGrpSpPr>
          <p:grpSpPr>
            <a:xfrm>
              <a:off x="4504970" y="3412992"/>
              <a:ext cx="786332" cy="786331"/>
              <a:chOff x="4145235" y="3396983"/>
              <a:chExt cx="786332" cy="786331"/>
            </a:xfrm>
          </p:grpSpPr>
          <p:sp>
            <p:nvSpPr>
              <p:cNvPr id="19" name="Shape1_20250523_195849">
                <a:extLst>
                  <a:ext uri="{FF2B5EF4-FFF2-40B4-BE49-F238E27FC236}">
                    <a16:creationId xmlns:a16="http://schemas.microsoft.com/office/drawing/2014/main" id="{9FCB5A31-3785-4F2A-937C-0AFDEB91CC45}"/>
                  </a:ext>
                </a:extLst>
              </p:cNvPr>
              <p:cNvSpPr txBox="1">
                <a:spLocks noChangeAspect="1"/>
              </p:cNvSpPr>
              <p:nvPr>
                <p:custDataLst>
                  <p:tags r:id="rId2"/>
                </p:custDataLst>
              </p:nvPr>
            </p:nvSpPr>
            <p:spPr>
              <a:xfrm>
                <a:off x="4145235" y="3396983"/>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4" name="Graphic 43" descr="Ethernet with solid fill">
                <a:extLst>
                  <a:ext uri="{FF2B5EF4-FFF2-40B4-BE49-F238E27FC236}">
                    <a16:creationId xmlns:a16="http://schemas.microsoft.com/office/drawing/2014/main" id="{D2CCC441-7C99-0D90-C108-704380FE59F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264081" y="3515828"/>
                <a:ext cx="548640" cy="548640"/>
              </a:xfrm>
              <a:prstGeom prst="rect">
                <a:avLst/>
              </a:prstGeom>
            </p:spPr>
          </p:pic>
        </p:grpSp>
        <p:sp>
          <p:nvSpPr>
            <p:cNvPr id="58" name="TextBox 57">
              <a:extLst>
                <a:ext uri="{FF2B5EF4-FFF2-40B4-BE49-F238E27FC236}">
                  <a16:creationId xmlns:a16="http://schemas.microsoft.com/office/drawing/2014/main" id="{EE4D6CED-6599-D5F5-F262-86A9A3A13CC8}"/>
                </a:ext>
              </a:extLst>
            </p:cNvPr>
            <p:cNvSpPr txBox="1"/>
            <p:nvPr/>
          </p:nvSpPr>
          <p:spPr>
            <a:xfrm>
              <a:off x="7458632" y="3517045"/>
              <a:ext cx="4018432" cy="578224"/>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Unlocks the mandatory 80% campaign alignment target. Accreditation relies entirely on ID data attributes.</a:t>
              </a:r>
            </a:p>
          </p:txBody>
        </p:sp>
      </p:grpSp>
      <p:sp>
        <p:nvSpPr>
          <p:cNvPr id="59" name="TextBox 58">
            <a:extLst>
              <a:ext uri="{FF2B5EF4-FFF2-40B4-BE49-F238E27FC236}">
                <a16:creationId xmlns:a16="http://schemas.microsoft.com/office/drawing/2014/main" id="{D51B47CC-FE9E-F5A0-C5CB-124ED6672144}"/>
              </a:ext>
            </a:extLst>
          </p:cNvPr>
          <p:cNvSpPr txBox="1"/>
          <p:nvPr/>
        </p:nvSpPr>
        <p:spPr>
          <a:xfrm>
            <a:off x="7458632" y="4121592"/>
            <a:ext cx="4018432" cy="786331"/>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Automatically routes contacts into structured, always-on campaigns or generic journeys using program metadata.</a:t>
            </a:r>
          </a:p>
        </p:txBody>
      </p:sp>
      <p:grpSp>
        <p:nvGrpSpPr>
          <p:cNvPr id="65" name="Group 64">
            <a:extLst>
              <a:ext uri="{FF2B5EF4-FFF2-40B4-BE49-F238E27FC236}">
                <a16:creationId xmlns:a16="http://schemas.microsoft.com/office/drawing/2014/main" id="{E5CE58D5-8E1D-4AB6-99F1-7568B59CDFCB}"/>
              </a:ext>
            </a:extLst>
          </p:cNvPr>
          <p:cNvGrpSpPr/>
          <p:nvPr/>
        </p:nvGrpSpPr>
        <p:grpSpPr>
          <a:xfrm>
            <a:off x="4504970" y="5055461"/>
            <a:ext cx="7183660" cy="786331"/>
            <a:chOff x="4504970" y="5411815"/>
            <a:chExt cx="7183660" cy="786331"/>
          </a:xfrm>
        </p:grpSpPr>
        <p:sp>
          <p:nvSpPr>
            <p:cNvPr id="25" name="Rectangle: Rounded Corners 24">
              <a:extLst>
                <a:ext uri="{FF2B5EF4-FFF2-40B4-BE49-F238E27FC236}">
                  <a16:creationId xmlns:a16="http://schemas.microsoft.com/office/drawing/2014/main" id="{D9C003E3-76DB-012B-A1D6-3A23F2AE1EB8}"/>
                </a:ext>
              </a:extLst>
            </p:cNvPr>
            <p:cNvSpPr/>
            <p:nvPr/>
          </p:nvSpPr>
          <p:spPr>
            <a:xfrm>
              <a:off x="6385110" y="5411815"/>
              <a:ext cx="5303520" cy="786331"/>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Arrow: Pentagon 25">
              <a:extLst>
                <a:ext uri="{FF2B5EF4-FFF2-40B4-BE49-F238E27FC236}">
                  <a16:creationId xmlns:a16="http://schemas.microsoft.com/office/drawing/2014/main" id="{7496B746-760D-ABDF-790E-4FEAE0C55051}"/>
                </a:ext>
              </a:extLst>
            </p:cNvPr>
            <p:cNvSpPr/>
            <p:nvPr/>
          </p:nvSpPr>
          <p:spPr>
            <a:xfrm>
              <a:off x="5012572" y="5411815"/>
              <a:ext cx="2334002" cy="786331"/>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6297C681-BAF3-C130-3573-561A57CC468D}"/>
                </a:ext>
              </a:extLst>
            </p:cNvPr>
            <p:cNvSpPr txBox="1"/>
            <p:nvPr/>
          </p:nvSpPr>
          <p:spPr>
            <a:xfrm>
              <a:off x="5559244" y="5656943"/>
              <a:ext cx="1737360" cy="29607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Reporting</a:t>
              </a:r>
              <a:endParaRPr lang="en-GB" sz="1600" kern="1200" dirty="0" err="1">
                <a:solidFill>
                  <a:schemeClr val="bg1"/>
                </a:solidFill>
                <a:latin typeface="+mn-lt"/>
                <a:ea typeface="ＭＳ Ｐゴシック" charset="0"/>
              </a:endParaRPr>
            </a:p>
          </p:txBody>
        </p:sp>
        <p:grpSp>
          <p:nvGrpSpPr>
            <p:cNvPr id="55" name="Group 54">
              <a:extLst>
                <a:ext uri="{FF2B5EF4-FFF2-40B4-BE49-F238E27FC236}">
                  <a16:creationId xmlns:a16="http://schemas.microsoft.com/office/drawing/2014/main" id="{95D02743-8427-0F05-9395-CC7E3F948471}"/>
                </a:ext>
              </a:extLst>
            </p:cNvPr>
            <p:cNvGrpSpPr/>
            <p:nvPr/>
          </p:nvGrpSpPr>
          <p:grpSpPr>
            <a:xfrm>
              <a:off x="4504970" y="5411815"/>
              <a:ext cx="786332" cy="786331"/>
              <a:chOff x="4174579" y="5408577"/>
              <a:chExt cx="786332" cy="786331"/>
            </a:xfrm>
          </p:grpSpPr>
          <p:sp>
            <p:nvSpPr>
              <p:cNvPr id="27" name="Shape1_20250523_195849">
                <a:extLst>
                  <a:ext uri="{FF2B5EF4-FFF2-40B4-BE49-F238E27FC236}">
                    <a16:creationId xmlns:a16="http://schemas.microsoft.com/office/drawing/2014/main" id="{2E91409C-898C-2DE1-F050-C1D7B30AF707}"/>
                  </a:ext>
                </a:extLst>
              </p:cNvPr>
              <p:cNvSpPr txBox="1">
                <a:spLocks noChangeAspect="1"/>
              </p:cNvSpPr>
              <p:nvPr>
                <p:custDataLst>
                  <p:tags r:id="rId1"/>
                </p:custDataLst>
              </p:nvPr>
            </p:nvSpPr>
            <p:spPr>
              <a:xfrm>
                <a:off x="4174579" y="5408577"/>
                <a:ext cx="786332" cy="786331"/>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algn="ctr">
                  <a:defRPr>
                    <a:solidFill>
                      <a:schemeClr val="bg1"/>
                    </a:solidFill>
                  </a:defRPr>
                </a:lvl1pPr>
                <a:lvl2pPr>
                  <a:defRPr>
                    <a:solidFill>
                      <a:srgbClr val="414244"/>
                    </a:solidFill>
                    <a:latin typeface="CiscoSansTT Light"/>
                    <a:ea typeface="ＭＳ Ｐゴシック" charset="0"/>
                    <a:cs typeface="ＭＳ Ｐゴシック" charset="0"/>
                  </a:defRPr>
                </a:lvl2pPr>
                <a:lvl3pPr>
                  <a:defRPr>
                    <a:solidFill>
                      <a:srgbClr val="414244"/>
                    </a:solidFill>
                    <a:latin typeface="CiscoSansTT Light"/>
                    <a:ea typeface="ＭＳ Ｐゴシック" charset="0"/>
                    <a:cs typeface="ＭＳ Ｐゴシック" charset="0"/>
                  </a:defRPr>
                </a:lvl3pPr>
                <a:lvl4pPr>
                  <a:defRPr>
                    <a:solidFill>
                      <a:srgbClr val="414244"/>
                    </a:solidFill>
                    <a:latin typeface="CiscoSansTT Light"/>
                    <a:ea typeface="ＭＳ Ｐゴシック" charset="0"/>
                    <a:cs typeface="ＭＳ Ｐゴシック" charset="0"/>
                  </a:defRPr>
                </a:lvl4pPr>
                <a:lvl5pPr>
                  <a:defRPr>
                    <a:solidFill>
                      <a:srgbClr val="414244"/>
                    </a:solidFill>
                    <a:latin typeface="CiscoSansTT Light"/>
                    <a:ea typeface="ＭＳ Ｐゴシック" charset="0"/>
                    <a:cs typeface="ＭＳ Ｐゴシック" charset="0"/>
                  </a:defRPr>
                </a:lvl5pPr>
                <a:lvl6pPr>
                  <a:defRPr>
                    <a:solidFill>
                      <a:srgbClr val="414244"/>
                    </a:solidFill>
                    <a:latin typeface="CiscoSansTT Light"/>
                    <a:ea typeface="ＭＳ Ｐゴシック" charset="0"/>
                    <a:cs typeface="ＭＳ Ｐゴシック" charset="0"/>
                  </a:defRPr>
                </a:lvl6pPr>
                <a:lvl7pPr>
                  <a:defRPr>
                    <a:solidFill>
                      <a:srgbClr val="414244"/>
                    </a:solidFill>
                    <a:latin typeface="CiscoSansTT Light"/>
                    <a:ea typeface="ＭＳ Ｐゴシック" charset="0"/>
                    <a:cs typeface="ＭＳ Ｐゴシック" charset="0"/>
                  </a:defRPr>
                </a:lvl7pPr>
                <a:lvl8pPr>
                  <a:defRPr>
                    <a:solidFill>
                      <a:srgbClr val="414244"/>
                    </a:solidFill>
                    <a:latin typeface="CiscoSansTT Light"/>
                    <a:ea typeface="ＭＳ Ｐゴシック" charset="0"/>
                    <a:cs typeface="ＭＳ Ｐゴシック" charset="0"/>
                  </a:defRPr>
                </a:lvl8pPr>
                <a:lvl9pPr>
                  <a:defRPr>
                    <a:solidFill>
                      <a:srgbClr val="414244"/>
                    </a:solidFill>
                    <a:latin typeface="CiscoSansTT Light"/>
                    <a:ea typeface="ＭＳ Ｐゴシック" charset="0"/>
                    <a:cs typeface="ＭＳ Ｐゴシック" charset="0"/>
                  </a:defRPr>
                </a:lvl9pPr>
              </a:lstStyle>
              <a:p>
                <a:endParaRPr dirty="0">
                  <a:sym typeface="Arial"/>
                </a:endParaRPr>
              </a:p>
            </p:txBody>
          </p:sp>
          <p:pic>
            <p:nvPicPr>
              <p:cNvPr id="40" name="Graphic 39" descr="Document with solid fill">
                <a:extLst>
                  <a:ext uri="{FF2B5EF4-FFF2-40B4-BE49-F238E27FC236}">
                    <a16:creationId xmlns:a16="http://schemas.microsoft.com/office/drawing/2014/main" id="{10799A40-B5FE-BF7A-97C8-19123B82419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293425" y="5527422"/>
                <a:ext cx="548640" cy="548640"/>
              </a:xfrm>
              <a:prstGeom prst="rect">
                <a:avLst/>
              </a:prstGeom>
            </p:spPr>
          </p:pic>
        </p:grpSp>
        <p:sp>
          <p:nvSpPr>
            <p:cNvPr id="60" name="TextBox 59">
              <a:extLst>
                <a:ext uri="{FF2B5EF4-FFF2-40B4-BE49-F238E27FC236}">
                  <a16:creationId xmlns:a16="http://schemas.microsoft.com/office/drawing/2014/main" id="{BB03FB54-F413-123A-5259-96CD54D015D5}"/>
                </a:ext>
              </a:extLst>
            </p:cNvPr>
            <p:cNvSpPr txBox="1"/>
            <p:nvPr/>
          </p:nvSpPr>
          <p:spPr>
            <a:xfrm>
              <a:off x="7458632" y="5530660"/>
              <a:ext cx="4018432" cy="54864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r>
                <a:rPr lang="en-GB" dirty="0"/>
                <a:t>Feeds full-funnel pipeline reporting and fractional attribution models to evaluate real-world ROI.</a:t>
              </a:r>
            </a:p>
          </p:txBody>
        </p:sp>
      </p:grpSp>
      <p:cxnSp>
        <p:nvCxnSpPr>
          <p:cNvPr id="66" name="Straight Connector 65">
            <a:extLst>
              <a:ext uri="{FF2B5EF4-FFF2-40B4-BE49-F238E27FC236}">
                <a16:creationId xmlns:a16="http://schemas.microsoft.com/office/drawing/2014/main" id="{8A088CC1-EBBF-1172-8600-98F8B791B0E7}"/>
              </a:ext>
            </a:extLst>
          </p:cNvPr>
          <p:cNvCxnSpPr>
            <a:cxnSpLocks/>
          </p:cNvCxnSpPr>
          <p:nvPr/>
        </p:nvCxnSpPr>
        <p:spPr>
          <a:xfrm>
            <a:off x="4223792" y="868680"/>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59131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3B51-5ABF-5E58-FB8A-2DC0476BDCDC}"/>
              </a:ext>
            </a:extLst>
          </p:cNvPr>
          <p:cNvSpPr>
            <a:spLocks noGrp="1"/>
          </p:cNvSpPr>
          <p:nvPr>
            <p:ph type="title"/>
          </p:nvPr>
        </p:nvSpPr>
        <p:spPr/>
        <p:txBody>
          <a:bodyPr/>
          <a:lstStyle/>
          <a:p>
            <a:r>
              <a:rPr lang="en-US" dirty="0"/>
              <a:t>Structure of an Activity ID</a:t>
            </a:r>
            <a:endParaRPr lang="en-GB" dirty="0"/>
          </a:p>
        </p:txBody>
      </p:sp>
      <p:grpSp>
        <p:nvGrpSpPr>
          <p:cNvPr id="62" name="Group 61">
            <a:extLst>
              <a:ext uri="{FF2B5EF4-FFF2-40B4-BE49-F238E27FC236}">
                <a16:creationId xmlns:a16="http://schemas.microsoft.com/office/drawing/2014/main" id="{02AC9969-2FA3-207D-3050-4C92FF34680E}"/>
              </a:ext>
            </a:extLst>
          </p:cNvPr>
          <p:cNvGrpSpPr/>
          <p:nvPr/>
        </p:nvGrpSpPr>
        <p:grpSpPr>
          <a:xfrm>
            <a:off x="502848" y="2089658"/>
            <a:ext cx="5706660" cy="2998635"/>
            <a:chOff x="1510553" y="1337709"/>
            <a:chExt cx="8317692" cy="4370634"/>
          </a:xfrm>
        </p:grpSpPr>
        <p:grpSp>
          <p:nvGrpSpPr>
            <p:cNvPr id="45" name="Group 44">
              <a:extLst>
                <a:ext uri="{FF2B5EF4-FFF2-40B4-BE49-F238E27FC236}">
                  <a16:creationId xmlns:a16="http://schemas.microsoft.com/office/drawing/2014/main" id="{0564C304-BE05-5EB2-BFA1-7E30BBAFEBF8}"/>
                </a:ext>
              </a:extLst>
            </p:cNvPr>
            <p:cNvGrpSpPr/>
            <p:nvPr/>
          </p:nvGrpSpPr>
          <p:grpSpPr>
            <a:xfrm>
              <a:off x="4772406" y="4343023"/>
              <a:ext cx="2056738" cy="1213505"/>
              <a:chOff x="5225124" y="4067734"/>
              <a:chExt cx="2267712" cy="1337983"/>
            </a:xfrm>
          </p:grpSpPr>
          <p:grpSp>
            <p:nvGrpSpPr>
              <p:cNvPr id="8" name="Group 7">
                <a:extLst>
                  <a:ext uri="{FF2B5EF4-FFF2-40B4-BE49-F238E27FC236}">
                    <a16:creationId xmlns:a16="http://schemas.microsoft.com/office/drawing/2014/main" id="{2C748C6C-59C2-B74E-6372-A6F05AA99859}"/>
                  </a:ext>
                </a:extLst>
              </p:cNvPr>
              <p:cNvGrpSpPr/>
              <p:nvPr/>
            </p:nvGrpSpPr>
            <p:grpSpPr>
              <a:xfrm>
                <a:off x="5225124" y="4067734"/>
                <a:ext cx="2267712" cy="1337983"/>
                <a:chOff x="2521324" y="4067735"/>
                <a:chExt cx="2267712" cy="1337983"/>
              </a:xfrm>
            </p:grpSpPr>
            <p:sp>
              <p:nvSpPr>
                <p:cNvPr id="9" name="Rectangle: Rounded Corners 8">
                  <a:extLst>
                    <a:ext uri="{FF2B5EF4-FFF2-40B4-BE49-F238E27FC236}">
                      <a16:creationId xmlns:a16="http://schemas.microsoft.com/office/drawing/2014/main" id="{E00B5DB9-86A1-D615-25DB-3E8AC58DFDB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 name="Straight Connector 9">
                  <a:extLst>
                    <a:ext uri="{FF2B5EF4-FFF2-40B4-BE49-F238E27FC236}">
                      <a16:creationId xmlns:a16="http://schemas.microsoft.com/office/drawing/2014/main" id="{A36173C6-F967-A10F-9E1E-D77E143E4DD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B6874433-55AF-9217-50E5-31F0F356BD5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 name="TextBox 11">
                  <a:extLst>
                    <a:ext uri="{FF2B5EF4-FFF2-40B4-BE49-F238E27FC236}">
                      <a16:creationId xmlns:a16="http://schemas.microsoft.com/office/drawing/2014/main" id="{670CDEE5-B956-6C04-9497-0442A2E6AEB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39" name="Graphic 38" descr="Processor with solid fill">
                <a:extLst>
                  <a:ext uri="{FF2B5EF4-FFF2-40B4-BE49-F238E27FC236}">
                    <a16:creationId xmlns:a16="http://schemas.microsoft.com/office/drawing/2014/main" id="{E31FC2C7-ED93-AD32-3598-538DC14A63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1355" y="4079929"/>
                <a:ext cx="400110" cy="400110"/>
              </a:xfrm>
              <a:prstGeom prst="rect">
                <a:avLst/>
              </a:prstGeom>
            </p:spPr>
          </p:pic>
        </p:grpSp>
        <p:grpSp>
          <p:nvGrpSpPr>
            <p:cNvPr id="44" name="Group 43">
              <a:extLst>
                <a:ext uri="{FF2B5EF4-FFF2-40B4-BE49-F238E27FC236}">
                  <a16:creationId xmlns:a16="http://schemas.microsoft.com/office/drawing/2014/main" id="{CF5349D9-53F4-DB5D-9821-0F76BF6A7517}"/>
                </a:ext>
              </a:extLst>
            </p:cNvPr>
            <p:cNvGrpSpPr/>
            <p:nvPr/>
          </p:nvGrpSpPr>
          <p:grpSpPr>
            <a:xfrm>
              <a:off x="7476206" y="4343023"/>
              <a:ext cx="2056738" cy="1213505"/>
              <a:chOff x="7928924" y="4067733"/>
              <a:chExt cx="2267712" cy="1337983"/>
            </a:xfrm>
          </p:grpSpPr>
          <p:grpSp>
            <p:nvGrpSpPr>
              <p:cNvPr id="13" name="Group 12">
                <a:extLst>
                  <a:ext uri="{FF2B5EF4-FFF2-40B4-BE49-F238E27FC236}">
                    <a16:creationId xmlns:a16="http://schemas.microsoft.com/office/drawing/2014/main" id="{792FD355-4549-26AC-8721-260A1578939B}"/>
                  </a:ext>
                </a:extLst>
              </p:cNvPr>
              <p:cNvGrpSpPr/>
              <p:nvPr/>
            </p:nvGrpSpPr>
            <p:grpSpPr>
              <a:xfrm>
                <a:off x="7928924" y="4067733"/>
                <a:ext cx="2267712" cy="1337983"/>
                <a:chOff x="2521324" y="4067735"/>
                <a:chExt cx="2267712" cy="1337983"/>
              </a:xfrm>
            </p:grpSpPr>
            <p:sp>
              <p:nvSpPr>
                <p:cNvPr id="14" name="Rectangle: Rounded Corners 13">
                  <a:extLst>
                    <a:ext uri="{FF2B5EF4-FFF2-40B4-BE49-F238E27FC236}">
                      <a16:creationId xmlns:a16="http://schemas.microsoft.com/office/drawing/2014/main" id="{1386BAE0-00EA-0FE3-95AE-43C5EDACD7D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5" name="Straight Connector 14">
                  <a:extLst>
                    <a:ext uri="{FF2B5EF4-FFF2-40B4-BE49-F238E27FC236}">
                      <a16:creationId xmlns:a16="http://schemas.microsoft.com/office/drawing/2014/main" id="{92A82F3A-EDFF-D3FD-7E5C-AF7F1E51E6B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C47E3910-9A92-D8E5-F66A-F3777EDA5E92}"/>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17" name="TextBox 16">
                  <a:extLst>
                    <a:ext uri="{FF2B5EF4-FFF2-40B4-BE49-F238E27FC236}">
                      <a16:creationId xmlns:a16="http://schemas.microsoft.com/office/drawing/2014/main" id="{11A2B7D4-F1B1-109B-E75D-5AAC0BD5630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41" name="Graphic 40" descr="Circles with arrows with solid fill">
                <a:extLst>
                  <a:ext uri="{FF2B5EF4-FFF2-40B4-BE49-F238E27FC236}">
                    <a16:creationId xmlns:a16="http://schemas.microsoft.com/office/drawing/2014/main" id="{ECDE1571-F0AD-0149-4AFB-67C18DBB62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0C61B11B-ECCA-394A-0AB8-56BA652E8F35}"/>
                </a:ext>
              </a:extLst>
            </p:cNvPr>
            <p:cNvGrpSpPr/>
            <p:nvPr/>
          </p:nvGrpSpPr>
          <p:grpSpPr>
            <a:xfrm>
              <a:off x="2068606" y="4336499"/>
              <a:ext cx="2056738" cy="1225339"/>
              <a:chOff x="2521324" y="4054687"/>
              <a:chExt cx="2267712" cy="1351031"/>
            </a:xfrm>
          </p:grpSpPr>
          <p:grpSp>
            <p:nvGrpSpPr>
              <p:cNvPr id="7" name="Group 6">
                <a:extLst>
                  <a:ext uri="{FF2B5EF4-FFF2-40B4-BE49-F238E27FC236}">
                    <a16:creationId xmlns:a16="http://schemas.microsoft.com/office/drawing/2014/main" id="{638C6DFC-3914-3143-1B94-BD43FE5D49D8}"/>
                  </a:ext>
                </a:extLst>
              </p:cNvPr>
              <p:cNvGrpSpPr/>
              <p:nvPr/>
            </p:nvGrpSpPr>
            <p:grpSpPr>
              <a:xfrm>
                <a:off x="2521324" y="4067735"/>
                <a:ext cx="2267712" cy="1337983"/>
                <a:chOff x="2521324" y="4067735"/>
                <a:chExt cx="2267712" cy="1337983"/>
              </a:xfrm>
            </p:grpSpPr>
            <p:sp>
              <p:nvSpPr>
                <p:cNvPr id="3" name="Rectangle: Rounded Corners 2">
                  <a:extLst>
                    <a:ext uri="{FF2B5EF4-FFF2-40B4-BE49-F238E27FC236}">
                      <a16:creationId xmlns:a16="http://schemas.microsoft.com/office/drawing/2014/main" id="{25671DA9-70C5-1A18-ED2F-D3C13504D790}"/>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 name="Straight Connector 3">
                  <a:extLst>
                    <a:ext uri="{FF2B5EF4-FFF2-40B4-BE49-F238E27FC236}">
                      <a16:creationId xmlns:a16="http://schemas.microsoft.com/office/drawing/2014/main" id="{E8DC1658-7DF1-6292-1258-0EC878A0A12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 name="TextBox 4">
                  <a:extLst>
                    <a:ext uri="{FF2B5EF4-FFF2-40B4-BE49-F238E27FC236}">
                      <a16:creationId xmlns:a16="http://schemas.microsoft.com/office/drawing/2014/main" id="{9E1CAE67-B398-20DA-72BA-FCDE49E507F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6" name="TextBox 5">
                  <a:extLst>
                    <a:ext uri="{FF2B5EF4-FFF2-40B4-BE49-F238E27FC236}">
                      <a16:creationId xmlns:a16="http://schemas.microsoft.com/office/drawing/2014/main" id="{5364A726-753E-B873-6416-27E3A5AB348E}"/>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43" name="Graphic 42" descr="Cycle with people with solid fill">
                <a:extLst>
                  <a:ext uri="{FF2B5EF4-FFF2-40B4-BE49-F238E27FC236}">
                    <a16:creationId xmlns:a16="http://schemas.microsoft.com/office/drawing/2014/main" id="{E7EFB222-9BDE-B2E3-2078-29F18E95B5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6830" y="4054687"/>
                <a:ext cx="400110" cy="400110"/>
              </a:xfrm>
              <a:prstGeom prst="rect">
                <a:avLst/>
              </a:prstGeom>
            </p:spPr>
          </p:pic>
        </p:grpSp>
        <p:sp>
          <p:nvSpPr>
            <p:cNvPr id="47" name="TextBox 46">
              <a:extLst>
                <a:ext uri="{FF2B5EF4-FFF2-40B4-BE49-F238E27FC236}">
                  <a16:creationId xmlns:a16="http://schemas.microsoft.com/office/drawing/2014/main" id="{2AAE0072-E511-C087-524C-87554ED308E1}"/>
                </a:ext>
              </a:extLst>
            </p:cNvPr>
            <p:cNvSpPr txBox="1"/>
            <p:nvPr/>
          </p:nvSpPr>
          <p:spPr>
            <a:xfrm>
              <a:off x="1661662" y="2280238"/>
              <a:ext cx="8015472" cy="2037946"/>
            </a:xfrm>
            <a:prstGeom prst="rect">
              <a:avLst/>
            </a:prstGeom>
            <a:noFill/>
          </p:spPr>
          <p:txBody>
            <a:bodyPr wrap="square" lIns="0" tIns="0" rIns="0" bIns="0" rtlCol="0">
              <a:noAutofit/>
            </a:bodyPr>
            <a:lstStyle/>
            <a:p>
              <a:pPr defTabSz="912276" fontAlgn="base">
                <a:buClr>
                  <a:schemeClr val="bg1"/>
                </a:buClr>
                <a:buSzPct val="100000"/>
              </a:pPr>
              <a:r>
                <a:rPr lang="en-US" sz="10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1000" dirty="0">
                  <a:solidFill>
                    <a:schemeClr val="accent2"/>
                  </a:solidFill>
                </a:rPr>
                <a:t>Drive engagement and pipeline growth in EMEA Band A mid-market segment relating to Zero Trust Access</a:t>
              </a:r>
            </a:p>
            <a:p>
              <a:pPr defTabSz="912276" fontAlgn="base">
                <a:buClr>
                  <a:schemeClr val="bg1"/>
                </a:buClr>
                <a:buSzPct val="100000"/>
              </a:pPr>
              <a:r>
                <a:rPr lang="en-GB" sz="10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1000" dirty="0">
                  <a:solidFill>
                    <a:schemeClr val="accent2"/>
                  </a:solidFill>
                </a:rPr>
                <a:t>Drive targeted engagement and accelerate pipeline growth within the EMEA Band A mid-market segment. By focusing specifically on Zero Trust Access solutions, the initiative addresses critical security needs for growing organizations across the region. Ultimately, it establishes a strategic framework to capture market share and nurture high-value prospects through dedicated security messaging</a:t>
              </a:r>
            </a:p>
          </p:txBody>
        </p:sp>
        <p:sp>
          <p:nvSpPr>
            <p:cNvPr id="59" name="Freeform: Shape 58">
              <a:extLst>
                <a:ext uri="{FF2B5EF4-FFF2-40B4-BE49-F238E27FC236}">
                  <a16:creationId xmlns:a16="http://schemas.microsoft.com/office/drawing/2014/main" id="{A3B64A03-501B-2D88-DB8F-5B169C75FC7E}"/>
                </a:ext>
              </a:extLst>
            </p:cNvPr>
            <p:cNvSpPr/>
            <p:nvPr/>
          </p:nvSpPr>
          <p:spPr>
            <a:xfrm>
              <a:off x="1510553" y="1773410"/>
              <a:ext cx="8317692" cy="3934933"/>
            </a:xfrm>
            <a:custGeom>
              <a:avLst/>
              <a:gdLst>
                <a:gd name="csX0" fmla="*/ 319709 w 9170894"/>
                <a:gd name="csY0" fmla="*/ 0 h 4338566"/>
                <a:gd name="csX1" fmla="*/ 683559 w 9170894"/>
                <a:gd name="csY1" fmla="*/ 0 h 4338566"/>
                <a:gd name="csX2" fmla="*/ 683559 w 9170894"/>
                <a:gd name="csY2" fmla="*/ 319022 h 4338566"/>
                <a:gd name="csX3" fmla="*/ 835458 w 9170894"/>
                <a:gd name="csY3" fmla="*/ 470921 h 4338566"/>
                <a:gd name="csX4" fmla="*/ 7250706 w 9170894"/>
                <a:gd name="csY4" fmla="*/ 470921 h 4338566"/>
                <a:gd name="csX5" fmla="*/ 7402605 w 9170894"/>
                <a:gd name="csY5" fmla="*/ 319022 h 4338566"/>
                <a:gd name="csX6" fmla="*/ 7402605 w 9170894"/>
                <a:gd name="csY6" fmla="*/ 0 h 4338566"/>
                <a:gd name="csX7" fmla="*/ 8851185 w 9170894"/>
                <a:gd name="csY7" fmla="*/ 0 h 4338566"/>
                <a:gd name="csX8" fmla="*/ 9170894 w 9170894"/>
                <a:gd name="csY8" fmla="*/ 319709 h 4338566"/>
                <a:gd name="csX9" fmla="*/ 9170894 w 9170894"/>
                <a:gd name="csY9" fmla="*/ 4018857 h 4338566"/>
                <a:gd name="csX10" fmla="*/ 8851185 w 9170894"/>
                <a:gd name="csY10" fmla="*/ 4338566 h 4338566"/>
                <a:gd name="csX11" fmla="*/ 319709 w 9170894"/>
                <a:gd name="csY11" fmla="*/ 4338566 h 4338566"/>
                <a:gd name="csX12" fmla="*/ 0 w 9170894"/>
                <a:gd name="csY12" fmla="*/ 4018857 h 4338566"/>
                <a:gd name="csX13" fmla="*/ 0 w 9170894"/>
                <a:gd name="csY13" fmla="*/ 319709 h 4338566"/>
                <a:gd name="csX14" fmla="*/ 319709 w 9170894"/>
                <a:gd name="csY14" fmla="*/ 0 h 43385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70894" h="4338566">
                  <a:moveTo>
                    <a:pt x="319709" y="0"/>
                  </a:moveTo>
                  <a:lnTo>
                    <a:pt x="683559" y="0"/>
                  </a:lnTo>
                  <a:lnTo>
                    <a:pt x="683559" y="319022"/>
                  </a:lnTo>
                  <a:cubicBezTo>
                    <a:pt x="683559" y="402914"/>
                    <a:pt x="751566" y="470921"/>
                    <a:pt x="835458" y="470921"/>
                  </a:cubicBezTo>
                  <a:lnTo>
                    <a:pt x="7250706" y="470921"/>
                  </a:lnTo>
                  <a:cubicBezTo>
                    <a:pt x="7334598" y="470921"/>
                    <a:pt x="7402605" y="402914"/>
                    <a:pt x="7402605" y="319022"/>
                  </a:cubicBezTo>
                  <a:lnTo>
                    <a:pt x="7402605" y="0"/>
                  </a:lnTo>
                  <a:lnTo>
                    <a:pt x="8851185" y="0"/>
                  </a:lnTo>
                  <a:cubicBezTo>
                    <a:pt x="9027755" y="0"/>
                    <a:pt x="9170894" y="143139"/>
                    <a:pt x="9170894" y="319709"/>
                  </a:cubicBezTo>
                  <a:lnTo>
                    <a:pt x="9170894" y="4018857"/>
                  </a:lnTo>
                  <a:cubicBezTo>
                    <a:pt x="9170894" y="4195427"/>
                    <a:pt x="9027755" y="4338566"/>
                    <a:pt x="8851185" y="4338566"/>
                  </a:cubicBezTo>
                  <a:lnTo>
                    <a:pt x="319709" y="4338566"/>
                  </a:lnTo>
                  <a:cubicBezTo>
                    <a:pt x="143139" y="4338566"/>
                    <a:pt x="0" y="4195427"/>
                    <a:pt x="0" y="4018857"/>
                  </a:cubicBezTo>
                  <a:lnTo>
                    <a:pt x="0" y="319709"/>
                  </a:lnTo>
                  <a:cubicBezTo>
                    <a:pt x="0" y="143139"/>
                    <a:pt x="143139" y="0"/>
                    <a:pt x="319709"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60" name="Group 59">
              <a:extLst>
                <a:ext uri="{FF2B5EF4-FFF2-40B4-BE49-F238E27FC236}">
                  <a16:creationId xmlns:a16="http://schemas.microsoft.com/office/drawing/2014/main" id="{4609A97C-741F-29C6-1ED4-064318B9B0ED}"/>
                </a:ext>
              </a:extLst>
            </p:cNvPr>
            <p:cNvGrpSpPr/>
            <p:nvPr/>
          </p:nvGrpSpPr>
          <p:grpSpPr>
            <a:xfrm>
              <a:off x="2122658" y="1337709"/>
              <a:ext cx="6093948" cy="863285"/>
              <a:chOff x="2568046" y="900391"/>
              <a:chExt cx="6719046" cy="951838"/>
            </a:xfrm>
          </p:grpSpPr>
          <p:sp>
            <p:nvSpPr>
              <p:cNvPr id="58" name="Rectangle: Rounded Corners 57">
                <a:extLst>
                  <a:ext uri="{FF2B5EF4-FFF2-40B4-BE49-F238E27FC236}">
                    <a16:creationId xmlns:a16="http://schemas.microsoft.com/office/drawing/2014/main" id="{32FD235F-C4B1-A996-02CB-9222599EC04F}"/>
                  </a:ext>
                </a:extLst>
              </p:cNvPr>
              <p:cNvSpPr/>
              <p:nvPr/>
            </p:nvSpPr>
            <p:spPr>
              <a:xfrm>
                <a:off x="2568046" y="940853"/>
                <a:ext cx="6719046" cy="911376"/>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56" name="Graphic 55" descr="Mandala with solid fill">
                <a:extLst>
                  <a:ext uri="{FF2B5EF4-FFF2-40B4-BE49-F238E27FC236}">
                    <a16:creationId xmlns:a16="http://schemas.microsoft.com/office/drawing/2014/main" id="{83D52CDA-9D23-5167-371A-31D8C9A055A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6124" y="900391"/>
                <a:ext cx="914400" cy="914400"/>
              </a:xfrm>
              <a:prstGeom prst="rect">
                <a:avLst/>
              </a:prstGeom>
            </p:spPr>
          </p:pic>
          <p:sp>
            <p:nvSpPr>
              <p:cNvPr id="57" name="TextBox 56">
                <a:extLst>
                  <a:ext uri="{FF2B5EF4-FFF2-40B4-BE49-F238E27FC236}">
                    <a16:creationId xmlns:a16="http://schemas.microsoft.com/office/drawing/2014/main" id="{DCB1752F-12E3-5E52-2950-D66999B0950F}"/>
                  </a:ext>
                </a:extLst>
              </p:cNvPr>
              <p:cNvSpPr txBox="1"/>
              <p:nvPr/>
            </p:nvSpPr>
            <p:spPr>
              <a:xfrm>
                <a:off x="3980329" y="1058663"/>
                <a:ext cx="3745006" cy="597856"/>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cc010898</a:t>
                </a:r>
                <a:endParaRPr lang="en-GB" sz="2400" kern="1200" dirty="0" err="1">
                  <a:solidFill>
                    <a:schemeClr val="bg1"/>
                  </a:solidFill>
                  <a:latin typeface="+mn-lt"/>
                  <a:ea typeface="ＭＳ Ｐゴシック" charset="0"/>
                </a:endParaRPr>
              </a:p>
            </p:txBody>
          </p:sp>
        </p:grpSp>
      </p:grpSp>
      <p:cxnSp>
        <p:nvCxnSpPr>
          <p:cNvPr id="102" name="Straight Connector 101">
            <a:extLst>
              <a:ext uri="{FF2B5EF4-FFF2-40B4-BE49-F238E27FC236}">
                <a16:creationId xmlns:a16="http://schemas.microsoft.com/office/drawing/2014/main" id="{4D2D8CFF-6D9E-939E-4DCB-7B2E16EAFD70}"/>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131" name="Group 130">
            <a:extLst>
              <a:ext uri="{FF2B5EF4-FFF2-40B4-BE49-F238E27FC236}">
                <a16:creationId xmlns:a16="http://schemas.microsoft.com/office/drawing/2014/main" id="{CE35D0A7-C53D-85A2-0F22-EBF791457548}"/>
              </a:ext>
            </a:extLst>
          </p:cNvPr>
          <p:cNvGrpSpPr/>
          <p:nvPr/>
        </p:nvGrpSpPr>
        <p:grpSpPr>
          <a:xfrm>
            <a:off x="6689663" y="1277027"/>
            <a:ext cx="5179799" cy="529877"/>
            <a:chOff x="6689663" y="2085046"/>
            <a:chExt cx="5179799" cy="529877"/>
          </a:xfrm>
        </p:grpSpPr>
        <p:sp>
          <p:nvSpPr>
            <p:cNvPr id="104" name="Rectangle: Rounded Corners 103">
              <a:extLst>
                <a:ext uri="{FF2B5EF4-FFF2-40B4-BE49-F238E27FC236}">
                  <a16:creationId xmlns:a16="http://schemas.microsoft.com/office/drawing/2014/main" id="{F41A94C0-56CA-8000-447A-507ED62EA015}"/>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5" name="Arrow: Pentagon 104">
              <a:extLst>
                <a:ext uri="{FF2B5EF4-FFF2-40B4-BE49-F238E27FC236}">
                  <a16:creationId xmlns:a16="http://schemas.microsoft.com/office/drawing/2014/main" id="{6286E43B-654D-E1F6-B964-401F7F3B72EF}"/>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6" name="TextBox 105">
              <a:extLst>
                <a:ext uri="{FF2B5EF4-FFF2-40B4-BE49-F238E27FC236}">
                  <a16:creationId xmlns:a16="http://schemas.microsoft.com/office/drawing/2014/main" id="{1B0E33AB-2E53-2E40-713D-79C0FB6E6B19}"/>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CCID</a:t>
              </a:r>
              <a:endParaRPr lang="en-GB" sz="1600" kern="1200" dirty="0" err="1">
                <a:solidFill>
                  <a:schemeClr val="bg1"/>
                </a:solidFill>
                <a:latin typeface="+mn-lt"/>
                <a:ea typeface="ＭＳ Ｐゴシック" charset="0"/>
              </a:endParaRPr>
            </a:p>
          </p:txBody>
        </p:sp>
        <p:sp>
          <p:nvSpPr>
            <p:cNvPr id="108" name="TextBox 107">
              <a:extLst>
                <a:ext uri="{FF2B5EF4-FFF2-40B4-BE49-F238E27FC236}">
                  <a16:creationId xmlns:a16="http://schemas.microsoft.com/office/drawing/2014/main" id="{B846E208-7320-D919-9284-45ACADE77D87}"/>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an Activity ID a CCID is automatically generated</a:t>
              </a:r>
            </a:p>
          </p:txBody>
        </p:sp>
        <p:sp>
          <p:nvSpPr>
            <p:cNvPr id="111" name="Oval 110">
              <a:extLst>
                <a:ext uri="{FF2B5EF4-FFF2-40B4-BE49-F238E27FC236}">
                  <a16:creationId xmlns:a16="http://schemas.microsoft.com/office/drawing/2014/main" id="{7994777B-2627-1196-E0D1-4D9F2BE9B2C3}"/>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32" name="Group 131">
            <a:extLst>
              <a:ext uri="{FF2B5EF4-FFF2-40B4-BE49-F238E27FC236}">
                <a16:creationId xmlns:a16="http://schemas.microsoft.com/office/drawing/2014/main" id="{A499A42C-175B-7A74-9E2A-D95815671180}"/>
              </a:ext>
            </a:extLst>
          </p:cNvPr>
          <p:cNvGrpSpPr/>
          <p:nvPr/>
        </p:nvGrpSpPr>
        <p:grpSpPr>
          <a:xfrm>
            <a:off x="6689663" y="2285654"/>
            <a:ext cx="5179799" cy="529877"/>
            <a:chOff x="6689663" y="2850599"/>
            <a:chExt cx="5179799" cy="529877"/>
          </a:xfrm>
        </p:grpSpPr>
        <p:sp>
          <p:nvSpPr>
            <p:cNvPr id="114" name="Rectangle: Rounded Corners 113">
              <a:extLst>
                <a:ext uri="{FF2B5EF4-FFF2-40B4-BE49-F238E27FC236}">
                  <a16:creationId xmlns:a16="http://schemas.microsoft.com/office/drawing/2014/main" id="{B46256B8-FBEC-5CE1-02E7-967E09315485}"/>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5" name="Arrow: Pentagon 114">
              <a:extLst>
                <a:ext uri="{FF2B5EF4-FFF2-40B4-BE49-F238E27FC236}">
                  <a16:creationId xmlns:a16="http://schemas.microsoft.com/office/drawing/2014/main" id="{0B1D4353-AB22-E856-56DD-F79E79D80BBB}"/>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6" name="TextBox 115">
              <a:extLst>
                <a:ext uri="{FF2B5EF4-FFF2-40B4-BE49-F238E27FC236}">
                  <a16:creationId xmlns:a16="http://schemas.microsoft.com/office/drawing/2014/main" id="{8C3EA2AC-FE92-60F9-C393-5D2AEAAE0FAF}"/>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Information</a:t>
              </a:r>
              <a:endParaRPr lang="en-GB" sz="1600" kern="1200" dirty="0" err="1">
                <a:solidFill>
                  <a:schemeClr val="bg1"/>
                </a:solidFill>
                <a:latin typeface="+mn-lt"/>
                <a:ea typeface="ＭＳ Ｐゴシック" charset="0"/>
              </a:endParaRPr>
            </a:p>
          </p:txBody>
        </p:sp>
        <p:sp>
          <p:nvSpPr>
            <p:cNvPr id="117" name="TextBox 116">
              <a:extLst>
                <a:ext uri="{FF2B5EF4-FFF2-40B4-BE49-F238E27FC236}">
                  <a16:creationId xmlns:a16="http://schemas.microsoft.com/office/drawing/2014/main" id="{A8864AA3-7486-2B90-4CD1-380A5F8BCAF7}"/>
                </a:ext>
              </a:extLst>
            </p:cNvPr>
            <p:cNvSpPr txBox="1"/>
            <p:nvPr/>
          </p:nvSpPr>
          <p:spPr>
            <a:xfrm>
              <a:off x="8642230" y="2877979"/>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Passed downstream to sellers &amp; must reflect the specific marketing activity used to target the customer.</a:t>
              </a:r>
            </a:p>
          </p:txBody>
        </p:sp>
        <p:sp>
          <p:nvSpPr>
            <p:cNvPr id="118" name="Oval 117">
              <a:extLst>
                <a:ext uri="{FF2B5EF4-FFF2-40B4-BE49-F238E27FC236}">
                  <a16:creationId xmlns:a16="http://schemas.microsoft.com/office/drawing/2014/main" id="{E7D1DB1B-4DCE-BFFB-6557-60A5CB2D1789}"/>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133" name="Group 132">
            <a:extLst>
              <a:ext uri="{FF2B5EF4-FFF2-40B4-BE49-F238E27FC236}">
                <a16:creationId xmlns:a16="http://schemas.microsoft.com/office/drawing/2014/main" id="{B8F68B14-A96C-A119-656E-7DCD5FFA6FFC}"/>
              </a:ext>
            </a:extLst>
          </p:cNvPr>
          <p:cNvGrpSpPr/>
          <p:nvPr/>
        </p:nvGrpSpPr>
        <p:grpSpPr>
          <a:xfrm>
            <a:off x="6689663" y="3294281"/>
            <a:ext cx="5179799" cy="529877"/>
            <a:chOff x="6704329" y="3670911"/>
            <a:chExt cx="5179799" cy="529877"/>
          </a:xfrm>
        </p:grpSpPr>
        <p:sp>
          <p:nvSpPr>
            <p:cNvPr id="120" name="Rectangle: Rounded Corners 119">
              <a:extLst>
                <a:ext uri="{FF2B5EF4-FFF2-40B4-BE49-F238E27FC236}">
                  <a16:creationId xmlns:a16="http://schemas.microsoft.com/office/drawing/2014/main" id="{D84AC78F-06C2-609E-2B2F-09499B418E43}"/>
                </a:ext>
              </a:extLst>
            </p:cNvPr>
            <p:cNvSpPr/>
            <p:nvPr/>
          </p:nvSpPr>
          <p:spPr>
            <a:xfrm>
              <a:off x="7952208" y="3698290"/>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1" name="Arrow: Pentagon 120">
              <a:extLst>
                <a:ext uri="{FF2B5EF4-FFF2-40B4-BE49-F238E27FC236}">
                  <a16:creationId xmlns:a16="http://schemas.microsoft.com/office/drawing/2014/main" id="{EC443799-B0E7-27D9-E02E-FC72C2ADF815}"/>
                </a:ext>
              </a:extLst>
            </p:cNvPr>
            <p:cNvSpPr/>
            <p:nvPr/>
          </p:nvSpPr>
          <p:spPr>
            <a:xfrm>
              <a:off x="7051241" y="3698290"/>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2" name="TextBox 121">
              <a:extLst>
                <a:ext uri="{FF2B5EF4-FFF2-40B4-BE49-F238E27FC236}">
                  <a16:creationId xmlns:a16="http://schemas.microsoft.com/office/drawing/2014/main" id="{B1F8FE4E-6F9B-5117-FB73-DF804C6916FA}"/>
                </a:ext>
              </a:extLst>
            </p:cNvPr>
            <p:cNvSpPr txBox="1"/>
            <p:nvPr/>
          </p:nvSpPr>
          <p:spPr>
            <a:xfrm>
              <a:off x="7410090" y="3846402"/>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Campaign</a:t>
              </a:r>
              <a:endParaRPr lang="en-GB" sz="1600" kern="1200" dirty="0" err="1">
                <a:solidFill>
                  <a:schemeClr val="bg1"/>
                </a:solidFill>
                <a:latin typeface="+mn-lt"/>
                <a:ea typeface="ＭＳ Ｐゴシック" charset="0"/>
              </a:endParaRPr>
            </a:p>
          </p:txBody>
        </p:sp>
        <p:sp>
          <p:nvSpPr>
            <p:cNvPr id="123" name="TextBox 122">
              <a:extLst>
                <a:ext uri="{FF2B5EF4-FFF2-40B4-BE49-F238E27FC236}">
                  <a16:creationId xmlns:a16="http://schemas.microsoft.com/office/drawing/2014/main" id="{35943B9E-7864-8A48-4A6B-8B0F45B05FC6}"/>
                </a:ext>
              </a:extLst>
            </p:cNvPr>
            <p:cNvSpPr txBox="1"/>
            <p:nvPr/>
          </p:nvSpPr>
          <p:spPr>
            <a:xfrm>
              <a:off x="8656896" y="3698291"/>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coordinated, structured set of marketing activities targeted at a specific audience segment to achieve a defined, short-term objective..</a:t>
              </a:r>
            </a:p>
          </p:txBody>
        </p:sp>
        <p:sp>
          <p:nvSpPr>
            <p:cNvPr id="124" name="Oval 123">
              <a:extLst>
                <a:ext uri="{FF2B5EF4-FFF2-40B4-BE49-F238E27FC236}">
                  <a16:creationId xmlns:a16="http://schemas.microsoft.com/office/drawing/2014/main" id="{3EB7CF2C-08C3-291B-6421-7F057DC3AFFE}"/>
                </a:ext>
              </a:extLst>
            </p:cNvPr>
            <p:cNvSpPr/>
            <p:nvPr/>
          </p:nvSpPr>
          <p:spPr>
            <a:xfrm>
              <a:off x="6704329" y="3670911"/>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34" name="Group 133">
            <a:extLst>
              <a:ext uri="{FF2B5EF4-FFF2-40B4-BE49-F238E27FC236}">
                <a16:creationId xmlns:a16="http://schemas.microsoft.com/office/drawing/2014/main" id="{23407C09-BFF8-6094-E88E-930613F7C73D}"/>
              </a:ext>
            </a:extLst>
          </p:cNvPr>
          <p:cNvGrpSpPr/>
          <p:nvPr/>
        </p:nvGrpSpPr>
        <p:grpSpPr>
          <a:xfrm>
            <a:off x="6689663" y="4302908"/>
            <a:ext cx="5179799" cy="529877"/>
            <a:chOff x="6775864" y="4491223"/>
            <a:chExt cx="5179799" cy="529877"/>
          </a:xfrm>
        </p:grpSpPr>
        <p:sp>
          <p:nvSpPr>
            <p:cNvPr id="126" name="Rectangle: Rounded Corners 125">
              <a:extLst>
                <a:ext uri="{FF2B5EF4-FFF2-40B4-BE49-F238E27FC236}">
                  <a16:creationId xmlns:a16="http://schemas.microsoft.com/office/drawing/2014/main" id="{D22300FC-D282-AED7-5F00-116BE3BE1CBB}"/>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7" name="Arrow: Pentagon 126">
              <a:extLst>
                <a:ext uri="{FF2B5EF4-FFF2-40B4-BE49-F238E27FC236}">
                  <a16:creationId xmlns:a16="http://schemas.microsoft.com/office/drawing/2014/main" id="{249A06B2-0F46-7CFE-F199-DD3E143502C2}"/>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8" name="TextBox 127">
              <a:extLst>
                <a:ext uri="{FF2B5EF4-FFF2-40B4-BE49-F238E27FC236}">
                  <a16:creationId xmlns:a16="http://schemas.microsoft.com/office/drawing/2014/main" id="{862AC5BF-3679-501F-E270-1A06B0FAC7EA}"/>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Program</a:t>
              </a:r>
              <a:endParaRPr lang="en-GB" sz="1600" kern="1200" dirty="0" err="1">
                <a:solidFill>
                  <a:schemeClr val="bg1"/>
                </a:solidFill>
                <a:latin typeface="+mn-lt"/>
                <a:ea typeface="ＭＳ Ｐゴシック" charset="0"/>
              </a:endParaRPr>
            </a:p>
          </p:txBody>
        </p:sp>
        <p:sp>
          <p:nvSpPr>
            <p:cNvPr id="129" name="TextBox 128">
              <a:extLst>
                <a:ext uri="{FF2B5EF4-FFF2-40B4-BE49-F238E27FC236}">
                  <a16:creationId xmlns:a16="http://schemas.microsoft.com/office/drawing/2014/main" id="{C78C41E6-4041-7666-60C3-FD9B1B71D84D}"/>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 broader, ongoing strategic framework that encompasses and coordinates multiple related campaigns and initiatives over a longer period.</a:t>
              </a:r>
            </a:p>
          </p:txBody>
        </p:sp>
        <p:sp>
          <p:nvSpPr>
            <p:cNvPr id="130" name="Oval 129">
              <a:extLst>
                <a:ext uri="{FF2B5EF4-FFF2-40B4-BE49-F238E27FC236}">
                  <a16:creationId xmlns:a16="http://schemas.microsoft.com/office/drawing/2014/main" id="{5C0A75BB-D059-5CFF-96ED-C48D53B9D1A2}"/>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135" name="Group 134">
            <a:extLst>
              <a:ext uri="{FF2B5EF4-FFF2-40B4-BE49-F238E27FC236}">
                <a16:creationId xmlns:a16="http://schemas.microsoft.com/office/drawing/2014/main" id="{13A19C2F-6843-1B6C-FDDD-85A0BDEE2550}"/>
              </a:ext>
            </a:extLst>
          </p:cNvPr>
          <p:cNvGrpSpPr/>
          <p:nvPr/>
        </p:nvGrpSpPr>
        <p:grpSpPr>
          <a:xfrm>
            <a:off x="6689663" y="5311535"/>
            <a:ext cx="5179799" cy="529877"/>
            <a:chOff x="6775864" y="4491223"/>
            <a:chExt cx="5179799" cy="529877"/>
          </a:xfrm>
        </p:grpSpPr>
        <p:sp>
          <p:nvSpPr>
            <p:cNvPr id="136" name="Rectangle: Rounded Corners 135">
              <a:extLst>
                <a:ext uri="{FF2B5EF4-FFF2-40B4-BE49-F238E27FC236}">
                  <a16:creationId xmlns:a16="http://schemas.microsoft.com/office/drawing/2014/main" id="{B7758F79-2F93-9971-F2F3-C04160090DE9}"/>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7" name="Arrow: Pentagon 136">
              <a:extLst>
                <a:ext uri="{FF2B5EF4-FFF2-40B4-BE49-F238E27FC236}">
                  <a16:creationId xmlns:a16="http://schemas.microsoft.com/office/drawing/2014/main" id="{2E34256B-55A3-13E5-020B-0C39F82EE49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8" name="TextBox 137">
              <a:extLst>
                <a:ext uri="{FF2B5EF4-FFF2-40B4-BE49-F238E27FC236}">
                  <a16:creationId xmlns:a16="http://schemas.microsoft.com/office/drawing/2014/main" id="{104B10A5-EE27-B206-2B4D-E61925FB8F90}"/>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Motion</a:t>
              </a:r>
              <a:endParaRPr lang="en-GB" sz="1600" kern="1200" dirty="0" err="1">
                <a:solidFill>
                  <a:schemeClr val="bg1"/>
                </a:solidFill>
                <a:latin typeface="+mn-lt"/>
                <a:ea typeface="ＭＳ Ｐゴシック" charset="0"/>
              </a:endParaRPr>
            </a:p>
          </p:txBody>
        </p:sp>
        <p:sp>
          <p:nvSpPr>
            <p:cNvPr id="139" name="TextBox 138">
              <a:extLst>
                <a:ext uri="{FF2B5EF4-FFF2-40B4-BE49-F238E27FC236}">
                  <a16:creationId xmlns:a16="http://schemas.microsoft.com/office/drawing/2014/main" id="{3AE0F64E-9E72-03FF-697F-A24FA6ACFF83}"/>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How teams target prospects based on personalization level, ranging from high-touch ABM and ABX to broad-reach Scale Marketing</a:t>
              </a:r>
            </a:p>
          </p:txBody>
        </p:sp>
        <p:sp>
          <p:nvSpPr>
            <p:cNvPr id="140" name="Oval 139">
              <a:extLst>
                <a:ext uri="{FF2B5EF4-FFF2-40B4-BE49-F238E27FC236}">
                  <a16:creationId xmlns:a16="http://schemas.microsoft.com/office/drawing/2014/main" id="{28AFCD27-317A-6E2C-BB9E-374DF50846FF}"/>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141" name="Oval 140">
            <a:extLst>
              <a:ext uri="{FF2B5EF4-FFF2-40B4-BE49-F238E27FC236}">
                <a16:creationId xmlns:a16="http://schemas.microsoft.com/office/drawing/2014/main" id="{2D0261BC-95F8-9E8E-0B1E-3F52AAA13C2B}"/>
              </a:ext>
            </a:extLst>
          </p:cNvPr>
          <p:cNvSpPr/>
          <p:nvPr/>
        </p:nvSpPr>
        <p:spPr>
          <a:xfrm>
            <a:off x="131198" y="2251427"/>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142" name="Oval 141">
            <a:extLst>
              <a:ext uri="{FF2B5EF4-FFF2-40B4-BE49-F238E27FC236}">
                <a16:creationId xmlns:a16="http://schemas.microsoft.com/office/drawing/2014/main" id="{A81F1DC4-6244-54BE-5C88-4E46FC4DF8E7}"/>
              </a:ext>
            </a:extLst>
          </p:cNvPr>
          <p:cNvSpPr/>
          <p:nvPr/>
        </p:nvSpPr>
        <p:spPr>
          <a:xfrm>
            <a:off x="126044" y="319545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143" name="Oval 142">
            <a:extLst>
              <a:ext uri="{FF2B5EF4-FFF2-40B4-BE49-F238E27FC236}">
                <a16:creationId xmlns:a16="http://schemas.microsoft.com/office/drawing/2014/main" id="{E4161A12-51AF-6529-7EA3-54CE649E14FC}"/>
              </a:ext>
            </a:extLst>
          </p:cNvPr>
          <p:cNvSpPr/>
          <p:nvPr/>
        </p:nvSpPr>
        <p:spPr>
          <a:xfrm>
            <a:off x="1454111"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144" name="Oval 143">
            <a:extLst>
              <a:ext uri="{FF2B5EF4-FFF2-40B4-BE49-F238E27FC236}">
                <a16:creationId xmlns:a16="http://schemas.microsoft.com/office/drawing/2014/main" id="{562F8351-D3C6-7012-6D20-B862D59E21C6}"/>
              </a:ext>
            </a:extLst>
          </p:cNvPr>
          <p:cNvSpPr/>
          <p:nvPr/>
        </p:nvSpPr>
        <p:spPr>
          <a:xfrm>
            <a:off x="3219017"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145" name="Oval 144">
            <a:extLst>
              <a:ext uri="{FF2B5EF4-FFF2-40B4-BE49-F238E27FC236}">
                <a16:creationId xmlns:a16="http://schemas.microsoft.com/office/drawing/2014/main" id="{8C25C122-9E8D-35F9-C7DF-FA443C0F7489}"/>
              </a:ext>
            </a:extLst>
          </p:cNvPr>
          <p:cNvSpPr/>
          <p:nvPr/>
        </p:nvSpPr>
        <p:spPr>
          <a:xfrm>
            <a:off x="5164195" y="522262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Tree>
    <p:extLst>
      <p:ext uri="{BB962C8B-B14F-4D97-AF65-F5344CB8AC3E}">
        <p14:creationId xmlns:p14="http://schemas.microsoft.com/office/powerpoint/2010/main" val="330093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B6B8-FC5F-428E-6804-22F61536852D}"/>
              </a:ext>
            </a:extLst>
          </p:cNvPr>
          <p:cNvSpPr>
            <a:spLocks noGrp="1"/>
          </p:cNvSpPr>
          <p:nvPr>
            <p:ph type="title"/>
          </p:nvPr>
        </p:nvSpPr>
        <p:spPr/>
        <p:txBody>
          <a:bodyPr/>
          <a:lstStyle/>
          <a:p>
            <a:r>
              <a:rPr lang="en-US" dirty="0"/>
              <a:t>Create Multiple IDs for Each of your Campaigns</a:t>
            </a:r>
            <a:endParaRPr lang="en-GB" dirty="0"/>
          </a:p>
        </p:txBody>
      </p:sp>
      <p:grpSp>
        <p:nvGrpSpPr>
          <p:cNvPr id="38" name="Group 37">
            <a:extLst>
              <a:ext uri="{FF2B5EF4-FFF2-40B4-BE49-F238E27FC236}">
                <a16:creationId xmlns:a16="http://schemas.microsoft.com/office/drawing/2014/main" id="{F7E3C8D3-0F7B-AC21-9214-D6F17AFC0F5E}"/>
              </a:ext>
            </a:extLst>
          </p:cNvPr>
          <p:cNvGrpSpPr/>
          <p:nvPr/>
        </p:nvGrpSpPr>
        <p:grpSpPr>
          <a:xfrm>
            <a:off x="941293" y="1192613"/>
            <a:ext cx="5029200" cy="2532222"/>
            <a:chOff x="2292723" y="2436466"/>
            <a:chExt cx="5029200" cy="2532222"/>
          </a:xfrm>
        </p:grpSpPr>
        <p:sp>
          <p:nvSpPr>
            <p:cNvPr id="10" name="Freeform: Shape 9">
              <a:extLst>
                <a:ext uri="{FF2B5EF4-FFF2-40B4-BE49-F238E27FC236}">
                  <a16:creationId xmlns:a16="http://schemas.microsoft.com/office/drawing/2014/main" id="{486B663B-933D-BC73-6993-2EA91B6EDF7D}"/>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14" name="Group 13">
              <a:extLst>
                <a:ext uri="{FF2B5EF4-FFF2-40B4-BE49-F238E27FC236}">
                  <a16:creationId xmlns:a16="http://schemas.microsoft.com/office/drawing/2014/main" id="{25905EC8-CAB0-D670-CCC2-576567A1F9D0}"/>
                </a:ext>
              </a:extLst>
            </p:cNvPr>
            <p:cNvGrpSpPr/>
            <p:nvPr/>
          </p:nvGrpSpPr>
          <p:grpSpPr>
            <a:xfrm>
              <a:off x="2794747" y="2436466"/>
              <a:ext cx="2675964" cy="492443"/>
              <a:chOff x="2794747" y="2436466"/>
              <a:chExt cx="2675964" cy="492443"/>
            </a:xfrm>
          </p:grpSpPr>
          <p:sp>
            <p:nvSpPr>
              <p:cNvPr id="9" name="Rectangle: Rounded Corners 8">
                <a:extLst>
                  <a:ext uri="{FF2B5EF4-FFF2-40B4-BE49-F238E27FC236}">
                    <a16:creationId xmlns:a16="http://schemas.microsoft.com/office/drawing/2014/main" id="{51FCB0CB-6ABE-D41B-CFDB-262117B3C5CC}"/>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12" name="Graphic 11" descr="Mandala with solid fill">
                <a:extLst>
                  <a:ext uri="{FF2B5EF4-FFF2-40B4-BE49-F238E27FC236}">
                    <a16:creationId xmlns:a16="http://schemas.microsoft.com/office/drawing/2014/main" id="{11C12668-5676-4547-6739-7BB9583A1C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13" name="TextBox 12">
                <a:extLst>
                  <a:ext uri="{FF2B5EF4-FFF2-40B4-BE49-F238E27FC236}">
                    <a16:creationId xmlns:a16="http://schemas.microsoft.com/office/drawing/2014/main" id="{0802225D-9CAE-6745-9D3D-2A5D91BCCE1E}"/>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cc010898</a:t>
                </a:r>
                <a:endParaRPr lang="en-GB" sz="2400" kern="1200" dirty="0" err="1">
                  <a:solidFill>
                    <a:schemeClr val="bg1"/>
                  </a:solidFill>
                  <a:latin typeface="+mn-lt"/>
                  <a:ea typeface="ＭＳ Ｐゴシック" charset="0"/>
                </a:endParaRPr>
              </a:p>
            </p:txBody>
          </p:sp>
        </p:grpSp>
        <p:grpSp>
          <p:nvGrpSpPr>
            <p:cNvPr id="36" name="Group 35">
              <a:extLst>
                <a:ext uri="{FF2B5EF4-FFF2-40B4-BE49-F238E27FC236}">
                  <a16:creationId xmlns:a16="http://schemas.microsoft.com/office/drawing/2014/main" id="{58FDC1CC-E061-DB07-8648-25EC861E8F89}"/>
                </a:ext>
              </a:extLst>
            </p:cNvPr>
            <p:cNvGrpSpPr/>
            <p:nvPr/>
          </p:nvGrpSpPr>
          <p:grpSpPr>
            <a:xfrm>
              <a:off x="2605869" y="4048152"/>
              <a:ext cx="4402908" cy="805656"/>
              <a:chOff x="2582839" y="3959740"/>
              <a:chExt cx="4402908" cy="805656"/>
            </a:xfrm>
          </p:grpSpPr>
          <p:grpSp>
            <p:nvGrpSpPr>
              <p:cNvPr id="15" name="Group 14">
                <a:extLst>
                  <a:ext uri="{FF2B5EF4-FFF2-40B4-BE49-F238E27FC236}">
                    <a16:creationId xmlns:a16="http://schemas.microsoft.com/office/drawing/2014/main" id="{F0B9DB11-B6C9-6179-A0D2-2ADAAC6B97B2}"/>
                  </a:ext>
                </a:extLst>
              </p:cNvPr>
              <p:cNvGrpSpPr/>
              <p:nvPr/>
            </p:nvGrpSpPr>
            <p:grpSpPr>
              <a:xfrm>
                <a:off x="4108143" y="3963630"/>
                <a:ext cx="1352299" cy="797876"/>
                <a:chOff x="5225124" y="4067734"/>
                <a:chExt cx="2267712" cy="1337983"/>
              </a:xfrm>
            </p:grpSpPr>
            <p:grpSp>
              <p:nvGrpSpPr>
                <p:cNvPr id="16" name="Group 15">
                  <a:extLst>
                    <a:ext uri="{FF2B5EF4-FFF2-40B4-BE49-F238E27FC236}">
                      <a16:creationId xmlns:a16="http://schemas.microsoft.com/office/drawing/2014/main" id="{7E24A011-BDA7-CFB6-063D-4BC181423A1B}"/>
                    </a:ext>
                  </a:extLst>
                </p:cNvPr>
                <p:cNvGrpSpPr/>
                <p:nvPr/>
              </p:nvGrpSpPr>
              <p:grpSpPr>
                <a:xfrm>
                  <a:off x="5225124" y="4067734"/>
                  <a:ext cx="2267712" cy="1337983"/>
                  <a:chOff x="2521324" y="4067735"/>
                  <a:chExt cx="2267712" cy="1337983"/>
                </a:xfrm>
              </p:grpSpPr>
              <p:sp>
                <p:nvSpPr>
                  <p:cNvPr id="18" name="Rectangle: Rounded Corners 17">
                    <a:extLst>
                      <a:ext uri="{FF2B5EF4-FFF2-40B4-BE49-F238E27FC236}">
                        <a16:creationId xmlns:a16="http://schemas.microsoft.com/office/drawing/2014/main" id="{78A894C9-3724-7DB2-BBAA-22563BF5647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9" name="Straight Connector 18">
                    <a:extLst>
                      <a:ext uri="{FF2B5EF4-FFF2-40B4-BE49-F238E27FC236}">
                        <a16:creationId xmlns:a16="http://schemas.microsoft.com/office/drawing/2014/main" id="{CEE621D4-00AE-3A15-CF9A-ABF6AF19714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0" name="TextBox 19">
                    <a:extLst>
                      <a:ext uri="{FF2B5EF4-FFF2-40B4-BE49-F238E27FC236}">
                        <a16:creationId xmlns:a16="http://schemas.microsoft.com/office/drawing/2014/main" id="{82237BD4-83AF-1540-8286-A9C1C520C66C}"/>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21" name="TextBox 20">
                    <a:extLst>
                      <a:ext uri="{FF2B5EF4-FFF2-40B4-BE49-F238E27FC236}">
                        <a16:creationId xmlns:a16="http://schemas.microsoft.com/office/drawing/2014/main" id="{8A7F94E6-DBFA-A5D4-A9E9-046917572C7A}"/>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17" name="Graphic 16" descr="Processor with solid fill">
                  <a:extLst>
                    <a:ext uri="{FF2B5EF4-FFF2-40B4-BE49-F238E27FC236}">
                      <a16:creationId xmlns:a16="http://schemas.microsoft.com/office/drawing/2014/main" id="{102F0B3B-930B-5F73-4845-ED8872AFD1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22" name="Group 21">
                <a:extLst>
                  <a:ext uri="{FF2B5EF4-FFF2-40B4-BE49-F238E27FC236}">
                    <a16:creationId xmlns:a16="http://schemas.microsoft.com/office/drawing/2014/main" id="{34400E22-5246-3309-800C-AC7A66952BE5}"/>
                  </a:ext>
                </a:extLst>
              </p:cNvPr>
              <p:cNvGrpSpPr/>
              <p:nvPr/>
            </p:nvGrpSpPr>
            <p:grpSpPr>
              <a:xfrm>
                <a:off x="5633448" y="3963630"/>
                <a:ext cx="1352299" cy="797876"/>
                <a:chOff x="7928924" y="4067733"/>
                <a:chExt cx="2267712" cy="1337983"/>
              </a:xfrm>
            </p:grpSpPr>
            <p:grpSp>
              <p:nvGrpSpPr>
                <p:cNvPr id="23" name="Group 22">
                  <a:extLst>
                    <a:ext uri="{FF2B5EF4-FFF2-40B4-BE49-F238E27FC236}">
                      <a16:creationId xmlns:a16="http://schemas.microsoft.com/office/drawing/2014/main" id="{6C56D2DC-2486-E4E0-7EE8-8D528B9DD28E}"/>
                    </a:ext>
                  </a:extLst>
                </p:cNvPr>
                <p:cNvGrpSpPr/>
                <p:nvPr/>
              </p:nvGrpSpPr>
              <p:grpSpPr>
                <a:xfrm>
                  <a:off x="7928924" y="4067733"/>
                  <a:ext cx="2267712" cy="1337983"/>
                  <a:chOff x="2521324" y="4067735"/>
                  <a:chExt cx="2267712" cy="1337983"/>
                </a:xfrm>
              </p:grpSpPr>
              <p:sp>
                <p:nvSpPr>
                  <p:cNvPr id="25" name="Rectangle: Rounded Corners 24">
                    <a:extLst>
                      <a:ext uri="{FF2B5EF4-FFF2-40B4-BE49-F238E27FC236}">
                        <a16:creationId xmlns:a16="http://schemas.microsoft.com/office/drawing/2014/main" id="{43898BBE-7CCF-9E59-7343-E431B556A02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26" name="Straight Connector 25">
                    <a:extLst>
                      <a:ext uri="{FF2B5EF4-FFF2-40B4-BE49-F238E27FC236}">
                        <a16:creationId xmlns:a16="http://schemas.microsoft.com/office/drawing/2014/main" id="{6874EF5D-69D4-AF8C-B6E8-65C7C1F4DC6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7" name="TextBox 26">
                    <a:extLst>
                      <a:ext uri="{FF2B5EF4-FFF2-40B4-BE49-F238E27FC236}">
                        <a16:creationId xmlns:a16="http://schemas.microsoft.com/office/drawing/2014/main" id="{82262CFA-3191-FF24-C1C2-CCF20809B2C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28" name="TextBox 27">
                    <a:extLst>
                      <a:ext uri="{FF2B5EF4-FFF2-40B4-BE49-F238E27FC236}">
                        <a16:creationId xmlns:a16="http://schemas.microsoft.com/office/drawing/2014/main" id="{8A90ED0F-9F33-FB31-377E-04E24668CBD2}"/>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24" name="Graphic 23" descr="Circles with arrows with solid fill">
                  <a:extLst>
                    <a:ext uri="{FF2B5EF4-FFF2-40B4-BE49-F238E27FC236}">
                      <a16:creationId xmlns:a16="http://schemas.microsoft.com/office/drawing/2014/main" id="{BE55DF24-19BF-23E3-F37F-D5A1A308B4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29" name="Group 28">
                <a:extLst>
                  <a:ext uri="{FF2B5EF4-FFF2-40B4-BE49-F238E27FC236}">
                    <a16:creationId xmlns:a16="http://schemas.microsoft.com/office/drawing/2014/main" id="{DC54F2D7-2951-464B-3B2F-BEE6D72F1ED9}"/>
                  </a:ext>
                </a:extLst>
              </p:cNvPr>
              <p:cNvGrpSpPr/>
              <p:nvPr/>
            </p:nvGrpSpPr>
            <p:grpSpPr>
              <a:xfrm>
                <a:off x="2582839" y="3959740"/>
                <a:ext cx="1352298" cy="805656"/>
                <a:chOff x="2521324" y="4054687"/>
                <a:chExt cx="2267712" cy="1351031"/>
              </a:xfrm>
            </p:grpSpPr>
            <p:grpSp>
              <p:nvGrpSpPr>
                <p:cNvPr id="30" name="Group 29">
                  <a:extLst>
                    <a:ext uri="{FF2B5EF4-FFF2-40B4-BE49-F238E27FC236}">
                      <a16:creationId xmlns:a16="http://schemas.microsoft.com/office/drawing/2014/main" id="{DB4004C8-1E26-0479-AADF-2CB5D0A12684}"/>
                    </a:ext>
                  </a:extLst>
                </p:cNvPr>
                <p:cNvGrpSpPr/>
                <p:nvPr/>
              </p:nvGrpSpPr>
              <p:grpSpPr>
                <a:xfrm>
                  <a:off x="2521324" y="4067735"/>
                  <a:ext cx="2267712" cy="1337983"/>
                  <a:chOff x="2521324" y="4067735"/>
                  <a:chExt cx="2267712" cy="1337983"/>
                </a:xfrm>
              </p:grpSpPr>
              <p:sp>
                <p:nvSpPr>
                  <p:cNvPr id="32" name="Rectangle: Rounded Corners 31">
                    <a:extLst>
                      <a:ext uri="{FF2B5EF4-FFF2-40B4-BE49-F238E27FC236}">
                        <a16:creationId xmlns:a16="http://schemas.microsoft.com/office/drawing/2014/main" id="{1CF09517-0F9A-AEB5-E29A-6C5D7C6F8A4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33" name="Straight Connector 32">
                    <a:extLst>
                      <a:ext uri="{FF2B5EF4-FFF2-40B4-BE49-F238E27FC236}">
                        <a16:creationId xmlns:a16="http://schemas.microsoft.com/office/drawing/2014/main" id="{34416A1E-2218-1852-DBAE-B130409651B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4" name="TextBox 33">
                    <a:extLst>
                      <a:ext uri="{FF2B5EF4-FFF2-40B4-BE49-F238E27FC236}">
                        <a16:creationId xmlns:a16="http://schemas.microsoft.com/office/drawing/2014/main" id="{16CE68BF-EED8-15F1-1F42-6E273BD88D9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35" name="TextBox 34">
                    <a:extLst>
                      <a:ext uri="{FF2B5EF4-FFF2-40B4-BE49-F238E27FC236}">
                        <a16:creationId xmlns:a16="http://schemas.microsoft.com/office/drawing/2014/main" id="{75E3CE59-0168-6704-A6E3-C49CCF21569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31" name="Graphic 30" descr="Cycle with people with solid fill">
                  <a:extLst>
                    <a:ext uri="{FF2B5EF4-FFF2-40B4-BE49-F238E27FC236}">
                      <a16:creationId xmlns:a16="http://schemas.microsoft.com/office/drawing/2014/main" id="{599158BF-4F27-C10B-080B-026363E1B0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37" name="TextBox 36">
              <a:extLst>
                <a:ext uri="{FF2B5EF4-FFF2-40B4-BE49-F238E27FC236}">
                  <a16:creationId xmlns:a16="http://schemas.microsoft.com/office/drawing/2014/main" id="{16120CF3-EC9B-AD5E-91A3-F4E3320BB965}"/>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Drive engagement and pipeline growth in EMEA Band A mid-market segment relating to Zero Trust Access</a:t>
              </a:r>
            </a:p>
            <a:p>
              <a:pPr defTabSz="912276" fontAlgn="base">
                <a:buClr>
                  <a:schemeClr val="bg1"/>
                </a:buClr>
                <a:buSzPct val="100000"/>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Drive targeted engagement and accelerate pipeline growth within the EMEA Band A mid-market segment. By focusing specifically on Zero Trust Access solutions, the initiative addresses critical security needs for growing organizations across the region. Ultimately, it establishes a strategic framework to capture market share and nurture high-value prospects through dedicated security messaging</a:t>
              </a:r>
            </a:p>
          </p:txBody>
        </p:sp>
      </p:grpSp>
      <p:grpSp>
        <p:nvGrpSpPr>
          <p:cNvPr id="39" name="Group 38">
            <a:extLst>
              <a:ext uri="{FF2B5EF4-FFF2-40B4-BE49-F238E27FC236}">
                <a16:creationId xmlns:a16="http://schemas.microsoft.com/office/drawing/2014/main" id="{4ADE1DD4-F09C-8417-503C-5AC644FDFB69}"/>
              </a:ext>
            </a:extLst>
          </p:cNvPr>
          <p:cNvGrpSpPr/>
          <p:nvPr/>
        </p:nvGrpSpPr>
        <p:grpSpPr>
          <a:xfrm>
            <a:off x="6372790" y="1143307"/>
            <a:ext cx="5029200" cy="2532222"/>
            <a:chOff x="2292723" y="2436466"/>
            <a:chExt cx="5029200" cy="2532222"/>
          </a:xfrm>
        </p:grpSpPr>
        <p:sp>
          <p:nvSpPr>
            <p:cNvPr id="40" name="Freeform: Shape 39">
              <a:extLst>
                <a:ext uri="{FF2B5EF4-FFF2-40B4-BE49-F238E27FC236}">
                  <a16:creationId xmlns:a16="http://schemas.microsoft.com/office/drawing/2014/main" id="{FE8EF383-41B5-F134-2EC9-F787D60F3D72}"/>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1" name="Group 40">
              <a:extLst>
                <a:ext uri="{FF2B5EF4-FFF2-40B4-BE49-F238E27FC236}">
                  <a16:creationId xmlns:a16="http://schemas.microsoft.com/office/drawing/2014/main" id="{D8D2AB1A-7AEF-7B68-9EE9-8F8C998A90A1}"/>
                </a:ext>
              </a:extLst>
            </p:cNvPr>
            <p:cNvGrpSpPr/>
            <p:nvPr/>
          </p:nvGrpSpPr>
          <p:grpSpPr>
            <a:xfrm>
              <a:off x="2794747" y="2436466"/>
              <a:ext cx="2675964" cy="492443"/>
              <a:chOff x="2794747" y="2436466"/>
              <a:chExt cx="2675964" cy="492443"/>
            </a:xfrm>
          </p:grpSpPr>
          <p:sp>
            <p:nvSpPr>
              <p:cNvPr id="65" name="Rectangle: Rounded Corners 64">
                <a:extLst>
                  <a:ext uri="{FF2B5EF4-FFF2-40B4-BE49-F238E27FC236}">
                    <a16:creationId xmlns:a16="http://schemas.microsoft.com/office/drawing/2014/main" id="{6CA78B3E-398E-BFA5-F420-995CC965A318}"/>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66" name="Graphic 65" descr="Mandala with solid fill">
                <a:extLst>
                  <a:ext uri="{FF2B5EF4-FFF2-40B4-BE49-F238E27FC236}">
                    <a16:creationId xmlns:a16="http://schemas.microsoft.com/office/drawing/2014/main" id="{95CEC54F-6F61-9E89-25A7-F7B2DBE942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67" name="TextBox 66">
                <a:extLst>
                  <a:ext uri="{FF2B5EF4-FFF2-40B4-BE49-F238E27FC236}">
                    <a16:creationId xmlns:a16="http://schemas.microsoft.com/office/drawing/2014/main" id="{72A93691-AEE7-E8C1-6CD1-ADD294732A90}"/>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cc010912</a:t>
                </a:r>
                <a:endParaRPr lang="en-GB" sz="2400" kern="1200" dirty="0" err="1">
                  <a:solidFill>
                    <a:schemeClr val="bg1"/>
                  </a:solidFill>
                  <a:latin typeface="+mn-lt"/>
                  <a:ea typeface="ＭＳ Ｐゴシック" charset="0"/>
                </a:endParaRPr>
              </a:p>
            </p:txBody>
          </p:sp>
        </p:grpSp>
        <p:grpSp>
          <p:nvGrpSpPr>
            <p:cNvPr id="42" name="Group 41">
              <a:extLst>
                <a:ext uri="{FF2B5EF4-FFF2-40B4-BE49-F238E27FC236}">
                  <a16:creationId xmlns:a16="http://schemas.microsoft.com/office/drawing/2014/main" id="{9AE462E3-0BF4-DA22-D884-3F0FB4156A3C}"/>
                </a:ext>
              </a:extLst>
            </p:cNvPr>
            <p:cNvGrpSpPr/>
            <p:nvPr/>
          </p:nvGrpSpPr>
          <p:grpSpPr>
            <a:xfrm>
              <a:off x="2605869" y="4048152"/>
              <a:ext cx="4402908" cy="805656"/>
              <a:chOff x="2582839" y="3959740"/>
              <a:chExt cx="4402908" cy="805656"/>
            </a:xfrm>
          </p:grpSpPr>
          <p:grpSp>
            <p:nvGrpSpPr>
              <p:cNvPr id="44" name="Group 43">
                <a:extLst>
                  <a:ext uri="{FF2B5EF4-FFF2-40B4-BE49-F238E27FC236}">
                    <a16:creationId xmlns:a16="http://schemas.microsoft.com/office/drawing/2014/main" id="{480C8070-6DAE-0EA0-7038-60E987EBCFC1}"/>
                  </a:ext>
                </a:extLst>
              </p:cNvPr>
              <p:cNvGrpSpPr/>
              <p:nvPr/>
            </p:nvGrpSpPr>
            <p:grpSpPr>
              <a:xfrm>
                <a:off x="4108143" y="3963630"/>
                <a:ext cx="1352299" cy="797876"/>
                <a:chOff x="5225124" y="4067734"/>
                <a:chExt cx="2267712" cy="1337983"/>
              </a:xfrm>
            </p:grpSpPr>
            <p:grpSp>
              <p:nvGrpSpPr>
                <p:cNvPr id="59" name="Group 58">
                  <a:extLst>
                    <a:ext uri="{FF2B5EF4-FFF2-40B4-BE49-F238E27FC236}">
                      <a16:creationId xmlns:a16="http://schemas.microsoft.com/office/drawing/2014/main" id="{D9C4BF71-EE16-0AE4-3E39-09F0E0CFA93E}"/>
                    </a:ext>
                  </a:extLst>
                </p:cNvPr>
                <p:cNvGrpSpPr/>
                <p:nvPr/>
              </p:nvGrpSpPr>
              <p:grpSpPr>
                <a:xfrm>
                  <a:off x="5225124" y="4067734"/>
                  <a:ext cx="2267712" cy="1337983"/>
                  <a:chOff x="2521324" y="4067735"/>
                  <a:chExt cx="2267712" cy="1337983"/>
                </a:xfrm>
              </p:grpSpPr>
              <p:sp>
                <p:nvSpPr>
                  <p:cNvPr id="61" name="Rectangle: Rounded Corners 60">
                    <a:extLst>
                      <a:ext uri="{FF2B5EF4-FFF2-40B4-BE49-F238E27FC236}">
                        <a16:creationId xmlns:a16="http://schemas.microsoft.com/office/drawing/2014/main" id="{0F9D5ED0-BFE2-039D-94EC-CB685A1E59D5}"/>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62" name="Straight Connector 61">
                    <a:extLst>
                      <a:ext uri="{FF2B5EF4-FFF2-40B4-BE49-F238E27FC236}">
                        <a16:creationId xmlns:a16="http://schemas.microsoft.com/office/drawing/2014/main" id="{75F947C1-8E0E-9C76-80AC-BE08E9885103}"/>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3" name="TextBox 62">
                    <a:extLst>
                      <a:ext uri="{FF2B5EF4-FFF2-40B4-BE49-F238E27FC236}">
                        <a16:creationId xmlns:a16="http://schemas.microsoft.com/office/drawing/2014/main" id="{5AB8FE06-5D7C-3A7B-C652-5C1EA8FD34C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64" name="TextBox 63">
                    <a:extLst>
                      <a:ext uri="{FF2B5EF4-FFF2-40B4-BE49-F238E27FC236}">
                        <a16:creationId xmlns:a16="http://schemas.microsoft.com/office/drawing/2014/main" id="{248601D1-1BB5-07C1-F7FF-EACB9CF17E76}"/>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Mid Market Networking</a:t>
                    </a:r>
                    <a:endParaRPr lang="en-GB" sz="1000" kern="1200" dirty="0" err="1">
                      <a:solidFill>
                        <a:schemeClr val="bg1"/>
                      </a:solidFill>
                      <a:latin typeface="+mn-lt"/>
                      <a:ea typeface="ＭＳ Ｐゴシック" charset="0"/>
                    </a:endParaRPr>
                  </a:p>
                </p:txBody>
              </p:sp>
            </p:grpSp>
            <p:pic>
              <p:nvPicPr>
                <p:cNvPr id="60" name="Graphic 59" descr="Processor with solid fill">
                  <a:extLst>
                    <a:ext uri="{FF2B5EF4-FFF2-40B4-BE49-F238E27FC236}">
                      <a16:creationId xmlns:a16="http://schemas.microsoft.com/office/drawing/2014/main" id="{1B41E877-EE78-8FE9-1203-D33190ED87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45" name="Group 44">
                <a:extLst>
                  <a:ext uri="{FF2B5EF4-FFF2-40B4-BE49-F238E27FC236}">
                    <a16:creationId xmlns:a16="http://schemas.microsoft.com/office/drawing/2014/main" id="{9D0E758B-37E3-9E9B-57AE-06B2E60CB2BC}"/>
                  </a:ext>
                </a:extLst>
              </p:cNvPr>
              <p:cNvGrpSpPr/>
              <p:nvPr/>
            </p:nvGrpSpPr>
            <p:grpSpPr>
              <a:xfrm>
                <a:off x="5633448" y="3963630"/>
                <a:ext cx="1352299" cy="797876"/>
                <a:chOff x="7928924" y="4067733"/>
                <a:chExt cx="2267712" cy="1337983"/>
              </a:xfrm>
            </p:grpSpPr>
            <p:grpSp>
              <p:nvGrpSpPr>
                <p:cNvPr id="53" name="Group 52">
                  <a:extLst>
                    <a:ext uri="{FF2B5EF4-FFF2-40B4-BE49-F238E27FC236}">
                      <a16:creationId xmlns:a16="http://schemas.microsoft.com/office/drawing/2014/main" id="{1D09A211-D89A-A6FE-AB31-673D0ADE3032}"/>
                    </a:ext>
                  </a:extLst>
                </p:cNvPr>
                <p:cNvGrpSpPr/>
                <p:nvPr/>
              </p:nvGrpSpPr>
              <p:grpSpPr>
                <a:xfrm>
                  <a:off x="7928924" y="4067733"/>
                  <a:ext cx="2267712" cy="1337983"/>
                  <a:chOff x="2521324" y="4067735"/>
                  <a:chExt cx="2267712" cy="1337983"/>
                </a:xfrm>
              </p:grpSpPr>
              <p:sp>
                <p:nvSpPr>
                  <p:cNvPr id="55" name="Rectangle: Rounded Corners 54">
                    <a:extLst>
                      <a:ext uri="{FF2B5EF4-FFF2-40B4-BE49-F238E27FC236}">
                        <a16:creationId xmlns:a16="http://schemas.microsoft.com/office/drawing/2014/main" id="{F4CF44B9-5339-7018-2DD2-E674B7AEAC3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56" name="Straight Connector 55">
                    <a:extLst>
                      <a:ext uri="{FF2B5EF4-FFF2-40B4-BE49-F238E27FC236}">
                        <a16:creationId xmlns:a16="http://schemas.microsoft.com/office/drawing/2014/main" id="{679818F6-9385-6FAB-1721-7D5D3224B2C6}"/>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7" name="TextBox 56">
                    <a:extLst>
                      <a:ext uri="{FF2B5EF4-FFF2-40B4-BE49-F238E27FC236}">
                        <a16:creationId xmlns:a16="http://schemas.microsoft.com/office/drawing/2014/main" id="{B49E0821-ABBE-E4C4-C746-43C48CE4B86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58" name="TextBox 57">
                    <a:extLst>
                      <a:ext uri="{FF2B5EF4-FFF2-40B4-BE49-F238E27FC236}">
                        <a16:creationId xmlns:a16="http://schemas.microsoft.com/office/drawing/2014/main" id="{BD98BF59-9FA5-9CE8-CD74-32B723AF98A0}"/>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54" name="Graphic 53" descr="Circles with arrows with solid fill">
                  <a:extLst>
                    <a:ext uri="{FF2B5EF4-FFF2-40B4-BE49-F238E27FC236}">
                      <a16:creationId xmlns:a16="http://schemas.microsoft.com/office/drawing/2014/main" id="{1F51A4AA-1570-A9EE-A042-9DA58912C2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46" name="Group 45">
                <a:extLst>
                  <a:ext uri="{FF2B5EF4-FFF2-40B4-BE49-F238E27FC236}">
                    <a16:creationId xmlns:a16="http://schemas.microsoft.com/office/drawing/2014/main" id="{B4CC83C9-57B5-7CC5-9D2A-F24B1544C297}"/>
                  </a:ext>
                </a:extLst>
              </p:cNvPr>
              <p:cNvGrpSpPr/>
              <p:nvPr/>
            </p:nvGrpSpPr>
            <p:grpSpPr>
              <a:xfrm>
                <a:off x="2582839" y="3959740"/>
                <a:ext cx="1352298" cy="805656"/>
                <a:chOff x="2521324" y="4054687"/>
                <a:chExt cx="2267712" cy="1351031"/>
              </a:xfrm>
            </p:grpSpPr>
            <p:grpSp>
              <p:nvGrpSpPr>
                <p:cNvPr id="47" name="Group 46">
                  <a:extLst>
                    <a:ext uri="{FF2B5EF4-FFF2-40B4-BE49-F238E27FC236}">
                      <a16:creationId xmlns:a16="http://schemas.microsoft.com/office/drawing/2014/main" id="{1CEE94F1-6ED3-A809-E180-AFB2D027035D}"/>
                    </a:ext>
                  </a:extLst>
                </p:cNvPr>
                <p:cNvGrpSpPr/>
                <p:nvPr/>
              </p:nvGrpSpPr>
              <p:grpSpPr>
                <a:xfrm>
                  <a:off x="2521324" y="4067735"/>
                  <a:ext cx="2267712" cy="1337983"/>
                  <a:chOff x="2521324" y="4067735"/>
                  <a:chExt cx="2267712" cy="1337983"/>
                </a:xfrm>
              </p:grpSpPr>
              <p:sp>
                <p:nvSpPr>
                  <p:cNvPr id="49" name="Rectangle: Rounded Corners 48">
                    <a:extLst>
                      <a:ext uri="{FF2B5EF4-FFF2-40B4-BE49-F238E27FC236}">
                        <a16:creationId xmlns:a16="http://schemas.microsoft.com/office/drawing/2014/main" id="{45BCCE7A-A3D3-3523-C367-14F6C6BE7D4E}"/>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50" name="Straight Connector 49">
                    <a:extLst>
                      <a:ext uri="{FF2B5EF4-FFF2-40B4-BE49-F238E27FC236}">
                        <a16:creationId xmlns:a16="http://schemas.microsoft.com/office/drawing/2014/main" id="{4BDB3299-D16F-06EF-EFCF-60FC503594A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1" name="TextBox 50">
                    <a:extLst>
                      <a:ext uri="{FF2B5EF4-FFF2-40B4-BE49-F238E27FC236}">
                        <a16:creationId xmlns:a16="http://schemas.microsoft.com/office/drawing/2014/main" id="{AA3AD59B-C854-7F58-F61D-FF4DC7547B7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52" name="TextBox 51">
                    <a:extLst>
                      <a:ext uri="{FF2B5EF4-FFF2-40B4-BE49-F238E27FC236}">
                        <a16:creationId xmlns:a16="http://schemas.microsoft.com/office/drawing/2014/main" id="{E15008FB-063D-AFBB-1E51-EB174905B56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48" name="Graphic 47" descr="Cycle with people with solid fill">
                  <a:extLst>
                    <a:ext uri="{FF2B5EF4-FFF2-40B4-BE49-F238E27FC236}">
                      <a16:creationId xmlns:a16="http://schemas.microsoft.com/office/drawing/2014/main" id="{9C0CE74B-4AEE-892A-664A-AB3D8E0160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43" name="TextBox 42">
              <a:extLst>
                <a:ext uri="{FF2B5EF4-FFF2-40B4-BE49-F238E27FC236}">
                  <a16:creationId xmlns:a16="http://schemas.microsoft.com/office/drawing/2014/main" id="{F84354A2-6695-FBF7-E188-36AB27FA189E}"/>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AMER Mid-Market Secure Campus &amp; Branch Connect</a:t>
              </a:r>
            </a:p>
            <a:p>
              <a:pPr defTabSz="912276" fontAlgn="base">
                <a:buClr>
                  <a:schemeClr val="bg1"/>
                </a:buClr>
                <a:buSzPct val="100000"/>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This campaign focuses on driving engagement and pipeline growth within the Americas mid-market segment by highlighting secure campus and branch networking solutions. It addresses the critical need for midsize businesses to deploy scalable, robust, and highly secure infrastructure across distributed office environments. Through targeted messaging, the initiative aims to accelerate the sales cycle and capture expanding network security opportunities across the region.</a:t>
              </a:r>
            </a:p>
          </p:txBody>
        </p:sp>
      </p:grpSp>
      <p:grpSp>
        <p:nvGrpSpPr>
          <p:cNvPr id="68" name="Group 67">
            <a:extLst>
              <a:ext uri="{FF2B5EF4-FFF2-40B4-BE49-F238E27FC236}">
                <a16:creationId xmlns:a16="http://schemas.microsoft.com/office/drawing/2014/main" id="{BACE89A9-4476-B150-B56C-1E91D90D4AAD}"/>
              </a:ext>
            </a:extLst>
          </p:cNvPr>
          <p:cNvGrpSpPr/>
          <p:nvPr/>
        </p:nvGrpSpPr>
        <p:grpSpPr>
          <a:xfrm>
            <a:off x="891987" y="3838498"/>
            <a:ext cx="5029200" cy="2532222"/>
            <a:chOff x="2292723" y="2436466"/>
            <a:chExt cx="5029200" cy="2532222"/>
          </a:xfrm>
        </p:grpSpPr>
        <p:sp>
          <p:nvSpPr>
            <p:cNvPr id="69" name="Freeform: Shape 68">
              <a:extLst>
                <a:ext uri="{FF2B5EF4-FFF2-40B4-BE49-F238E27FC236}">
                  <a16:creationId xmlns:a16="http://schemas.microsoft.com/office/drawing/2014/main" id="{24FFF187-20A3-7B1E-0E7F-F4E1F9C04580}"/>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70" name="Group 69">
              <a:extLst>
                <a:ext uri="{FF2B5EF4-FFF2-40B4-BE49-F238E27FC236}">
                  <a16:creationId xmlns:a16="http://schemas.microsoft.com/office/drawing/2014/main" id="{8337B887-D11B-B94E-DE65-6EABB6D72FE8}"/>
                </a:ext>
              </a:extLst>
            </p:cNvPr>
            <p:cNvGrpSpPr/>
            <p:nvPr/>
          </p:nvGrpSpPr>
          <p:grpSpPr>
            <a:xfrm>
              <a:off x="2794747" y="2436466"/>
              <a:ext cx="2675964" cy="492443"/>
              <a:chOff x="2794747" y="2436466"/>
              <a:chExt cx="2675964" cy="492443"/>
            </a:xfrm>
          </p:grpSpPr>
          <p:sp>
            <p:nvSpPr>
              <p:cNvPr id="94" name="Rectangle: Rounded Corners 93">
                <a:extLst>
                  <a:ext uri="{FF2B5EF4-FFF2-40B4-BE49-F238E27FC236}">
                    <a16:creationId xmlns:a16="http://schemas.microsoft.com/office/drawing/2014/main" id="{0413D299-4537-F8AC-8DDC-8A12F6342BEB}"/>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95" name="Graphic 94" descr="Mandala with solid fill">
                <a:extLst>
                  <a:ext uri="{FF2B5EF4-FFF2-40B4-BE49-F238E27FC236}">
                    <a16:creationId xmlns:a16="http://schemas.microsoft.com/office/drawing/2014/main" id="{538ABE7E-8CDF-FC28-041A-03F2A0A4A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96" name="TextBox 95">
                <a:extLst>
                  <a:ext uri="{FF2B5EF4-FFF2-40B4-BE49-F238E27FC236}">
                    <a16:creationId xmlns:a16="http://schemas.microsoft.com/office/drawing/2014/main" id="{828E48B6-89EF-394C-D625-219C4DF75BD9}"/>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cc010918</a:t>
                </a:r>
                <a:endParaRPr lang="en-GB" sz="2400" kern="1200" dirty="0" err="1">
                  <a:solidFill>
                    <a:schemeClr val="bg1"/>
                  </a:solidFill>
                  <a:latin typeface="+mn-lt"/>
                  <a:ea typeface="ＭＳ Ｐゴシック" charset="0"/>
                </a:endParaRPr>
              </a:p>
            </p:txBody>
          </p:sp>
        </p:grpSp>
        <p:grpSp>
          <p:nvGrpSpPr>
            <p:cNvPr id="71" name="Group 70">
              <a:extLst>
                <a:ext uri="{FF2B5EF4-FFF2-40B4-BE49-F238E27FC236}">
                  <a16:creationId xmlns:a16="http://schemas.microsoft.com/office/drawing/2014/main" id="{35E40BB9-CEF1-BA0F-1730-E971BE4F85E8}"/>
                </a:ext>
              </a:extLst>
            </p:cNvPr>
            <p:cNvGrpSpPr/>
            <p:nvPr/>
          </p:nvGrpSpPr>
          <p:grpSpPr>
            <a:xfrm>
              <a:off x="2605869" y="4048152"/>
              <a:ext cx="4402908" cy="805656"/>
              <a:chOff x="2582839" y="3959740"/>
              <a:chExt cx="4402908" cy="805656"/>
            </a:xfrm>
          </p:grpSpPr>
          <p:grpSp>
            <p:nvGrpSpPr>
              <p:cNvPr id="73" name="Group 72">
                <a:extLst>
                  <a:ext uri="{FF2B5EF4-FFF2-40B4-BE49-F238E27FC236}">
                    <a16:creationId xmlns:a16="http://schemas.microsoft.com/office/drawing/2014/main" id="{822BF5F0-1C04-D207-F25E-AA1C6163B106}"/>
                  </a:ext>
                </a:extLst>
              </p:cNvPr>
              <p:cNvGrpSpPr/>
              <p:nvPr/>
            </p:nvGrpSpPr>
            <p:grpSpPr>
              <a:xfrm>
                <a:off x="4108143" y="3963630"/>
                <a:ext cx="1352299" cy="797876"/>
                <a:chOff x="5225124" y="4067734"/>
                <a:chExt cx="2267712" cy="1337983"/>
              </a:xfrm>
            </p:grpSpPr>
            <p:grpSp>
              <p:nvGrpSpPr>
                <p:cNvPr id="88" name="Group 87">
                  <a:extLst>
                    <a:ext uri="{FF2B5EF4-FFF2-40B4-BE49-F238E27FC236}">
                      <a16:creationId xmlns:a16="http://schemas.microsoft.com/office/drawing/2014/main" id="{3DEADFDD-7AB1-EC08-EE89-18FD66CB4791}"/>
                    </a:ext>
                  </a:extLst>
                </p:cNvPr>
                <p:cNvGrpSpPr/>
                <p:nvPr/>
              </p:nvGrpSpPr>
              <p:grpSpPr>
                <a:xfrm>
                  <a:off x="5225124" y="4067734"/>
                  <a:ext cx="2267712" cy="1337983"/>
                  <a:chOff x="2521324" y="4067735"/>
                  <a:chExt cx="2267712" cy="1337983"/>
                </a:xfrm>
              </p:grpSpPr>
              <p:sp>
                <p:nvSpPr>
                  <p:cNvPr id="90" name="Rectangle: Rounded Corners 89">
                    <a:extLst>
                      <a:ext uri="{FF2B5EF4-FFF2-40B4-BE49-F238E27FC236}">
                        <a16:creationId xmlns:a16="http://schemas.microsoft.com/office/drawing/2014/main" id="{72448345-CE91-EA08-E964-F7726E3F4EEC}"/>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91" name="Straight Connector 90">
                    <a:extLst>
                      <a:ext uri="{FF2B5EF4-FFF2-40B4-BE49-F238E27FC236}">
                        <a16:creationId xmlns:a16="http://schemas.microsoft.com/office/drawing/2014/main" id="{C3A4CB19-A70E-97A1-8279-937818ED7195}"/>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92" name="TextBox 91">
                    <a:extLst>
                      <a:ext uri="{FF2B5EF4-FFF2-40B4-BE49-F238E27FC236}">
                        <a16:creationId xmlns:a16="http://schemas.microsoft.com/office/drawing/2014/main" id="{C65E8D5D-5AB5-8961-491F-2741C274062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93" name="TextBox 92">
                    <a:extLst>
                      <a:ext uri="{FF2B5EF4-FFF2-40B4-BE49-F238E27FC236}">
                        <a16:creationId xmlns:a16="http://schemas.microsoft.com/office/drawing/2014/main" id="{836D641A-90DB-EC7A-685C-6FDE5B9D63B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Up Market Networking LDOS</a:t>
                    </a:r>
                    <a:endParaRPr lang="en-GB" sz="1000" kern="1200" dirty="0" err="1">
                      <a:solidFill>
                        <a:schemeClr val="bg1"/>
                      </a:solidFill>
                      <a:latin typeface="+mn-lt"/>
                      <a:ea typeface="ＭＳ Ｐゴシック" charset="0"/>
                    </a:endParaRPr>
                  </a:p>
                </p:txBody>
              </p:sp>
            </p:grpSp>
            <p:pic>
              <p:nvPicPr>
                <p:cNvPr id="89" name="Graphic 88" descr="Processor with solid fill">
                  <a:extLst>
                    <a:ext uri="{FF2B5EF4-FFF2-40B4-BE49-F238E27FC236}">
                      <a16:creationId xmlns:a16="http://schemas.microsoft.com/office/drawing/2014/main" id="{4E1D78FE-5D87-6908-DDA7-2C1DF0724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74" name="Group 73">
                <a:extLst>
                  <a:ext uri="{FF2B5EF4-FFF2-40B4-BE49-F238E27FC236}">
                    <a16:creationId xmlns:a16="http://schemas.microsoft.com/office/drawing/2014/main" id="{B64ED66F-9B0E-8DB7-608B-35F50FF46BF7}"/>
                  </a:ext>
                </a:extLst>
              </p:cNvPr>
              <p:cNvGrpSpPr/>
              <p:nvPr/>
            </p:nvGrpSpPr>
            <p:grpSpPr>
              <a:xfrm>
                <a:off x="5633448" y="3963630"/>
                <a:ext cx="1352299" cy="797876"/>
                <a:chOff x="7928924" y="4067733"/>
                <a:chExt cx="2267712" cy="1337983"/>
              </a:xfrm>
            </p:grpSpPr>
            <p:grpSp>
              <p:nvGrpSpPr>
                <p:cNvPr id="82" name="Group 81">
                  <a:extLst>
                    <a:ext uri="{FF2B5EF4-FFF2-40B4-BE49-F238E27FC236}">
                      <a16:creationId xmlns:a16="http://schemas.microsoft.com/office/drawing/2014/main" id="{F051F144-E503-4B86-6C0C-6213BACB064C}"/>
                    </a:ext>
                  </a:extLst>
                </p:cNvPr>
                <p:cNvGrpSpPr/>
                <p:nvPr/>
              </p:nvGrpSpPr>
              <p:grpSpPr>
                <a:xfrm>
                  <a:off x="7928924" y="4067733"/>
                  <a:ext cx="2267712" cy="1337983"/>
                  <a:chOff x="2521324" y="4067735"/>
                  <a:chExt cx="2267712" cy="1337983"/>
                </a:xfrm>
              </p:grpSpPr>
              <p:sp>
                <p:nvSpPr>
                  <p:cNvPr id="84" name="Rectangle: Rounded Corners 83">
                    <a:extLst>
                      <a:ext uri="{FF2B5EF4-FFF2-40B4-BE49-F238E27FC236}">
                        <a16:creationId xmlns:a16="http://schemas.microsoft.com/office/drawing/2014/main" id="{C83C9FA7-9A24-C399-0704-FE6E4FFD19F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85" name="Straight Connector 84">
                    <a:extLst>
                      <a:ext uri="{FF2B5EF4-FFF2-40B4-BE49-F238E27FC236}">
                        <a16:creationId xmlns:a16="http://schemas.microsoft.com/office/drawing/2014/main" id="{46402405-BF7F-2E8D-B74F-D21EF2925C1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6" name="TextBox 85">
                    <a:extLst>
                      <a:ext uri="{FF2B5EF4-FFF2-40B4-BE49-F238E27FC236}">
                        <a16:creationId xmlns:a16="http://schemas.microsoft.com/office/drawing/2014/main" id="{DB6DAA78-211C-F779-9C29-6AD8619A26E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87" name="TextBox 86">
                    <a:extLst>
                      <a:ext uri="{FF2B5EF4-FFF2-40B4-BE49-F238E27FC236}">
                        <a16:creationId xmlns:a16="http://schemas.microsoft.com/office/drawing/2014/main" id="{EDA2AA37-1B15-C48F-4909-6C25FD131B13}"/>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83" name="Graphic 82" descr="Circles with arrows with solid fill">
                  <a:extLst>
                    <a:ext uri="{FF2B5EF4-FFF2-40B4-BE49-F238E27FC236}">
                      <a16:creationId xmlns:a16="http://schemas.microsoft.com/office/drawing/2014/main" id="{07CA8D28-5DA4-5048-E41E-1D9D7887D3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75" name="Group 74">
                <a:extLst>
                  <a:ext uri="{FF2B5EF4-FFF2-40B4-BE49-F238E27FC236}">
                    <a16:creationId xmlns:a16="http://schemas.microsoft.com/office/drawing/2014/main" id="{30D3300E-B2B2-9AAA-6D30-D3A7A43EBA46}"/>
                  </a:ext>
                </a:extLst>
              </p:cNvPr>
              <p:cNvGrpSpPr/>
              <p:nvPr/>
            </p:nvGrpSpPr>
            <p:grpSpPr>
              <a:xfrm>
                <a:off x="2582839" y="3959740"/>
                <a:ext cx="1352298" cy="805656"/>
                <a:chOff x="2521324" y="4054687"/>
                <a:chExt cx="2267712" cy="1351031"/>
              </a:xfrm>
            </p:grpSpPr>
            <p:grpSp>
              <p:nvGrpSpPr>
                <p:cNvPr id="76" name="Group 75">
                  <a:extLst>
                    <a:ext uri="{FF2B5EF4-FFF2-40B4-BE49-F238E27FC236}">
                      <a16:creationId xmlns:a16="http://schemas.microsoft.com/office/drawing/2014/main" id="{1AFF521E-A833-CF71-CCAD-C2F6D2B4B857}"/>
                    </a:ext>
                  </a:extLst>
                </p:cNvPr>
                <p:cNvGrpSpPr/>
                <p:nvPr/>
              </p:nvGrpSpPr>
              <p:grpSpPr>
                <a:xfrm>
                  <a:off x="2521324" y="4067735"/>
                  <a:ext cx="2267712" cy="1337983"/>
                  <a:chOff x="2521324" y="4067735"/>
                  <a:chExt cx="2267712" cy="1337983"/>
                </a:xfrm>
              </p:grpSpPr>
              <p:sp>
                <p:nvSpPr>
                  <p:cNvPr id="78" name="Rectangle: Rounded Corners 77">
                    <a:extLst>
                      <a:ext uri="{FF2B5EF4-FFF2-40B4-BE49-F238E27FC236}">
                        <a16:creationId xmlns:a16="http://schemas.microsoft.com/office/drawing/2014/main" id="{C47F32E3-863B-3FA3-5D5E-BEF36B868536}"/>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79" name="Straight Connector 78">
                    <a:extLst>
                      <a:ext uri="{FF2B5EF4-FFF2-40B4-BE49-F238E27FC236}">
                        <a16:creationId xmlns:a16="http://schemas.microsoft.com/office/drawing/2014/main" id="{13E79225-AB41-2FC1-6819-539A51CE96A9}"/>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0" name="TextBox 79">
                    <a:extLst>
                      <a:ext uri="{FF2B5EF4-FFF2-40B4-BE49-F238E27FC236}">
                        <a16:creationId xmlns:a16="http://schemas.microsoft.com/office/drawing/2014/main" id="{EA7D8FB0-1AE4-73E6-864D-12C1A92C22A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81" name="TextBox 80">
                    <a:extLst>
                      <a:ext uri="{FF2B5EF4-FFF2-40B4-BE49-F238E27FC236}">
                        <a16:creationId xmlns:a16="http://schemas.microsoft.com/office/drawing/2014/main" id="{44CF1D8A-B605-6C20-90A7-1AD1D6B3F7D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Future-Proofed Workplaces</a:t>
                    </a:r>
                    <a:endParaRPr lang="en-GB" sz="1000" kern="1200" dirty="0" err="1">
                      <a:solidFill>
                        <a:schemeClr val="bg1"/>
                      </a:solidFill>
                      <a:latin typeface="+mn-lt"/>
                      <a:ea typeface="ＭＳ Ｐゴシック" charset="0"/>
                    </a:endParaRPr>
                  </a:p>
                </p:txBody>
              </p:sp>
            </p:grpSp>
            <p:pic>
              <p:nvPicPr>
                <p:cNvPr id="77" name="Graphic 76" descr="Cycle with people with solid fill">
                  <a:extLst>
                    <a:ext uri="{FF2B5EF4-FFF2-40B4-BE49-F238E27FC236}">
                      <a16:creationId xmlns:a16="http://schemas.microsoft.com/office/drawing/2014/main" id="{483319A8-24B3-942B-F2B5-A896B46944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72" name="TextBox 71">
              <a:extLst>
                <a:ext uri="{FF2B5EF4-FFF2-40B4-BE49-F238E27FC236}">
                  <a16:creationId xmlns:a16="http://schemas.microsoft.com/office/drawing/2014/main" id="{2B0C51F5-082C-4817-592C-26703C2006B7}"/>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EMEA Enterprise AI-Driven Network Assurance (Powered by </a:t>
              </a:r>
              <a:r>
                <a:rPr lang="en-GB" sz="800" dirty="0" err="1">
                  <a:solidFill>
                    <a:schemeClr val="accent2"/>
                  </a:solidFill>
                </a:rPr>
                <a:t>ThousandEyes</a:t>
              </a:r>
              <a:r>
                <a:rPr lang="en-GB" sz="800" dirty="0">
                  <a:solidFill>
                    <a:schemeClr val="accent2"/>
                  </a:solidFill>
                </a:rPr>
                <a:t>)</a:t>
              </a:r>
            </a:p>
            <a:p>
              <a:pPr marL="285750" indent="-285750" defTabSz="912276" fontAlgn="base">
                <a:buClr>
                  <a:schemeClr val="bg1"/>
                </a:buClr>
                <a:buSzPct val="100000"/>
                <a:buFont typeface="Arial" panose="020B0604020202020204" pitchFamily="34" charset="0"/>
                <a:buChar char="•"/>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Driving adoption of AI-powered network assurance and visibility across the EMEA market by showcasing the native integration of Thousand Eyes with Cisco networking hardware. It highlights how organizations can leverage deep, granular insights across their entire digital infrastructure to proactively isolate performance bottlenecks and drastically reduce mean time to repair (MTTR). </a:t>
              </a:r>
            </a:p>
          </p:txBody>
        </p:sp>
      </p:grpSp>
      <p:grpSp>
        <p:nvGrpSpPr>
          <p:cNvPr id="97" name="Group 96">
            <a:extLst>
              <a:ext uri="{FF2B5EF4-FFF2-40B4-BE49-F238E27FC236}">
                <a16:creationId xmlns:a16="http://schemas.microsoft.com/office/drawing/2014/main" id="{C88C50BF-C341-1D64-0818-203FA8867BEB}"/>
              </a:ext>
            </a:extLst>
          </p:cNvPr>
          <p:cNvGrpSpPr/>
          <p:nvPr/>
        </p:nvGrpSpPr>
        <p:grpSpPr>
          <a:xfrm>
            <a:off x="6423211" y="3838498"/>
            <a:ext cx="5029200" cy="2532222"/>
            <a:chOff x="2292723" y="2436466"/>
            <a:chExt cx="5029200" cy="2532222"/>
          </a:xfrm>
        </p:grpSpPr>
        <p:sp>
          <p:nvSpPr>
            <p:cNvPr id="98" name="Freeform: Shape 97">
              <a:extLst>
                <a:ext uri="{FF2B5EF4-FFF2-40B4-BE49-F238E27FC236}">
                  <a16:creationId xmlns:a16="http://schemas.microsoft.com/office/drawing/2014/main" id="{60124003-1E15-DB6F-9E15-B05F3A6FC475}"/>
                </a:ext>
              </a:extLst>
            </p:cNvPr>
            <p:cNvSpPr/>
            <p:nvPr/>
          </p:nvSpPr>
          <p:spPr>
            <a:xfrm>
              <a:off x="2292723" y="2682688"/>
              <a:ext cx="5029200" cy="2286000"/>
            </a:xfrm>
            <a:custGeom>
              <a:avLst/>
              <a:gdLst>
                <a:gd name="csX0" fmla="*/ 226360 w 5029200"/>
                <a:gd name="csY0" fmla="*/ 0 h 2286000"/>
                <a:gd name="csX1" fmla="*/ 510989 w 5029200"/>
                <a:gd name="csY1" fmla="*/ 0 h 2286000"/>
                <a:gd name="csX2" fmla="*/ 510989 w 5029200"/>
                <a:gd name="csY2" fmla="*/ 164146 h 2286000"/>
                <a:gd name="csX3" fmla="*/ 593064 w 5029200"/>
                <a:gd name="csY3" fmla="*/ 246221 h 2286000"/>
                <a:gd name="csX4" fmla="*/ 3104878 w 5029200"/>
                <a:gd name="csY4" fmla="*/ 246221 h 2286000"/>
                <a:gd name="csX5" fmla="*/ 3186953 w 5029200"/>
                <a:gd name="csY5" fmla="*/ 164146 h 2286000"/>
                <a:gd name="csX6" fmla="*/ 3186953 w 5029200"/>
                <a:gd name="csY6" fmla="*/ 0 h 2286000"/>
                <a:gd name="csX7" fmla="*/ 4802840 w 5029200"/>
                <a:gd name="csY7" fmla="*/ 0 h 2286000"/>
                <a:gd name="csX8" fmla="*/ 5029200 w 5029200"/>
                <a:gd name="csY8" fmla="*/ 226360 h 2286000"/>
                <a:gd name="csX9" fmla="*/ 5029200 w 5029200"/>
                <a:gd name="csY9" fmla="*/ 2059640 h 2286000"/>
                <a:gd name="csX10" fmla="*/ 4802840 w 5029200"/>
                <a:gd name="csY10" fmla="*/ 2286000 h 2286000"/>
                <a:gd name="csX11" fmla="*/ 226360 w 5029200"/>
                <a:gd name="csY11" fmla="*/ 2286000 h 2286000"/>
                <a:gd name="csX12" fmla="*/ 0 w 5029200"/>
                <a:gd name="csY12" fmla="*/ 2059640 h 2286000"/>
                <a:gd name="csX13" fmla="*/ 0 w 5029200"/>
                <a:gd name="csY13" fmla="*/ 226360 h 2286000"/>
                <a:gd name="csX14" fmla="*/ 226360 w 5029200"/>
                <a:gd name="csY14" fmla="*/ 0 h 228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29200" h="2286000">
                  <a:moveTo>
                    <a:pt x="226360" y="0"/>
                  </a:moveTo>
                  <a:lnTo>
                    <a:pt x="510989" y="0"/>
                  </a:lnTo>
                  <a:lnTo>
                    <a:pt x="510989" y="164146"/>
                  </a:lnTo>
                  <a:cubicBezTo>
                    <a:pt x="510989" y="209475"/>
                    <a:pt x="547735" y="246221"/>
                    <a:pt x="593064" y="246221"/>
                  </a:cubicBezTo>
                  <a:lnTo>
                    <a:pt x="3104878" y="246221"/>
                  </a:lnTo>
                  <a:cubicBezTo>
                    <a:pt x="3150207" y="246221"/>
                    <a:pt x="3186953" y="209475"/>
                    <a:pt x="3186953" y="164146"/>
                  </a:cubicBezTo>
                  <a:lnTo>
                    <a:pt x="3186953" y="0"/>
                  </a:lnTo>
                  <a:lnTo>
                    <a:pt x="4802840" y="0"/>
                  </a:lnTo>
                  <a:cubicBezTo>
                    <a:pt x="4927855" y="0"/>
                    <a:pt x="5029200" y="101345"/>
                    <a:pt x="5029200" y="226360"/>
                  </a:cubicBezTo>
                  <a:lnTo>
                    <a:pt x="5029200" y="2059640"/>
                  </a:lnTo>
                  <a:cubicBezTo>
                    <a:pt x="5029200" y="2184655"/>
                    <a:pt x="4927855" y="2286000"/>
                    <a:pt x="4802840" y="2286000"/>
                  </a:cubicBezTo>
                  <a:lnTo>
                    <a:pt x="226360" y="2286000"/>
                  </a:lnTo>
                  <a:cubicBezTo>
                    <a:pt x="101345" y="2286000"/>
                    <a:pt x="0" y="2184655"/>
                    <a:pt x="0" y="2059640"/>
                  </a:cubicBezTo>
                  <a:lnTo>
                    <a:pt x="0" y="226360"/>
                  </a:lnTo>
                  <a:cubicBezTo>
                    <a:pt x="0" y="101345"/>
                    <a:pt x="101345" y="0"/>
                    <a:pt x="226360" y="0"/>
                  </a:cubicBezTo>
                  <a:close/>
                </a:path>
              </a:pathLst>
            </a:cu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99" name="Group 98">
              <a:extLst>
                <a:ext uri="{FF2B5EF4-FFF2-40B4-BE49-F238E27FC236}">
                  <a16:creationId xmlns:a16="http://schemas.microsoft.com/office/drawing/2014/main" id="{1E2366F4-CBC9-9237-7C93-17A59F0B852D}"/>
                </a:ext>
              </a:extLst>
            </p:cNvPr>
            <p:cNvGrpSpPr/>
            <p:nvPr/>
          </p:nvGrpSpPr>
          <p:grpSpPr>
            <a:xfrm>
              <a:off x="2794747" y="2436466"/>
              <a:ext cx="2675964" cy="492443"/>
              <a:chOff x="2794747" y="2436466"/>
              <a:chExt cx="2675964" cy="492443"/>
            </a:xfrm>
          </p:grpSpPr>
          <p:sp>
            <p:nvSpPr>
              <p:cNvPr id="123" name="Rectangle: Rounded Corners 122">
                <a:extLst>
                  <a:ext uri="{FF2B5EF4-FFF2-40B4-BE49-F238E27FC236}">
                    <a16:creationId xmlns:a16="http://schemas.microsoft.com/office/drawing/2014/main" id="{BC89AED4-6D8C-8B93-5D2C-4DF4D2E5676A}"/>
                  </a:ext>
                </a:extLst>
              </p:cNvPr>
              <p:cNvSpPr/>
              <p:nvPr/>
            </p:nvSpPr>
            <p:spPr>
              <a:xfrm>
                <a:off x="2794747" y="2436466"/>
                <a:ext cx="2675964" cy="492443"/>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pic>
            <p:nvPicPr>
              <p:cNvPr id="124" name="Graphic 123" descr="Mandala with solid fill">
                <a:extLst>
                  <a:ext uri="{FF2B5EF4-FFF2-40B4-BE49-F238E27FC236}">
                    <a16:creationId xmlns:a16="http://schemas.microsoft.com/office/drawing/2014/main" id="{C33B3D92-E3D4-F731-804A-568E34BFDB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9218" y="2466259"/>
                <a:ext cx="432856" cy="432856"/>
              </a:xfrm>
              <a:prstGeom prst="rect">
                <a:avLst/>
              </a:prstGeom>
            </p:spPr>
          </p:pic>
          <p:sp>
            <p:nvSpPr>
              <p:cNvPr id="125" name="TextBox 124">
                <a:extLst>
                  <a:ext uri="{FF2B5EF4-FFF2-40B4-BE49-F238E27FC236}">
                    <a16:creationId xmlns:a16="http://schemas.microsoft.com/office/drawing/2014/main" id="{F776EAE2-C66F-1D9E-767F-6969D7318190}"/>
                  </a:ext>
                </a:extLst>
              </p:cNvPr>
              <p:cNvSpPr txBox="1"/>
              <p:nvPr/>
            </p:nvSpPr>
            <p:spPr>
              <a:xfrm>
                <a:off x="3496545" y="2569025"/>
                <a:ext cx="1512484" cy="227325"/>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mn-lt"/>
                    <a:ea typeface="ＭＳ Ｐゴシック" charset="0"/>
                  </a:rPr>
                  <a:t>cc01102</a:t>
                </a:r>
                <a:endParaRPr lang="en-GB" sz="2400" kern="1200" dirty="0" err="1">
                  <a:solidFill>
                    <a:schemeClr val="bg1"/>
                  </a:solidFill>
                  <a:latin typeface="+mn-lt"/>
                  <a:ea typeface="ＭＳ Ｐゴシック" charset="0"/>
                </a:endParaRPr>
              </a:p>
            </p:txBody>
          </p:sp>
        </p:grpSp>
        <p:grpSp>
          <p:nvGrpSpPr>
            <p:cNvPr id="100" name="Group 99">
              <a:extLst>
                <a:ext uri="{FF2B5EF4-FFF2-40B4-BE49-F238E27FC236}">
                  <a16:creationId xmlns:a16="http://schemas.microsoft.com/office/drawing/2014/main" id="{5AA4BF58-21C0-2A1E-BEA7-145709E1A608}"/>
                </a:ext>
              </a:extLst>
            </p:cNvPr>
            <p:cNvGrpSpPr/>
            <p:nvPr/>
          </p:nvGrpSpPr>
          <p:grpSpPr>
            <a:xfrm>
              <a:off x="2605869" y="4048152"/>
              <a:ext cx="4402908" cy="805656"/>
              <a:chOff x="2582839" y="3959740"/>
              <a:chExt cx="4402908" cy="805656"/>
            </a:xfrm>
          </p:grpSpPr>
          <p:grpSp>
            <p:nvGrpSpPr>
              <p:cNvPr id="102" name="Group 101">
                <a:extLst>
                  <a:ext uri="{FF2B5EF4-FFF2-40B4-BE49-F238E27FC236}">
                    <a16:creationId xmlns:a16="http://schemas.microsoft.com/office/drawing/2014/main" id="{4E1BE113-E639-3911-8151-216203FB6E49}"/>
                  </a:ext>
                </a:extLst>
              </p:cNvPr>
              <p:cNvGrpSpPr/>
              <p:nvPr/>
            </p:nvGrpSpPr>
            <p:grpSpPr>
              <a:xfrm>
                <a:off x="4108143" y="3963630"/>
                <a:ext cx="1352299" cy="797876"/>
                <a:chOff x="5225124" y="4067734"/>
                <a:chExt cx="2267712" cy="1337983"/>
              </a:xfrm>
            </p:grpSpPr>
            <p:grpSp>
              <p:nvGrpSpPr>
                <p:cNvPr id="117" name="Group 116">
                  <a:extLst>
                    <a:ext uri="{FF2B5EF4-FFF2-40B4-BE49-F238E27FC236}">
                      <a16:creationId xmlns:a16="http://schemas.microsoft.com/office/drawing/2014/main" id="{DE5CA87C-6166-84EF-90B4-98F33545DFF7}"/>
                    </a:ext>
                  </a:extLst>
                </p:cNvPr>
                <p:cNvGrpSpPr/>
                <p:nvPr/>
              </p:nvGrpSpPr>
              <p:grpSpPr>
                <a:xfrm>
                  <a:off x="5225124" y="4067734"/>
                  <a:ext cx="2267712" cy="1337983"/>
                  <a:chOff x="2521324" y="4067735"/>
                  <a:chExt cx="2267712" cy="1337983"/>
                </a:xfrm>
              </p:grpSpPr>
              <p:sp>
                <p:nvSpPr>
                  <p:cNvPr id="119" name="Rectangle: Rounded Corners 118">
                    <a:extLst>
                      <a:ext uri="{FF2B5EF4-FFF2-40B4-BE49-F238E27FC236}">
                        <a16:creationId xmlns:a16="http://schemas.microsoft.com/office/drawing/2014/main" id="{C20D7A9C-1418-ADC4-C8CB-1B129ADE300B}"/>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20" name="Straight Connector 119">
                    <a:extLst>
                      <a:ext uri="{FF2B5EF4-FFF2-40B4-BE49-F238E27FC236}">
                        <a16:creationId xmlns:a16="http://schemas.microsoft.com/office/drawing/2014/main" id="{07565E41-E93A-4077-0707-D5A8839607F1}"/>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1" name="TextBox 120">
                    <a:extLst>
                      <a:ext uri="{FF2B5EF4-FFF2-40B4-BE49-F238E27FC236}">
                        <a16:creationId xmlns:a16="http://schemas.microsoft.com/office/drawing/2014/main" id="{071E490B-7204-9711-D70E-B123677F5E50}"/>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Program</a:t>
                    </a:r>
                    <a:endParaRPr lang="en-GB" sz="1000" kern="1200" dirty="0" err="1">
                      <a:solidFill>
                        <a:schemeClr val="accent3"/>
                      </a:solidFill>
                      <a:latin typeface="+mn-lt"/>
                      <a:ea typeface="ＭＳ Ｐゴシック" charset="0"/>
                    </a:endParaRPr>
                  </a:p>
                </p:txBody>
              </p:sp>
              <p:sp>
                <p:nvSpPr>
                  <p:cNvPr id="122" name="TextBox 121">
                    <a:extLst>
                      <a:ext uri="{FF2B5EF4-FFF2-40B4-BE49-F238E27FC236}">
                        <a16:creationId xmlns:a16="http://schemas.microsoft.com/office/drawing/2014/main" id="{27C6AB22-9AA7-9879-173E-59492AE8FCC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err="1">
                        <a:solidFill>
                          <a:schemeClr val="bg1"/>
                        </a:solidFill>
                        <a:ea typeface="ＭＳ Ｐゴシック" charset="0"/>
                      </a:rPr>
                      <a:t>Neocloud</a:t>
                    </a:r>
                    <a:endParaRPr lang="en-GB" sz="1000" kern="1200" dirty="0" err="1">
                      <a:solidFill>
                        <a:schemeClr val="bg1"/>
                      </a:solidFill>
                      <a:latin typeface="+mn-lt"/>
                      <a:ea typeface="ＭＳ Ｐゴシック" charset="0"/>
                    </a:endParaRPr>
                  </a:p>
                </p:txBody>
              </p:sp>
            </p:grpSp>
            <p:pic>
              <p:nvPicPr>
                <p:cNvPr id="118" name="Graphic 117" descr="Processor with solid fill">
                  <a:extLst>
                    <a:ext uri="{FF2B5EF4-FFF2-40B4-BE49-F238E27FC236}">
                      <a16:creationId xmlns:a16="http://schemas.microsoft.com/office/drawing/2014/main" id="{3F024072-C624-B5FC-4CD9-EE0726A35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103" name="Group 102">
                <a:extLst>
                  <a:ext uri="{FF2B5EF4-FFF2-40B4-BE49-F238E27FC236}">
                    <a16:creationId xmlns:a16="http://schemas.microsoft.com/office/drawing/2014/main" id="{D6C6EC3D-7EA0-C336-EF10-919B4D545A22}"/>
                  </a:ext>
                </a:extLst>
              </p:cNvPr>
              <p:cNvGrpSpPr/>
              <p:nvPr/>
            </p:nvGrpSpPr>
            <p:grpSpPr>
              <a:xfrm>
                <a:off x="5633448" y="3963630"/>
                <a:ext cx="1352299" cy="797876"/>
                <a:chOff x="7928924" y="4067733"/>
                <a:chExt cx="2267712" cy="1337983"/>
              </a:xfrm>
            </p:grpSpPr>
            <p:grpSp>
              <p:nvGrpSpPr>
                <p:cNvPr id="111" name="Group 110">
                  <a:extLst>
                    <a:ext uri="{FF2B5EF4-FFF2-40B4-BE49-F238E27FC236}">
                      <a16:creationId xmlns:a16="http://schemas.microsoft.com/office/drawing/2014/main" id="{F4D52316-83E8-475D-DEF0-0026232A7296}"/>
                    </a:ext>
                  </a:extLst>
                </p:cNvPr>
                <p:cNvGrpSpPr/>
                <p:nvPr/>
              </p:nvGrpSpPr>
              <p:grpSpPr>
                <a:xfrm>
                  <a:off x="7928924" y="4067733"/>
                  <a:ext cx="2267712" cy="1337983"/>
                  <a:chOff x="2521324" y="4067735"/>
                  <a:chExt cx="2267712" cy="1337983"/>
                </a:xfrm>
              </p:grpSpPr>
              <p:sp>
                <p:nvSpPr>
                  <p:cNvPr id="113" name="Rectangle: Rounded Corners 112">
                    <a:extLst>
                      <a:ext uri="{FF2B5EF4-FFF2-40B4-BE49-F238E27FC236}">
                        <a16:creationId xmlns:a16="http://schemas.microsoft.com/office/drawing/2014/main" id="{B6DF24D1-916B-126F-A8C6-902EA1CC5C4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14" name="Straight Connector 113">
                    <a:extLst>
                      <a:ext uri="{FF2B5EF4-FFF2-40B4-BE49-F238E27FC236}">
                        <a16:creationId xmlns:a16="http://schemas.microsoft.com/office/drawing/2014/main" id="{C4E4E11F-4C21-26B9-36C6-5F923EB7190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5" name="TextBox 114">
                    <a:extLst>
                      <a:ext uri="{FF2B5EF4-FFF2-40B4-BE49-F238E27FC236}">
                        <a16:creationId xmlns:a16="http://schemas.microsoft.com/office/drawing/2014/main" id="{DED1DF69-E6ED-2C97-07A9-15F28E1374D6}"/>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Motion</a:t>
                    </a:r>
                    <a:endParaRPr lang="en-GB" sz="1000" kern="1200" dirty="0" err="1">
                      <a:solidFill>
                        <a:schemeClr val="accent4"/>
                      </a:solidFill>
                      <a:latin typeface="+mn-lt"/>
                      <a:ea typeface="ＭＳ Ｐゴシック" charset="0"/>
                    </a:endParaRPr>
                  </a:p>
                </p:txBody>
              </p:sp>
              <p:sp>
                <p:nvSpPr>
                  <p:cNvPr id="116" name="TextBox 115">
                    <a:extLst>
                      <a:ext uri="{FF2B5EF4-FFF2-40B4-BE49-F238E27FC236}">
                        <a16:creationId xmlns:a16="http://schemas.microsoft.com/office/drawing/2014/main" id="{D876C8DC-2C25-039E-D101-B13E4D492E2B}"/>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Scale</a:t>
                    </a:r>
                    <a:endParaRPr lang="en-GB" sz="1000" kern="1200" dirty="0" err="1">
                      <a:solidFill>
                        <a:schemeClr val="bg1"/>
                      </a:solidFill>
                      <a:latin typeface="+mn-lt"/>
                      <a:ea typeface="ＭＳ Ｐゴシック" charset="0"/>
                    </a:endParaRPr>
                  </a:p>
                </p:txBody>
              </p:sp>
            </p:grpSp>
            <p:pic>
              <p:nvPicPr>
                <p:cNvPr id="112" name="Graphic 111" descr="Circles with arrows with solid fill">
                  <a:extLst>
                    <a:ext uri="{FF2B5EF4-FFF2-40B4-BE49-F238E27FC236}">
                      <a16:creationId xmlns:a16="http://schemas.microsoft.com/office/drawing/2014/main" id="{31032AAB-5E28-D684-2450-518D9D469C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104" name="Group 103">
                <a:extLst>
                  <a:ext uri="{FF2B5EF4-FFF2-40B4-BE49-F238E27FC236}">
                    <a16:creationId xmlns:a16="http://schemas.microsoft.com/office/drawing/2014/main" id="{A3C6259E-3F53-9F46-676D-9F9D2563209F}"/>
                  </a:ext>
                </a:extLst>
              </p:cNvPr>
              <p:cNvGrpSpPr/>
              <p:nvPr/>
            </p:nvGrpSpPr>
            <p:grpSpPr>
              <a:xfrm>
                <a:off x="2582839" y="3959740"/>
                <a:ext cx="1352298" cy="805656"/>
                <a:chOff x="2521324" y="4054687"/>
                <a:chExt cx="2267712" cy="1351031"/>
              </a:xfrm>
            </p:grpSpPr>
            <p:grpSp>
              <p:nvGrpSpPr>
                <p:cNvPr id="105" name="Group 104">
                  <a:extLst>
                    <a:ext uri="{FF2B5EF4-FFF2-40B4-BE49-F238E27FC236}">
                      <a16:creationId xmlns:a16="http://schemas.microsoft.com/office/drawing/2014/main" id="{80B64C6C-2D6C-6942-7EFE-AE1E04294436}"/>
                    </a:ext>
                  </a:extLst>
                </p:cNvPr>
                <p:cNvGrpSpPr/>
                <p:nvPr/>
              </p:nvGrpSpPr>
              <p:grpSpPr>
                <a:xfrm>
                  <a:off x="2521324" y="4067735"/>
                  <a:ext cx="2267712" cy="1337983"/>
                  <a:chOff x="2521324" y="4067735"/>
                  <a:chExt cx="2267712" cy="1337983"/>
                </a:xfrm>
              </p:grpSpPr>
              <p:sp>
                <p:nvSpPr>
                  <p:cNvPr id="107" name="Rectangle: Rounded Corners 106">
                    <a:extLst>
                      <a:ext uri="{FF2B5EF4-FFF2-40B4-BE49-F238E27FC236}">
                        <a16:creationId xmlns:a16="http://schemas.microsoft.com/office/drawing/2014/main" id="{49DD9D75-5510-BD63-D0C6-B1D6744694B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000" dirty="0">
                      <a:solidFill>
                        <a:schemeClr val="bg1"/>
                      </a:solidFill>
                    </a:endParaRPr>
                  </a:p>
                </p:txBody>
              </p:sp>
              <p:cxnSp>
                <p:nvCxnSpPr>
                  <p:cNvPr id="108" name="Straight Connector 107">
                    <a:extLst>
                      <a:ext uri="{FF2B5EF4-FFF2-40B4-BE49-F238E27FC236}">
                        <a16:creationId xmlns:a16="http://schemas.microsoft.com/office/drawing/2014/main" id="{D28630DB-C599-3E50-E54E-8E4FA70E8EFF}"/>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09" name="TextBox 108">
                    <a:extLst>
                      <a:ext uri="{FF2B5EF4-FFF2-40B4-BE49-F238E27FC236}">
                        <a16:creationId xmlns:a16="http://schemas.microsoft.com/office/drawing/2014/main" id="{C57794E1-B6B2-0253-C438-1F3924785259}"/>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2"/>
                        </a:solidFill>
                        <a:latin typeface="+mn-lt"/>
                        <a:ea typeface="ＭＳ Ｐゴシック" charset="0"/>
                      </a:rPr>
                      <a:t>Campaign</a:t>
                    </a:r>
                    <a:endParaRPr lang="en-GB" sz="1000" kern="1200" dirty="0" err="1">
                      <a:solidFill>
                        <a:schemeClr val="accent2"/>
                      </a:solidFill>
                      <a:latin typeface="+mn-lt"/>
                      <a:ea typeface="ＭＳ Ｐゴシック" charset="0"/>
                    </a:endParaRPr>
                  </a:p>
                </p:txBody>
              </p:sp>
              <p:sp>
                <p:nvSpPr>
                  <p:cNvPr id="110" name="TextBox 109">
                    <a:extLst>
                      <a:ext uri="{FF2B5EF4-FFF2-40B4-BE49-F238E27FC236}">
                        <a16:creationId xmlns:a16="http://schemas.microsoft.com/office/drawing/2014/main" id="{0F6D3209-51F0-7225-526F-771EB5CC89BF}"/>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AI-Ready Data Centers</a:t>
                    </a:r>
                    <a:endParaRPr lang="en-GB" sz="1000" kern="1200" dirty="0" err="1">
                      <a:solidFill>
                        <a:schemeClr val="bg1"/>
                      </a:solidFill>
                      <a:latin typeface="+mn-lt"/>
                      <a:ea typeface="ＭＳ Ｐゴシック" charset="0"/>
                    </a:endParaRPr>
                  </a:p>
                </p:txBody>
              </p:sp>
            </p:grpSp>
            <p:pic>
              <p:nvPicPr>
                <p:cNvPr id="106" name="Graphic 105" descr="Cycle with people with solid fill">
                  <a:extLst>
                    <a:ext uri="{FF2B5EF4-FFF2-40B4-BE49-F238E27FC236}">
                      <a16:creationId xmlns:a16="http://schemas.microsoft.com/office/drawing/2014/main" id="{BEFB3D15-F65F-867D-9C7E-26E04A4A1A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grpSp>
        <p:sp>
          <p:nvSpPr>
            <p:cNvPr id="101" name="TextBox 100">
              <a:extLst>
                <a:ext uri="{FF2B5EF4-FFF2-40B4-BE49-F238E27FC236}">
                  <a16:creationId xmlns:a16="http://schemas.microsoft.com/office/drawing/2014/main" id="{0705130F-A228-CF64-FFD6-5530EC3B4813}"/>
                </a:ext>
              </a:extLst>
            </p:cNvPr>
            <p:cNvSpPr txBox="1"/>
            <p:nvPr/>
          </p:nvSpPr>
          <p:spPr>
            <a:xfrm>
              <a:off x="2444001" y="2929038"/>
              <a:ext cx="4726641" cy="1070063"/>
            </a:xfrm>
            <a:prstGeom prst="rect">
              <a:avLst/>
            </a:prstGeom>
            <a:noFill/>
          </p:spPr>
          <p:txBody>
            <a:bodyPr wrap="square" lIns="0" tIns="0" rIns="0" bIns="0" rtlCol="0">
              <a:noAutofit/>
            </a:bodyPr>
            <a:lstStyle/>
            <a:p>
              <a:pPr defTabSz="912276" fontAlgn="base">
                <a:buClr>
                  <a:schemeClr val="bg1"/>
                </a:buClr>
                <a:buSzPct val="100000"/>
              </a:pPr>
              <a:r>
                <a:rPr lang="en-US" sz="800" b="1" kern="1200" dirty="0">
                  <a:solidFill>
                    <a:schemeClr val="bg1"/>
                  </a:solidFill>
                  <a:latin typeface="+mn-lt"/>
                  <a:ea typeface="ＭＳ Ｐゴシック" charset="0"/>
                </a:rPr>
                <a:t>Name:</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Global Enterprise: Unified </a:t>
              </a:r>
              <a:r>
                <a:rPr lang="en-GB" sz="800" dirty="0" err="1">
                  <a:solidFill>
                    <a:schemeClr val="accent2"/>
                  </a:solidFill>
                </a:rPr>
                <a:t>Defense</a:t>
              </a:r>
              <a:r>
                <a:rPr lang="en-GB" sz="800" dirty="0">
                  <a:solidFill>
                    <a:schemeClr val="accent2"/>
                  </a:solidFill>
                </a:rPr>
                <a:t> Framework for </a:t>
              </a:r>
              <a:r>
                <a:rPr lang="en-GB" sz="800" dirty="0" err="1">
                  <a:solidFill>
                    <a:schemeClr val="accent2"/>
                  </a:solidFill>
                </a:rPr>
                <a:t>Neocloud</a:t>
              </a:r>
              <a:r>
                <a:rPr lang="en-GB" sz="800" dirty="0">
                  <a:solidFill>
                    <a:schemeClr val="accent2"/>
                  </a:solidFill>
                </a:rPr>
                <a:t> Security</a:t>
              </a:r>
            </a:p>
            <a:p>
              <a:pPr marL="285750" indent="-285750" defTabSz="912276" fontAlgn="base">
                <a:buClr>
                  <a:schemeClr val="bg1"/>
                </a:buClr>
                <a:buSzPct val="100000"/>
                <a:buFont typeface="Arial" panose="020B0604020202020204" pitchFamily="34" charset="0"/>
                <a:buChar char="•"/>
              </a:pPr>
              <a:r>
                <a:rPr lang="en-GB" sz="8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GB" sz="800" dirty="0">
                  <a:solidFill>
                    <a:schemeClr val="accent2"/>
                  </a:solidFill>
                </a:rPr>
                <a:t>This campaign introduces a comprehensive, layered security framework designed to embed robust protection across the Management Plane, Perimeter, Fabric, and Workload layers of </a:t>
              </a:r>
              <a:r>
                <a:rPr lang="en-GB" sz="800" dirty="0" err="1">
                  <a:solidFill>
                    <a:schemeClr val="accent2"/>
                  </a:solidFill>
                </a:rPr>
                <a:t>Neocloud</a:t>
              </a:r>
              <a:r>
                <a:rPr lang="en-GB" sz="800" dirty="0">
                  <a:solidFill>
                    <a:schemeClr val="accent2"/>
                  </a:solidFill>
                </a:rPr>
                <a:t> environments. By highlighting the integration of Cisco Secure Firewall, the initiative showcases how enterprise organizations can achieve high-performance </a:t>
              </a:r>
              <a:r>
                <a:rPr lang="en-GB" sz="800" dirty="0" err="1">
                  <a:solidFill>
                    <a:schemeClr val="accent2"/>
                  </a:solidFill>
                </a:rPr>
                <a:t>macrosegmentation</a:t>
              </a:r>
              <a:r>
                <a:rPr lang="en-GB" sz="800" dirty="0">
                  <a:solidFill>
                    <a:schemeClr val="accent2"/>
                  </a:solidFill>
                </a:rPr>
                <a:t> and advanced threat </a:t>
              </a:r>
              <a:r>
                <a:rPr lang="en-GB" sz="800" dirty="0" err="1">
                  <a:solidFill>
                    <a:schemeClr val="accent2"/>
                  </a:solidFill>
                </a:rPr>
                <a:t>defense</a:t>
              </a:r>
              <a:r>
                <a:rPr lang="en-GB" sz="800" dirty="0">
                  <a:solidFill>
                    <a:schemeClr val="accent2"/>
                  </a:solidFill>
                </a:rPr>
                <a:t> across their entire digital ecosystem. </a:t>
              </a:r>
            </a:p>
          </p:txBody>
        </p:sp>
      </p:grpSp>
    </p:spTree>
    <p:extLst>
      <p:ext uri="{BB962C8B-B14F-4D97-AF65-F5344CB8AC3E}">
        <p14:creationId xmlns:p14="http://schemas.microsoft.com/office/powerpoint/2010/main" val="62240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0C64-0C4C-83DA-4318-B6E9E8C942FA}"/>
              </a:ext>
            </a:extLst>
          </p:cNvPr>
          <p:cNvSpPr>
            <a:spLocks noGrp="1"/>
          </p:cNvSpPr>
          <p:nvPr>
            <p:ph type="title"/>
          </p:nvPr>
        </p:nvSpPr>
        <p:spPr/>
        <p:txBody>
          <a:bodyPr/>
          <a:lstStyle/>
          <a:p>
            <a:r>
              <a:rPr lang="en-US" dirty="0"/>
              <a:t>Technology Insights Reporting</a:t>
            </a:r>
            <a:endParaRPr lang="en-GB" dirty="0"/>
          </a:p>
        </p:txBody>
      </p:sp>
      <p:pic>
        <p:nvPicPr>
          <p:cNvPr id="4" name="Picture 3">
            <a:extLst>
              <a:ext uri="{FF2B5EF4-FFF2-40B4-BE49-F238E27FC236}">
                <a16:creationId xmlns:a16="http://schemas.microsoft.com/office/drawing/2014/main" id="{5987CF30-C67A-0203-4588-FE60AA7BD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159" y="1159276"/>
            <a:ext cx="5415441" cy="4694128"/>
          </a:xfrm>
          <a:prstGeom prst="rect">
            <a:avLst/>
          </a:prstGeom>
        </p:spPr>
      </p:pic>
      <p:cxnSp>
        <p:nvCxnSpPr>
          <p:cNvPr id="5" name="Straight Connector 4">
            <a:extLst>
              <a:ext uri="{FF2B5EF4-FFF2-40B4-BE49-F238E27FC236}">
                <a16:creationId xmlns:a16="http://schemas.microsoft.com/office/drawing/2014/main" id="{34D2ACE9-9EF9-689B-BDB4-EA94F7FCCB47}"/>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61F203E5-98A6-B9A0-04AE-C75854F86006}"/>
              </a:ext>
            </a:extLst>
          </p:cNvPr>
          <p:cNvSpPr txBox="1"/>
          <p:nvPr/>
        </p:nvSpPr>
        <p:spPr>
          <a:xfrm>
            <a:off x="176169" y="5899809"/>
            <a:ext cx="2139192" cy="42783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3"/>
              </a:rPr>
              <a:t>Tech Insights</a:t>
            </a:r>
            <a:endParaRPr lang="en-GB" sz="1600" kern="1200" dirty="0" err="1">
              <a:solidFill>
                <a:schemeClr val="bg1"/>
              </a:solidFill>
              <a:latin typeface="+mn-lt"/>
              <a:ea typeface="ＭＳ Ｐゴシック" charset="0"/>
            </a:endParaRPr>
          </a:p>
        </p:txBody>
      </p:sp>
      <p:grpSp>
        <p:nvGrpSpPr>
          <p:cNvPr id="45" name="Group 44">
            <a:extLst>
              <a:ext uri="{FF2B5EF4-FFF2-40B4-BE49-F238E27FC236}">
                <a16:creationId xmlns:a16="http://schemas.microsoft.com/office/drawing/2014/main" id="{B562E669-649C-2B6F-2A27-DDF3B965AE94}"/>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B0BBD9C2-897E-6A8C-48BA-928EEDC9E970}"/>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E7EF84B2-F4BC-C1E6-89BC-15C1B2E3B136}"/>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E5B9766C-6508-615A-B02B-787787F23609}"/>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Framework</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4844C43A-83C0-35C3-B0D2-D768C5C80D4A}"/>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Data is strictly limited to campaigns aligned with the FY26 strategic framework.</a:t>
              </a:r>
            </a:p>
          </p:txBody>
        </p:sp>
        <p:sp>
          <p:nvSpPr>
            <p:cNvPr id="16" name="Oval 15">
              <a:extLst>
                <a:ext uri="{FF2B5EF4-FFF2-40B4-BE49-F238E27FC236}">
                  <a16:creationId xmlns:a16="http://schemas.microsoft.com/office/drawing/2014/main" id="{7882C140-E59C-4EAD-E5A6-4AF0AB65B487}"/>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7CF0DDCA-7E47-D6EC-1123-B740D46875CE}"/>
              </a:ext>
            </a:extLst>
          </p:cNvPr>
          <p:cNvGrpSpPr/>
          <p:nvPr/>
        </p:nvGrpSpPr>
        <p:grpSpPr>
          <a:xfrm>
            <a:off x="6688350" y="2011538"/>
            <a:ext cx="5179799" cy="529877"/>
            <a:chOff x="6688351" y="2157402"/>
            <a:chExt cx="5179799" cy="529877"/>
          </a:xfrm>
        </p:grpSpPr>
        <p:sp>
          <p:nvSpPr>
            <p:cNvPr id="18" name="Rectangle: Rounded Corners 17">
              <a:extLst>
                <a:ext uri="{FF2B5EF4-FFF2-40B4-BE49-F238E27FC236}">
                  <a16:creationId xmlns:a16="http://schemas.microsoft.com/office/drawing/2014/main" id="{86B57EDD-38A0-E790-EB2F-6B8E5E6E2398}"/>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681DB9B1-3148-9918-9D73-1F0E05D383A7}"/>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BCCC0D5A-91E3-7C1B-6D79-7741D2C39247}"/>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Dynamic</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1725CF3-906F-8E37-4A54-D98B26D3CA58}"/>
                </a:ext>
              </a:extLst>
            </p:cNvPr>
            <p:cNvSpPr txBox="1"/>
            <p:nvPr/>
          </p:nvSpPr>
          <p:spPr>
            <a:xfrm>
              <a:off x="8640918" y="2184782"/>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Selecting a campaign instantly updates the entire tab to show its specific performance results.</a:t>
              </a:r>
            </a:p>
          </p:txBody>
        </p:sp>
        <p:sp>
          <p:nvSpPr>
            <p:cNvPr id="22" name="Oval 21">
              <a:extLst>
                <a:ext uri="{FF2B5EF4-FFF2-40B4-BE49-F238E27FC236}">
                  <a16:creationId xmlns:a16="http://schemas.microsoft.com/office/drawing/2014/main" id="{24096A03-C055-79AF-876A-DC809BC164A3}"/>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E46BB2D2-F297-9021-2670-580B6D6589EA}"/>
              </a:ext>
            </a:extLst>
          </p:cNvPr>
          <p:cNvGrpSpPr/>
          <p:nvPr/>
        </p:nvGrpSpPr>
        <p:grpSpPr>
          <a:xfrm>
            <a:off x="6688350" y="2874301"/>
            <a:ext cx="5179799" cy="529877"/>
            <a:chOff x="6688351" y="3166029"/>
            <a:chExt cx="5179799" cy="529877"/>
          </a:xfrm>
        </p:grpSpPr>
        <p:sp>
          <p:nvSpPr>
            <p:cNvPr id="24" name="Rectangle: Rounded Corners 23">
              <a:extLst>
                <a:ext uri="{FF2B5EF4-FFF2-40B4-BE49-F238E27FC236}">
                  <a16:creationId xmlns:a16="http://schemas.microsoft.com/office/drawing/2014/main" id="{79B3E187-E745-E516-526A-96E49A8DBBB6}"/>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CD20F4DA-B434-ADAE-E008-CC4468FC3798}"/>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99548AFB-1437-9DDA-D5BD-5A22C04E8980}"/>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ID Driven</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6F95D7A1-9F88-A963-E024-B0B85A2A89BB}"/>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Engagement and pipeline metrics are automatically derived from tracking IDs (CCID, OID, EID) mapped via tagging metadata.</a:t>
              </a:r>
              <a:endParaRPr lang="en-GB" sz="1000" dirty="0"/>
            </a:p>
          </p:txBody>
        </p:sp>
        <p:sp>
          <p:nvSpPr>
            <p:cNvPr id="28" name="Oval 27">
              <a:extLst>
                <a:ext uri="{FF2B5EF4-FFF2-40B4-BE49-F238E27FC236}">
                  <a16:creationId xmlns:a16="http://schemas.microsoft.com/office/drawing/2014/main" id="{6FC959EC-F33C-19A5-5DE9-5C6B831D4268}"/>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42" name="Group 41">
            <a:extLst>
              <a:ext uri="{FF2B5EF4-FFF2-40B4-BE49-F238E27FC236}">
                <a16:creationId xmlns:a16="http://schemas.microsoft.com/office/drawing/2014/main" id="{878A519B-68A6-D77B-3398-456C44888592}"/>
              </a:ext>
            </a:extLst>
          </p:cNvPr>
          <p:cNvGrpSpPr/>
          <p:nvPr/>
        </p:nvGrpSpPr>
        <p:grpSpPr>
          <a:xfrm>
            <a:off x="6688350" y="3737064"/>
            <a:ext cx="5179799" cy="529877"/>
            <a:chOff x="6688351" y="4174656"/>
            <a:chExt cx="5179799" cy="529877"/>
          </a:xfrm>
        </p:grpSpPr>
        <p:sp>
          <p:nvSpPr>
            <p:cNvPr id="30" name="Rectangle: Rounded Corners 29">
              <a:extLst>
                <a:ext uri="{FF2B5EF4-FFF2-40B4-BE49-F238E27FC236}">
                  <a16:creationId xmlns:a16="http://schemas.microsoft.com/office/drawing/2014/main" id="{F65609B7-EA7B-280D-33DF-FFDFE3654229}"/>
                </a:ext>
              </a:extLst>
            </p:cNvPr>
            <p:cNvSpPr/>
            <p:nvPr/>
          </p:nvSpPr>
          <p:spPr>
            <a:xfrm>
              <a:off x="7936230" y="420203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7F1285F6-A307-DFC1-BBEB-0C323448C55B}"/>
                </a:ext>
              </a:extLst>
            </p:cNvPr>
            <p:cNvSpPr/>
            <p:nvPr/>
          </p:nvSpPr>
          <p:spPr>
            <a:xfrm>
              <a:off x="7035263" y="420203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83311C26-A1D9-A8B0-62E2-CC627EC3B913}"/>
                </a:ext>
              </a:extLst>
            </p:cNvPr>
            <p:cNvSpPr txBox="1"/>
            <p:nvPr/>
          </p:nvSpPr>
          <p:spPr>
            <a:xfrm>
              <a:off x="7307028" y="435014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Pipeline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A7FCB788-D600-C29F-5FCA-DBE26250005D}"/>
                </a:ext>
              </a:extLst>
            </p:cNvPr>
            <p:cNvSpPr txBox="1"/>
            <p:nvPr/>
          </p:nvSpPr>
          <p:spPr>
            <a:xfrm>
              <a:off x="8640917" y="4202036"/>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Includes all pipeline impacted by campaign-linked activities, even if it falls outside the core target product mix.</a:t>
              </a:r>
              <a:endParaRPr lang="en-GB" sz="1000" dirty="0"/>
            </a:p>
          </p:txBody>
        </p:sp>
        <p:sp>
          <p:nvSpPr>
            <p:cNvPr id="34" name="Oval 33">
              <a:extLst>
                <a:ext uri="{FF2B5EF4-FFF2-40B4-BE49-F238E27FC236}">
                  <a16:creationId xmlns:a16="http://schemas.microsoft.com/office/drawing/2014/main" id="{155D265F-115B-C4D6-2EAE-F4D7D6D0A8E6}"/>
                </a:ext>
              </a:extLst>
            </p:cNvPr>
            <p:cNvSpPr/>
            <p:nvPr/>
          </p:nvSpPr>
          <p:spPr>
            <a:xfrm>
              <a:off x="6688351" y="417465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41" name="Group 40">
            <a:extLst>
              <a:ext uri="{FF2B5EF4-FFF2-40B4-BE49-F238E27FC236}">
                <a16:creationId xmlns:a16="http://schemas.microsoft.com/office/drawing/2014/main" id="{A7CE2980-BCDC-0A28-97E8-231E95BD9027}"/>
              </a:ext>
            </a:extLst>
          </p:cNvPr>
          <p:cNvGrpSpPr/>
          <p:nvPr/>
        </p:nvGrpSpPr>
        <p:grpSpPr>
          <a:xfrm>
            <a:off x="6688350" y="4599829"/>
            <a:ext cx="5179799" cy="529877"/>
            <a:chOff x="6688351" y="5183283"/>
            <a:chExt cx="5179799" cy="529877"/>
          </a:xfrm>
        </p:grpSpPr>
        <p:sp>
          <p:nvSpPr>
            <p:cNvPr id="36" name="Rectangle: Rounded Corners 35">
              <a:extLst>
                <a:ext uri="{FF2B5EF4-FFF2-40B4-BE49-F238E27FC236}">
                  <a16:creationId xmlns:a16="http://schemas.microsoft.com/office/drawing/2014/main" id="{3E684C8D-AB6D-64EC-0C3D-9F6CC8A43191}"/>
                </a:ext>
              </a:extLst>
            </p:cNvPr>
            <p:cNvSpPr/>
            <p:nvPr/>
          </p:nvSpPr>
          <p:spPr>
            <a:xfrm>
              <a:off x="7936230" y="521066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7" name="Arrow: Pentagon 36">
              <a:extLst>
                <a:ext uri="{FF2B5EF4-FFF2-40B4-BE49-F238E27FC236}">
                  <a16:creationId xmlns:a16="http://schemas.microsoft.com/office/drawing/2014/main" id="{F77692D9-90EE-F62B-FA0C-DDD69DD79692}"/>
                </a:ext>
              </a:extLst>
            </p:cNvPr>
            <p:cNvSpPr/>
            <p:nvPr/>
          </p:nvSpPr>
          <p:spPr>
            <a:xfrm>
              <a:off x="7035263" y="521066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8" name="TextBox 37">
              <a:extLst>
                <a:ext uri="{FF2B5EF4-FFF2-40B4-BE49-F238E27FC236}">
                  <a16:creationId xmlns:a16="http://schemas.microsoft.com/office/drawing/2014/main" id="{293825F6-E2A3-4FED-B45B-CE7DFBCEA581}"/>
                </a:ext>
              </a:extLst>
            </p:cNvPr>
            <p:cNvSpPr txBox="1"/>
            <p:nvPr/>
          </p:nvSpPr>
          <p:spPr>
            <a:xfrm>
              <a:off x="7307028" y="535877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Bottom Line</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C016B2B8-31C4-D932-A11C-DEA014DFBF98}"/>
                </a:ext>
              </a:extLst>
            </p:cNvPr>
            <p:cNvSpPr txBox="1"/>
            <p:nvPr/>
          </p:nvSpPr>
          <p:spPr>
            <a:xfrm>
              <a:off x="8640917" y="5284719"/>
              <a:ext cx="3155697" cy="3270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This view isolates the exact engagement and pipeline generated by your selected campaign's tracking tags.</a:t>
              </a:r>
              <a:endParaRPr lang="en-GB" sz="1000" dirty="0"/>
            </a:p>
          </p:txBody>
        </p:sp>
        <p:sp>
          <p:nvSpPr>
            <p:cNvPr id="40" name="Oval 39">
              <a:extLst>
                <a:ext uri="{FF2B5EF4-FFF2-40B4-BE49-F238E27FC236}">
                  <a16:creationId xmlns:a16="http://schemas.microsoft.com/office/drawing/2014/main" id="{405FB77A-5494-2DD7-F3EB-E1BEA399828F}"/>
                </a:ext>
              </a:extLst>
            </p:cNvPr>
            <p:cNvSpPr/>
            <p:nvPr/>
          </p:nvSpPr>
          <p:spPr>
            <a:xfrm>
              <a:off x="6688351" y="518328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46" name="TextBox 45">
            <a:extLst>
              <a:ext uri="{FF2B5EF4-FFF2-40B4-BE49-F238E27FC236}">
                <a16:creationId xmlns:a16="http://schemas.microsoft.com/office/drawing/2014/main" id="{3514F240-BBE5-C50C-CCF9-0AC1EA864CDA}"/>
              </a:ext>
            </a:extLst>
          </p:cNvPr>
          <p:cNvSpPr txBox="1"/>
          <p:nvPr/>
        </p:nvSpPr>
        <p:spPr>
          <a:xfrm>
            <a:off x="6688352" y="5277818"/>
            <a:ext cx="5327479" cy="992353"/>
          </a:xfrm>
          <a:prstGeom prst="rect">
            <a:avLst/>
          </a:prstGeom>
          <a:noFill/>
        </p:spPr>
        <p:txBody>
          <a:bodyPr wrap="square" lIns="0" tIns="0" rIns="0" bIns="0" rtlCol="0">
            <a:noAutofit/>
          </a:bodyPr>
          <a:lstStyle/>
          <a:p>
            <a:r>
              <a:rPr lang="en-GB" sz="1200" b="1" dirty="0">
                <a:solidFill>
                  <a:schemeClr val="bg1"/>
                </a:solidFill>
              </a:rPr>
              <a:t>Best Used to Answer:</a:t>
            </a:r>
          </a:p>
          <a:p>
            <a:pPr marL="171450" indent="-171450">
              <a:buFont typeface="Arial" panose="020B0604020202020204" pitchFamily="34" charset="0"/>
              <a:buChar char="•"/>
            </a:pPr>
            <a:r>
              <a:rPr lang="en-GB" sz="1200" i="1" dirty="0">
                <a:solidFill>
                  <a:schemeClr val="bg1"/>
                </a:solidFill>
              </a:rPr>
              <a:t>How did a specific campaign (e.g., Mid Market LDOS) perform end-to-end?</a:t>
            </a:r>
            <a:endParaRPr lang="en-GB" sz="1200" dirty="0">
              <a:solidFill>
                <a:schemeClr val="bg1"/>
              </a:solidFill>
            </a:endParaRPr>
          </a:p>
          <a:p>
            <a:pPr marL="171450" indent="-171450">
              <a:buFont typeface="Arial" panose="020B0604020202020204" pitchFamily="34" charset="0"/>
              <a:buChar char="•"/>
            </a:pPr>
            <a:r>
              <a:rPr lang="en-GB" sz="1200" i="1" dirty="0">
                <a:solidFill>
                  <a:schemeClr val="bg1"/>
                </a:solidFill>
              </a:rPr>
              <a:t>Which specific activities, offers, and events successfully drove engagement and pipeline for this campaign?</a:t>
            </a:r>
            <a:endParaRPr lang="en-GB" sz="1200" dirty="0">
              <a:solidFill>
                <a:schemeClr val="bg1"/>
              </a:solidFill>
            </a:endParaRPr>
          </a:p>
        </p:txBody>
      </p:sp>
    </p:spTree>
    <p:extLst>
      <p:ext uri="{BB962C8B-B14F-4D97-AF65-F5344CB8AC3E}">
        <p14:creationId xmlns:p14="http://schemas.microsoft.com/office/powerpoint/2010/main" val="191111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7A45-396C-A555-263C-E1243DE37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20031-4AA6-A7EC-CB5C-C13A7F1E7B2B}"/>
              </a:ext>
            </a:extLst>
          </p:cNvPr>
          <p:cNvSpPr>
            <a:spLocks noGrp="1"/>
          </p:cNvSpPr>
          <p:nvPr>
            <p:ph type="title"/>
          </p:nvPr>
        </p:nvSpPr>
        <p:spPr/>
        <p:txBody>
          <a:bodyPr/>
          <a:lstStyle/>
          <a:p>
            <a:r>
              <a:rPr lang="en-US" dirty="0"/>
              <a:t>VDC Executive Overview</a:t>
            </a:r>
            <a:endParaRPr lang="en-GB" dirty="0"/>
          </a:p>
        </p:txBody>
      </p:sp>
      <p:cxnSp>
        <p:nvCxnSpPr>
          <p:cNvPr id="5" name="Straight Connector 4">
            <a:extLst>
              <a:ext uri="{FF2B5EF4-FFF2-40B4-BE49-F238E27FC236}">
                <a16:creationId xmlns:a16="http://schemas.microsoft.com/office/drawing/2014/main" id="{E4934B5A-80C4-6FDC-B3CF-CA110F255383}"/>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3461B749-1F82-CE34-7225-66DA6D06AD6F}"/>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7199F4AB-8902-AB37-F752-5F1E1D43ED18}"/>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2884D6E3-034D-8D52-D5C6-3EEB19489170}"/>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D8CF1565-9C85-3D1A-6E85-496A57EDAC66}"/>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Funnel</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37235354-0D71-E5B3-3079-B3F145A126D4}"/>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Tracks core marketing performance metrics across the entire lifecycle</a:t>
              </a:r>
            </a:p>
          </p:txBody>
        </p:sp>
        <p:sp>
          <p:nvSpPr>
            <p:cNvPr id="16" name="Oval 15">
              <a:extLst>
                <a:ext uri="{FF2B5EF4-FFF2-40B4-BE49-F238E27FC236}">
                  <a16:creationId xmlns:a16="http://schemas.microsoft.com/office/drawing/2014/main" id="{97D30F0C-EF7A-86E1-BD28-B598E72D246F}"/>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89E231EB-C73F-1671-4350-327C250C8505}"/>
              </a:ext>
            </a:extLst>
          </p:cNvPr>
          <p:cNvGrpSpPr/>
          <p:nvPr/>
        </p:nvGrpSpPr>
        <p:grpSpPr>
          <a:xfrm>
            <a:off x="6688350" y="2042522"/>
            <a:ext cx="5179799" cy="529877"/>
            <a:chOff x="6688351" y="2157402"/>
            <a:chExt cx="5179799" cy="529877"/>
          </a:xfrm>
        </p:grpSpPr>
        <p:sp>
          <p:nvSpPr>
            <p:cNvPr id="18" name="Rectangle: Rounded Corners 17">
              <a:extLst>
                <a:ext uri="{FF2B5EF4-FFF2-40B4-BE49-F238E27FC236}">
                  <a16:creationId xmlns:a16="http://schemas.microsoft.com/office/drawing/2014/main" id="{1A84C039-9194-20A7-8CA5-43355BBC1A39}"/>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B5536A70-5677-EEC8-7523-37B14D1B8668}"/>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E8A5B0E5-1E9E-F874-C7BD-97EF00FB8403}"/>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Goals</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C751B6A2-11AD-CCAC-CE8B-74A9392D4BD8}"/>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Real-time performance against quarterly goals alongside year-over-year (Y/Y), quarter-over-quarter (Q/Q), and month-over-month (M/M) growth trends.</a:t>
              </a:r>
            </a:p>
          </p:txBody>
        </p:sp>
        <p:sp>
          <p:nvSpPr>
            <p:cNvPr id="22" name="Oval 21">
              <a:extLst>
                <a:ext uri="{FF2B5EF4-FFF2-40B4-BE49-F238E27FC236}">
                  <a16:creationId xmlns:a16="http://schemas.microsoft.com/office/drawing/2014/main" id="{FB12FC21-4CDC-6DA7-C018-0674CD2AA3B1}"/>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34CB8931-5E57-E9AB-F9E2-5242F74AC430}"/>
              </a:ext>
            </a:extLst>
          </p:cNvPr>
          <p:cNvGrpSpPr/>
          <p:nvPr/>
        </p:nvGrpSpPr>
        <p:grpSpPr>
          <a:xfrm>
            <a:off x="6688350" y="2936269"/>
            <a:ext cx="5179799" cy="529877"/>
            <a:chOff x="6688351" y="3166029"/>
            <a:chExt cx="5179799" cy="529877"/>
          </a:xfrm>
        </p:grpSpPr>
        <p:sp>
          <p:nvSpPr>
            <p:cNvPr id="24" name="Rectangle: Rounded Corners 23">
              <a:extLst>
                <a:ext uri="{FF2B5EF4-FFF2-40B4-BE49-F238E27FC236}">
                  <a16:creationId xmlns:a16="http://schemas.microsoft.com/office/drawing/2014/main" id="{909E7293-0CD0-64B9-3111-DB8892AD214D}"/>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795AF49D-5D8B-D24C-A475-1CB5A5A8F8DE}"/>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E631BCB7-C768-D9D3-1251-1CC499A0B37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Filtering</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0E03CB27-7409-B9EC-23D9-30F30C6C8439}"/>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None/>
              </a:pPr>
              <a:r>
                <a:rPr lang="en-US" altLang="en-US" sz="1000" dirty="0">
                  <a:latin typeface="Arial" panose="020B0604020202020204" pitchFamily="34" charset="0"/>
                </a:rPr>
                <a:t>The entire Funnel Summary can be sliced by specific tagging IDs, allowing teams to isolate the exact impact of specific marketing initiatives.</a:t>
              </a:r>
            </a:p>
          </p:txBody>
        </p:sp>
        <p:sp>
          <p:nvSpPr>
            <p:cNvPr id="28" name="Oval 27">
              <a:extLst>
                <a:ext uri="{FF2B5EF4-FFF2-40B4-BE49-F238E27FC236}">
                  <a16:creationId xmlns:a16="http://schemas.microsoft.com/office/drawing/2014/main" id="{CD2EBB68-95D9-C4D7-AB90-21E1401FF6F7}"/>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19B161A3-9C59-8475-A16A-414E1D122629}"/>
              </a:ext>
            </a:extLst>
          </p:cNvPr>
          <p:cNvGrpSpPr/>
          <p:nvPr/>
        </p:nvGrpSpPr>
        <p:grpSpPr>
          <a:xfrm>
            <a:off x="6688350" y="3830016"/>
            <a:ext cx="5179799" cy="529877"/>
            <a:chOff x="6688350" y="3737064"/>
            <a:chExt cx="5179799" cy="529877"/>
          </a:xfrm>
        </p:grpSpPr>
        <p:sp>
          <p:nvSpPr>
            <p:cNvPr id="30" name="Rectangle: Rounded Corners 29">
              <a:extLst>
                <a:ext uri="{FF2B5EF4-FFF2-40B4-BE49-F238E27FC236}">
                  <a16:creationId xmlns:a16="http://schemas.microsoft.com/office/drawing/2014/main" id="{C4316DF7-460D-2898-FE65-2BE520423B26}"/>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A41AAAFA-A90F-EDAA-9D0D-FDF5493502A5}"/>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9924FA8-C4A3-2935-3C09-E5F6385270F5}"/>
                </a:ext>
              </a:extLst>
            </p:cNvPr>
            <p:cNvSpPr txBox="1"/>
            <p:nvPr/>
          </p:nvSpPr>
          <p:spPr>
            <a:xfrm>
              <a:off x="7322570" y="383849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Inbound vs Outbound</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E1F3DE44-E479-37AC-F2A3-CA495539818E}"/>
                </a:ext>
              </a:extLst>
            </p:cNvPr>
            <p:cNvSpPr txBox="1"/>
            <p:nvPr/>
          </p:nvSpPr>
          <p:spPr>
            <a:xfrm>
              <a:off x="8640916" y="3801472"/>
              <a:ext cx="3155697" cy="401061"/>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break down volume and revenue metrics by traffic type (Inbound vs. Outbound)</a:t>
              </a:r>
              <a:endParaRPr lang="en-GB" sz="1000" dirty="0"/>
            </a:p>
          </p:txBody>
        </p:sp>
        <p:sp>
          <p:nvSpPr>
            <p:cNvPr id="34" name="Oval 33">
              <a:extLst>
                <a:ext uri="{FF2B5EF4-FFF2-40B4-BE49-F238E27FC236}">
                  <a16:creationId xmlns:a16="http://schemas.microsoft.com/office/drawing/2014/main" id="{480BDC35-8618-7B58-B3EF-94857FC2F58D}"/>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46" name="TextBox 45">
            <a:extLst>
              <a:ext uri="{FF2B5EF4-FFF2-40B4-BE49-F238E27FC236}">
                <a16:creationId xmlns:a16="http://schemas.microsoft.com/office/drawing/2014/main" id="{896A3E45-3F01-9806-1A26-8AE36BF8DAF5}"/>
              </a:ext>
            </a:extLst>
          </p:cNvPr>
          <p:cNvSpPr txBox="1"/>
          <p:nvPr/>
        </p:nvSpPr>
        <p:spPr>
          <a:xfrm>
            <a:off x="6688350" y="4723761"/>
            <a:ext cx="5327479" cy="1196941"/>
          </a:xfrm>
          <a:prstGeom prst="rect">
            <a:avLst/>
          </a:prstGeom>
          <a:noFill/>
        </p:spPr>
        <p:txBody>
          <a:bodyPr wrap="square" lIns="0" tIns="0" rIns="0" bIns="0" rtlCol="0">
            <a:noAutofit/>
          </a:bodyPr>
          <a:lstStyle/>
          <a:p>
            <a:pPr lvl="0" eaLnBrk="0" fontAlgn="base" hangingPunct="0">
              <a:spcBef>
                <a:spcPct val="0"/>
              </a:spcBef>
              <a:spcAft>
                <a:spcPct val="0"/>
              </a:spcAft>
            </a:pPr>
            <a:r>
              <a:rPr lang="en-US" altLang="en-US" sz="1200" b="1" dirty="0">
                <a:solidFill>
                  <a:schemeClr val="bg1"/>
                </a:solidFill>
                <a:latin typeface="Arial" panose="020B0604020202020204" pitchFamily="34" charset="0"/>
              </a:rPr>
              <a:t>Why CCID Filtering is Possible:</a:t>
            </a:r>
            <a:r>
              <a:rPr lang="en-US" altLang="en-US" sz="1200" dirty="0">
                <a:solidFill>
                  <a:schemeClr val="bg1"/>
                </a:solidFill>
                <a:latin typeface="Arial" panose="020B0604020202020204" pitchFamily="34" charset="0"/>
              </a:rPr>
              <a:t> </a:t>
            </a:r>
          </a:p>
          <a:p>
            <a:pPr lvl="0" eaLnBrk="0" fontAlgn="base" hangingPunct="0">
              <a:spcBef>
                <a:spcPct val="0"/>
              </a:spcBef>
              <a:spcAft>
                <a:spcPct val="0"/>
              </a:spcAft>
            </a:pPr>
            <a:r>
              <a:rPr lang="en-US" altLang="en-US" sz="1200" dirty="0">
                <a:solidFill>
                  <a:schemeClr val="bg1"/>
                </a:solidFill>
                <a:latin typeface="Arial" panose="020B0604020202020204" pitchFamily="34" charset="0"/>
              </a:rPr>
              <a:t>Because the </a:t>
            </a:r>
            <a:r>
              <a:rPr lang="en-US" altLang="en-US" sz="1200" b="1" dirty="0">
                <a:solidFill>
                  <a:schemeClr val="bg1"/>
                </a:solidFill>
                <a:latin typeface="Arial" panose="020B0604020202020204" pitchFamily="34" charset="0"/>
              </a:rPr>
              <a:t>CCID</a:t>
            </a:r>
            <a:r>
              <a:rPr lang="en-US" altLang="en-US" sz="1200" dirty="0">
                <a:solidFill>
                  <a:schemeClr val="bg1"/>
                </a:solidFill>
                <a:latin typeface="Arial" panose="020B0604020202020204" pitchFamily="34" charset="0"/>
              </a:rPr>
              <a:t> (Campaign Control ID) is captured system-wide at the lead level, it embeds key campaign and program data directly into the lead record. This metadata acts as the connective tissue that allows the dashboard to instantly filter and attribute downstream revenue, bookings, and pipeline back to the originating marketing campaign.</a:t>
            </a:r>
          </a:p>
        </p:txBody>
      </p:sp>
      <p:pic>
        <p:nvPicPr>
          <p:cNvPr id="3" name="Picture 2">
            <a:extLst>
              <a:ext uri="{FF2B5EF4-FFF2-40B4-BE49-F238E27FC236}">
                <a16:creationId xmlns:a16="http://schemas.microsoft.com/office/drawing/2014/main" id="{02B35D39-F1F4-D490-0C84-4E8CD78458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322" y="1325298"/>
            <a:ext cx="5679995" cy="4207404"/>
          </a:xfrm>
          <a:prstGeom prst="rect">
            <a:avLst/>
          </a:prstGeom>
        </p:spPr>
      </p:pic>
      <p:sp>
        <p:nvSpPr>
          <p:cNvPr id="7" name="TextBox 6">
            <a:extLst>
              <a:ext uri="{FF2B5EF4-FFF2-40B4-BE49-F238E27FC236}">
                <a16:creationId xmlns:a16="http://schemas.microsoft.com/office/drawing/2014/main" id="{FB5D628D-C2C6-7716-4A21-7AA04FEBDCC6}"/>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3"/>
              </a:rPr>
              <a:t>VDC Executive Overview</a:t>
            </a:r>
            <a:endParaRPr lang="en-GB"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290032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49D6-C2AF-7EC8-9C49-0C56B4BF4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E692B-11EC-EA16-E2DB-7832DC4E406C}"/>
              </a:ext>
            </a:extLst>
          </p:cNvPr>
          <p:cNvSpPr>
            <a:spLocks noGrp="1"/>
          </p:cNvSpPr>
          <p:nvPr>
            <p:ph type="title"/>
          </p:nvPr>
        </p:nvSpPr>
        <p:spPr/>
        <p:txBody>
          <a:bodyPr/>
          <a:lstStyle/>
          <a:p>
            <a:r>
              <a:rPr lang="en-US" dirty="0"/>
              <a:t>Self Service Deep Dive</a:t>
            </a:r>
            <a:endParaRPr lang="en-GB" dirty="0"/>
          </a:p>
        </p:txBody>
      </p:sp>
      <p:cxnSp>
        <p:nvCxnSpPr>
          <p:cNvPr id="5" name="Straight Connector 4">
            <a:extLst>
              <a:ext uri="{FF2B5EF4-FFF2-40B4-BE49-F238E27FC236}">
                <a16:creationId xmlns:a16="http://schemas.microsoft.com/office/drawing/2014/main" id="{0AC88352-D081-7D6B-7145-ECF87BF0BF8A}"/>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39210E15-9220-889B-15A1-8FC848E75945}"/>
              </a:ext>
            </a:extLst>
          </p:cNvPr>
          <p:cNvGrpSpPr/>
          <p:nvPr/>
        </p:nvGrpSpPr>
        <p:grpSpPr>
          <a:xfrm>
            <a:off x="6688350" y="1148775"/>
            <a:ext cx="5179799" cy="529877"/>
            <a:chOff x="6688351" y="1148775"/>
            <a:chExt cx="5179799" cy="529877"/>
          </a:xfrm>
        </p:grpSpPr>
        <p:sp>
          <p:nvSpPr>
            <p:cNvPr id="12" name="Rectangle: Rounded Corners 11">
              <a:extLst>
                <a:ext uri="{FF2B5EF4-FFF2-40B4-BE49-F238E27FC236}">
                  <a16:creationId xmlns:a16="http://schemas.microsoft.com/office/drawing/2014/main" id="{D3032290-2889-EA66-0D18-08D058E5080A}"/>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0E4A9E2C-EC69-98C2-C4CC-D75E9ABB225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94102D1C-84FD-CF1B-2731-0ACD969CAD52}"/>
                </a:ext>
              </a:extLst>
            </p:cNvPr>
            <p:cNvSpPr txBox="1"/>
            <p:nvPr/>
          </p:nvSpPr>
          <p:spPr>
            <a:xfrm>
              <a:off x="7307028" y="1324266"/>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Framework</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57134221-3BF3-30D3-1A06-E684A44FD031}"/>
                </a:ext>
              </a:extLst>
            </p:cNvPr>
            <p:cNvSpPr txBox="1"/>
            <p:nvPr/>
          </p:nvSpPr>
          <p:spPr>
            <a:xfrm>
              <a:off x="8640918" y="1247963"/>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Data is strictly limited to campaigns aligned with the FY26 strategic framework.</a:t>
              </a:r>
            </a:p>
          </p:txBody>
        </p:sp>
        <p:sp>
          <p:nvSpPr>
            <p:cNvPr id="16" name="Oval 15">
              <a:extLst>
                <a:ext uri="{FF2B5EF4-FFF2-40B4-BE49-F238E27FC236}">
                  <a16:creationId xmlns:a16="http://schemas.microsoft.com/office/drawing/2014/main" id="{70BBA2EB-75AD-9AFB-8C4F-06BDE1400D8D}"/>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F27323B4-9FA8-61C7-8153-A74A006B9F5B}"/>
              </a:ext>
            </a:extLst>
          </p:cNvPr>
          <p:cNvGrpSpPr/>
          <p:nvPr/>
        </p:nvGrpSpPr>
        <p:grpSpPr>
          <a:xfrm>
            <a:off x="6688350" y="2011538"/>
            <a:ext cx="5179799" cy="529877"/>
            <a:chOff x="6688351" y="2157402"/>
            <a:chExt cx="5179799" cy="529877"/>
          </a:xfrm>
        </p:grpSpPr>
        <p:sp>
          <p:nvSpPr>
            <p:cNvPr id="18" name="Rectangle: Rounded Corners 17">
              <a:extLst>
                <a:ext uri="{FF2B5EF4-FFF2-40B4-BE49-F238E27FC236}">
                  <a16:creationId xmlns:a16="http://schemas.microsoft.com/office/drawing/2014/main" id="{68BB89D3-EF2D-54A9-B724-C7B404AD6E80}"/>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BFE70269-8CEF-0550-A338-C020E08212F9}"/>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EA5C05E9-F681-16E7-AE8B-E35B673FD979}"/>
                </a:ext>
              </a:extLst>
            </p:cNvPr>
            <p:cNvSpPr txBox="1"/>
            <p:nvPr/>
          </p:nvSpPr>
          <p:spPr>
            <a:xfrm>
              <a:off x="7307028" y="233289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Dynamic</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9B5DDBE-8B0B-EC35-3560-F2FB63A5C4F5}"/>
                </a:ext>
              </a:extLst>
            </p:cNvPr>
            <p:cNvSpPr txBox="1"/>
            <p:nvPr/>
          </p:nvSpPr>
          <p:spPr>
            <a:xfrm>
              <a:off x="8640918" y="2184782"/>
              <a:ext cx="2637800"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lvl="0" indent="0" defTabSz="914400" eaLnBrk="0" hangingPunct="0">
                <a:spcBef>
                  <a:spcPct val="0"/>
                </a:spcBef>
                <a:spcAft>
                  <a:spcPct val="0"/>
                </a:spcAft>
                <a:buClrTx/>
                <a:buSzTx/>
                <a:buFontTx/>
                <a:buChar char="•"/>
              </a:pPr>
              <a:r>
                <a:rPr lang="en-US" altLang="en-US" sz="1000" dirty="0">
                  <a:latin typeface="Arial" panose="020B0604020202020204" pitchFamily="34" charset="0"/>
                </a:rPr>
                <a:t>Selecting a campaign instantly updates the entire tab to show its specific performance results.</a:t>
              </a:r>
            </a:p>
          </p:txBody>
        </p:sp>
        <p:sp>
          <p:nvSpPr>
            <p:cNvPr id="22" name="Oval 21">
              <a:extLst>
                <a:ext uri="{FF2B5EF4-FFF2-40B4-BE49-F238E27FC236}">
                  <a16:creationId xmlns:a16="http://schemas.microsoft.com/office/drawing/2014/main" id="{7221FAA7-4C64-AC2B-D5EA-521A5F3342BE}"/>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A229CDA5-0E86-7EFF-8F10-BD4446CFE014}"/>
              </a:ext>
            </a:extLst>
          </p:cNvPr>
          <p:cNvGrpSpPr/>
          <p:nvPr/>
        </p:nvGrpSpPr>
        <p:grpSpPr>
          <a:xfrm>
            <a:off x="6688350" y="2874301"/>
            <a:ext cx="5179799" cy="529877"/>
            <a:chOff x="6688351" y="3166029"/>
            <a:chExt cx="5179799" cy="529877"/>
          </a:xfrm>
        </p:grpSpPr>
        <p:sp>
          <p:nvSpPr>
            <p:cNvPr id="24" name="Rectangle: Rounded Corners 23">
              <a:extLst>
                <a:ext uri="{FF2B5EF4-FFF2-40B4-BE49-F238E27FC236}">
                  <a16:creationId xmlns:a16="http://schemas.microsoft.com/office/drawing/2014/main" id="{9A589FB3-6CC0-ED5F-5924-2571FF06F71F}"/>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72CCF710-102B-9369-00DC-76840754573C}"/>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DD3700D4-255A-E132-6BD9-ECED9108947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ID Driven</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5D4BFCF9-CB9A-8223-6071-9E4AC5E91A14}"/>
                </a:ext>
              </a:extLst>
            </p:cNvPr>
            <p:cNvSpPr txBox="1"/>
            <p:nvPr/>
          </p:nvSpPr>
          <p:spPr>
            <a:xfrm>
              <a:off x="8640918" y="319340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Engagement and pipeline metrics are automatically derived from tracking IDs (CCID, OID, EID) mapped via tagging metadata.</a:t>
              </a:r>
              <a:endParaRPr lang="en-GB" sz="1000" dirty="0"/>
            </a:p>
          </p:txBody>
        </p:sp>
        <p:sp>
          <p:nvSpPr>
            <p:cNvPr id="28" name="Oval 27">
              <a:extLst>
                <a:ext uri="{FF2B5EF4-FFF2-40B4-BE49-F238E27FC236}">
                  <a16:creationId xmlns:a16="http://schemas.microsoft.com/office/drawing/2014/main" id="{C1DF5A8C-AF47-276E-7F76-279A570E9690}"/>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42" name="Group 41">
            <a:extLst>
              <a:ext uri="{FF2B5EF4-FFF2-40B4-BE49-F238E27FC236}">
                <a16:creationId xmlns:a16="http://schemas.microsoft.com/office/drawing/2014/main" id="{00BAF9C9-0558-5BF3-8DD6-EB183DE83DB7}"/>
              </a:ext>
            </a:extLst>
          </p:cNvPr>
          <p:cNvGrpSpPr/>
          <p:nvPr/>
        </p:nvGrpSpPr>
        <p:grpSpPr>
          <a:xfrm>
            <a:off x="6688350" y="3737064"/>
            <a:ext cx="5179799" cy="529877"/>
            <a:chOff x="6688351" y="4174656"/>
            <a:chExt cx="5179799" cy="529877"/>
          </a:xfrm>
        </p:grpSpPr>
        <p:sp>
          <p:nvSpPr>
            <p:cNvPr id="30" name="Rectangle: Rounded Corners 29">
              <a:extLst>
                <a:ext uri="{FF2B5EF4-FFF2-40B4-BE49-F238E27FC236}">
                  <a16:creationId xmlns:a16="http://schemas.microsoft.com/office/drawing/2014/main" id="{63063BBF-F112-46D3-0206-3DA30ADF1810}"/>
                </a:ext>
              </a:extLst>
            </p:cNvPr>
            <p:cNvSpPr/>
            <p:nvPr/>
          </p:nvSpPr>
          <p:spPr>
            <a:xfrm>
              <a:off x="7936230" y="420203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480A4E29-8BF6-35E9-1E6E-E25FC5627753}"/>
                </a:ext>
              </a:extLst>
            </p:cNvPr>
            <p:cNvSpPr/>
            <p:nvPr/>
          </p:nvSpPr>
          <p:spPr>
            <a:xfrm>
              <a:off x="7035263" y="420203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FEC0A4A4-8892-56EE-5BA3-578CF48B1AD2}"/>
                </a:ext>
              </a:extLst>
            </p:cNvPr>
            <p:cNvSpPr txBox="1"/>
            <p:nvPr/>
          </p:nvSpPr>
          <p:spPr>
            <a:xfrm>
              <a:off x="7307028" y="435014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Pipeline</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DDAB4E13-8C59-61C5-5A7E-65144427A42C}"/>
                </a:ext>
              </a:extLst>
            </p:cNvPr>
            <p:cNvSpPr txBox="1"/>
            <p:nvPr/>
          </p:nvSpPr>
          <p:spPr>
            <a:xfrm>
              <a:off x="8640917" y="4202036"/>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Includes all pipeline impacted by campaign-linked activities, even if it falls outside the core target product mix.</a:t>
              </a:r>
              <a:endParaRPr lang="en-GB" sz="1000" dirty="0"/>
            </a:p>
          </p:txBody>
        </p:sp>
        <p:sp>
          <p:nvSpPr>
            <p:cNvPr id="34" name="Oval 33">
              <a:extLst>
                <a:ext uri="{FF2B5EF4-FFF2-40B4-BE49-F238E27FC236}">
                  <a16:creationId xmlns:a16="http://schemas.microsoft.com/office/drawing/2014/main" id="{428E9226-BAC7-9B81-4EDB-6F4EFA8D247F}"/>
                </a:ext>
              </a:extLst>
            </p:cNvPr>
            <p:cNvSpPr/>
            <p:nvPr/>
          </p:nvSpPr>
          <p:spPr>
            <a:xfrm>
              <a:off x="6688351" y="417465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41" name="Group 40">
            <a:extLst>
              <a:ext uri="{FF2B5EF4-FFF2-40B4-BE49-F238E27FC236}">
                <a16:creationId xmlns:a16="http://schemas.microsoft.com/office/drawing/2014/main" id="{57FB228D-9DB0-50F7-7054-D84222657309}"/>
              </a:ext>
            </a:extLst>
          </p:cNvPr>
          <p:cNvGrpSpPr/>
          <p:nvPr/>
        </p:nvGrpSpPr>
        <p:grpSpPr>
          <a:xfrm>
            <a:off x="6688350" y="4599829"/>
            <a:ext cx="5179799" cy="529877"/>
            <a:chOff x="6688351" y="5183283"/>
            <a:chExt cx="5179799" cy="529877"/>
          </a:xfrm>
        </p:grpSpPr>
        <p:sp>
          <p:nvSpPr>
            <p:cNvPr id="36" name="Rectangle: Rounded Corners 35">
              <a:extLst>
                <a:ext uri="{FF2B5EF4-FFF2-40B4-BE49-F238E27FC236}">
                  <a16:creationId xmlns:a16="http://schemas.microsoft.com/office/drawing/2014/main" id="{3CC4ECDC-167F-694A-DFFE-E1A989BF7285}"/>
                </a:ext>
              </a:extLst>
            </p:cNvPr>
            <p:cNvSpPr/>
            <p:nvPr/>
          </p:nvSpPr>
          <p:spPr>
            <a:xfrm>
              <a:off x="7936230" y="521066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7" name="Arrow: Pentagon 36">
              <a:extLst>
                <a:ext uri="{FF2B5EF4-FFF2-40B4-BE49-F238E27FC236}">
                  <a16:creationId xmlns:a16="http://schemas.microsoft.com/office/drawing/2014/main" id="{60C52E40-F71B-38F6-16F1-AD21394057BC}"/>
                </a:ext>
              </a:extLst>
            </p:cNvPr>
            <p:cNvSpPr/>
            <p:nvPr/>
          </p:nvSpPr>
          <p:spPr>
            <a:xfrm>
              <a:off x="7035263" y="521066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8" name="TextBox 37">
              <a:extLst>
                <a:ext uri="{FF2B5EF4-FFF2-40B4-BE49-F238E27FC236}">
                  <a16:creationId xmlns:a16="http://schemas.microsoft.com/office/drawing/2014/main" id="{A9CD1EF4-23F5-9D12-4154-7D9C6F57DE1B}"/>
                </a:ext>
              </a:extLst>
            </p:cNvPr>
            <p:cNvSpPr txBox="1"/>
            <p:nvPr/>
          </p:nvSpPr>
          <p:spPr>
            <a:xfrm>
              <a:off x="7307028" y="535877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Bottom Line</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B6F29CA0-F958-3769-7CD4-B00C7D4D8ABB}"/>
                </a:ext>
              </a:extLst>
            </p:cNvPr>
            <p:cNvSpPr txBox="1"/>
            <p:nvPr/>
          </p:nvSpPr>
          <p:spPr>
            <a:xfrm>
              <a:off x="8640917" y="5284719"/>
              <a:ext cx="3155697" cy="327005"/>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US" altLang="en-US" sz="1000" dirty="0">
                  <a:latin typeface="Arial" panose="020B0604020202020204" pitchFamily="34" charset="0"/>
                </a:rPr>
                <a:t>This view isolates the exact engagement and pipeline generated by your selected campaign's tracking tags.</a:t>
              </a:r>
              <a:endParaRPr lang="en-GB" sz="1000" dirty="0"/>
            </a:p>
          </p:txBody>
        </p:sp>
        <p:sp>
          <p:nvSpPr>
            <p:cNvPr id="40" name="Oval 39">
              <a:extLst>
                <a:ext uri="{FF2B5EF4-FFF2-40B4-BE49-F238E27FC236}">
                  <a16:creationId xmlns:a16="http://schemas.microsoft.com/office/drawing/2014/main" id="{F0EDA184-AA39-7D5D-C456-8EA08FC244CB}"/>
                </a:ext>
              </a:extLst>
            </p:cNvPr>
            <p:cNvSpPr/>
            <p:nvPr/>
          </p:nvSpPr>
          <p:spPr>
            <a:xfrm>
              <a:off x="6688351" y="518328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
        <p:nvSpPr>
          <p:cNvPr id="46" name="TextBox 45">
            <a:extLst>
              <a:ext uri="{FF2B5EF4-FFF2-40B4-BE49-F238E27FC236}">
                <a16:creationId xmlns:a16="http://schemas.microsoft.com/office/drawing/2014/main" id="{4D674691-5F5B-E36D-B152-084CE21D3433}"/>
              </a:ext>
            </a:extLst>
          </p:cNvPr>
          <p:cNvSpPr txBox="1"/>
          <p:nvPr/>
        </p:nvSpPr>
        <p:spPr>
          <a:xfrm>
            <a:off x="6688352" y="5277818"/>
            <a:ext cx="5327479" cy="992353"/>
          </a:xfrm>
          <a:prstGeom prst="rect">
            <a:avLst/>
          </a:prstGeom>
          <a:noFill/>
        </p:spPr>
        <p:txBody>
          <a:bodyPr wrap="square" lIns="0" tIns="0" rIns="0" bIns="0" rtlCol="0">
            <a:noAutofit/>
          </a:bodyPr>
          <a:lstStyle/>
          <a:p>
            <a:r>
              <a:rPr lang="en-GB" sz="1200" b="1" dirty="0">
                <a:solidFill>
                  <a:schemeClr val="bg1"/>
                </a:solidFill>
              </a:rPr>
              <a:t>Best Used to Answer:</a:t>
            </a:r>
          </a:p>
          <a:p>
            <a:pPr marL="171450" indent="-171450">
              <a:buFont typeface="Arial" panose="020B0604020202020204" pitchFamily="34" charset="0"/>
              <a:buChar char="•"/>
            </a:pPr>
            <a:r>
              <a:rPr lang="en-GB" sz="1200" i="1" dirty="0">
                <a:solidFill>
                  <a:schemeClr val="bg1"/>
                </a:solidFill>
              </a:rPr>
              <a:t>How did a specific campaign (e.g., Mid Market LDOS) perform end-to-end?</a:t>
            </a:r>
            <a:endParaRPr lang="en-GB" sz="1200" dirty="0">
              <a:solidFill>
                <a:schemeClr val="bg1"/>
              </a:solidFill>
            </a:endParaRPr>
          </a:p>
          <a:p>
            <a:pPr marL="171450" indent="-171450">
              <a:buFont typeface="Arial" panose="020B0604020202020204" pitchFamily="34" charset="0"/>
              <a:buChar char="•"/>
            </a:pPr>
            <a:r>
              <a:rPr lang="en-GB" sz="1200" i="1" dirty="0">
                <a:solidFill>
                  <a:schemeClr val="bg1"/>
                </a:solidFill>
              </a:rPr>
              <a:t>Which specific activities, offers, and events successfully drove engagement and pipeline for this campaign?</a:t>
            </a:r>
            <a:endParaRPr lang="en-GB" sz="1200" dirty="0">
              <a:solidFill>
                <a:schemeClr val="bg1"/>
              </a:solidFill>
            </a:endParaRPr>
          </a:p>
        </p:txBody>
      </p:sp>
      <p:sp>
        <p:nvSpPr>
          <p:cNvPr id="7" name="TextBox 6">
            <a:extLst>
              <a:ext uri="{FF2B5EF4-FFF2-40B4-BE49-F238E27FC236}">
                <a16:creationId xmlns:a16="http://schemas.microsoft.com/office/drawing/2014/main" id="{EFC81107-B53D-0587-1B15-928BEBA0B719}"/>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hlinkClick r:id="rId2"/>
              </a:rPr>
              <a:t>Self Service Deep Dive</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76739AE4-FD8F-EE15-1479-BB8E715E9A83}"/>
              </a:ext>
            </a:extLst>
          </p:cNvPr>
          <p:cNvPicPr>
            <a:picLocks noChangeAspect="1"/>
          </p:cNvPicPr>
          <p:nvPr/>
        </p:nvPicPr>
        <p:blipFill>
          <a:blip r:embed="rId3"/>
          <a:stretch>
            <a:fillRect/>
          </a:stretch>
        </p:blipFill>
        <p:spPr>
          <a:xfrm>
            <a:off x="234186" y="1503159"/>
            <a:ext cx="5884273" cy="3380567"/>
          </a:xfrm>
          <a:prstGeom prst="rect">
            <a:avLst/>
          </a:prstGeom>
        </p:spPr>
      </p:pic>
    </p:spTree>
    <p:extLst>
      <p:ext uri="{BB962C8B-B14F-4D97-AF65-F5344CB8AC3E}">
        <p14:creationId xmlns:p14="http://schemas.microsoft.com/office/powerpoint/2010/main" val="108246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96DF-1E8B-B8B4-B8CE-62A33F6F7B37}"/>
              </a:ext>
            </a:extLst>
          </p:cNvPr>
          <p:cNvSpPr>
            <a:spLocks noGrp="1"/>
          </p:cNvSpPr>
          <p:nvPr>
            <p:ph type="title"/>
          </p:nvPr>
        </p:nvSpPr>
        <p:spPr/>
        <p:txBody>
          <a:bodyPr/>
          <a:lstStyle/>
          <a:p>
            <a:r>
              <a:rPr lang="en-US" dirty="0"/>
              <a:t>Seller Enablement</a:t>
            </a:r>
            <a:endParaRPr lang="en-GB" dirty="0"/>
          </a:p>
        </p:txBody>
      </p:sp>
      <p:pic>
        <p:nvPicPr>
          <p:cNvPr id="4" name="Picture 3">
            <a:extLst>
              <a:ext uri="{FF2B5EF4-FFF2-40B4-BE49-F238E27FC236}">
                <a16:creationId xmlns:a16="http://schemas.microsoft.com/office/drawing/2014/main" id="{D1B8C708-2C88-59A7-BB2F-3B3E35B743E0}"/>
              </a:ext>
            </a:extLst>
          </p:cNvPr>
          <p:cNvPicPr>
            <a:picLocks noChangeAspect="1"/>
          </p:cNvPicPr>
          <p:nvPr/>
        </p:nvPicPr>
        <p:blipFill>
          <a:blip r:embed="rId2"/>
          <a:stretch>
            <a:fillRect/>
          </a:stretch>
        </p:blipFill>
        <p:spPr>
          <a:xfrm>
            <a:off x="6205921" y="2025747"/>
            <a:ext cx="5381167" cy="2250368"/>
          </a:xfrm>
          <a:prstGeom prst="rect">
            <a:avLst/>
          </a:prstGeom>
        </p:spPr>
      </p:pic>
      <p:sp>
        <p:nvSpPr>
          <p:cNvPr id="5" name="TextBox 4">
            <a:extLst>
              <a:ext uri="{FF2B5EF4-FFF2-40B4-BE49-F238E27FC236}">
                <a16:creationId xmlns:a16="http://schemas.microsoft.com/office/drawing/2014/main" id="{AF7D39A6-772B-AAB8-BEE0-DD64D247BF80}"/>
              </a:ext>
            </a:extLst>
          </p:cNvPr>
          <p:cNvSpPr txBox="1"/>
          <p:nvPr/>
        </p:nvSpPr>
        <p:spPr>
          <a:xfrm>
            <a:off x="1261241" y="1822494"/>
            <a:ext cx="2055824" cy="1986455"/>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sz="1600" dirty="0">
                <a:solidFill>
                  <a:schemeClr val="bg1"/>
                </a:solidFill>
                <a:ea typeface="ＭＳ Ｐゴシック" charset="0"/>
              </a:rPr>
              <a:t>Create a lead with CCID </a:t>
            </a:r>
            <a:r>
              <a:rPr lang="en-GB" dirty="0">
                <a:solidFill>
                  <a:srgbClr val="FF0000"/>
                </a:solidFill>
              </a:rPr>
              <a:t>cc010296</a:t>
            </a:r>
          </a:p>
          <a:p>
            <a:pPr marL="182880" indent="-182880" defTabSz="912276" fontAlgn="base">
              <a:spcAft>
                <a:spcPts val="1000"/>
              </a:spcAft>
              <a:buClr>
                <a:schemeClr val="bg1"/>
              </a:buClr>
              <a:buSzPct val="100000"/>
              <a:buFont typeface="Arial" panose="020B0604020202020204" pitchFamily="34" charset="0"/>
              <a:buChar char="•"/>
            </a:pPr>
            <a:r>
              <a:rPr lang="en-GB" sz="1600" dirty="0">
                <a:solidFill>
                  <a:schemeClr val="bg1"/>
                </a:solidFill>
                <a:ea typeface="ＭＳ Ｐゴシック" charset="0"/>
              </a:rPr>
              <a:t>And Offer ID</a:t>
            </a:r>
            <a:r>
              <a:rPr lang="en-GB" sz="1600" dirty="0">
                <a:solidFill>
                  <a:schemeClr val="accent3"/>
                </a:solidFill>
                <a:ea typeface="ＭＳ Ｐゴシック" charset="0"/>
              </a:rPr>
              <a:t> </a:t>
            </a:r>
            <a:r>
              <a:rPr lang="en-GB" dirty="0">
                <a:solidFill>
                  <a:schemeClr val="accent3"/>
                </a:solidFill>
              </a:rPr>
              <a:t>dmomrk033343</a:t>
            </a:r>
            <a:endParaRPr lang="en-GB" sz="1600" kern="1200" dirty="0">
              <a:solidFill>
                <a:schemeClr val="accent3"/>
              </a:solidFill>
              <a:latin typeface="+mn-lt"/>
              <a:ea typeface="ＭＳ Ｐゴシック" charset="0"/>
            </a:endParaRPr>
          </a:p>
        </p:txBody>
      </p:sp>
    </p:spTree>
    <p:extLst>
      <p:ext uri="{BB962C8B-B14F-4D97-AF65-F5344CB8AC3E}">
        <p14:creationId xmlns:p14="http://schemas.microsoft.com/office/powerpoint/2010/main" val="4101537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40A6-E9B0-4BD5-4A25-00D4B279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42457-52CF-A96B-696D-C79214F44558}"/>
              </a:ext>
            </a:extLst>
          </p:cNvPr>
          <p:cNvSpPr>
            <a:spLocks noGrp="1"/>
          </p:cNvSpPr>
          <p:nvPr>
            <p:ph type="title"/>
          </p:nvPr>
        </p:nvSpPr>
        <p:spPr/>
        <p:txBody>
          <a:bodyPr/>
          <a:lstStyle/>
          <a:p>
            <a:r>
              <a:rPr lang="en-US" dirty="0"/>
              <a:t>Module 3: Drive To &amp; Offer IDs</a:t>
            </a:r>
            <a:endParaRPr lang="en-GB" dirty="0"/>
          </a:p>
        </p:txBody>
      </p:sp>
    </p:spTree>
    <p:extLst>
      <p:ext uri="{BB962C8B-B14F-4D97-AF65-F5344CB8AC3E}">
        <p14:creationId xmlns:p14="http://schemas.microsoft.com/office/powerpoint/2010/main" val="16367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E3CB-E09C-B27F-65C3-2B4523D48B41}"/>
              </a:ext>
            </a:extLst>
          </p:cNvPr>
          <p:cNvSpPr>
            <a:spLocks noGrp="1"/>
          </p:cNvSpPr>
          <p:nvPr>
            <p:ph type="title"/>
          </p:nvPr>
        </p:nvSpPr>
        <p:spPr/>
        <p:txBody>
          <a:bodyPr/>
          <a:lstStyle/>
          <a:p>
            <a:r>
              <a:rPr lang="en-US" dirty="0"/>
              <a:t>Structure of a Drive To ID</a:t>
            </a:r>
            <a:endParaRPr lang="en-GB" dirty="0"/>
          </a:p>
        </p:txBody>
      </p:sp>
      <p:grpSp>
        <p:nvGrpSpPr>
          <p:cNvPr id="5" name="Group 4">
            <a:extLst>
              <a:ext uri="{FF2B5EF4-FFF2-40B4-BE49-F238E27FC236}">
                <a16:creationId xmlns:a16="http://schemas.microsoft.com/office/drawing/2014/main" id="{10C5BF66-3AF0-0EBF-30B8-06966F800077}"/>
              </a:ext>
            </a:extLst>
          </p:cNvPr>
          <p:cNvGrpSpPr/>
          <p:nvPr/>
        </p:nvGrpSpPr>
        <p:grpSpPr>
          <a:xfrm>
            <a:off x="6689663" y="1277027"/>
            <a:ext cx="5179799" cy="529877"/>
            <a:chOff x="6689663" y="2085046"/>
            <a:chExt cx="5179799" cy="529877"/>
          </a:xfrm>
        </p:grpSpPr>
        <p:sp>
          <p:nvSpPr>
            <p:cNvPr id="6" name="Rectangle: Rounded Corners 5">
              <a:extLst>
                <a:ext uri="{FF2B5EF4-FFF2-40B4-BE49-F238E27FC236}">
                  <a16:creationId xmlns:a16="http://schemas.microsoft.com/office/drawing/2014/main" id="{67D49691-253B-D9A6-126F-E03E660D2FCF}"/>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Arrow: Pentagon 6">
              <a:extLst>
                <a:ext uri="{FF2B5EF4-FFF2-40B4-BE49-F238E27FC236}">
                  <a16:creationId xmlns:a16="http://schemas.microsoft.com/office/drawing/2014/main" id="{F4484D40-77E2-193D-0CFF-031A758E400B}"/>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TextBox 7">
              <a:extLst>
                <a:ext uri="{FF2B5EF4-FFF2-40B4-BE49-F238E27FC236}">
                  <a16:creationId xmlns:a16="http://schemas.microsoft.com/office/drawing/2014/main" id="{770DC412-2046-AFB6-F98F-A2558EEDE974}"/>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DTID</a:t>
              </a:r>
              <a:endParaRPr lang="en-GB" sz="16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2CFF7625-808D-0420-2C5F-F32AAC2E79E8}"/>
                </a:ext>
              </a:extLst>
            </p:cNvPr>
            <p:cNvSpPr txBox="1"/>
            <p:nvPr/>
          </p:nvSpPr>
          <p:spPr>
            <a:xfrm>
              <a:off x="8642230" y="2184234"/>
              <a:ext cx="2637800" cy="331500"/>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On Creation of an Drive To ID a DTID is automatically generated</a:t>
              </a:r>
            </a:p>
          </p:txBody>
        </p:sp>
        <p:sp>
          <p:nvSpPr>
            <p:cNvPr id="10" name="Oval 9">
              <a:extLst>
                <a:ext uri="{FF2B5EF4-FFF2-40B4-BE49-F238E27FC236}">
                  <a16:creationId xmlns:a16="http://schemas.microsoft.com/office/drawing/2014/main" id="{B02BFFD8-C83D-2CC6-56E0-99397113A487}"/>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1" name="Group 10">
            <a:extLst>
              <a:ext uri="{FF2B5EF4-FFF2-40B4-BE49-F238E27FC236}">
                <a16:creationId xmlns:a16="http://schemas.microsoft.com/office/drawing/2014/main" id="{2F18D1BA-E710-7D02-CCE1-485AF7B0751F}"/>
              </a:ext>
            </a:extLst>
          </p:cNvPr>
          <p:cNvGrpSpPr/>
          <p:nvPr/>
        </p:nvGrpSpPr>
        <p:grpSpPr>
          <a:xfrm>
            <a:off x="6689663" y="3361073"/>
            <a:ext cx="5323040" cy="529877"/>
            <a:chOff x="6689663" y="2850599"/>
            <a:chExt cx="5179799" cy="529877"/>
          </a:xfrm>
        </p:grpSpPr>
        <p:sp>
          <p:nvSpPr>
            <p:cNvPr id="12" name="Rectangle: Rounded Corners 11">
              <a:extLst>
                <a:ext uri="{FF2B5EF4-FFF2-40B4-BE49-F238E27FC236}">
                  <a16:creationId xmlns:a16="http://schemas.microsoft.com/office/drawing/2014/main" id="{17C437B8-EC9E-0B08-1C3F-AFE00E29020E}"/>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E7BA43C0-95FD-967E-3BCE-4A9002D8D3D3}"/>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615F8568-B097-DC0A-70E8-8E68A8CB15EA}"/>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Audience</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7FCF86D9-DFA2-D80D-5522-DF1D30D4966B}"/>
                </a:ext>
              </a:extLst>
            </p:cNvPr>
            <p:cNvSpPr txBox="1"/>
            <p:nvPr/>
          </p:nvSpPr>
          <p:spPr>
            <a:xfrm>
              <a:off x="8642230" y="287797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b="1" dirty="0"/>
                <a:t>Paid</a:t>
              </a:r>
              <a:r>
                <a:rPr lang="en-GB" sz="1000" dirty="0"/>
                <a:t> (sponsored), </a:t>
              </a:r>
              <a:r>
                <a:rPr lang="en-GB" sz="1000" b="1" dirty="0"/>
                <a:t>Owned</a:t>
              </a:r>
              <a:r>
                <a:rPr lang="en-GB" sz="1000" dirty="0"/>
                <a:t> (internal databases), or </a:t>
              </a:r>
              <a:r>
                <a:rPr lang="en-GB" sz="1000" b="1" dirty="0"/>
                <a:t>Earned</a:t>
              </a:r>
              <a:r>
                <a:rPr lang="en-GB" sz="1000" dirty="0"/>
                <a:t> (organic reach). Optimizing specific content delivery.</a:t>
              </a:r>
            </a:p>
          </p:txBody>
        </p:sp>
        <p:sp>
          <p:nvSpPr>
            <p:cNvPr id="16" name="Oval 15">
              <a:extLst>
                <a:ext uri="{FF2B5EF4-FFF2-40B4-BE49-F238E27FC236}">
                  <a16:creationId xmlns:a16="http://schemas.microsoft.com/office/drawing/2014/main" id="{265E6FC1-BC47-ABE1-379E-668ADA4338E9}"/>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75" name="Group 74">
            <a:extLst>
              <a:ext uri="{FF2B5EF4-FFF2-40B4-BE49-F238E27FC236}">
                <a16:creationId xmlns:a16="http://schemas.microsoft.com/office/drawing/2014/main" id="{C434FE2E-0889-2CB3-78B1-DE25BA6F82FC}"/>
              </a:ext>
            </a:extLst>
          </p:cNvPr>
          <p:cNvGrpSpPr/>
          <p:nvPr/>
        </p:nvGrpSpPr>
        <p:grpSpPr>
          <a:xfrm>
            <a:off x="6689663" y="4403096"/>
            <a:ext cx="5252623" cy="529877"/>
            <a:chOff x="6689663" y="3191442"/>
            <a:chExt cx="5252623" cy="529877"/>
          </a:xfrm>
        </p:grpSpPr>
        <p:sp>
          <p:nvSpPr>
            <p:cNvPr id="18" name="Rectangle: Rounded Corners 17">
              <a:extLst>
                <a:ext uri="{FF2B5EF4-FFF2-40B4-BE49-F238E27FC236}">
                  <a16:creationId xmlns:a16="http://schemas.microsoft.com/office/drawing/2014/main" id="{5D37DF3C-48C9-49FF-82B0-EF87094D4893}"/>
                </a:ext>
              </a:extLst>
            </p:cNvPr>
            <p:cNvSpPr/>
            <p:nvPr/>
          </p:nvSpPr>
          <p:spPr>
            <a:xfrm>
              <a:off x="7937542" y="321882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F6B508F5-7907-A787-830E-C3E46CB003AD}"/>
                </a:ext>
              </a:extLst>
            </p:cNvPr>
            <p:cNvSpPr/>
            <p:nvPr/>
          </p:nvSpPr>
          <p:spPr>
            <a:xfrm>
              <a:off x="7036575" y="321882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CAAB592A-4218-234B-EB79-AA057BB7D2E1}"/>
                </a:ext>
              </a:extLst>
            </p:cNvPr>
            <p:cNvSpPr txBox="1"/>
            <p:nvPr/>
          </p:nvSpPr>
          <p:spPr>
            <a:xfrm>
              <a:off x="7395424" y="3366933"/>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Vehicle</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098D4704-D5DA-5399-AC37-54D2ED7452F0}"/>
                </a:ext>
              </a:extLst>
            </p:cNvPr>
            <p:cNvSpPr txBox="1"/>
            <p:nvPr/>
          </p:nvSpPr>
          <p:spPr>
            <a:xfrm>
              <a:off x="8642229" y="3218822"/>
              <a:ext cx="330005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Standardizes the specific communication channel utilized (</a:t>
              </a:r>
              <a:r>
                <a:rPr lang="en-GB" sz="1000" b="1" dirty="0"/>
                <a:t>Email</a:t>
              </a:r>
              <a:r>
                <a:rPr lang="en-GB" sz="1000" dirty="0"/>
                <a:t>, </a:t>
              </a:r>
              <a:r>
                <a:rPr lang="en-GB" sz="1000" b="1" dirty="0"/>
                <a:t>Paid Social</a:t>
              </a:r>
              <a:r>
                <a:rPr lang="en-GB" sz="1000" dirty="0"/>
                <a:t>, </a:t>
              </a:r>
              <a:r>
                <a:rPr lang="en-GB" sz="1000" b="1" dirty="0"/>
                <a:t>Display</a:t>
              </a:r>
              <a:r>
                <a:rPr lang="en-GB" sz="1000" dirty="0"/>
                <a:t>). Ensuring clean normalized performance comparisons across channels.</a:t>
              </a:r>
            </a:p>
          </p:txBody>
        </p:sp>
        <p:sp>
          <p:nvSpPr>
            <p:cNvPr id="22" name="Oval 21">
              <a:extLst>
                <a:ext uri="{FF2B5EF4-FFF2-40B4-BE49-F238E27FC236}">
                  <a16:creationId xmlns:a16="http://schemas.microsoft.com/office/drawing/2014/main" id="{140EF192-3416-1BFD-09B8-E64B3643FBE0}"/>
                </a:ext>
              </a:extLst>
            </p:cNvPr>
            <p:cNvSpPr/>
            <p:nvPr/>
          </p:nvSpPr>
          <p:spPr>
            <a:xfrm>
              <a:off x="6689663" y="319144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23" name="Group 22">
            <a:extLst>
              <a:ext uri="{FF2B5EF4-FFF2-40B4-BE49-F238E27FC236}">
                <a16:creationId xmlns:a16="http://schemas.microsoft.com/office/drawing/2014/main" id="{74B0235B-DA22-D125-E398-004465FB8B6C}"/>
              </a:ext>
            </a:extLst>
          </p:cNvPr>
          <p:cNvGrpSpPr/>
          <p:nvPr/>
        </p:nvGrpSpPr>
        <p:grpSpPr>
          <a:xfrm>
            <a:off x="6689663" y="5445118"/>
            <a:ext cx="5179799" cy="529877"/>
            <a:chOff x="6775864" y="4491223"/>
            <a:chExt cx="5179799" cy="529877"/>
          </a:xfrm>
        </p:grpSpPr>
        <p:sp>
          <p:nvSpPr>
            <p:cNvPr id="24" name="Rectangle: Rounded Corners 23">
              <a:extLst>
                <a:ext uri="{FF2B5EF4-FFF2-40B4-BE49-F238E27FC236}">
                  <a16:creationId xmlns:a16="http://schemas.microsoft.com/office/drawing/2014/main" id="{0F66936E-56ED-D2EF-1407-DF314561279D}"/>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B6179DA9-A949-240C-7F00-EF32ED097BB0}"/>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F86F75BA-B0D1-80DB-9A5A-03097BED8BD8}"/>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Vendor</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E257F4E5-6E26-9E32-9280-26E4137E250C}"/>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Identifies the exact execution technology or publisher platform. This enables pinpoint tactical analysis of partner-level efficiency and ROI.</a:t>
              </a:r>
            </a:p>
          </p:txBody>
        </p:sp>
        <p:sp>
          <p:nvSpPr>
            <p:cNvPr id="28" name="Oval 27">
              <a:extLst>
                <a:ext uri="{FF2B5EF4-FFF2-40B4-BE49-F238E27FC236}">
                  <a16:creationId xmlns:a16="http://schemas.microsoft.com/office/drawing/2014/main" id="{9EE052A0-C46D-CB95-5848-4F486D4F0EC4}"/>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grpSp>
        <p:nvGrpSpPr>
          <p:cNvPr id="76" name="Group 75">
            <a:extLst>
              <a:ext uri="{FF2B5EF4-FFF2-40B4-BE49-F238E27FC236}">
                <a16:creationId xmlns:a16="http://schemas.microsoft.com/office/drawing/2014/main" id="{B76565B4-CDD6-A2A1-A889-F7A2062F61C1}"/>
              </a:ext>
            </a:extLst>
          </p:cNvPr>
          <p:cNvGrpSpPr/>
          <p:nvPr/>
        </p:nvGrpSpPr>
        <p:grpSpPr>
          <a:xfrm>
            <a:off x="6689663" y="2319050"/>
            <a:ext cx="5179799" cy="529877"/>
            <a:chOff x="6762487" y="5204194"/>
            <a:chExt cx="5179799" cy="529877"/>
          </a:xfrm>
        </p:grpSpPr>
        <p:sp>
          <p:nvSpPr>
            <p:cNvPr id="30" name="Rectangle: Rounded Corners 29">
              <a:extLst>
                <a:ext uri="{FF2B5EF4-FFF2-40B4-BE49-F238E27FC236}">
                  <a16:creationId xmlns:a16="http://schemas.microsoft.com/office/drawing/2014/main" id="{1DA2822F-9AA2-F658-953F-C6C8E02EA445}"/>
                </a:ext>
              </a:extLst>
            </p:cNvPr>
            <p:cNvSpPr/>
            <p:nvPr/>
          </p:nvSpPr>
          <p:spPr>
            <a:xfrm>
              <a:off x="8010366" y="523157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48696530-653E-F66F-E135-471F24B4EEE3}"/>
                </a:ext>
              </a:extLst>
            </p:cNvPr>
            <p:cNvSpPr/>
            <p:nvPr/>
          </p:nvSpPr>
          <p:spPr>
            <a:xfrm>
              <a:off x="7109399" y="523157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0D782197-BA4B-EB1F-9EA8-BEA579F891D0}"/>
                </a:ext>
              </a:extLst>
            </p:cNvPr>
            <p:cNvSpPr txBox="1"/>
            <p:nvPr/>
          </p:nvSpPr>
          <p:spPr>
            <a:xfrm>
              <a:off x="7468248" y="5379685"/>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D987DFBA-8868-99F0-AB89-AF6E58576196}"/>
                </a:ext>
              </a:extLst>
            </p:cNvPr>
            <p:cNvSpPr txBox="1"/>
            <p:nvPr/>
          </p:nvSpPr>
          <p:spPr>
            <a:xfrm>
              <a:off x="8715053" y="5293084"/>
              <a:ext cx="3155697" cy="3520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Standardized naming convention of Type – Vehicle – Short Name</a:t>
              </a:r>
            </a:p>
          </p:txBody>
        </p:sp>
        <p:sp>
          <p:nvSpPr>
            <p:cNvPr id="34" name="Oval 33">
              <a:extLst>
                <a:ext uri="{FF2B5EF4-FFF2-40B4-BE49-F238E27FC236}">
                  <a16:creationId xmlns:a16="http://schemas.microsoft.com/office/drawing/2014/main" id="{FB52018B-30A3-1BCF-6848-E9ACA96F08A9}"/>
                </a:ext>
              </a:extLst>
            </p:cNvPr>
            <p:cNvSpPr/>
            <p:nvPr/>
          </p:nvSpPr>
          <p:spPr>
            <a:xfrm>
              <a:off x="6762487" y="520419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cxnSp>
        <p:nvCxnSpPr>
          <p:cNvPr id="35" name="Straight Connector 34">
            <a:extLst>
              <a:ext uri="{FF2B5EF4-FFF2-40B4-BE49-F238E27FC236}">
                <a16:creationId xmlns:a16="http://schemas.microsoft.com/office/drawing/2014/main" id="{6514A0F0-E3C2-6AEA-94F9-E8F077935DA2}"/>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36" name="Group 35">
            <a:extLst>
              <a:ext uri="{FF2B5EF4-FFF2-40B4-BE49-F238E27FC236}">
                <a16:creationId xmlns:a16="http://schemas.microsoft.com/office/drawing/2014/main" id="{3B5E4026-649D-D334-88FB-1F1477B95651}"/>
              </a:ext>
            </a:extLst>
          </p:cNvPr>
          <p:cNvGrpSpPr/>
          <p:nvPr/>
        </p:nvGrpSpPr>
        <p:grpSpPr>
          <a:xfrm>
            <a:off x="958076" y="3429000"/>
            <a:ext cx="4522331" cy="2385032"/>
            <a:chOff x="323850" y="3780444"/>
            <a:chExt cx="3849972" cy="2103739"/>
          </a:xfrm>
        </p:grpSpPr>
        <p:grpSp>
          <p:nvGrpSpPr>
            <p:cNvPr id="37" name="Group 36">
              <a:extLst>
                <a:ext uri="{FF2B5EF4-FFF2-40B4-BE49-F238E27FC236}">
                  <a16:creationId xmlns:a16="http://schemas.microsoft.com/office/drawing/2014/main" id="{83E8FCCD-2D87-E514-7C6B-E8DD74B4E79A}"/>
                </a:ext>
              </a:extLst>
            </p:cNvPr>
            <p:cNvGrpSpPr/>
            <p:nvPr/>
          </p:nvGrpSpPr>
          <p:grpSpPr>
            <a:xfrm>
              <a:off x="1636579" y="5091000"/>
              <a:ext cx="1176519" cy="694163"/>
              <a:chOff x="5225124" y="4067734"/>
              <a:chExt cx="2267712" cy="1337983"/>
            </a:xfrm>
          </p:grpSpPr>
          <p:grpSp>
            <p:nvGrpSpPr>
              <p:cNvPr id="58" name="Group 57">
                <a:extLst>
                  <a:ext uri="{FF2B5EF4-FFF2-40B4-BE49-F238E27FC236}">
                    <a16:creationId xmlns:a16="http://schemas.microsoft.com/office/drawing/2014/main" id="{9FA24EC3-C1C0-E2F2-6DCD-08B9A6871FB1}"/>
                  </a:ext>
                </a:extLst>
              </p:cNvPr>
              <p:cNvGrpSpPr/>
              <p:nvPr/>
            </p:nvGrpSpPr>
            <p:grpSpPr>
              <a:xfrm>
                <a:off x="5225124" y="4067734"/>
                <a:ext cx="2267712" cy="1337983"/>
                <a:chOff x="2521324" y="4067735"/>
                <a:chExt cx="2267712" cy="1337983"/>
              </a:xfrm>
            </p:grpSpPr>
            <p:sp>
              <p:nvSpPr>
                <p:cNvPr id="60" name="Rectangle: Rounded Corners 59">
                  <a:extLst>
                    <a:ext uri="{FF2B5EF4-FFF2-40B4-BE49-F238E27FC236}">
                      <a16:creationId xmlns:a16="http://schemas.microsoft.com/office/drawing/2014/main" id="{93D338D2-5D57-4A06-E27F-F6DAB97AC3F3}"/>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8973D99F-3CED-9653-BD13-09DA09DBB628}"/>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DCCB3727-FC68-AE77-0402-38DCB1F4D0F3}"/>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Vehicle</a:t>
                  </a:r>
                  <a:endParaRPr lang="en-GB" sz="1000" kern="1200" dirty="0" err="1">
                    <a:solidFill>
                      <a:schemeClr val="accent3"/>
                    </a:solidFill>
                    <a:latin typeface="+mn-lt"/>
                    <a:ea typeface="ＭＳ Ｐゴシック" charset="0"/>
                  </a:endParaRPr>
                </a:p>
              </p:txBody>
            </p:sp>
            <p:sp>
              <p:nvSpPr>
                <p:cNvPr id="63" name="TextBox 62">
                  <a:extLst>
                    <a:ext uri="{FF2B5EF4-FFF2-40B4-BE49-F238E27FC236}">
                      <a16:creationId xmlns:a16="http://schemas.microsoft.com/office/drawing/2014/main" id="{D53A60DD-DA1A-9869-C33F-098B909EB47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Email</a:t>
                  </a:r>
                  <a:endParaRPr lang="en-GB" sz="1000" kern="1200" dirty="0" err="1">
                    <a:solidFill>
                      <a:schemeClr val="bg1"/>
                    </a:solidFill>
                    <a:latin typeface="+mn-lt"/>
                    <a:ea typeface="ＭＳ Ｐゴシック" charset="0"/>
                  </a:endParaRPr>
                </a:p>
              </p:txBody>
            </p:sp>
          </p:grpSp>
          <p:pic>
            <p:nvPicPr>
              <p:cNvPr id="59" name="Graphic 58" descr="Processor with solid fill">
                <a:extLst>
                  <a:ext uri="{FF2B5EF4-FFF2-40B4-BE49-F238E27FC236}">
                    <a16:creationId xmlns:a16="http://schemas.microsoft.com/office/drawing/2014/main" id="{466C0955-4B5B-6C93-2EBB-8DC3E7F81B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1355" y="4079929"/>
                <a:ext cx="400110" cy="400110"/>
              </a:xfrm>
              <a:prstGeom prst="rect">
                <a:avLst/>
              </a:prstGeom>
            </p:spPr>
          </p:pic>
        </p:grpSp>
        <p:grpSp>
          <p:nvGrpSpPr>
            <p:cNvPr id="38" name="Group 37">
              <a:extLst>
                <a:ext uri="{FF2B5EF4-FFF2-40B4-BE49-F238E27FC236}">
                  <a16:creationId xmlns:a16="http://schemas.microsoft.com/office/drawing/2014/main" id="{65C7EB50-0D44-5ABF-83C6-3B8F771B3410}"/>
                </a:ext>
              </a:extLst>
            </p:cNvPr>
            <p:cNvGrpSpPr/>
            <p:nvPr/>
          </p:nvGrpSpPr>
          <p:grpSpPr>
            <a:xfrm>
              <a:off x="2890285" y="5091000"/>
              <a:ext cx="1176519" cy="694163"/>
              <a:chOff x="7928924" y="4067733"/>
              <a:chExt cx="2267712" cy="1337983"/>
            </a:xfrm>
          </p:grpSpPr>
          <p:grpSp>
            <p:nvGrpSpPr>
              <p:cNvPr id="52" name="Group 51">
                <a:extLst>
                  <a:ext uri="{FF2B5EF4-FFF2-40B4-BE49-F238E27FC236}">
                    <a16:creationId xmlns:a16="http://schemas.microsoft.com/office/drawing/2014/main" id="{977EF600-9D0C-45B4-7E70-3117EFE1E0ED}"/>
                  </a:ext>
                </a:extLst>
              </p:cNvPr>
              <p:cNvGrpSpPr/>
              <p:nvPr/>
            </p:nvGrpSpPr>
            <p:grpSpPr>
              <a:xfrm>
                <a:off x="7928924" y="4067733"/>
                <a:ext cx="2267712" cy="1337983"/>
                <a:chOff x="2521324" y="4067735"/>
                <a:chExt cx="2267712" cy="1337983"/>
              </a:xfrm>
            </p:grpSpPr>
            <p:sp>
              <p:nvSpPr>
                <p:cNvPr id="54" name="Rectangle: Rounded Corners 53">
                  <a:extLst>
                    <a:ext uri="{FF2B5EF4-FFF2-40B4-BE49-F238E27FC236}">
                      <a16:creationId xmlns:a16="http://schemas.microsoft.com/office/drawing/2014/main" id="{58A10DCD-3659-551A-F2AF-24CF100046F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5" name="Straight Connector 54">
                  <a:extLst>
                    <a:ext uri="{FF2B5EF4-FFF2-40B4-BE49-F238E27FC236}">
                      <a16:creationId xmlns:a16="http://schemas.microsoft.com/office/drawing/2014/main" id="{4984D929-209E-862D-60D4-9DE6DB5F43A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6" name="TextBox 55">
                  <a:extLst>
                    <a:ext uri="{FF2B5EF4-FFF2-40B4-BE49-F238E27FC236}">
                      <a16:creationId xmlns:a16="http://schemas.microsoft.com/office/drawing/2014/main" id="{C1731E53-1C9D-A5B6-A7EA-F3CB18E27EDF}"/>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4"/>
                      </a:solidFill>
                      <a:latin typeface="+mn-lt"/>
                      <a:ea typeface="ＭＳ Ｐゴシック" charset="0"/>
                    </a:rPr>
                    <a:t>Vendor</a:t>
                  </a:r>
                  <a:endParaRPr lang="en-GB" sz="1000" kern="1200" dirty="0" err="1">
                    <a:solidFill>
                      <a:schemeClr val="accent4"/>
                    </a:solidFill>
                    <a:latin typeface="+mn-lt"/>
                    <a:ea typeface="ＭＳ Ｐゴシック" charset="0"/>
                  </a:endParaRPr>
                </a:p>
              </p:txBody>
            </p:sp>
            <p:sp>
              <p:nvSpPr>
                <p:cNvPr id="57" name="TextBox 56">
                  <a:extLst>
                    <a:ext uri="{FF2B5EF4-FFF2-40B4-BE49-F238E27FC236}">
                      <a16:creationId xmlns:a16="http://schemas.microsoft.com/office/drawing/2014/main" id="{F8718BFB-052E-CA25-1DCC-4C7A4EABBC9D}"/>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Eloqua</a:t>
                  </a:r>
                  <a:endParaRPr lang="en-GB" sz="1000" kern="1200" dirty="0" err="1">
                    <a:solidFill>
                      <a:schemeClr val="bg1"/>
                    </a:solidFill>
                    <a:latin typeface="+mn-lt"/>
                    <a:ea typeface="ＭＳ Ｐゴシック" charset="0"/>
                  </a:endParaRPr>
                </a:p>
              </p:txBody>
            </p:sp>
          </p:grpSp>
          <p:pic>
            <p:nvPicPr>
              <p:cNvPr id="53" name="Graphic 52" descr="Circles with arrows with solid fill">
                <a:extLst>
                  <a:ext uri="{FF2B5EF4-FFF2-40B4-BE49-F238E27FC236}">
                    <a16:creationId xmlns:a16="http://schemas.microsoft.com/office/drawing/2014/main" id="{92BFAA90-BA61-D1CC-8514-6FFDF8C266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0955" y="4079928"/>
                <a:ext cx="400110" cy="400110"/>
              </a:xfrm>
              <a:prstGeom prst="rect">
                <a:avLst/>
              </a:prstGeom>
            </p:spPr>
          </p:pic>
        </p:grpSp>
        <p:grpSp>
          <p:nvGrpSpPr>
            <p:cNvPr id="39" name="Group 38">
              <a:extLst>
                <a:ext uri="{FF2B5EF4-FFF2-40B4-BE49-F238E27FC236}">
                  <a16:creationId xmlns:a16="http://schemas.microsoft.com/office/drawing/2014/main" id="{5D508A39-45D8-1447-A87E-CD182AE53D2D}"/>
                </a:ext>
              </a:extLst>
            </p:cNvPr>
            <p:cNvGrpSpPr/>
            <p:nvPr/>
          </p:nvGrpSpPr>
          <p:grpSpPr>
            <a:xfrm>
              <a:off x="382874" y="5087615"/>
              <a:ext cx="1176518" cy="700932"/>
              <a:chOff x="2521324" y="4054687"/>
              <a:chExt cx="2267712" cy="1351031"/>
            </a:xfrm>
          </p:grpSpPr>
          <p:grpSp>
            <p:nvGrpSpPr>
              <p:cNvPr id="46" name="Group 45">
                <a:extLst>
                  <a:ext uri="{FF2B5EF4-FFF2-40B4-BE49-F238E27FC236}">
                    <a16:creationId xmlns:a16="http://schemas.microsoft.com/office/drawing/2014/main" id="{9284D2A7-F0DF-992E-8BB7-7667E0783A41}"/>
                  </a:ext>
                </a:extLst>
              </p:cNvPr>
              <p:cNvGrpSpPr/>
              <p:nvPr/>
            </p:nvGrpSpPr>
            <p:grpSpPr>
              <a:xfrm>
                <a:off x="2521324" y="4067735"/>
                <a:ext cx="2267712" cy="1337983"/>
                <a:chOff x="2521324" y="4067735"/>
                <a:chExt cx="2267712" cy="1337983"/>
              </a:xfrm>
            </p:grpSpPr>
            <p:sp>
              <p:nvSpPr>
                <p:cNvPr id="48" name="Rectangle: Rounded Corners 47">
                  <a:extLst>
                    <a:ext uri="{FF2B5EF4-FFF2-40B4-BE49-F238E27FC236}">
                      <a16:creationId xmlns:a16="http://schemas.microsoft.com/office/drawing/2014/main" id="{2104771A-EF03-9CB3-4C90-7A20BDB9661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9" name="Straight Connector 48">
                  <a:extLst>
                    <a:ext uri="{FF2B5EF4-FFF2-40B4-BE49-F238E27FC236}">
                      <a16:creationId xmlns:a16="http://schemas.microsoft.com/office/drawing/2014/main" id="{466EC09D-BD55-E093-7F8A-643E18F3F201}"/>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0" name="TextBox 49">
                  <a:extLst>
                    <a:ext uri="{FF2B5EF4-FFF2-40B4-BE49-F238E27FC236}">
                      <a16:creationId xmlns:a16="http://schemas.microsoft.com/office/drawing/2014/main" id="{7502F760-7260-D5D3-6EB6-41AFEB8170AB}"/>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Type</a:t>
                  </a:r>
                  <a:endParaRPr lang="en-GB" sz="1000" kern="1200" dirty="0" err="1">
                    <a:solidFill>
                      <a:schemeClr val="accent2"/>
                    </a:solidFill>
                    <a:latin typeface="+mn-lt"/>
                    <a:ea typeface="ＭＳ Ｐゴシック" charset="0"/>
                  </a:endParaRPr>
                </a:p>
              </p:txBody>
            </p:sp>
            <p:sp>
              <p:nvSpPr>
                <p:cNvPr id="51" name="TextBox 50">
                  <a:extLst>
                    <a:ext uri="{FF2B5EF4-FFF2-40B4-BE49-F238E27FC236}">
                      <a16:creationId xmlns:a16="http://schemas.microsoft.com/office/drawing/2014/main" id="{9EAF7204-B7E3-9CD8-5B57-8E7B417EF92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Owned</a:t>
                  </a:r>
                  <a:endParaRPr lang="en-GB" sz="1000" kern="1200" dirty="0" err="1">
                    <a:solidFill>
                      <a:schemeClr val="bg1"/>
                    </a:solidFill>
                    <a:latin typeface="+mn-lt"/>
                    <a:ea typeface="ＭＳ Ｐゴシック" charset="0"/>
                  </a:endParaRPr>
                </a:p>
              </p:txBody>
            </p:sp>
          </p:grpSp>
          <p:pic>
            <p:nvPicPr>
              <p:cNvPr id="47" name="Graphic 46" descr="Cycle with people with solid fill">
                <a:extLst>
                  <a:ext uri="{FF2B5EF4-FFF2-40B4-BE49-F238E27FC236}">
                    <a16:creationId xmlns:a16="http://schemas.microsoft.com/office/drawing/2014/main" id="{3CD44783-3503-FF43-3C70-6E6302147A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46830" y="4054687"/>
                <a:ext cx="400110" cy="400110"/>
              </a:xfrm>
              <a:prstGeom prst="rect">
                <a:avLst/>
              </a:prstGeom>
            </p:spPr>
          </p:pic>
        </p:grpSp>
        <p:sp>
          <p:nvSpPr>
            <p:cNvPr id="40" name="TextBox 39">
              <a:extLst>
                <a:ext uri="{FF2B5EF4-FFF2-40B4-BE49-F238E27FC236}">
                  <a16:creationId xmlns:a16="http://schemas.microsoft.com/office/drawing/2014/main" id="{681AB750-96B9-A2E4-6159-5BB1688DA786}"/>
                </a:ext>
              </a:extLst>
            </p:cNvPr>
            <p:cNvSpPr txBox="1"/>
            <p:nvPr/>
          </p:nvSpPr>
          <p:spPr>
            <a:xfrm>
              <a:off x="510347" y="4567321"/>
              <a:ext cx="3192786" cy="449576"/>
            </a:xfrm>
            <a:prstGeom prst="rect">
              <a:avLst/>
            </a:prstGeom>
            <a:noFill/>
          </p:spPr>
          <p:txBody>
            <a:bodyPr wrap="square" lIns="0" tIns="0" rIns="0" bIns="0" rtlCol="0">
              <a:noAutofit/>
            </a:bodyPr>
            <a:lstStyle/>
            <a:p>
              <a:pPr defTabSz="912276" fontAlgn="base">
                <a:buClr>
                  <a:schemeClr val="bg1"/>
                </a:buClr>
                <a:buSzPct val="100000"/>
              </a:pPr>
              <a:r>
                <a:rPr lang="en-GB" sz="1000" b="1" dirty="0">
                  <a:solidFill>
                    <a:schemeClr val="bg1"/>
                  </a:solidFill>
                  <a:ea typeface="ＭＳ Ｐゴシック" charset="0"/>
                </a:rPr>
                <a:t>Description: </a:t>
              </a:r>
            </a:p>
            <a:p>
              <a:pPr marL="285750" indent="-285750" defTabSz="912276" fontAlgn="base">
                <a:buClr>
                  <a:schemeClr val="bg1"/>
                </a:buClr>
                <a:buSzPct val="100000"/>
                <a:buFont typeface="Arial" panose="020B0604020202020204" pitchFamily="34" charset="0"/>
                <a:buChar char="•"/>
              </a:pPr>
              <a:r>
                <a:rPr lang="en-US" sz="1000" dirty="0">
                  <a:solidFill>
                    <a:schemeClr val="accent2"/>
                  </a:solidFill>
                </a:rPr>
                <a:t>Owned - Email - Eloqua Campaign Emails</a:t>
              </a:r>
              <a:endParaRPr lang="en-GB" sz="1000" dirty="0">
                <a:solidFill>
                  <a:schemeClr val="accent2"/>
                </a:solidFill>
              </a:endParaRPr>
            </a:p>
          </p:txBody>
        </p:sp>
        <p:sp>
          <p:nvSpPr>
            <p:cNvPr id="41" name="Freeform: Shape 40">
              <a:extLst>
                <a:ext uri="{FF2B5EF4-FFF2-40B4-BE49-F238E27FC236}">
                  <a16:creationId xmlns:a16="http://schemas.microsoft.com/office/drawing/2014/main" id="{5A3692C7-DB5A-A3D1-4B88-B507FB35D50D}"/>
                </a:ext>
              </a:extLst>
            </p:cNvPr>
            <p:cNvSpPr/>
            <p:nvPr/>
          </p:nvSpPr>
          <p:spPr>
            <a:xfrm>
              <a:off x="323850" y="4064000"/>
              <a:ext cx="3849972" cy="1820183"/>
            </a:xfrm>
            <a:custGeom>
              <a:avLst/>
              <a:gdLst>
                <a:gd name="csX0" fmla="*/ 267512 w 3849972"/>
                <a:gd name="csY0" fmla="*/ 0 h 1820183"/>
                <a:gd name="csX1" fmla="*/ 286249 w 3849972"/>
                <a:gd name="csY1" fmla="*/ 0 h 1820183"/>
                <a:gd name="csX2" fmla="*/ 286249 w 3849972"/>
                <a:gd name="csY2" fmla="*/ 192434 h 1820183"/>
                <a:gd name="csX3" fmla="*/ 380769 w 3849972"/>
                <a:gd name="csY3" fmla="*/ 286954 h 1820183"/>
                <a:gd name="csX4" fmla="*/ 2647559 w 3849972"/>
                <a:gd name="csY4" fmla="*/ 286954 h 1820183"/>
                <a:gd name="csX5" fmla="*/ 2742079 w 3849972"/>
                <a:gd name="csY5" fmla="*/ 192434 h 1820183"/>
                <a:gd name="csX6" fmla="*/ 2742079 w 3849972"/>
                <a:gd name="csY6" fmla="*/ 0 h 1820183"/>
                <a:gd name="csX7" fmla="*/ 3582460 w 3849972"/>
                <a:gd name="csY7" fmla="*/ 0 h 1820183"/>
                <a:gd name="csX8" fmla="*/ 3849972 w 3849972"/>
                <a:gd name="csY8" fmla="*/ 267512 h 1820183"/>
                <a:gd name="csX9" fmla="*/ 3849972 w 3849972"/>
                <a:gd name="csY9" fmla="*/ 1552671 h 1820183"/>
                <a:gd name="csX10" fmla="*/ 3582460 w 3849972"/>
                <a:gd name="csY10" fmla="*/ 1820183 h 1820183"/>
                <a:gd name="csX11" fmla="*/ 267512 w 3849972"/>
                <a:gd name="csY11" fmla="*/ 1820183 h 1820183"/>
                <a:gd name="csX12" fmla="*/ 0 w 3849972"/>
                <a:gd name="csY12" fmla="*/ 1552671 h 1820183"/>
                <a:gd name="csX13" fmla="*/ 0 w 3849972"/>
                <a:gd name="csY13" fmla="*/ 267512 h 1820183"/>
                <a:gd name="csX14" fmla="*/ 267512 w 3849972"/>
                <a:gd name="csY14" fmla="*/ 0 h 1820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49972" h="1820183">
                  <a:moveTo>
                    <a:pt x="267512" y="0"/>
                  </a:moveTo>
                  <a:lnTo>
                    <a:pt x="286249" y="0"/>
                  </a:lnTo>
                  <a:lnTo>
                    <a:pt x="286249" y="192434"/>
                  </a:lnTo>
                  <a:cubicBezTo>
                    <a:pt x="286249" y="244636"/>
                    <a:pt x="328567" y="286954"/>
                    <a:pt x="380769" y="286954"/>
                  </a:cubicBezTo>
                  <a:lnTo>
                    <a:pt x="2647559" y="286954"/>
                  </a:lnTo>
                  <a:cubicBezTo>
                    <a:pt x="2699761" y="286954"/>
                    <a:pt x="2742079" y="244636"/>
                    <a:pt x="2742079" y="192434"/>
                  </a:cubicBezTo>
                  <a:lnTo>
                    <a:pt x="2742079" y="0"/>
                  </a:lnTo>
                  <a:lnTo>
                    <a:pt x="3582460" y="0"/>
                  </a:lnTo>
                  <a:cubicBezTo>
                    <a:pt x="3730203" y="0"/>
                    <a:pt x="3849972" y="119769"/>
                    <a:pt x="3849972" y="267512"/>
                  </a:cubicBezTo>
                  <a:lnTo>
                    <a:pt x="3849972" y="1552671"/>
                  </a:lnTo>
                  <a:cubicBezTo>
                    <a:pt x="3849972" y="1700414"/>
                    <a:pt x="3730203" y="1820183"/>
                    <a:pt x="3582460" y="1820183"/>
                  </a:cubicBezTo>
                  <a:lnTo>
                    <a:pt x="267512" y="1820183"/>
                  </a:lnTo>
                  <a:cubicBezTo>
                    <a:pt x="119769" y="1820183"/>
                    <a:pt x="0" y="1700414"/>
                    <a:pt x="0" y="1552671"/>
                  </a:cubicBezTo>
                  <a:lnTo>
                    <a:pt x="0" y="267512"/>
                  </a:lnTo>
                  <a:cubicBezTo>
                    <a:pt x="0" y="119769"/>
                    <a:pt x="119769" y="0"/>
                    <a:pt x="267512"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2" name="Group 41">
              <a:extLst>
                <a:ext uri="{FF2B5EF4-FFF2-40B4-BE49-F238E27FC236}">
                  <a16:creationId xmlns:a16="http://schemas.microsoft.com/office/drawing/2014/main" id="{83BC954A-91CB-5DB5-F730-52781199221F}"/>
                </a:ext>
              </a:extLst>
            </p:cNvPr>
            <p:cNvGrpSpPr/>
            <p:nvPr/>
          </p:nvGrpSpPr>
          <p:grpSpPr>
            <a:xfrm>
              <a:off x="610099" y="3780444"/>
              <a:ext cx="2455830" cy="567111"/>
              <a:chOff x="610099" y="3780444"/>
              <a:chExt cx="2455830" cy="567111"/>
            </a:xfrm>
          </p:grpSpPr>
          <p:sp>
            <p:nvSpPr>
              <p:cNvPr id="43" name="Rectangle: Rounded Corners 42">
                <a:extLst>
                  <a:ext uri="{FF2B5EF4-FFF2-40B4-BE49-F238E27FC236}">
                    <a16:creationId xmlns:a16="http://schemas.microsoft.com/office/drawing/2014/main" id="{4B420BD3-E729-17C5-9160-C3C7E74F0E04}"/>
                  </a:ext>
                </a:extLst>
              </p:cNvPr>
              <p:cNvSpPr/>
              <p:nvPr/>
            </p:nvSpPr>
            <p:spPr>
              <a:xfrm>
                <a:off x="610099" y="3780444"/>
                <a:ext cx="2455830" cy="56711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44" name="TextBox 43">
                <a:extLst>
                  <a:ext uri="{FF2B5EF4-FFF2-40B4-BE49-F238E27FC236}">
                    <a16:creationId xmlns:a16="http://schemas.microsoft.com/office/drawing/2014/main" id="{E04816A6-F86D-5674-6026-32D56374EE2D}"/>
                  </a:ext>
                </a:extLst>
              </p:cNvPr>
              <p:cNvSpPr txBox="1"/>
              <p:nvPr/>
            </p:nvSpPr>
            <p:spPr>
              <a:xfrm>
                <a:off x="1187998" y="3877989"/>
                <a:ext cx="1616557" cy="372021"/>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dirty="0">
                    <a:solidFill>
                      <a:schemeClr val="bg1"/>
                    </a:solidFill>
                  </a:rPr>
                  <a:t>oemels001119</a:t>
                </a:r>
                <a:endParaRPr lang="en-GB" sz="2400" kern="1200" dirty="0">
                  <a:solidFill>
                    <a:schemeClr val="bg1"/>
                  </a:solidFill>
                  <a:latin typeface="+mn-lt"/>
                  <a:ea typeface="ＭＳ Ｐゴシック" charset="0"/>
                </a:endParaRPr>
              </a:p>
            </p:txBody>
          </p:sp>
          <p:pic>
            <p:nvPicPr>
              <p:cNvPr id="45" name="dark2" descr="Steering Wheel with solid fill">
                <a:extLst>
                  <a:ext uri="{FF2B5EF4-FFF2-40B4-BE49-F238E27FC236}">
                    <a16:creationId xmlns:a16="http://schemas.microsoft.com/office/drawing/2014/main" id="{ABA36556-E4DF-1295-559C-03A829824A5C}"/>
                  </a:ext>
                </a:extLst>
              </p:cNvPr>
              <p:cNvPicPr>
                <a:picLocks noChangeAspect="1"/>
              </p:cNvPicPr>
              <p:nvPr>
                <p:custDataLst>
                  <p:tags r:id="rId1"/>
                </p:custDataLst>
              </p:nvPr>
            </p:nvPicPr>
            <p:blipFill>
              <a:blip>
                <a:extLst>
                  <a:ext uri="{96DAC541-7B7A-43D3-8B79-37D633B846F1}">
                    <asvg:svgBlip xmlns:asvg="http://schemas.microsoft.com/office/drawing/2016/SVG/main" r:embed="rId6"/>
                  </a:ext>
                </a:extLst>
              </a:blip>
              <a:srcRect/>
              <a:stretch/>
            </p:blipFill>
            <p:spPr>
              <a:xfrm>
                <a:off x="638202" y="3835399"/>
                <a:ext cx="457200" cy="457200"/>
              </a:xfrm>
              <a:prstGeom prst="rect">
                <a:avLst/>
              </a:prstGeom>
            </p:spPr>
          </p:pic>
        </p:grpSp>
      </p:grpSp>
      <p:sp>
        <p:nvSpPr>
          <p:cNvPr id="64" name="Oval 63">
            <a:extLst>
              <a:ext uri="{FF2B5EF4-FFF2-40B4-BE49-F238E27FC236}">
                <a16:creationId xmlns:a16="http://schemas.microsoft.com/office/drawing/2014/main" id="{AAF247B8-3DE7-CFBB-DFF4-53E6121D72F6}"/>
              </a:ext>
            </a:extLst>
          </p:cNvPr>
          <p:cNvSpPr/>
          <p:nvPr/>
        </p:nvSpPr>
        <p:spPr>
          <a:xfrm>
            <a:off x="3744312" y="354767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65" name="Oval 64">
            <a:extLst>
              <a:ext uri="{FF2B5EF4-FFF2-40B4-BE49-F238E27FC236}">
                <a16:creationId xmlns:a16="http://schemas.microsoft.com/office/drawing/2014/main" id="{795EF0FB-72E1-8B7F-5ACF-0B698A71A269}"/>
              </a:ext>
            </a:extLst>
          </p:cNvPr>
          <p:cNvSpPr/>
          <p:nvPr/>
        </p:nvSpPr>
        <p:spPr>
          <a:xfrm>
            <a:off x="567384" y="434123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66" name="Oval 65">
            <a:extLst>
              <a:ext uri="{FF2B5EF4-FFF2-40B4-BE49-F238E27FC236}">
                <a16:creationId xmlns:a16="http://schemas.microsoft.com/office/drawing/2014/main" id="{D5E32485-91FF-9DB7-E7D0-C2228E4B007B}"/>
              </a:ext>
            </a:extLst>
          </p:cNvPr>
          <p:cNvSpPr/>
          <p:nvPr/>
        </p:nvSpPr>
        <p:spPr>
          <a:xfrm>
            <a:off x="1458689"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67" name="Oval 66">
            <a:extLst>
              <a:ext uri="{FF2B5EF4-FFF2-40B4-BE49-F238E27FC236}">
                <a16:creationId xmlns:a16="http://schemas.microsoft.com/office/drawing/2014/main" id="{E56A91B0-3CA9-502A-CEC3-4294BE8D446D}"/>
              </a:ext>
            </a:extLst>
          </p:cNvPr>
          <p:cNvSpPr/>
          <p:nvPr/>
        </p:nvSpPr>
        <p:spPr>
          <a:xfrm>
            <a:off x="2944921"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68" name="Oval 67">
            <a:extLst>
              <a:ext uri="{FF2B5EF4-FFF2-40B4-BE49-F238E27FC236}">
                <a16:creationId xmlns:a16="http://schemas.microsoft.com/office/drawing/2014/main" id="{4A8323A3-F709-942F-19D5-835EAFF482B0}"/>
              </a:ext>
            </a:extLst>
          </p:cNvPr>
          <p:cNvSpPr/>
          <p:nvPr/>
        </p:nvSpPr>
        <p:spPr>
          <a:xfrm>
            <a:off x="4526546"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
        <p:nvSpPr>
          <p:cNvPr id="69" name="TextBox 68">
            <a:extLst>
              <a:ext uri="{FF2B5EF4-FFF2-40B4-BE49-F238E27FC236}">
                <a16:creationId xmlns:a16="http://schemas.microsoft.com/office/drawing/2014/main" id="{4A2BB300-977B-2B63-09E6-2E76B02A4F8A}"/>
              </a:ext>
            </a:extLst>
          </p:cNvPr>
          <p:cNvSpPr txBox="1"/>
          <p:nvPr/>
        </p:nvSpPr>
        <p:spPr>
          <a:xfrm>
            <a:off x="738708" y="1108518"/>
            <a:ext cx="4834841" cy="2135834"/>
          </a:xfrm>
          <a:prstGeom prst="rect">
            <a:avLst/>
          </a:prstGeom>
          <a:noFill/>
        </p:spPr>
        <p:txBody>
          <a:bodyPr wrap="square" lIns="0" tIns="0" rIns="0" bIns="0" rtlCol="0" anchor="ctr">
            <a:noAutofit/>
          </a:bodyPr>
          <a:lstStyle/>
          <a:p>
            <a:pPr algn="ctr"/>
            <a:r>
              <a:rPr lang="en-GB" sz="1600" b="1" cap="all" dirty="0">
                <a:solidFill>
                  <a:schemeClr val="bg1"/>
                </a:solidFill>
              </a:rPr>
              <a:t>The Traffic blueprint</a:t>
            </a:r>
          </a:p>
          <a:p>
            <a:pPr algn="ctr"/>
            <a:endParaRPr lang="en-GB" sz="1400" b="1" cap="all" dirty="0">
              <a:solidFill>
                <a:schemeClr val="bg1"/>
              </a:solidFill>
            </a:endParaRPr>
          </a:p>
          <a:p>
            <a:pPr algn="ctr"/>
            <a:r>
              <a:rPr lang="en-GB" sz="1400" dirty="0">
                <a:solidFill>
                  <a:schemeClr val="bg1"/>
                </a:solidFill>
              </a:rPr>
              <a:t>The </a:t>
            </a:r>
            <a:r>
              <a:rPr lang="en-GB" sz="1400" b="1" dirty="0">
                <a:solidFill>
                  <a:schemeClr val="bg1"/>
                </a:solidFill>
              </a:rPr>
              <a:t>Drive To ID</a:t>
            </a:r>
            <a:r>
              <a:rPr lang="en-GB" sz="1400" dirty="0">
                <a:solidFill>
                  <a:schemeClr val="bg1"/>
                </a:solidFill>
              </a:rPr>
              <a:t> serves as a standard, reusable taxonomy blueprint that explicitly defines the target audience, messaging, and execution channel. By providing the foundational data required for channel-level operational reporting, it optimizes marketing spend for maximum ROI while powering both the HVE and MSP reporting frameworks to accurately credit the digital entry points driving customer action.</a:t>
            </a:r>
          </a:p>
        </p:txBody>
      </p:sp>
    </p:spTree>
    <p:extLst>
      <p:ext uri="{BB962C8B-B14F-4D97-AF65-F5344CB8AC3E}">
        <p14:creationId xmlns:p14="http://schemas.microsoft.com/office/powerpoint/2010/main" val="4003378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F29A0-730A-4B57-B46F-AAA0988D4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B7154-9499-0ED4-EC46-A76106156CB8}"/>
              </a:ext>
            </a:extLst>
          </p:cNvPr>
          <p:cNvSpPr>
            <a:spLocks noGrp="1"/>
          </p:cNvSpPr>
          <p:nvPr>
            <p:ph type="title"/>
          </p:nvPr>
        </p:nvSpPr>
        <p:spPr/>
        <p:txBody>
          <a:bodyPr/>
          <a:lstStyle/>
          <a:p>
            <a:r>
              <a:rPr lang="en-US" dirty="0"/>
              <a:t>Structure of an Offer ID</a:t>
            </a:r>
            <a:endParaRPr lang="en-GB" dirty="0"/>
          </a:p>
        </p:txBody>
      </p:sp>
      <p:grpSp>
        <p:nvGrpSpPr>
          <p:cNvPr id="5" name="Group 4">
            <a:extLst>
              <a:ext uri="{FF2B5EF4-FFF2-40B4-BE49-F238E27FC236}">
                <a16:creationId xmlns:a16="http://schemas.microsoft.com/office/drawing/2014/main" id="{ACCDE123-2432-DAD5-6518-2BCDB86165F2}"/>
              </a:ext>
            </a:extLst>
          </p:cNvPr>
          <p:cNvGrpSpPr/>
          <p:nvPr/>
        </p:nvGrpSpPr>
        <p:grpSpPr>
          <a:xfrm>
            <a:off x="6689663" y="1277027"/>
            <a:ext cx="5179799" cy="529877"/>
            <a:chOff x="6689663" y="2085046"/>
            <a:chExt cx="5179799" cy="529877"/>
          </a:xfrm>
        </p:grpSpPr>
        <p:sp>
          <p:nvSpPr>
            <p:cNvPr id="6" name="Rectangle: Rounded Corners 5">
              <a:extLst>
                <a:ext uri="{FF2B5EF4-FFF2-40B4-BE49-F238E27FC236}">
                  <a16:creationId xmlns:a16="http://schemas.microsoft.com/office/drawing/2014/main" id="{7CDA11B7-5690-1A47-1285-767E8B029F9D}"/>
                </a:ext>
              </a:extLst>
            </p:cNvPr>
            <p:cNvSpPr/>
            <p:nvPr/>
          </p:nvSpPr>
          <p:spPr>
            <a:xfrm>
              <a:off x="7937542" y="211242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7" name="Arrow: Pentagon 6">
              <a:extLst>
                <a:ext uri="{FF2B5EF4-FFF2-40B4-BE49-F238E27FC236}">
                  <a16:creationId xmlns:a16="http://schemas.microsoft.com/office/drawing/2014/main" id="{4FFE9F76-7371-7438-7F63-566BD7783F35}"/>
                </a:ext>
              </a:extLst>
            </p:cNvPr>
            <p:cNvSpPr/>
            <p:nvPr/>
          </p:nvSpPr>
          <p:spPr>
            <a:xfrm>
              <a:off x="7036575" y="21124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8" name="TextBox 7">
              <a:extLst>
                <a:ext uri="{FF2B5EF4-FFF2-40B4-BE49-F238E27FC236}">
                  <a16:creationId xmlns:a16="http://schemas.microsoft.com/office/drawing/2014/main" id="{DDD4122A-025D-25C2-9221-7DD41CD10E59}"/>
                </a:ext>
              </a:extLst>
            </p:cNvPr>
            <p:cNvSpPr txBox="1"/>
            <p:nvPr/>
          </p:nvSpPr>
          <p:spPr>
            <a:xfrm>
              <a:off x="7395424" y="226053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OID</a:t>
              </a:r>
              <a:endParaRPr lang="en-GB" sz="16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3BE14B0D-2CC4-7BD9-ADA1-7408E5060FF8}"/>
                </a:ext>
              </a:extLst>
            </p:cNvPr>
            <p:cNvSpPr txBox="1"/>
            <p:nvPr/>
          </p:nvSpPr>
          <p:spPr>
            <a:xfrm>
              <a:off x="8642230" y="2184234"/>
              <a:ext cx="3155696" cy="313848"/>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Automatically generated code that uniquely tracks this asset across all digital systems.</a:t>
              </a:r>
            </a:p>
          </p:txBody>
        </p:sp>
        <p:sp>
          <p:nvSpPr>
            <p:cNvPr id="10" name="Oval 9">
              <a:extLst>
                <a:ext uri="{FF2B5EF4-FFF2-40B4-BE49-F238E27FC236}">
                  <a16:creationId xmlns:a16="http://schemas.microsoft.com/office/drawing/2014/main" id="{EC11D1D7-1164-E6E5-2549-1F8C4BB6856E}"/>
                </a:ext>
              </a:extLst>
            </p:cNvPr>
            <p:cNvSpPr/>
            <p:nvPr/>
          </p:nvSpPr>
          <p:spPr>
            <a:xfrm>
              <a:off x="6689663" y="208504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11" name="Group 10">
            <a:extLst>
              <a:ext uri="{FF2B5EF4-FFF2-40B4-BE49-F238E27FC236}">
                <a16:creationId xmlns:a16="http://schemas.microsoft.com/office/drawing/2014/main" id="{8921FCE3-8447-39FA-1413-74ADEE493544}"/>
              </a:ext>
            </a:extLst>
          </p:cNvPr>
          <p:cNvGrpSpPr/>
          <p:nvPr/>
        </p:nvGrpSpPr>
        <p:grpSpPr>
          <a:xfrm>
            <a:off x="6689663" y="3361073"/>
            <a:ext cx="5323040" cy="529877"/>
            <a:chOff x="6689663" y="2850599"/>
            <a:chExt cx="5179799" cy="529877"/>
          </a:xfrm>
        </p:grpSpPr>
        <p:sp>
          <p:nvSpPr>
            <p:cNvPr id="12" name="Rectangle: Rounded Corners 11">
              <a:extLst>
                <a:ext uri="{FF2B5EF4-FFF2-40B4-BE49-F238E27FC236}">
                  <a16:creationId xmlns:a16="http://schemas.microsoft.com/office/drawing/2014/main" id="{F10241C8-DB2B-C27B-AC84-2FAD8C5CAB1B}"/>
                </a:ext>
              </a:extLst>
            </p:cNvPr>
            <p:cNvSpPr/>
            <p:nvPr/>
          </p:nvSpPr>
          <p:spPr>
            <a:xfrm>
              <a:off x="7937542" y="287797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2893C2BD-402E-568A-1EEE-590BDDD151FB}"/>
                </a:ext>
              </a:extLst>
            </p:cNvPr>
            <p:cNvSpPr/>
            <p:nvPr/>
          </p:nvSpPr>
          <p:spPr>
            <a:xfrm>
              <a:off x="7036575" y="287797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6B7FE96B-2E59-392C-2B49-5D27A3B5B186}"/>
                </a:ext>
              </a:extLst>
            </p:cNvPr>
            <p:cNvSpPr txBox="1"/>
            <p:nvPr/>
          </p:nvSpPr>
          <p:spPr>
            <a:xfrm>
              <a:off x="7395424" y="302609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Type</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BE49222B-2DA1-FC8D-B621-1686A36776D0}"/>
                </a:ext>
              </a:extLst>
            </p:cNvPr>
            <p:cNvSpPr txBox="1"/>
            <p:nvPr/>
          </p:nvSpPr>
          <p:spPr>
            <a:xfrm>
              <a:off x="8642230" y="2877979"/>
              <a:ext cx="3211254"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Categorizes the delivery format of the asset—such as a Demo, or Webinar—allowing marketing teams to analyse which types of gated experiences convert best.</a:t>
              </a:r>
            </a:p>
          </p:txBody>
        </p:sp>
        <p:sp>
          <p:nvSpPr>
            <p:cNvPr id="16" name="Oval 15">
              <a:extLst>
                <a:ext uri="{FF2B5EF4-FFF2-40B4-BE49-F238E27FC236}">
                  <a16:creationId xmlns:a16="http://schemas.microsoft.com/office/drawing/2014/main" id="{1D49E52C-D03D-BC60-37A6-4AF22A1F3844}"/>
                </a:ext>
              </a:extLst>
            </p:cNvPr>
            <p:cNvSpPr/>
            <p:nvPr/>
          </p:nvSpPr>
          <p:spPr>
            <a:xfrm>
              <a:off x="6689663" y="285059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36" name="Group 35">
            <a:extLst>
              <a:ext uri="{FF2B5EF4-FFF2-40B4-BE49-F238E27FC236}">
                <a16:creationId xmlns:a16="http://schemas.microsoft.com/office/drawing/2014/main" id="{8E5FB1EA-B594-C58C-3E22-FAC027B8E31E}"/>
              </a:ext>
            </a:extLst>
          </p:cNvPr>
          <p:cNvGrpSpPr/>
          <p:nvPr/>
        </p:nvGrpSpPr>
        <p:grpSpPr>
          <a:xfrm>
            <a:off x="6689663" y="4403096"/>
            <a:ext cx="5252623" cy="529877"/>
            <a:chOff x="6689663" y="4403096"/>
            <a:chExt cx="5252623" cy="529877"/>
          </a:xfrm>
        </p:grpSpPr>
        <p:sp>
          <p:nvSpPr>
            <p:cNvPr id="18" name="Rectangle: Rounded Corners 17">
              <a:extLst>
                <a:ext uri="{FF2B5EF4-FFF2-40B4-BE49-F238E27FC236}">
                  <a16:creationId xmlns:a16="http://schemas.microsoft.com/office/drawing/2014/main" id="{210F694A-1C76-8F3E-096A-185261C96F78}"/>
                </a:ext>
              </a:extLst>
            </p:cNvPr>
            <p:cNvSpPr/>
            <p:nvPr/>
          </p:nvSpPr>
          <p:spPr>
            <a:xfrm>
              <a:off x="7937542" y="4430475"/>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1BF83BDA-DE27-8BDB-BCF9-6F202C5B79DD}"/>
                </a:ext>
              </a:extLst>
            </p:cNvPr>
            <p:cNvSpPr/>
            <p:nvPr/>
          </p:nvSpPr>
          <p:spPr>
            <a:xfrm>
              <a:off x="7036575" y="443047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322D12E2-C06B-4AAA-9C85-6B20C2EFA8F1}"/>
                </a:ext>
              </a:extLst>
            </p:cNvPr>
            <p:cNvSpPr txBox="1"/>
            <p:nvPr/>
          </p:nvSpPr>
          <p:spPr>
            <a:xfrm>
              <a:off x="7395424" y="4578587"/>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Language</a:t>
              </a:r>
              <a:endParaRPr lang="en-GB" sz="16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59C383F5-D226-7C2B-DF2A-EF02B66E3549}"/>
                </a:ext>
              </a:extLst>
            </p:cNvPr>
            <p:cNvSpPr txBox="1"/>
            <p:nvPr/>
          </p:nvSpPr>
          <p:spPr>
            <a:xfrm>
              <a:off x="8642229" y="4504532"/>
              <a:ext cx="3300057" cy="327005"/>
            </a:xfrm>
            <a:prstGeom prst="rect">
              <a:avLst/>
            </a:prstGeom>
            <a:noFill/>
          </p:spPr>
          <p:txBody>
            <a:bodyPr wrap="square" lIns="0" tIns="0" rIns="0" bIns="0" rtlCol="0">
              <a:noAutofit/>
            </a:bodyPr>
            <a:lstStyle>
              <a:defPPr>
                <a:defRPr lang="en-US"/>
              </a:defPPr>
              <a:lvl1pPr indent="0" defTabSz="912276" fontAlgn="base">
                <a:spcAft>
                  <a:spcPts val="1000"/>
                </a:spcAft>
                <a:buClr>
                  <a:schemeClr val="bg1"/>
                </a:buClr>
                <a:buSzPct val="100000"/>
                <a:buFont typeface="Arial" panose="020B0604020202020204" pitchFamily="34" charset="0"/>
                <a:buNone/>
                <a:defRPr sz="1000">
                  <a:solidFill>
                    <a:schemeClr val="bg1"/>
                  </a:solidFill>
                </a:defRPr>
              </a:lvl1pPr>
            </a:lstStyle>
            <a:p>
              <a:r>
                <a:rPr lang="en-US" altLang="en-US" dirty="0"/>
                <a:t>Denotes the localized language version of the asset, ensuring accurate global reporting</a:t>
              </a:r>
              <a:r>
                <a:rPr lang="en-GB" dirty="0"/>
                <a:t>.</a:t>
              </a:r>
            </a:p>
          </p:txBody>
        </p:sp>
        <p:sp>
          <p:nvSpPr>
            <p:cNvPr id="22" name="Oval 21">
              <a:extLst>
                <a:ext uri="{FF2B5EF4-FFF2-40B4-BE49-F238E27FC236}">
                  <a16:creationId xmlns:a16="http://schemas.microsoft.com/office/drawing/2014/main" id="{09D3956B-3810-45C6-53CD-1C2D84979B7E}"/>
                </a:ext>
              </a:extLst>
            </p:cNvPr>
            <p:cNvSpPr/>
            <p:nvPr/>
          </p:nvSpPr>
          <p:spPr>
            <a:xfrm>
              <a:off x="6689663" y="4403096"/>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grpSp>
        <p:nvGrpSpPr>
          <p:cNvPr id="23" name="Group 22">
            <a:extLst>
              <a:ext uri="{FF2B5EF4-FFF2-40B4-BE49-F238E27FC236}">
                <a16:creationId xmlns:a16="http://schemas.microsoft.com/office/drawing/2014/main" id="{3869386C-B962-D28F-C468-0E94B080DDA8}"/>
              </a:ext>
            </a:extLst>
          </p:cNvPr>
          <p:cNvGrpSpPr/>
          <p:nvPr/>
        </p:nvGrpSpPr>
        <p:grpSpPr>
          <a:xfrm>
            <a:off x="6689663" y="5445118"/>
            <a:ext cx="5179799" cy="529877"/>
            <a:chOff x="6775864" y="4491223"/>
            <a:chExt cx="5179799" cy="529877"/>
          </a:xfrm>
        </p:grpSpPr>
        <p:sp>
          <p:nvSpPr>
            <p:cNvPr id="24" name="Rectangle: Rounded Corners 23">
              <a:extLst>
                <a:ext uri="{FF2B5EF4-FFF2-40B4-BE49-F238E27FC236}">
                  <a16:creationId xmlns:a16="http://schemas.microsoft.com/office/drawing/2014/main" id="{F33490DA-899E-4E06-239F-0F5BC01641CA}"/>
                </a:ext>
              </a:extLst>
            </p:cNvPr>
            <p:cNvSpPr/>
            <p:nvPr/>
          </p:nvSpPr>
          <p:spPr>
            <a:xfrm>
              <a:off x="8023743" y="4518602"/>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685ECC23-4A18-BE08-FC3C-58CE2A8C1F61}"/>
                </a:ext>
              </a:extLst>
            </p:cNvPr>
            <p:cNvSpPr/>
            <p:nvPr/>
          </p:nvSpPr>
          <p:spPr>
            <a:xfrm>
              <a:off x="7122776" y="4518602"/>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C41544FF-1F56-D8B6-5C31-CE0658192ACF}"/>
                </a:ext>
              </a:extLst>
            </p:cNvPr>
            <p:cNvSpPr txBox="1"/>
            <p:nvPr/>
          </p:nvSpPr>
          <p:spPr>
            <a:xfrm>
              <a:off x="7481625" y="4666714"/>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Activity ID</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E66D531B-3793-31B7-3565-A69084551CDD}"/>
                </a:ext>
              </a:extLst>
            </p:cNvPr>
            <p:cNvSpPr txBox="1"/>
            <p:nvPr/>
          </p:nvSpPr>
          <p:spPr>
            <a:xfrm>
              <a:off x="8728430" y="4518603"/>
              <a:ext cx="3155697" cy="47511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The Activity ID that links this specific offer back to its parent marketing program ensuring lead generation and pipeline metrics are credited correctly</a:t>
              </a:r>
            </a:p>
          </p:txBody>
        </p:sp>
        <p:sp>
          <p:nvSpPr>
            <p:cNvPr id="28" name="Oval 27">
              <a:extLst>
                <a:ext uri="{FF2B5EF4-FFF2-40B4-BE49-F238E27FC236}">
                  <a16:creationId xmlns:a16="http://schemas.microsoft.com/office/drawing/2014/main" id="{95B2EEFD-6ABE-2B6E-6734-5487D9D3CA73}"/>
                </a:ext>
              </a:extLst>
            </p:cNvPr>
            <p:cNvSpPr/>
            <p:nvPr/>
          </p:nvSpPr>
          <p:spPr>
            <a:xfrm>
              <a:off x="6775864" y="4491223"/>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grpSp>
        <p:nvGrpSpPr>
          <p:cNvPr id="76" name="Group 75">
            <a:extLst>
              <a:ext uri="{FF2B5EF4-FFF2-40B4-BE49-F238E27FC236}">
                <a16:creationId xmlns:a16="http://schemas.microsoft.com/office/drawing/2014/main" id="{2E232310-186E-D278-56E6-9AB39D90DB23}"/>
              </a:ext>
            </a:extLst>
          </p:cNvPr>
          <p:cNvGrpSpPr/>
          <p:nvPr/>
        </p:nvGrpSpPr>
        <p:grpSpPr>
          <a:xfrm>
            <a:off x="6689663" y="2319050"/>
            <a:ext cx="5179799" cy="529877"/>
            <a:chOff x="6762487" y="5204194"/>
            <a:chExt cx="5179799" cy="529877"/>
          </a:xfrm>
        </p:grpSpPr>
        <p:sp>
          <p:nvSpPr>
            <p:cNvPr id="30" name="Rectangle: Rounded Corners 29">
              <a:extLst>
                <a:ext uri="{FF2B5EF4-FFF2-40B4-BE49-F238E27FC236}">
                  <a16:creationId xmlns:a16="http://schemas.microsoft.com/office/drawing/2014/main" id="{252AABA4-3AE1-50E4-9E86-EE66DB9D7173}"/>
                </a:ext>
              </a:extLst>
            </p:cNvPr>
            <p:cNvSpPr/>
            <p:nvPr/>
          </p:nvSpPr>
          <p:spPr>
            <a:xfrm>
              <a:off x="8010366" y="523157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8C405C9B-2518-F7D2-8D31-131E82E2505A}"/>
                </a:ext>
              </a:extLst>
            </p:cNvPr>
            <p:cNvSpPr/>
            <p:nvPr/>
          </p:nvSpPr>
          <p:spPr>
            <a:xfrm>
              <a:off x="7109399" y="523157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6F19DA85-F53C-7F88-BB93-384A51115ED1}"/>
                </a:ext>
              </a:extLst>
            </p:cNvPr>
            <p:cNvSpPr txBox="1"/>
            <p:nvPr/>
          </p:nvSpPr>
          <p:spPr>
            <a:xfrm>
              <a:off x="7468248" y="5379685"/>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Description</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BD217EC7-830D-CA2F-BE13-42FBBFE31D8F}"/>
                </a:ext>
              </a:extLst>
            </p:cNvPr>
            <p:cNvSpPr txBox="1"/>
            <p:nvPr/>
          </p:nvSpPr>
          <p:spPr>
            <a:xfrm>
              <a:off x="8715053" y="5293084"/>
              <a:ext cx="3155697" cy="352097"/>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200">
                  <a:solidFill>
                    <a:schemeClr val="bg1"/>
                  </a:solidFill>
                </a:defRPr>
              </a:lvl1pPr>
            </a:lstStyle>
            <a:p>
              <a:pPr marL="0" indent="0">
                <a:buNone/>
              </a:pPr>
              <a:r>
                <a:rPr lang="en-GB" sz="1000" dirty="0"/>
                <a:t>Breaks down the specific features or solutions covered to provide the seller with actionable context.</a:t>
              </a:r>
            </a:p>
          </p:txBody>
        </p:sp>
        <p:sp>
          <p:nvSpPr>
            <p:cNvPr id="34" name="Oval 33">
              <a:extLst>
                <a:ext uri="{FF2B5EF4-FFF2-40B4-BE49-F238E27FC236}">
                  <a16:creationId xmlns:a16="http://schemas.microsoft.com/office/drawing/2014/main" id="{A9AF3D52-A88D-D6A5-DCA4-B3C3A990E3A8}"/>
                </a:ext>
              </a:extLst>
            </p:cNvPr>
            <p:cNvSpPr/>
            <p:nvPr/>
          </p:nvSpPr>
          <p:spPr>
            <a:xfrm>
              <a:off x="6762487" y="520419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cxnSp>
        <p:nvCxnSpPr>
          <p:cNvPr id="35" name="Straight Connector 34">
            <a:extLst>
              <a:ext uri="{FF2B5EF4-FFF2-40B4-BE49-F238E27FC236}">
                <a16:creationId xmlns:a16="http://schemas.microsoft.com/office/drawing/2014/main" id="{AD3F6634-510E-21AA-AF14-6028FDDF1AE7}"/>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37" name="Group 36">
            <a:extLst>
              <a:ext uri="{FF2B5EF4-FFF2-40B4-BE49-F238E27FC236}">
                <a16:creationId xmlns:a16="http://schemas.microsoft.com/office/drawing/2014/main" id="{B286D532-0460-6D18-1139-55F4D2D98275}"/>
              </a:ext>
            </a:extLst>
          </p:cNvPr>
          <p:cNvGrpSpPr/>
          <p:nvPr/>
        </p:nvGrpSpPr>
        <p:grpSpPr>
          <a:xfrm>
            <a:off x="2500060" y="4914792"/>
            <a:ext cx="1381986" cy="786980"/>
            <a:chOff x="5225124" y="4067734"/>
            <a:chExt cx="2267712" cy="1337983"/>
          </a:xfrm>
        </p:grpSpPr>
        <p:grpSp>
          <p:nvGrpSpPr>
            <p:cNvPr id="58" name="Group 57">
              <a:extLst>
                <a:ext uri="{FF2B5EF4-FFF2-40B4-BE49-F238E27FC236}">
                  <a16:creationId xmlns:a16="http://schemas.microsoft.com/office/drawing/2014/main" id="{4513E736-8847-B6AC-DCF0-CAFDC1E0B13A}"/>
                </a:ext>
              </a:extLst>
            </p:cNvPr>
            <p:cNvGrpSpPr/>
            <p:nvPr/>
          </p:nvGrpSpPr>
          <p:grpSpPr>
            <a:xfrm>
              <a:off x="5225124" y="4067734"/>
              <a:ext cx="2267712" cy="1337983"/>
              <a:chOff x="2521324" y="4067735"/>
              <a:chExt cx="2267712" cy="1337983"/>
            </a:xfrm>
          </p:grpSpPr>
          <p:sp>
            <p:nvSpPr>
              <p:cNvPr id="60" name="Rectangle: Rounded Corners 59">
                <a:extLst>
                  <a:ext uri="{FF2B5EF4-FFF2-40B4-BE49-F238E27FC236}">
                    <a16:creationId xmlns:a16="http://schemas.microsoft.com/office/drawing/2014/main" id="{EB2B33AA-8880-81B6-D724-9C4626AC1BD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1" name="Straight Connector 60">
                <a:extLst>
                  <a:ext uri="{FF2B5EF4-FFF2-40B4-BE49-F238E27FC236}">
                    <a16:creationId xmlns:a16="http://schemas.microsoft.com/office/drawing/2014/main" id="{3AEED593-DBC6-A483-7BD2-E9A7AD980DEA}"/>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62" name="TextBox 61">
                <a:extLst>
                  <a:ext uri="{FF2B5EF4-FFF2-40B4-BE49-F238E27FC236}">
                    <a16:creationId xmlns:a16="http://schemas.microsoft.com/office/drawing/2014/main" id="{8C5F19C5-D5D1-F32D-096B-6607F9B7DD66}"/>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accent3"/>
                    </a:solidFill>
                    <a:latin typeface="+mn-lt"/>
                    <a:ea typeface="ＭＳ Ｐゴシック" charset="0"/>
                  </a:rPr>
                  <a:t>Language</a:t>
                </a:r>
                <a:endParaRPr lang="en-GB" sz="1000" kern="1200" dirty="0" err="1">
                  <a:solidFill>
                    <a:schemeClr val="accent3"/>
                  </a:solidFill>
                  <a:latin typeface="+mn-lt"/>
                  <a:ea typeface="ＭＳ Ｐゴシック" charset="0"/>
                </a:endParaRPr>
              </a:p>
            </p:txBody>
          </p:sp>
          <p:sp>
            <p:nvSpPr>
              <p:cNvPr id="63" name="TextBox 62">
                <a:extLst>
                  <a:ext uri="{FF2B5EF4-FFF2-40B4-BE49-F238E27FC236}">
                    <a16:creationId xmlns:a16="http://schemas.microsoft.com/office/drawing/2014/main" id="{CBF0F6EE-B203-C20D-C19E-618F9A35A077}"/>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bg1"/>
                    </a:solidFill>
                    <a:ea typeface="ＭＳ Ｐゴシック" charset="0"/>
                  </a:rPr>
                  <a:t>English</a:t>
                </a:r>
                <a:endParaRPr lang="en-GB" sz="1000" kern="1200" dirty="0" err="1">
                  <a:solidFill>
                    <a:schemeClr val="bg1"/>
                  </a:solidFill>
                  <a:latin typeface="+mn-lt"/>
                  <a:ea typeface="ＭＳ Ｐゴシック" charset="0"/>
                </a:endParaRPr>
              </a:p>
            </p:txBody>
          </p:sp>
        </p:grpSp>
        <p:pic>
          <p:nvPicPr>
            <p:cNvPr id="59" name="Graphic 58" descr="Sign language with solid fill">
              <a:extLst>
                <a:ext uri="{FF2B5EF4-FFF2-40B4-BE49-F238E27FC236}">
                  <a16:creationId xmlns:a16="http://schemas.microsoft.com/office/drawing/2014/main" id="{DAEDF695-5AC3-EA3F-8A9B-3916A0356D5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378326" y="4079929"/>
              <a:ext cx="386168" cy="400110"/>
            </a:xfrm>
            <a:prstGeom prst="rect">
              <a:avLst/>
            </a:prstGeom>
          </p:spPr>
        </p:pic>
      </p:grpSp>
      <p:grpSp>
        <p:nvGrpSpPr>
          <p:cNvPr id="38" name="Group 37">
            <a:extLst>
              <a:ext uri="{FF2B5EF4-FFF2-40B4-BE49-F238E27FC236}">
                <a16:creationId xmlns:a16="http://schemas.microsoft.com/office/drawing/2014/main" id="{A601725A-27F2-3390-8AAA-BE3DAEFEC8E1}"/>
              </a:ext>
            </a:extLst>
          </p:cNvPr>
          <p:cNvGrpSpPr/>
          <p:nvPr/>
        </p:nvGrpSpPr>
        <p:grpSpPr>
          <a:xfrm>
            <a:off x="3972713" y="4914792"/>
            <a:ext cx="1381986" cy="786980"/>
            <a:chOff x="7928924" y="4067733"/>
            <a:chExt cx="2267712" cy="1337983"/>
          </a:xfrm>
        </p:grpSpPr>
        <p:grpSp>
          <p:nvGrpSpPr>
            <p:cNvPr id="52" name="Group 51">
              <a:extLst>
                <a:ext uri="{FF2B5EF4-FFF2-40B4-BE49-F238E27FC236}">
                  <a16:creationId xmlns:a16="http://schemas.microsoft.com/office/drawing/2014/main" id="{18085D8B-E048-3CAA-16D4-9CF65824B6D8}"/>
                </a:ext>
              </a:extLst>
            </p:cNvPr>
            <p:cNvGrpSpPr/>
            <p:nvPr/>
          </p:nvGrpSpPr>
          <p:grpSpPr>
            <a:xfrm>
              <a:off x="7928924" y="4067733"/>
              <a:ext cx="2267712" cy="1337983"/>
              <a:chOff x="2521324" y="4067735"/>
              <a:chExt cx="2267712" cy="1337983"/>
            </a:xfrm>
          </p:grpSpPr>
          <p:sp>
            <p:nvSpPr>
              <p:cNvPr id="54" name="Rectangle: Rounded Corners 53">
                <a:extLst>
                  <a:ext uri="{FF2B5EF4-FFF2-40B4-BE49-F238E27FC236}">
                    <a16:creationId xmlns:a16="http://schemas.microsoft.com/office/drawing/2014/main" id="{9F2DD42B-3FEE-D879-2A0F-E835EF2725DD}"/>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55" name="Straight Connector 54">
                <a:extLst>
                  <a:ext uri="{FF2B5EF4-FFF2-40B4-BE49-F238E27FC236}">
                    <a16:creationId xmlns:a16="http://schemas.microsoft.com/office/drawing/2014/main" id="{D04B17B7-8F56-C9BC-9ABF-26B44105A814}"/>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6" name="TextBox 55">
                <a:extLst>
                  <a:ext uri="{FF2B5EF4-FFF2-40B4-BE49-F238E27FC236}">
                    <a16:creationId xmlns:a16="http://schemas.microsoft.com/office/drawing/2014/main" id="{B02180E9-EF5A-6C26-3080-13BA90884DB4}"/>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4"/>
                    </a:solidFill>
                    <a:ea typeface="ＭＳ Ｐゴシック" charset="0"/>
                  </a:rPr>
                  <a:t>Activity ID</a:t>
                </a:r>
                <a:endParaRPr lang="en-GB" sz="1000" kern="1200" dirty="0" err="1">
                  <a:solidFill>
                    <a:schemeClr val="accent4"/>
                  </a:solidFill>
                  <a:latin typeface="+mn-lt"/>
                  <a:ea typeface="ＭＳ Ｐゴシック" charset="0"/>
                </a:endParaRPr>
              </a:p>
            </p:txBody>
          </p:sp>
          <p:sp>
            <p:nvSpPr>
              <p:cNvPr id="57" name="TextBox 56">
                <a:extLst>
                  <a:ext uri="{FF2B5EF4-FFF2-40B4-BE49-F238E27FC236}">
                    <a16:creationId xmlns:a16="http://schemas.microsoft.com/office/drawing/2014/main" id="{C9A5C8FE-F5B8-A506-13C1-36064D9CA3F8}"/>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cc009328</a:t>
                </a:r>
                <a:endParaRPr lang="en-GB" sz="1000" kern="1200" dirty="0" err="1">
                  <a:solidFill>
                    <a:schemeClr val="bg1"/>
                  </a:solidFill>
                  <a:latin typeface="+mn-lt"/>
                  <a:ea typeface="ＭＳ Ｐゴシック" charset="0"/>
                </a:endParaRPr>
              </a:p>
            </p:txBody>
          </p:sp>
        </p:grpSp>
        <p:pic>
          <p:nvPicPr>
            <p:cNvPr id="53" name="Graphic 52" descr="Mandala with solid fill">
              <a:extLst>
                <a:ext uri="{FF2B5EF4-FFF2-40B4-BE49-F238E27FC236}">
                  <a16:creationId xmlns:a16="http://schemas.microsoft.com/office/drawing/2014/main" id="{F5B80E38-8146-7D36-E4B6-C3D054C1449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07926" y="4079928"/>
              <a:ext cx="386168" cy="400110"/>
            </a:xfrm>
            <a:prstGeom prst="rect">
              <a:avLst/>
            </a:prstGeom>
          </p:spPr>
        </p:pic>
      </p:grpSp>
      <p:grpSp>
        <p:nvGrpSpPr>
          <p:cNvPr id="39" name="Group 38">
            <a:extLst>
              <a:ext uri="{FF2B5EF4-FFF2-40B4-BE49-F238E27FC236}">
                <a16:creationId xmlns:a16="http://schemas.microsoft.com/office/drawing/2014/main" id="{DF7EE767-5B68-16CB-2211-941001871FC4}"/>
              </a:ext>
            </a:extLst>
          </p:cNvPr>
          <p:cNvGrpSpPr/>
          <p:nvPr/>
        </p:nvGrpSpPr>
        <p:grpSpPr>
          <a:xfrm>
            <a:off x="1027408" y="4910954"/>
            <a:ext cx="1381985" cy="794654"/>
            <a:chOff x="2521324" y="4054687"/>
            <a:chExt cx="2267712" cy="1351031"/>
          </a:xfrm>
        </p:grpSpPr>
        <p:grpSp>
          <p:nvGrpSpPr>
            <p:cNvPr id="46" name="Group 45">
              <a:extLst>
                <a:ext uri="{FF2B5EF4-FFF2-40B4-BE49-F238E27FC236}">
                  <a16:creationId xmlns:a16="http://schemas.microsoft.com/office/drawing/2014/main" id="{19B1FB21-8034-C5F8-8384-D02C269824F5}"/>
                </a:ext>
              </a:extLst>
            </p:cNvPr>
            <p:cNvGrpSpPr/>
            <p:nvPr/>
          </p:nvGrpSpPr>
          <p:grpSpPr>
            <a:xfrm>
              <a:off x="2521324" y="4067735"/>
              <a:ext cx="2267712" cy="1337983"/>
              <a:chOff x="2521324" y="4067735"/>
              <a:chExt cx="2267712" cy="1337983"/>
            </a:xfrm>
          </p:grpSpPr>
          <p:sp>
            <p:nvSpPr>
              <p:cNvPr id="48" name="Rectangle: Rounded Corners 47">
                <a:extLst>
                  <a:ext uri="{FF2B5EF4-FFF2-40B4-BE49-F238E27FC236}">
                    <a16:creationId xmlns:a16="http://schemas.microsoft.com/office/drawing/2014/main" id="{F4C5813D-9815-9BE6-4E21-33450B261631}"/>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9" name="Straight Connector 48">
                <a:extLst>
                  <a:ext uri="{FF2B5EF4-FFF2-40B4-BE49-F238E27FC236}">
                    <a16:creationId xmlns:a16="http://schemas.microsoft.com/office/drawing/2014/main" id="{844F9802-06BF-81F2-901A-35A4C9F86DB7}"/>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50" name="TextBox 49">
                <a:extLst>
                  <a:ext uri="{FF2B5EF4-FFF2-40B4-BE49-F238E27FC236}">
                    <a16:creationId xmlns:a16="http://schemas.microsoft.com/office/drawing/2014/main" id="{0E7893BB-625A-7300-ABCC-B3D39F9E0B17}"/>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Type</a:t>
                </a:r>
                <a:endParaRPr lang="en-GB" sz="1000" kern="1200" dirty="0" err="1">
                  <a:solidFill>
                    <a:schemeClr val="accent2"/>
                  </a:solidFill>
                  <a:latin typeface="+mn-lt"/>
                  <a:ea typeface="ＭＳ Ｐゴシック" charset="0"/>
                </a:endParaRPr>
              </a:p>
            </p:txBody>
          </p:sp>
          <p:sp>
            <p:nvSpPr>
              <p:cNvPr id="51" name="TextBox 50">
                <a:extLst>
                  <a:ext uri="{FF2B5EF4-FFF2-40B4-BE49-F238E27FC236}">
                    <a16:creationId xmlns:a16="http://schemas.microsoft.com/office/drawing/2014/main" id="{90836A6F-33A0-F0D5-6CC3-EF4B111ACEEC}"/>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rPr>
                  <a:t>Demo</a:t>
                </a:r>
                <a:endParaRPr lang="en-GB" sz="1000" kern="1200" dirty="0" err="1">
                  <a:solidFill>
                    <a:schemeClr val="bg1"/>
                  </a:solidFill>
                  <a:latin typeface="+mn-lt"/>
                  <a:ea typeface="ＭＳ Ｐゴシック" charset="0"/>
                </a:endParaRPr>
              </a:p>
            </p:txBody>
          </p:sp>
        </p:grpSp>
        <p:pic>
          <p:nvPicPr>
            <p:cNvPr id="47" name="Graphic 46" descr="Cycle with people with solid fill">
              <a:extLst>
                <a:ext uri="{FF2B5EF4-FFF2-40B4-BE49-F238E27FC236}">
                  <a16:creationId xmlns:a16="http://schemas.microsoft.com/office/drawing/2014/main" id="{F0D7DCF7-C905-2F06-93A1-EEE9FC8AB8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46830" y="4054687"/>
              <a:ext cx="400110" cy="400110"/>
            </a:xfrm>
            <a:prstGeom prst="rect">
              <a:avLst/>
            </a:prstGeom>
          </p:spPr>
        </p:pic>
      </p:grpSp>
      <p:sp>
        <p:nvSpPr>
          <p:cNvPr id="40" name="TextBox 39">
            <a:extLst>
              <a:ext uri="{FF2B5EF4-FFF2-40B4-BE49-F238E27FC236}">
                <a16:creationId xmlns:a16="http://schemas.microsoft.com/office/drawing/2014/main" id="{A2921AE9-0BD3-3CBE-8435-74CD81EA8DC4}"/>
              </a:ext>
            </a:extLst>
          </p:cNvPr>
          <p:cNvSpPr txBox="1"/>
          <p:nvPr/>
        </p:nvSpPr>
        <p:spPr>
          <a:xfrm>
            <a:off x="1188616" y="4112825"/>
            <a:ext cx="4176982" cy="758042"/>
          </a:xfrm>
          <a:prstGeom prst="rect">
            <a:avLst/>
          </a:prstGeom>
          <a:noFill/>
        </p:spPr>
        <p:txBody>
          <a:bodyPr wrap="square" lIns="0" tIns="0" rIns="0" bIns="0" rtlCol="0">
            <a:noAutofit/>
          </a:bodyPr>
          <a:lstStyle/>
          <a:p>
            <a:pPr defTabSz="912276" fontAlgn="base">
              <a:buClr>
                <a:schemeClr val="bg1"/>
              </a:buClr>
              <a:buSzPct val="100000"/>
            </a:pPr>
            <a:r>
              <a:rPr lang="en-GB" sz="1000" b="1" dirty="0">
                <a:solidFill>
                  <a:schemeClr val="bg1"/>
                </a:solidFill>
                <a:ea typeface="ＭＳ Ｐゴシック" charset="0"/>
              </a:rPr>
              <a:t>Name:</a:t>
            </a:r>
          </a:p>
          <a:p>
            <a:pPr marL="171450" indent="-171450" defTabSz="912276" fontAlgn="base">
              <a:buClr>
                <a:schemeClr val="bg1"/>
              </a:buClr>
              <a:buSzPct val="100000"/>
              <a:buFont typeface="Arial" panose="020B0604020202020204" pitchFamily="34" charset="0"/>
              <a:buChar char="•"/>
            </a:pPr>
            <a:r>
              <a:rPr lang="en-GB" sz="1000" dirty="0">
                <a:solidFill>
                  <a:schemeClr val="accent2"/>
                </a:solidFill>
              </a:rPr>
              <a:t>Cisco AI Capabilities Demo</a:t>
            </a:r>
          </a:p>
          <a:p>
            <a:pPr defTabSz="912276" fontAlgn="base">
              <a:buClr>
                <a:schemeClr val="bg1"/>
              </a:buClr>
              <a:buSzPct val="100000"/>
            </a:pPr>
            <a:r>
              <a:rPr lang="en-GB" sz="1000" b="1" dirty="0">
                <a:solidFill>
                  <a:schemeClr val="bg1"/>
                </a:solidFill>
                <a:ea typeface="ＭＳ Ｐゴシック" charset="0"/>
              </a:rPr>
              <a:t>Description: </a:t>
            </a:r>
          </a:p>
          <a:p>
            <a:pPr marL="171450" indent="-171450" defTabSz="912276" fontAlgn="base">
              <a:buClr>
                <a:schemeClr val="bg1"/>
              </a:buClr>
              <a:buSzPct val="100000"/>
              <a:buFont typeface="Arial" panose="020B0604020202020204" pitchFamily="34" charset="0"/>
              <a:buChar char="•"/>
            </a:pPr>
            <a:r>
              <a:rPr lang="en-US" sz="1000" dirty="0">
                <a:solidFill>
                  <a:schemeClr val="accent2"/>
                </a:solidFill>
              </a:rPr>
              <a:t>Primarily: AI Canvas, AI Assistant, and Agentic Ops as an overall concept/solution</a:t>
            </a:r>
            <a:endParaRPr lang="en-GB" sz="1000" dirty="0">
              <a:solidFill>
                <a:schemeClr val="accent2"/>
              </a:solidFill>
            </a:endParaRPr>
          </a:p>
        </p:txBody>
      </p:sp>
      <p:sp>
        <p:nvSpPr>
          <p:cNvPr id="41" name="Freeform: Shape 40">
            <a:extLst>
              <a:ext uri="{FF2B5EF4-FFF2-40B4-BE49-F238E27FC236}">
                <a16:creationId xmlns:a16="http://schemas.microsoft.com/office/drawing/2014/main" id="{944F8958-8EE2-BF3B-28C4-CAAC7F1D5402}"/>
              </a:ext>
            </a:extLst>
          </p:cNvPr>
          <p:cNvSpPr/>
          <p:nvPr/>
        </p:nvSpPr>
        <p:spPr>
          <a:xfrm>
            <a:off x="958076" y="3750471"/>
            <a:ext cx="4522331" cy="2063561"/>
          </a:xfrm>
          <a:custGeom>
            <a:avLst/>
            <a:gdLst>
              <a:gd name="csX0" fmla="*/ 267512 w 3849972"/>
              <a:gd name="csY0" fmla="*/ 0 h 1820183"/>
              <a:gd name="csX1" fmla="*/ 286249 w 3849972"/>
              <a:gd name="csY1" fmla="*/ 0 h 1820183"/>
              <a:gd name="csX2" fmla="*/ 286249 w 3849972"/>
              <a:gd name="csY2" fmla="*/ 192434 h 1820183"/>
              <a:gd name="csX3" fmla="*/ 380769 w 3849972"/>
              <a:gd name="csY3" fmla="*/ 286954 h 1820183"/>
              <a:gd name="csX4" fmla="*/ 2647559 w 3849972"/>
              <a:gd name="csY4" fmla="*/ 286954 h 1820183"/>
              <a:gd name="csX5" fmla="*/ 2742079 w 3849972"/>
              <a:gd name="csY5" fmla="*/ 192434 h 1820183"/>
              <a:gd name="csX6" fmla="*/ 2742079 w 3849972"/>
              <a:gd name="csY6" fmla="*/ 0 h 1820183"/>
              <a:gd name="csX7" fmla="*/ 3582460 w 3849972"/>
              <a:gd name="csY7" fmla="*/ 0 h 1820183"/>
              <a:gd name="csX8" fmla="*/ 3849972 w 3849972"/>
              <a:gd name="csY8" fmla="*/ 267512 h 1820183"/>
              <a:gd name="csX9" fmla="*/ 3849972 w 3849972"/>
              <a:gd name="csY9" fmla="*/ 1552671 h 1820183"/>
              <a:gd name="csX10" fmla="*/ 3582460 w 3849972"/>
              <a:gd name="csY10" fmla="*/ 1820183 h 1820183"/>
              <a:gd name="csX11" fmla="*/ 267512 w 3849972"/>
              <a:gd name="csY11" fmla="*/ 1820183 h 1820183"/>
              <a:gd name="csX12" fmla="*/ 0 w 3849972"/>
              <a:gd name="csY12" fmla="*/ 1552671 h 1820183"/>
              <a:gd name="csX13" fmla="*/ 0 w 3849972"/>
              <a:gd name="csY13" fmla="*/ 267512 h 1820183"/>
              <a:gd name="csX14" fmla="*/ 267512 w 3849972"/>
              <a:gd name="csY14" fmla="*/ 0 h 1820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49972" h="1820183">
                <a:moveTo>
                  <a:pt x="267512" y="0"/>
                </a:moveTo>
                <a:lnTo>
                  <a:pt x="286249" y="0"/>
                </a:lnTo>
                <a:lnTo>
                  <a:pt x="286249" y="192434"/>
                </a:lnTo>
                <a:cubicBezTo>
                  <a:pt x="286249" y="244636"/>
                  <a:pt x="328567" y="286954"/>
                  <a:pt x="380769" y="286954"/>
                </a:cubicBezTo>
                <a:lnTo>
                  <a:pt x="2647559" y="286954"/>
                </a:lnTo>
                <a:cubicBezTo>
                  <a:pt x="2699761" y="286954"/>
                  <a:pt x="2742079" y="244636"/>
                  <a:pt x="2742079" y="192434"/>
                </a:cubicBezTo>
                <a:lnTo>
                  <a:pt x="2742079" y="0"/>
                </a:lnTo>
                <a:lnTo>
                  <a:pt x="3582460" y="0"/>
                </a:lnTo>
                <a:cubicBezTo>
                  <a:pt x="3730203" y="0"/>
                  <a:pt x="3849972" y="119769"/>
                  <a:pt x="3849972" y="267512"/>
                </a:cubicBezTo>
                <a:lnTo>
                  <a:pt x="3849972" y="1552671"/>
                </a:lnTo>
                <a:cubicBezTo>
                  <a:pt x="3849972" y="1700414"/>
                  <a:pt x="3730203" y="1820183"/>
                  <a:pt x="3582460" y="1820183"/>
                </a:cubicBezTo>
                <a:lnTo>
                  <a:pt x="267512" y="1820183"/>
                </a:lnTo>
                <a:cubicBezTo>
                  <a:pt x="119769" y="1820183"/>
                  <a:pt x="0" y="1700414"/>
                  <a:pt x="0" y="1552671"/>
                </a:cubicBezTo>
                <a:lnTo>
                  <a:pt x="0" y="267512"/>
                </a:lnTo>
                <a:cubicBezTo>
                  <a:pt x="0" y="119769"/>
                  <a:pt x="119769" y="0"/>
                  <a:pt x="267512" y="0"/>
                </a:cubicBezTo>
                <a:close/>
              </a:path>
            </a:pathLst>
          </a:cu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nvGrpSpPr>
          <p:cNvPr id="42" name="Group 41">
            <a:extLst>
              <a:ext uri="{FF2B5EF4-FFF2-40B4-BE49-F238E27FC236}">
                <a16:creationId xmlns:a16="http://schemas.microsoft.com/office/drawing/2014/main" id="{8D669738-3B1F-563D-8B72-BA231CBDDDB8}"/>
              </a:ext>
            </a:extLst>
          </p:cNvPr>
          <p:cNvGrpSpPr/>
          <p:nvPr/>
        </p:nvGrpSpPr>
        <p:grpSpPr>
          <a:xfrm>
            <a:off x="1294316" y="3429000"/>
            <a:ext cx="2884716" cy="642940"/>
            <a:chOff x="610099" y="3780444"/>
            <a:chExt cx="2455830" cy="567111"/>
          </a:xfrm>
        </p:grpSpPr>
        <p:sp>
          <p:nvSpPr>
            <p:cNvPr id="43" name="Rectangle: Rounded Corners 42">
              <a:extLst>
                <a:ext uri="{FF2B5EF4-FFF2-40B4-BE49-F238E27FC236}">
                  <a16:creationId xmlns:a16="http://schemas.microsoft.com/office/drawing/2014/main" id="{9699BC49-39B4-B8EE-A7DA-69555AC3DC4C}"/>
                </a:ext>
              </a:extLst>
            </p:cNvPr>
            <p:cNvSpPr/>
            <p:nvPr/>
          </p:nvSpPr>
          <p:spPr>
            <a:xfrm>
              <a:off x="610099" y="3780444"/>
              <a:ext cx="2455830" cy="567111"/>
            </a:xfrm>
            <a:prstGeom prst="roundRect">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bg1"/>
                </a:solidFill>
              </a:endParaRPr>
            </a:p>
          </p:txBody>
        </p:sp>
        <p:sp>
          <p:nvSpPr>
            <p:cNvPr id="44" name="TextBox 43">
              <a:extLst>
                <a:ext uri="{FF2B5EF4-FFF2-40B4-BE49-F238E27FC236}">
                  <a16:creationId xmlns:a16="http://schemas.microsoft.com/office/drawing/2014/main" id="{F90A3626-1690-BEEC-9D60-296832E0EAA0}"/>
                </a:ext>
              </a:extLst>
            </p:cNvPr>
            <p:cNvSpPr txBox="1"/>
            <p:nvPr/>
          </p:nvSpPr>
          <p:spPr>
            <a:xfrm>
              <a:off x="1187998" y="3877989"/>
              <a:ext cx="1616557" cy="372021"/>
            </a:xfrm>
            <a:prstGeom prst="rect">
              <a:avLst/>
            </a:prstGeom>
            <a:noFill/>
          </p:spPr>
          <p:txBody>
            <a:bodyPr wrap="square" lIns="0" tIns="0" rIns="0" bIns="0" rtlCol="0">
              <a:noAutofit/>
            </a:bodyPr>
            <a:lstStyle/>
            <a:p>
              <a:pPr defTabSz="912276" fontAlgn="base">
                <a:spcAft>
                  <a:spcPts val="1000"/>
                </a:spcAft>
                <a:buClr>
                  <a:schemeClr val="bg1"/>
                </a:buClr>
                <a:buSzPct val="100000"/>
              </a:pPr>
              <a:r>
                <a:rPr lang="en-GB" dirty="0">
                  <a:solidFill>
                    <a:schemeClr val="bg1"/>
                  </a:solidFill>
                </a:rPr>
                <a:t>dmomrk033343</a:t>
              </a:r>
              <a:endParaRPr lang="en-GB" sz="2400" kern="1200" dirty="0">
                <a:solidFill>
                  <a:schemeClr val="bg1"/>
                </a:solidFill>
                <a:latin typeface="+mn-lt"/>
                <a:ea typeface="ＭＳ Ｐゴシック" charset="0"/>
              </a:endParaRPr>
            </a:p>
          </p:txBody>
        </p:sp>
        <p:pic>
          <p:nvPicPr>
            <p:cNvPr id="45" name="dark2" descr="Shield Tick with solid fill">
              <a:extLst>
                <a:ext uri="{FF2B5EF4-FFF2-40B4-BE49-F238E27FC236}">
                  <a16:creationId xmlns:a16="http://schemas.microsoft.com/office/drawing/2014/main" id="{2F4C06C7-8F9B-FE14-E680-F22570DE1C06}"/>
                </a:ext>
              </a:extLst>
            </p:cNvPr>
            <p:cNvPicPr>
              <a:picLocks noChangeAspect="1"/>
            </p:cNvPicPr>
            <p:nvPr>
              <p:custDataLst>
                <p:tags r:id="rId1"/>
              </p:custDataLst>
            </p:nvPr>
          </p:nvPicPr>
          <p:blipFill>
            <a:blip>
              <a:extLst>
                <a:ext uri="{96DAC541-7B7A-43D3-8B79-37D633B846F1}">
                  <asvg:svgBlip xmlns:asvg="http://schemas.microsoft.com/office/drawing/2016/SVG/main" r:embed="rId7"/>
                </a:ext>
              </a:extLst>
            </a:blip>
            <a:srcRect/>
            <a:stretch/>
          </p:blipFill>
          <p:spPr>
            <a:xfrm>
              <a:off x="646167" y="3835399"/>
              <a:ext cx="441270" cy="457200"/>
            </a:xfrm>
            <a:prstGeom prst="rect">
              <a:avLst/>
            </a:prstGeom>
          </p:spPr>
        </p:pic>
      </p:grpSp>
      <p:sp>
        <p:nvSpPr>
          <p:cNvPr id="64" name="Oval 63">
            <a:extLst>
              <a:ext uri="{FF2B5EF4-FFF2-40B4-BE49-F238E27FC236}">
                <a16:creationId xmlns:a16="http://schemas.microsoft.com/office/drawing/2014/main" id="{A3DF03F1-403A-AC07-2AA9-D83A7EE5962F}"/>
              </a:ext>
            </a:extLst>
          </p:cNvPr>
          <p:cNvSpPr/>
          <p:nvPr/>
        </p:nvSpPr>
        <p:spPr>
          <a:xfrm>
            <a:off x="3744312" y="3547674"/>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1</a:t>
            </a:r>
            <a:endParaRPr lang="en-GB" sz="1100" dirty="0">
              <a:solidFill>
                <a:schemeClr val="bg1"/>
              </a:solidFill>
            </a:endParaRPr>
          </a:p>
        </p:txBody>
      </p:sp>
      <p:sp>
        <p:nvSpPr>
          <p:cNvPr id="65" name="Oval 64">
            <a:extLst>
              <a:ext uri="{FF2B5EF4-FFF2-40B4-BE49-F238E27FC236}">
                <a16:creationId xmlns:a16="http://schemas.microsoft.com/office/drawing/2014/main" id="{332CFB46-D93F-E3D9-3A01-98E7A58523DD}"/>
              </a:ext>
            </a:extLst>
          </p:cNvPr>
          <p:cNvSpPr/>
          <p:nvPr/>
        </p:nvSpPr>
        <p:spPr>
          <a:xfrm>
            <a:off x="567384" y="4341239"/>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2</a:t>
            </a:r>
            <a:endParaRPr lang="en-GB" sz="1100" dirty="0">
              <a:solidFill>
                <a:schemeClr val="bg1"/>
              </a:solidFill>
            </a:endParaRPr>
          </a:p>
        </p:txBody>
      </p:sp>
      <p:sp>
        <p:nvSpPr>
          <p:cNvPr id="66" name="Oval 65">
            <a:extLst>
              <a:ext uri="{FF2B5EF4-FFF2-40B4-BE49-F238E27FC236}">
                <a16:creationId xmlns:a16="http://schemas.microsoft.com/office/drawing/2014/main" id="{F899EA8E-9BA9-9CF4-2D54-7EF5D63BE9A0}"/>
              </a:ext>
            </a:extLst>
          </p:cNvPr>
          <p:cNvSpPr/>
          <p:nvPr/>
        </p:nvSpPr>
        <p:spPr>
          <a:xfrm>
            <a:off x="1458689"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3</a:t>
            </a:r>
            <a:endParaRPr lang="en-GB" sz="1100" dirty="0">
              <a:solidFill>
                <a:schemeClr val="bg1"/>
              </a:solidFill>
            </a:endParaRPr>
          </a:p>
        </p:txBody>
      </p:sp>
      <p:sp>
        <p:nvSpPr>
          <p:cNvPr id="67" name="Oval 66">
            <a:extLst>
              <a:ext uri="{FF2B5EF4-FFF2-40B4-BE49-F238E27FC236}">
                <a16:creationId xmlns:a16="http://schemas.microsoft.com/office/drawing/2014/main" id="{4ADD7229-B47F-7511-5149-AA7784CA2335}"/>
              </a:ext>
            </a:extLst>
          </p:cNvPr>
          <p:cNvSpPr/>
          <p:nvPr/>
        </p:nvSpPr>
        <p:spPr>
          <a:xfrm>
            <a:off x="2944921"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4</a:t>
            </a:r>
            <a:endParaRPr lang="en-GB" sz="1100" dirty="0">
              <a:solidFill>
                <a:schemeClr val="bg1"/>
              </a:solidFill>
            </a:endParaRPr>
          </a:p>
        </p:txBody>
      </p:sp>
      <p:sp>
        <p:nvSpPr>
          <p:cNvPr id="68" name="Oval 67">
            <a:extLst>
              <a:ext uri="{FF2B5EF4-FFF2-40B4-BE49-F238E27FC236}">
                <a16:creationId xmlns:a16="http://schemas.microsoft.com/office/drawing/2014/main" id="{4668EF07-24D0-AF18-B16A-54B690FCA614}"/>
              </a:ext>
            </a:extLst>
          </p:cNvPr>
          <p:cNvSpPr/>
          <p:nvPr/>
        </p:nvSpPr>
        <p:spPr>
          <a:xfrm>
            <a:off x="4526546" y="5939092"/>
            <a:ext cx="274320" cy="274320"/>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100" dirty="0">
                <a:solidFill>
                  <a:schemeClr val="bg1"/>
                </a:solidFill>
              </a:rPr>
              <a:t>5</a:t>
            </a:r>
            <a:endParaRPr lang="en-GB" sz="1100" dirty="0">
              <a:solidFill>
                <a:schemeClr val="bg1"/>
              </a:solidFill>
            </a:endParaRPr>
          </a:p>
        </p:txBody>
      </p:sp>
      <p:sp>
        <p:nvSpPr>
          <p:cNvPr id="69" name="TextBox 68">
            <a:extLst>
              <a:ext uri="{FF2B5EF4-FFF2-40B4-BE49-F238E27FC236}">
                <a16:creationId xmlns:a16="http://schemas.microsoft.com/office/drawing/2014/main" id="{44225430-E5F3-384D-B734-38EC403695F1}"/>
              </a:ext>
            </a:extLst>
          </p:cNvPr>
          <p:cNvSpPr txBox="1"/>
          <p:nvPr/>
        </p:nvSpPr>
        <p:spPr>
          <a:xfrm>
            <a:off x="731838" y="815122"/>
            <a:ext cx="4848581" cy="2439156"/>
          </a:xfrm>
          <a:prstGeom prst="rect">
            <a:avLst/>
          </a:prstGeom>
          <a:noFill/>
        </p:spPr>
        <p:txBody>
          <a:bodyPr wrap="square" lIns="0" tIns="0" rIns="0" bIns="0" rtlCol="0" anchor="ctr">
            <a:noAutofit/>
          </a:bodyPr>
          <a:lstStyle/>
          <a:p>
            <a:pPr algn="ctr"/>
            <a:r>
              <a:rPr lang="en-GB" sz="1600" b="1" cap="all" dirty="0">
                <a:solidFill>
                  <a:schemeClr val="bg1"/>
                </a:solidFill>
              </a:rPr>
              <a:t>The Asset blueprint</a:t>
            </a:r>
          </a:p>
          <a:p>
            <a:pPr algn="ctr"/>
            <a:endParaRPr lang="en-GB" sz="1400" b="1" cap="all" dirty="0">
              <a:solidFill>
                <a:schemeClr val="bg1"/>
              </a:solidFill>
            </a:endParaRPr>
          </a:p>
          <a:p>
            <a:pPr algn="ctr"/>
            <a:r>
              <a:rPr lang="en-GB" sz="1400" dirty="0">
                <a:solidFill>
                  <a:schemeClr val="bg1"/>
                </a:solidFill>
              </a:rPr>
              <a:t>The </a:t>
            </a:r>
            <a:r>
              <a:rPr lang="en-GB" sz="1400" b="1" dirty="0">
                <a:solidFill>
                  <a:schemeClr val="bg1"/>
                </a:solidFill>
              </a:rPr>
              <a:t>Offer ID </a:t>
            </a:r>
            <a:r>
              <a:rPr lang="en-GB" sz="1400" dirty="0">
                <a:solidFill>
                  <a:schemeClr val="bg1"/>
                </a:solidFill>
              </a:rPr>
              <a:t>serves as a standard, asset-specific taxonomy blueprint that explicitly defines the high-value gated content, experiences, and incentives consumed by our customers. By embedding rich, descriptive context directly into the lead record, it arms sales teams with the immediate intelligence needed to initiate highly targeted conversations while </a:t>
            </a:r>
            <a:r>
              <a:rPr lang="en-GB" sz="1400" dirty="0" err="1">
                <a:solidFill>
                  <a:schemeClr val="bg1"/>
                </a:solidFill>
              </a:rPr>
              <a:t>fueling</a:t>
            </a:r>
            <a:r>
              <a:rPr lang="en-GB" sz="1400" dirty="0">
                <a:solidFill>
                  <a:schemeClr val="bg1"/>
                </a:solidFill>
              </a:rPr>
              <a:t> downstream product marketing analytics to isolate and scale our highest-converting digital assets.</a:t>
            </a:r>
          </a:p>
        </p:txBody>
      </p:sp>
    </p:spTree>
    <p:extLst>
      <p:ext uri="{BB962C8B-B14F-4D97-AF65-F5344CB8AC3E}">
        <p14:creationId xmlns:p14="http://schemas.microsoft.com/office/powerpoint/2010/main" val="301062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1F07-23DD-2793-986A-272AE43F8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0B601-F87D-AF19-99EC-EC80ECAD37C5}"/>
              </a:ext>
            </a:extLst>
          </p:cNvPr>
          <p:cNvSpPr>
            <a:spLocks noGrp="1"/>
          </p:cNvSpPr>
          <p:nvPr>
            <p:ph type="title"/>
          </p:nvPr>
        </p:nvSpPr>
        <p:spPr/>
        <p:txBody>
          <a:bodyPr/>
          <a:lstStyle/>
          <a:p>
            <a:r>
              <a:rPr lang="en-US" dirty="0"/>
              <a:t>Anatomy of a Deal</a:t>
            </a:r>
            <a:endParaRPr lang="en-GB" dirty="0"/>
          </a:p>
        </p:txBody>
      </p:sp>
      <p:cxnSp>
        <p:nvCxnSpPr>
          <p:cNvPr id="5" name="Straight Connector 4">
            <a:extLst>
              <a:ext uri="{FF2B5EF4-FFF2-40B4-BE49-F238E27FC236}">
                <a16:creationId xmlns:a16="http://schemas.microsoft.com/office/drawing/2014/main" id="{EBF45213-9D52-2D43-56E5-A784F602977C}"/>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4FA862C9-A3F6-81A8-DF99-86257C9F5EF4}"/>
              </a:ext>
            </a:extLst>
          </p:cNvPr>
          <p:cNvGrpSpPr/>
          <p:nvPr/>
        </p:nvGrpSpPr>
        <p:grpSpPr>
          <a:xfrm>
            <a:off x="6713574" y="1402507"/>
            <a:ext cx="5179799" cy="529877"/>
            <a:chOff x="6688351" y="1148775"/>
            <a:chExt cx="5179799" cy="529877"/>
          </a:xfrm>
        </p:grpSpPr>
        <p:sp>
          <p:nvSpPr>
            <p:cNvPr id="12" name="Rectangle: Rounded Corners 11">
              <a:extLst>
                <a:ext uri="{FF2B5EF4-FFF2-40B4-BE49-F238E27FC236}">
                  <a16:creationId xmlns:a16="http://schemas.microsoft.com/office/drawing/2014/main" id="{9A321B0C-8168-1F2C-59E0-CD2DEF732B0E}"/>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559E30BA-8C83-0D5F-927D-394ADADEA40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4F382676-8F4F-C677-2888-94291C87C179}"/>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Channel Performance</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FFD74087-46DE-8058-351F-F8D57EA08B94}"/>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A single deal can contain multiple touchpoints, correct Drive To IDs ensure that every interaction is accurately bucketed into its specific channel vehicle</a:t>
              </a:r>
              <a:endParaRPr lang="en-US" altLang="en-US" dirty="0"/>
            </a:p>
          </p:txBody>
        </p:sp>
        <p:sp>
          <p:nvSpPr>
            <p:cNvPr id="16" name="Oval 15">
              <a:extLst>
                <a:ext uri="{FF2B5EF4-FFF2-40B4-BE49-F238E27FC236}">
                  <a16:creationId xmlns:a16="http://schemas.microsoft.com/office/drawing/2014/main" id="{9C8C1588-5B21-006B-1C15-B32242A01269}"/>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0DD825D5-A677-1702-F717-AC9CB5462F9E}"/>
              </a:ext>
            </a:extLst>
          </p:cNvPr>
          <p:cNvGrpSpPr/>
          <p:nvPr/>
        </p:nvGrpSpPr>
        <p:grpSpPr>
          <a:xfrm>
            <a:off x="6713574" y="2371216"/>
            <a:ext cx="5179799" cy="502497"/>
            <a:chOff x="6688351" y="2157402"/>
            <a:chExt cx="5179799" cy="529877"/>
          </a:xfrm>
        </p:grpSpPr>
        <p:sp>
          <p:nvSpPr>
            <p:cNvPr id="18" name="Rectangle: Rounded Corners 17">
              <a:extLst>
                <a:ext uri="{FF2B5EF4-FFF2-40B4-BE49-F238E27FC236}">
                  <a16:creationId xmlns:a16="http://schemas.microsoft.com/office/drawing/2014/main" id="{2DFB257E-383B-2CE3-C417-94598BCD9D2A}"/>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83F45001-3F09-89EF-39A1-5F9C685781AA}"/>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FF288F9A-E87E-0734-4946-2393E69A55BD}"/>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Asset Attribution</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849E85F6-015E-AF9A-E8EC-33A45880C05A}"/>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Capture the assets driving the deal &amp;maps the specific marketing asset to the touchpoint, showing what content types are influencing the pipeline and yielding return.</a:t>
              </a:r>
              <a:endParaRPr lang="en-US" altLang="en-US" dirty="0"/>
            </a:p>
          </p:txBody>
        </p:sp>
        <p:sp>
          <p:nvSpPr>
            <p:cNvPr id="22" name="Oval 21">
              <a:extLst>
                <a:ext uri="{FF2B5EF4-FFF2-40B4-BE49-F238E27FC236}">
                  <a16:creationId xmlns:a16="http://schemas.microsoft.com/office/drawing/2014/main" id="{E60A00E2-DE63-3102-21CB-59F658319B36}"/>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1B828408-36C8-CCE4-D4FD-4B18A6935A51}"/>
              </a:ext>
            </a:extLst>
          </p:cNvPr>
          <p:cNvGrpSpPr/>
          <p:nvPr/>
        </p:nvGrpSpPr>
        <p:grpSpPr>
          <a:xfrm>
            <a:off x="6713574" y="3312545"/>
            <a:ext cx="5179799" cy="529877"/>
            <a:chOff x="6688351" y="3166029"/>
            <a:chExt cx="5179799" cy="529877"/>
          </a:xfrm>
        </p:grpSpPr>
        <p:sp>
          <p:nvSpPr>
            <p:cNvPr id="24" name="Rectangle: Rounded Corners 23">
              <a:extLst>
                <a:ext uri="{FF2B5EF4-FFF2-40B4-BE49-F238E27FC236}">
                  <a16:creationId xmlns:a16="http://schemas.microsoft.com/office/drawing/2014/main" id="{BC381175-E903-57C2-7DEB-B448134C276E}"/>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53CD8DA6-77FA-6F63-DD90-774CD08F090C}"/>
                </a:ext>
              </a:extLst>
            </p:cNvPr>
            <p:cNvSpPr/>
            <p:nvPr/>
          </p:nvSpPr>
          <p:spPr>
            <a:xfrm>
              <a:off x="7035263" y="3193408"/>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A360154A-406B-E029-7E68-8C21C16D40FB}"/>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HVE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C6329310-4F41-7AE8-AEC4-3108C710BF1E}"/>
                </a:ext>
              </a:extLst>
            </p:cNvPr>
            <p:cNvSpPr txBox="1"/>
            <p:nvPr/>
          </p:nvSpPr>
          <p:spPr>
            <a:xfrm>
              <a:off x="8640918" y="3267465"/>
              <a:ext cx="3211254" cy="327005"/>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Touchpoint data for the HVE dataset aligns to Offer &amp; Drive To IDs </a:t>
              </a:r>
            </a:p>
          </p:txBody>
        </p:sp>
        <p:sp>
          <p:nvSpPr>
            <p:cNvPr id="28" name="Oval 27">
              <a:extLst>
                <a:ext uri="{FF2B5EF4-FFF2-40B4-BE49-F238E27FC236}">
                  <a16:creationId xmlns:a16="http://schemas.microsoft.com/office/drawing/2014/main" id="{00027D43-DAB5-CB35-BA75-AAA022974886}"/>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559503A4-BA06-4646-B62A-7EE1DBB4212B}"/>
              </a:ext>
            </a:extLst>
          </p:cNvPr>
          <p:cNvGrpSpPr/>
          <p:nvPr/>
        </p:nvGrpSpPr>
        <p:grpSpPr>
          <a:xfrm>
            <a:off x="6713574" y="4281254"/>
            <a:ext cx="5179799" cy="529877"/>
            <a:chOff x="6688350" y="3737064"/>
            <a:chExt cx="5179799" cy="529877"/>
          </a:xfrm>
        </p:grpSpPr>
        <p:sp>
          <p:nvSpPr>
            <p:cNvPr id="30" name="Rectangle: Rounded Corners 29">
              <a:extLst>
                <a:ext uri="{FF2B5EF4-FFF2-40B4-BE49-F238E27FC236}">
                  <a16:creationId xmlns:a16="http://schemas.microsoft.com/office/drawing/2014/main" id="{AFDDC9D5-B167-F568-75EB-B5E55EC56A56}"/>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D40AFDC1-2C87-0548-AD43-1FA6EF92F6A7}"/>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F1CA5E8B-A3AF-C7D9-3E64-68A9C2EC6273}"/>
                </a:ext>
              </a:extLst>
            </p:cNvPr>
            <p:cNvSpPr txBox="1"/>
            <p:nvPr/>
          </p:nvSpPr>
          <p:spPr>
            <a:xfrm>
              <a:off x="7322570" y="383849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MSP</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F072B336-E52C-5D00-2216-B90498B795D9}"/>
                </a:ext>
              </a:extLst>
            </p:cNvPr>
            <p:cNvSpPr txBox="1"/>
            <p:nvPr/>
          </p:nvSpPr>
          <p:spPr>
            <a:xfrm>
              <a:off x="8640916" y="3842941"/>
              <a:ext cx="3155697" cy="318122"/>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Ties touchpoints to an actual dollar value, clean data mapping demonstrates impact on revenue.</a:t>
              </a:r>
            </a:p>
          </p:txBody>
        </p:sp>
        <p:sp>
          <p:nvSpPr>
            <p:cNvPr id="34" name="Oval 33">
              <a:extLst>
                <a:ext uri="{FF2B5EF4-FFF2-40B4-BE49-F238E27FC236}">
                  <a16:creationId xmlns:a16="http://schemas.microsoft.com/office/drawing/2014/main" id="{3F15B00E-660D-9D01-0E14-04C6D229388A}"/>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3B078C3B-9F42-B6EE-C1C4-EF8714527619}"/>
              </a:ext>
            </a:extLst>
          </p:cNvPr>
          <p:cNvSpPr txBox="1"/>
          <p:nvPr/>
        </p:nvSpPr>
        <p:spPr>
          <a:xfrm>
            <a:off x="537029" y="5920702"/>
            <a:ext cx="2503712" cy="293417"/>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Anatomy of a Deal</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5A6C78D6-BFD3-7491-45E8-F6F846DFC7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266" y="1247963"/>
            <a:ext cx="5266615" cy="3830016"/>
          </a:xfrm>
          <a:prstGeom prst="rect">
            <a:avLst/>
          </a:prstGeom>
        </p:spPr>
      </p:pic>
      <p:grpSp>
        <p:nvGrpSpPr>
          <p:cNvPr id="8" name="Group 7">
            <a:extLst>
              <a:ext uri="{FF2B5EF4-FFF2-40B4-BE49-F238E27FC236}">
                <a16:creationId xmlns:a16="http://schemas.microsoft.com/office/drawing/2014/main" id="{23A967B9-AC39-344A-802B-03DE68613744}"/>
              </a:ext>
            </a:extLst>
          </p:cNvPr>
          <p:cNvGrpSpPr/>
          <p:nvPr/>
        </p:nvGrpSpPr>
        <p:grpSpPr>
          <a:xfrm>
            <a:off x="6713574" y="5249964"/>
            <a:ext cx="5179799" cy="529877"/>
            <a:chOff x="6688350" y="3737064"/>
            <a:chExt cx="5179799" cy="529877"/>
          </a:xfrm>
        </p:grpSpPr>
        <p:sp>
          <p:nvSpPr>
            <p:cNvPr id="9" name="Rectangle: Rounded Corners 8">
              <a:extLst>
                <a:ext uri="{FF2B5EF4-FFF2-40B4-BE49-F238E27FC236}">
                  <a16:creationId xmlns:a16="http://schemas.microsoft.com/office/drawing/2014/main" id="{D74E6CA0-D287-5391-09A7-5A7EC2667304}"/>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Arrow: Pentagon 10">
              <a:extLst>
                <a:ext uri="{FF2B5EF4-FFF2-40B4-BE49-F238E27FC236}">
                  <a16:creationId xmlns:a16="http://schemas.microsoft.com/office/drawing/2014/main" id="{2B8A1DE8-358F-2457-E4C2-3E3A71E62834}"/>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TextBox 16">
              <a:extLst>
                <a:ext uri="{FF2B5EF4-FFF2-40B4-BE49-F238E27FC236}">
                  <a16:creationId xmlns:a16="http://schemas.microsoft.com/office/drawing/2014/main" id="{5B0EBC0A-34B9-4C9A-8AD8-F430CADD6049}"/>
                </a:ext>
              </a:extLst>
            </p:cNvPr>
            <p:cNvSpPr txBox="1"/>
            <p:nvPr/>
          </p:nvSpPr>
          <p:spPr>
            <a:xfrm>
              <a:off x="7322570" y="3845410"/>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Budget</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776927CB-AACE-1D21-AE96-BDEA5AC3D0F4}"/>
                </a:ext>
              </a:extLst>
            </p:cNvPr>
            <p:cNvSpPr txBox="1"/>
            <p:nvPr/>
          </p:nvSpPr>
          <p:spPr>
            <a:xfrm>
              <a:off x="8640916" y="3771354"/>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Anatomy of a deal show us which combinations of vehicles &amp; content deliver the most cost-effective path to conversion</a:t>
              </a:r>
            </a:p>
          </p:txBody>
        </p:sp>
        <p:sp>
          <p:nvSpPr>
            <p:cNvPr id="29" name="Oval 28">
              <a:extLst>
                <a:ext uri="{FF2B5EF4-FFF2-40B4-BE49-F238E27FC236}">
                  <a16:creationId xmlns:a16="http://schemas.microsoft.com/office/drawing/2014/main" id="{6A3EBAB7-4AB7-C780-2E39-CD70120A534F}"/>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spTree>
    <p:extLst>
      <p:ext uri="{BB962C8B-B14F-4D97-AF65-F5344CB8AC3E}">
        <p14:creationId xmlns:p14="http://schemas.microsoft.com/office/powerpoint/2010/main" val="3976763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DE4A-1FE9-E852-F045-423179D09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5799A-9FC4-E426-CA4F-A6991A9BE27E}"/>
              </a:ext>
            </a:extLst>
          </p:cNvPr>
          <p:cNvSpPr>
            <a:spLocks noGrp="1"/>
          </p:cNvSpPr>
          <p:nvPr>
            <p:ph type="title"/>
          </p:nvPr>
        </p:nvSpPr>
        <p:spPr/>
        <p:txBody>
          <a:bodyPr/>
          <a:lstStyle/>
          <a:p>
            <a:r>
              <a:rPr lang="en-US" dirty="0"/>
              <a:t>Vehicle Demand Performance</a:t>
            </a:r>
            <a:endParaRPr lang="en-GB" dirty="0"/>
          </a:p>
        </p:txBody>
      </p:sp>
      <p:cxnSp>
        <p:nvCxnSpPr>
          <p:cNvPr id="5" name="Straight Connector 4">
            <a:extLst>
              <a:ext uri="{FF2B5EF4-FFF2-40B4-BE49-F238E27FC236}">
                <a16:creationId xmlns:a16="http://schemas.microsoft.com/office/drawing/2014/main" id="{498479BC-DE02-CE6A-9E31-CB76238855A8}"/>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29F1ED0A-C466-59AE-9ABE-EEC5FDBB558E}"/>
              </a:ext>
            </a:extLst>
          </p:cNvPr>
          <p:cNvGrpSpPr/>
          <p:nvPr/>
        </p:nvGrpSpPr>
        <p:grpSpPr>
          <a:xfrm>
            <a:off x="6713574" y="1402507"/>
            <a:ext cx="5179799" cy="529877"/>
            <a:chOff x="6688351" y="1148775"/>
            <a:chExt cx="5179799" cy="529877"/>
          </a:xfrm>
        </p:grpSpPr>
        <p:sp>
          <p:nvSpPr>
            <p:cNvPr id="12" name="Rectangle: Rounded Corners 11">
              <a:extLst>
                <a:ext uri="{FF2B5EF4-FFF2-40B4-BE49-F238E27FC236}">
                  <a16:creationId xmlns:a16="http://schemas.microsoft.com/office/drawing/2014/main" id="{E2240AC0-DDCA-D973-26CE-A223B384D8C1}"/>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A6951B1D-C327-C557-97EC-9000B272E6AE}"/>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84AB1653-1D8E-9412-4211-910E1B1C44DD}"/>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Fair Credit</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866BEB8E-5DE5-41F4-C1BE-996E66D16D6D}"/>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Correct setup and use of DTID ensures teams receive accurate, proportional credit for every engagement and dollar of pipeline</a:t>
              </a:r>
              <a:endParaRPr lang="en-US" altLang="en-US" dirty="0"/>
            </a:p>
          </p:txBody>
        </p:sp>
        <p:sp>
          <p:nvSpPr>
            <p:cNvPr id="16" name="Oval 15">
              <a:extLst>
                <a:ext uri="{FF2B5EF4-FFF2-40B4-BE49-F238E27FC236}">
                  <a16:creationId xmlns:a16="http://schemas.microsoft.com/office/drawing/2014/main" id="{EE87AE78-AD12-2D72-D359-DE4E87A3C790}"/>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4823CC26-40D9-C482-7C55-5BC3C92F3EBA}"/>
              </a:ext>
            </a:extLst>
          </p:cNvPr>
          <p:cNvGrpSpPr/>
          <p:nvPr/>
        </p:nvGrpSpPr>
        <p:grpSpPr>
          <a:xfrm>
            <a:off x="6713574" y="2371216"/>
            <a:ext cx="5179799" cy="502497"/>
            <a:chOff x="6688351" y="2157402"/>
            <a:chExt cx="5179799" cy="529877"/>
          </a:xfrm>
        </p:grpSpPr>
        <p:sp>
          <p:nvSpPr>
            <p:cNvPr id="18" name="Rectangle: Rounded Corners 17">
              <a:extLst>
                <a:ext uri="{FF2B5EF4-FFF2-40B4-BE49-F238E27FC236}">
                  <a16:creationId xmlns:a16="http://schemas.microsoft.com/office/drawing/2014/main" id="{1DD25D47-691F-B69A-0FAF-E572A92B88A8}"/>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2C9AE3AB-92B3-808C-DBB3-A80CDD0476F0}"/>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B6103EAA-B70F-4E1A-985B-BCAA5FC831B9}"/>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Account Penetration</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BF1E5626-B2D4-30D5-03C9-7C8FF016F607}"/>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Provides feedback on how effectively targeted plays are penetrating high value Tier 1, 2  &amp; 3 accounts showing the success of ABM, ABX strategies </a:t>
              </a:r>
              <a:endParaRPr lang="en-US" altLang="en-US" dirty="0"/>
            </a:p>
          </p:txBody>
        </p:sp>
        <p:sp>
          <p:nvSpPr>
            <p:cNvPr id="22" name="Oval 21">
              <a:extLst>
                <a:ext uri="{FF2B5EF4-FFF2-40B4-BE49-F238E27FC236}">
                  <a16:creationId xmlns:a16="http://schemas.microsoft.com/office/drawing/2014/main" id="{98C33282-3E8D-7549-1A7D-36F6EA067005}"/>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C2D40C8C-D21F-5952-78E7-8BA2E2EF9D80}"/>
              </a:ext>
            </a:extLst>
          </p:cNvPr>
          <p:cNvGrpSpPr/>
          <p:nvPr/>
        </p:nvGrpSpPr>
        <p:grpSpPr>
          <a:xfrm>
            <a:off x="6713574" y="3312545"/>
            <a:ext cx="5179799" cy="529877"/>
            <a:chOff x="6688351" y="3166029"/>
            <a:chExt cx="5179799" cy="529877"/>
          </a:xfrm>
        </p:grpSpPr>
        <p:sp>
          <p:nvSpPr>
            <p:cNvPr id="24" name="Rectangle: Rounded Corners 23">
              <a:extLst>
                <a:ext uri="{FF2B5EF4-FFF2-40B4-BE49-F238E27FC236}">
                  <a16:creationId xmlns:a16="http://schemas.microsoft.com/office/drawing/2014/main" id="{72FB9053-7A29-D4B5-40F4-DCDFBB6A5B61}"/>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B89207F1-C667-22B0-C7D1-2D12634F72AA}"/>
                </a:ext>
              </a:extLst>
            </p:cNvPr>
            <p:cNvSpPr/>
            <p:nvPr/>
          </p:nvSpPr>
          <p:spPr>
            <a:xfrm>
              <a:off x="7035263" y="31820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09E6A9A1-5EA3-F016-22DD-E35B47C56EBF}"/>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Budget Waste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A9B0D19D-3B3F-6B4F-5D88-03AE45E86463}"/>
                </a:ext>
              </a:extLst>
            </p:cNvPr>
            <p:cNvSpPr txBox="1"/>
            <p:nvPr/>
          </p:nvSpPr>
          <p:spPr>
            <a:xfrm>
              <a:off x="8640918" y="3182025"/>
              <a:ext cx="3211254"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pPr lvl="0"/>
              <a:r>
                <a:rPr lang="en-GB" dirty="0"/>
                <a:t>Shows the percentage of the channel traffic coming from high-priority accounts vs. anonymous web traffic, to drive more defined targeting parameters.</a:t>
              </a:r>
            </a:p>
          </p:txBody>
        </p:sp>
        <p:sp>
          <p:nvSpPr>
            <p:cNvPr id="28" name="Oval 27">
              <a:extLst>
                <a:ext uri="{FF2B5EF4-FFF2-40B4-BE49-F238E27FC236}">
                  <a16:creationId xmlns:a16="http://schemas.microsoft.com/office/drawing/2014/main" id="{F63E6A00-AA45-9F8E-AB4B-C53C1E3077B3}"/>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3E91749F-B439-3E77-D585-BD537B8865F9}"/>
              </a:ext>
            </a:extLst>
          </p:cNvPr>
          <p:cNvGrpSpPr/>
          <p:nvPr/>
        </p:nvGrpSpPr>
        <p:grpSpPr>
          <a:xfrm>
            <a:off x="6713574" y="4281254"/>
            <a:ext cx="5179799" cy="529877"/>
            <a:chOff x="6688350" y="3737064"/>
            <a:chExt cx="5179799" cy="529877"/>
          </a:xfrm>
        </p:grpSpPr>
        <p:sp>
          <p:nvSpPr>
            <p:cNvPr id="30" name="Rectangle: Rounded Corners 29">
              <a:extLst>
                <a:ext uri="{FF2B5EF4-FFF2-40B4-BE49-F238E27FC236}">
                  <a16:creationId xmlns:a16="http://schemas.microsoft.com/office/drawing/2014/main" id="{1BD4AA61-78C2-FB6A-CAFA-AB2110499D4F}"/>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7FA94AE9-7834-BC71-3E9A-C019D7E94DB6}"/>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2EF980C-B648-4127-F2B2-04B02F1E1BCF}"/>
                </a:ext>
              </a:extLst>
            </p:cNvPr>
            <p:cNvSpPr txBox="1"/>
            <p:nvPr/>
          </p:nvSpPr>
          <p:spPr>
            <a:xfrm>
              <a:off x="7322570" y="3844849"/>
              <a:ext cx="1140447"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Growth</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AF87B303-9BE4-AFA0-4BA6-ED468FE034F1}"/>
                </a:ext>
              </a:extLst>
            </p:cNvPr>
            <p:cNvSpPr txBox="1"/>
            <p:nvPr/>
          </p:nvSpPr>
          <p:spPr>
            <a:xfrm>
              <a:off x="8640916" y="3770793"/>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Q/Q &amp; Y/Y reporting in relation to vehicles allows us to track upward growth trends to justify scaling successful programs</a:t>
              </a:r>
            </a:p>
          </p:txBody>
        </p:sp>
        <p:sp>
          <p:nvSpPr>
            <p:cNvPr id="34" name="Oval 33">
              <a:extLst>
                <a:ext uri="{FF2B5EF4-FFF2-40B4-BE49-F238E27FC236}">
                  <a16:creationId xmlns:a16="http://schemas.microsoft.com/office/drawing/2014/main" id="{2A16C0C3-1276-5AC9-58C8-45562B4D54F1}"/>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28E6F031-F251-88AF-90E6-D3D7021826EE}"/>
              </a:ext>
            </a:extLst>
          </p:cNvPr>
          <p:cNvSpPr txBox="1"/>
          <p:nvPr/>
        </p:nvSpPr>
        <p:spPr>
          <a:xfrm>
            <a:off x="537028" y="5920702"/>
            <a:ext cx="3398029" cy="328749"/>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Vehicle Demand Performance</a:t>
            </a:r>
            <a:endParaRPr lang="en-GB" sz="1600" kern="1200" dirty="0" err="1">
              <a:solidFill>
                <a:schemeClr val="bg1"/>
              </a:solidFill>
              <a:latin typeface="+mn-lt"/>
              <a:ea typeface="ＭＳ Ｐゴシック" charset="0"/>
            </a:endParaRPr>
          </a:p>
        </p:txBody>
      </p:sp>
      <p:grpSp>
        <p:nvGrpSpPr>
          <p:cNvPr id="8" name="Group 7">
            <a:extLst>
              <a:ext uri="{FF2B5EF4-FFF2-40B4-BE49-F238E27FC236}">
                <a16:creationId xmlns:a16="http://schemas.microsoft.com/office/drawing/2014/main" id="{B49B86DF-25F5-B6F4-FB39-C6905A6C3B64}"/>
              </a:ext>
            </a:extLst>
          </p:cNvPr>
          <p:cNvGrpSpPr/>
          <p:nvPr/>
        </p:nvGrpSpPr>
        <p:grpSpPr>
          <a:xfrm>
            <a:off x="6713574" y="5249964"/>
            <a:ext cx="5179799" cy="529877"/>
            <a:chOff x="6688350" y="3737064"/>
            <a:chExt cx="5179799" cy="529877"/>
          </a:xfrm>
        </p:grpSpPr>
        <p:sp>
          <p:nvSpPr>
            <p:cNvPr id="9" name="Rectangle: Rounded Corners 8">
              <a:extLst>
                <a:ext uri="{FF2B5EF4-FFF2-40B4-BE49-F238E27FC236}">
                  <a16:creationId xmlns:a16="http://schemas.microsoft.com/office/drawing/2014/main" id="{2222766D-2415-E62D-97DF-5BC796BDF802}"/>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Arrow: Pentagon 10">
              <a:extLst>
                <a:ext uri="{FF2B5EF4-FFF2-40B4-BE49-F238E27FC236}">
                  <a16:creationId xmlns:a16="http://schemas.microsoft.com/office/drawing/2014/main" id="{56C02C94-E25E-E7A1-9925-17C84BF31F1C}"/>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TextBox 16">
              <a:extLst>
                <a:ext uri="{FF2B5EF4-FFF2-40B4-BE49-F238E27FC236}">
                  <a16:creationId xmlns:a16="http://schemas.microsoft.com/office/drawing/2014/main" id="{AE95BB98-4F93-6A35-B0EF-423D8B3067EE}"/>
                </a:ext>
              </a:extLst>
            </p:cNvPr>
            <p:cNvSpPr txBox="1"/>
            <p:nvPr/>
          </p:nvSpPr>
          <p:spPr>
            <a:xfrm>
              <a:off x="7307027" y="3758093"/>
              <a:ext cx="1140447" cy="47511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buClr>
                  <a:schemeClr val="bg1"/>
                </a:buClr>
                <a:buSzPct val="100000"/>
              </a:pPr>
              <a:r>
                <a:rPr lang="en-US" sz="1600" dirty="0">
                  <a:solidFill>
                    <a:schemeClr val="bg1"/>
                  </a:solidFill>
                  <a:ea typeface="ＭＳ Ｐゴシック" charset="0"/>
                </a:rPr>
                <a:t>Defend</a:t>
              </a:r>
            </a:p>
            <a:p>
              <a:pPr defTabSz="912276" rtl="0" eaLnBrk="1" fontAlgn="base" hangingPunct="1">
                <a:lnSpc>
                  <a:spcPct val="100000"/>
                </a:lnSpc>
                <a:spcBef>
                  <a:spcPts val="0"/>
                </a:spcBef>
                <a:buClr>
                  <a:schemeClr val="bg1"/>
                </a:buClr>
                <a:buSzPct val="100000"/>
              </a:pPr>
              <a:r>
                <a:rPr lang="en-US" sz="1600" dirty="0">
                  <a:solidFill>
                    <a:schemeClr val="bg1"/>
                  </a:solidFill>
                  <a:ea typeface="ＭＳ Ｐゴシック" charset="0"/>
                </a:rPr>
                <a:t>Budget</a:t>
              </a:r>
              <a:endParaRPr lang="en-GB" sz="1600" kern="1200" dirty="0" err="1">
                <a:solidFill>
                  <a:schemeClr val="bg1"/>
                </a:solidFill>
                <a:latin typeface="+mn-lt"/>
                <a:ea typeface="ＭＳ Ｐゴシック" charset="0"/>
              </a:endParaRPr>
            </a:p>
          </p:txBody>
        </p:sp>
        <p:sp>
          <p:nvSpPr>
            <p:cNvPr id="23" name="TextBox 22">
              <a:extLst>
                <a:ext uri="{FF2B5EF4-FFF2-40B4-BE49-F238E27FC236}">
                  <a16:creationId xmlns:a16="http://schemas.microsoft.com/office/drawing/2014/main" id="{D46766E2-2D84-8972-ED5A-CC977F814867}"/>
                </a:ext>
              </a:extLst>
            </p:cNvPr>
            <p:cNvSpPr txBox="1"/>
            <p:nvPr/>
          </p:nvSpPr>
          <p:spPr>
            <a:xfrm>
              <a:off x="8640916" y="3830631"/>
              <a:ext cx="3155697" cy="314783"/>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Provides the accurate data to defend budget and secure funding for future initiatives</a:t>
              </a:r>
            </a:p>
          </p:txBody>
        </p:sp>
        <p:sp>
          <p:nvSpPr>
            <p:cNvPr id="29" name="Oval 28">
              <a:extLst>
                <a:ext uri="{FF2B5EF4-FFF2-40B4-BE49-F238E27FC236}">
                  <a16:creationId xmlns:a16="http://schemas.microsoft.com/office/drawing/2014/main" id="{155513CA-E9BD-31C5-687D-5F9084A9DAAC}"/>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5</a:t>
              </a:r>
              <a:endParaRPr lang="en-GB" dirty="0">
                <a:solidFill>
                  <a:schemeClr val="bg1"/>
                </a:solidFill>
              </a:endParaRPr>
            </a:p>
          </p:txBody>
        </p:sp>
      </p:grpSp>
      <p:pic>
        <p:nvPicPr>
          <p:cNvPr id="4" name="Picture 3">
            <a:extLst>
              <a:ext uri="{FF2B5EF4-FFF2-40B4-BE49-F238E27FC236}">
                <a16:creationId xmlns:a16="http://schemas.microsoft.com/office/drawing/2014/main" id="{36BA8CAC-0B5B-FBBC-45E5-1AD6D9E4B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729" y="1112253"/>
            <a:ext cx="4470702" cy="4486784"/>
          </a:xfrm>
          <a:prstGeom prst="rect">
            <a:avLst/>
          </a:prstGeom>
        </p:spPr>
      </p:pic>
    </p:spTree>
    <p:extLst>
      <p:ext uri="{BB962C8B-B14F-4D97-AF65-F5344CB8AC3E}">
        <p14:creationId xmlns:p14="http://schemas.microsoft.com/office/powerpoint/2010/main" val="212858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6944C-D67B-AA34-4217-7AB4B8041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141D1-E912-6F3D-4069-FDA1501A0F7C}"/>
              </a:ext>
            </a:extLst>
          </p:cNvPr>
          <p:cNvSpPr>
            <a:spLocks noGrp="1"/>
          </p:cNvSpPr>
          <p:nvPr>
            <p:ph type="title"/>
          </p:nvPr>
        </p:nvSpPr>
        <p:spPr/>
        <p:txBody>
          <a:bodyPr/>
          <a:lstStyle/>
          <a:p>
            <a:r>
              <a:rPr lang="en-US" dirty="0"/>
              <a:t>Content Impact Scorecard</a:t>
            </a:r>
            <a:endParaRPr lang="en-GB" dirty="0"/>
          </a:p>
        </p:txBody>
      </p:sp>
      <p:cxnSp>
        <p:nvCxnSpPr>
          <p:cNvPr id="5" name="Straight Connector 4">
            <a:extLst>
              <a:ext uri="{FF2B5EF4-FFF2-40B4-BE49-F238E27FC236}">
                <a16:creationId xmlns:a16="http://schemas.microsoft.com/office/drawing/2014/main" id="{E346DFC4-231C-9E7C-14D2-47310D876D73}"/>
              </a:ext>
            </a:extLst>
          </p:cNvPr>
          <p:cNvCxnSpPr>
            <a:cxnSpLocks/>
          </p:cNvCxnSpPr>
          <p:nvPr/>
        </p:nvCxnSpPr>
        <p:spPr>
          <a:xfrm>
            <a:off x="6456918" y="993089"/>
            <a:ext cx="0" cy="5120640"/>
          </a:xfrm>
          <a:prstGeom prst="line">
            <a:avLst/>
          </a:prstGeom>
          <a:noFill/>
          <a:ln w="44450">
            <a:gradFill>
              <a:gsLst>
                <a:gs pos="37000">
                  <a:srgbClr val="02C8FF"/>
                </a:gs>
                <a:gs pos="5000">
                  <a:srgbClr val="0A60FF"/>
                </a:gs>
                <a:gs pos="44000">
                  <a:srgbClr val="02C8FF"/>
                </a:gs>
                <a:gs pos="75000">
                  <a:srgbClr val="FF007F"/>
                </a:gs>
                <a:gs pos="95000">
                  <a:srgbClr val="FF9000"/>
                </a:gs>
              </a:gsLst>
              <a:lin ang="5400000" scaled="1"/>
            </a:gradFill>
            <a:prstDash val="solid"/>
          </a:ln>
          <a:effectLst/>
        </p:spPr>
        <p:style>
          <a:lnRef idx="2">
            <a:schemeClr val="accent1">
              <a:shade val="50000"/>
            </a:schemeClr>
          </a:lnRef>
          <a:fillRef idx="1">
            <a:schemeClr val="accent1"/>
          </a:fillRef>
          <a:effectRef idx="0">
            <a:schemeClr val="accent1"/>
          </a:effectRef>
          <a:fontRef idx="minor">
            <a:schemeClr val="lt1"/>
          </a:fontRef>
        </p:style>
      </p:cxnSp>
      <p:grpSp>
        <p:nvGrpSpPr>
          <p:cNvPr id="45" name="Group 44">
            <a:extLst>
              <a:ext uri="{FF2B5EF4-FFF2-40B4-BE49-F238E27FC236}">
                <a16:creationId xmlns:a16="http://schemas.microsoft.com/office/drawing/2014/main" id="{5A2E9423-5BAD-4B8A-83F8-5278B77CEC5E}"/>
              </a:ext>
            </a:extLst>
          </p:cNvPr>
          <p:cNvGrpSpPr/>
          <p:nvPr/>
        </p:nvGrpSpPr>
        <p:grpSpPr>
          <a:xfrm>
            <a:off x="6745847" y="1590766"/>
            <a:ext cx="5179799" cy="529877"/>
            <a:chOff x="6688351" y="1148775"/>
            <a:chExt cx="5179799" cy="529877"/>
          </a:xfrm>
        </p:grpSpPr>
        <p:sp>
          <p:nvSpPr>
            <p:cNvPr id="12" name="Rectangle: Rounded Corners 11">
              <a:extLst>
                <a:ext uri="{FF2B5EF4-FFF2-40B4-BE49-F238E27FC236}">
                  <a16:creationId xmlns:a16="http://schemas.microsoft.com/office/drawing/2014/main" id="{330D5F0A-DC3E-C6F3-DFE6-BA0C85E63F85}"/>
                </a:ext>
              </a:extLst>
            </p:cNvPr>
            <p:cNvSpPr/>
            <p:nvPr/>
          </p:nvSpPr>
          <p:spPr>
            <a:xfrm>
              <a:off x="7936230" y="1176154"/>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3" name="Arrow: Pentagon 12">
              <a:extLst>
                <a:ext uri="{FF2B5EF4-FFF2-40B4-BE49-F238E27FC236}">
                  <a16:creationId xmlns:a16="http://schemas.microsoft.com/office/drawing/2014/main" id="{04C19AA0-24B6-3EE0-F3C5-5A861D5DE6D8}"/>
                </a:ext>
              </a:extLst>
            </p:cNvPr>
            <p:cNvSpPr/>
            <p:nvPr/>
          </p:nvSpPr>
          <p:spPr>
            <a:xfrm>
              <a:off x="7035263" y="1176154"/>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4" name="TextBox 13">
              <a:extLst>
                <a:ext uri="{FF2B5EF4-FFF2-40B4-BE49-F238E27FC236}">
                  <a16:creationId xmlns:a16="http://schemas.microsoft.com/office/drawing/2014/main" id="{52980D08-E637-77A3-5421-F9BB0E3419C4}"/>
                </a:ext>
              </a:extLst>
            </p:cNvPr>
            <p:cNvSpPr txBox="1"/>
            <p:nvPr/>
          </p:nvSpPr>
          <p:spPr>
            <a:xfrm>
              <a:off x="7306063" y="1212059"/>
              <a:ext cx="1260333" cy="403308"/>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dirty="0">
                  <a:solidFill>
                    <a:schemeClr val="bg1"/>
                  </a:solidFill>
                  <a:ea typeface="ＭＳ Ｐゴシック" charset="0"/>
                </a:rPr>
                <a:t>Optimize</a:t>
              </a:r>
              <a:endParaRPr lang="en-GB" sz="14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8EB52614-1DB5-3EC6-0FC7-2A53A0429402}"/>
                </a:ext>
              </a:extLst>
            </p:cNvPr>
            <p:cNvSpPr txBox="1"/>
            <p:nvPr/>
          </p:nvSpPr>
          <p:spPr>
            <a:xfrm>
              <a:off x="8640917" y="1197872"/>
              <a:ext cx="3057097" cy="453399"/>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Mapping content by pipeline vs engagement we get a roadmap as to what to do such as  amplify opportunity for low-engagement/high pipeline content etc.</a:t>
              </a:r>
            </a:p>
          </p:txBody>
        </p:sp>
        <p:sp>
          <p:nvSpPr>
            <p:cNvPr id="16" name="Oval 15">
              <a:extLst>
                <a:ext uri="{FF2B5EF4-FFF2-40B4-BE49-F238E27FC236}">
                  <a16:creationId xmlns:a16="http://schemas.microsoft.com/office/drawing/2014/main" id="{8B01233F-CEF8-404E-7BC9-09E070D6435F}"/>
                </a:ext>
              </a:extLst>
            </p:cNvPr>
            <p:cNvSpPr/>
            <p:nvPr/>
          </p:nvSpPr>
          <p:spPr>
            <a:xfrm>
              <a:off x="6688351" y="1148775"/>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1</a:t>
              </a:r>
              <a:endParaRPr lang="en-GB" dirty="0">
                <a:solidFill>
                  <a:schemeClr val="bg1"/>
                </a:solidFill>
              </a:endParaRPr>
            </a:p>
          </p:txBody>
        </p:sp>
      </p:grpSp>
      <p:grpSp>
        <p:nvGrpSpPr>
          <p:cNvPr id="44" name="Group 43">
            <a:extLst>
              <a:ext uri="{FF2B5EF4-FFF2-40B4-BE49-F238E27FC236}">
                <a16:creationId xmlns:a16="http://schemas.microsoft.com/office/drawing/2014/main" id="{7423B1A7-36C9-0A5A-3224-221CC6EAB53C}"/>
              </a:ext>
            </a:extLst>
          </p:cNvPr>
          <p:cNvGrpSpPr/>
          <p:nvPr/>
        </p:nvGrpSpPr>
        <p:grpSpPr>
          <a:xfrm>
            <a:off x="6745847" y="2559475"/>
            <a:ext cx="5179799" cy="502497"/>
            <a:chOff x="6688351" y="2157402"/>
            <a:chExt cx="5179799" cy="529877"/>
          </a:xfrm>
        </p:grpSpPr>
        <p:sp>
          <p:nvSpPr>
            <p:cNvPr id="18" name="Rectangle: Rounded Corners 17">
              <a:extLst>
                <a:ext uri="{FF2B5EF4-FFF2-40B4-BE49-F238E27FC236}">
                  <a16:creationId xmlns:a16="http://schemas.microsoft.com/office/drawing/2014/main" id="{5EE0B439-395C-8716-3F3C-FDFDD622295B}"/>
                </a:ext>
              </a:extLst>
            </p:cNvPr>
            <p:cNvSpPr/>
            <p:nvPr/>
          </p:nvSpPr>
          <p:spPr>
            <a:xfrm>
              <a:off x="7936230" y="2184781"/>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Arrow: Pentagon 18">
              <a:extLst>
                <a:ext uri="{FF2B5EF4-FFF2-40B4-BE49-F238E27FC236}">
                  <a16:creationId xmlns:a16="http://schemas.microsoft.com/office/drawing/2014/main" id="{05B1C425-CE75-44B0-F154-2C2EF778E7AF}"/>
                </a:ext>
              </a:extLst>
            </p:cNvPr>
            <p:cNvSpPr/>
            <p:nvPr/>
          </p:nvSpPr>
          <p:spPr>
            <a:xfrm>
              <a:off x="7035263" y="2184781"/>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TextBox 19">
              <a:extLst>
                <a:ext uri="{FF2B5EF4-FFF2-40B4-BE49-F238E27FC236}">
                  <a16:creationId xmlns:a16="http://schemas.microsoft.com/office/drawing/2014/main" id="{4098BCCF-C67B-7BB5-945A-665AA4AF7D88}"/>
                </a:ext>
              </a:extLst>
            </p:cNvPr>
            <p:cNvSpPr txBox="1"/>
            <p:nvPr/>
          </p:nvSpPr>
          <p:spPr>
            <a:xfrm>
              <a:off x="7307028" y="2233111"/>
              <a:ext cx="1140447" cy="384143"/>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400" kern="1200" dirty="0">
                  <a:solidFill>
                    <a:schemeClr val="bg1"/>
                  </a:solidFill>
                  <a:latin typeface="+mn-lt"/>
                  <a:ea typeface="ＭＳ Ｐゴシック" charset="0"/>
                </a:rPr>
                <a:t>Funnel Stage</a:t>
              </a:r>
              <a:endParaRPr lang="en-GB" sz="1400" kern="1200" dirty="0" err="1">
                <a:solidFill>
                  <a:schemeClr val="bg1"/>
                </a:solidFill>
                <a:latin typeface="+mn-lt"/>
                <a:ea typeface="ＭＳ Ｐゴシック" charset="0"/>
              </a:endParaRPr>
            </a:p>
          </p:txBody>
        </p:sp>
        <p:sp>
          <p:nvSpPr>
            <p:cNvPr id="21" name="TextBox 20">
              <a:extLst>
                <a:ext uri="{FF2B5EF4-FFF2-40B4-BE49-F238E27FC236}">
                  <a16:creationId xmlns:a16="http://schemas.microsoft.com/office/drawing/2014/main" id="{FFE8ED26-284E-C6C8-26E6-CA1C35DEE6A3}"/>
                </a:ext>
              </a:extLst>
            </p:cNvPr>
            <p:cNvSpPr txBox="1"/>
            <p:nvPr/>
          </p:nvSpPr>
          <p:spPr>
            <a:xfrm>
              <a:off x="8640918" y="2184782"/>
              <a:ext cx="3155696" cy="475117"/>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Teams benefit from a scoring system that understands the user journey where we can monitor traffic by awareness, consideration and evaluation</a:t>
              </a:r>
              <a:endParaRPr lang="en-US" altLang="en-US" dirty="0"/>
            </a:p>
          </p:txBody>
        </p:sp>
        <p:sp>
          <p:nvSpPr>
            <p:cNvPr id="22" name="Oval 21">
              <a:extLst>
                <a:ext uri="{FF2B5EF4-FFF2-40B4-BE49-F238E27FC236}">
                  <a16:creationId xmlns:a16="http://schemas.microsoft.com/office/drawing/2014/main" id="{85A67FDD-75A0-658E-08A0-1D5C1FB80617}"/>
                </a:ext>
              </a:extLst>
            </p:cNvPr>
            <p:cNvSpPr/>
            <p:nvPr/>
          </p:nvSpPr>
          <p:spPr>
            <a:xfrm>
              <a:off x="6688351" y="2157402"/>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2</a:t>
              </a:r>
              <a:endParaRPr lang="en-GB" dirty="0">
                <a:solidFill>
                  <a:schemeClr val="bg1"/>
                </a:solidFill>
              </a:endParaRPr>
            </a:p>
          </p:txBody>
        </p:sp>
      </p:grpSp>
      <p:grpSp>
        <p:nvGrpSpPr>
          <p:cNvPr id="43" name="Group 42">
            <a:extLst>
              <a:ext uri="{FF2B5EF4-FFF2-40B4-BE49-F238E27FC236}">
                <a16:creationId xmlns:a16="http://schemas.microsoft.com/office/drawing/2014/main" id="{43436E0F-B4F6-0BB6-6A99-EB8DE8E82D05}"/>
              </a:ext>
            </a:extLst>
          </p:cNvPr>
          <p:cNvGrpSpPr/>
          <p:nvPr/>
        </p:nvGrpSpPr>
        <p:grpSpPr>
          <a:xfrm>
            <a:off x="6745847" y="3500804"/>
            <a:ext cx="5179799" cy="529877"/>
            <a:chOff x="6688351" y="3166029"/>
            <a:chExt cx="5179799" cy="529877"/>
          </a:xfrm>
        </p:grpSpPr>
        <p:sp>
          <p:nvSpPr>
            <p:cNvPr id="24" name="Rectangle: Rounded Corners 23">
              <a:extLst>
                <a:ext uri="{FF2B5EF4-FFF2-40B4-BE49-F238E27FC236}">
                  <a16:creationId xmlns:a16="http://schemas.microsoft.com/office/drawing/2014/main" id="{69087106-936D-C7B9-5858-8BC6ECC4E21D}"/>
                </a:ext>
              </a:extLst>
            </p:cNvPr>
            <p:cNvSpPr/>
            <p:nvPr/>
          </p:nvSpPr>
          <p:spPr>
            <a:xfrm>
              <a:off x="7936230" y="3193408"/>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5" name="Arrow: Pentagon 24">
              <a:extLst>
                <a:ext uri="{FF2B5EF4-FFF2-40B4-BE49-F238E27FC236}">
                  <a16:creationId xmlns:a16="http://schemas.microsoft.com/office/drawing/2014/main" id="{04812969-4EC3-F684-2312-A660E3B7B407}"/>
                </a:ext>
              </a:extLst>
            </p:cNvPr>
            <p:cNvSpPr/>
            <p:nvPr/>
          </p:nvSpPr>
          <p:spPr>
            <a:xfrm>
              <a:off x="7035263" y="3182025"/>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TextBox 25">
              <a:extLst>
                <a:ext uri="{FF2B5EF4-FFF2-40B4-BE49-F238E27FC236}">
                  <a16:creationId xmlns:a16="http://schemas.microsoft.com/office/drawing/2014/main" id="{B7EF0B53-1240-8454-1F79-FE7BDEEEBF58}"/>
                </a:ext>
              </a:extLst>
            </p:cNvPr>
            <p:cNvSpPr txBox="1"/>
            <p:nvPr/>
          </p:nvSpPr>
          <p:spPr>
            <a:xfrm>
              <a:off x="7307028" y="3341520"/>
              <a:ext cx="1140447" cy="178894"/>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Revenue</a:t>
              </a:r>
              <a:endParaRPr lang="en-GB" sz="1600" kern="1200" dirty="0" err="1">
                <a:solidFill>
                  <a:schemeClr val="bg1"/>
                </a:solidFill>
                <a:latin typeface="+mn-lt"/>
                <a:ea typeface="ＭＳ Ｐゴシック" charset="0"/>
              </a:endParaRPr>
            </a:p>
          </p:txBody>
        </p:sp>
        <p:sp>
          <p:nvSpPr>
            <p:cNvPr id="27" name="TextBox 26">
              <a:extLst>
                <a:ext uri="{FF2B5EF4-FFF2-40B4-BE49-F238E27FC236}">
                  <a16:creationId xmlns:a16="http://schemas.microsoft.com/office/drawing/2014/main" id="{69F2EE41-3F5C-593B-B152-68053E539E05}"/>
                </a:ext>
              </a:extLst>
            </p:cNvPr>
            <p:cNvSpPr txBox="1"/>
            <p:nvPr/>
          </p:nvSpPr>
          <p:spPr>
            <a:xfrm>
              <a:off x="8640918" y="3182025"/>
              <a:ext cx="3211254"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r>
                <a:rPr lang="en-GB" dirty="0"/>
                <a:t>Shows how content contributes to the bottom line by measuring “Conversion Breadth” and “Revenue Depth” to see what collateral is closing deals</a:t>
              </a:r>
            </a:p>
          </p:txBody>
        </p:sp>
        <p:sp>
          <p:nvSpPr>
            <p:cNvPr id="28" name="Oval 27">
              <a:extLst>
                <a:ext uri="{FF2B5EF4-FFF2-40B4-BE49-F238E27FC236}">
                  <a16:creationId xmlns:a16="http://schemas.microsoft.com/office/drawing/2014/main" id="{88D9EAC7-BCEC-1BDA-0423-3A01D33F34EC}"/>
                </a:ext>
              </a:extLst>
            </p:cNvPr>
            <p:cNvSpPr/>
            <p:nvPr/>
          </p:nvSpPr>
          <p:spPr>
            <a:xfrm>
              <a:off x="6688351" y="3166029"/>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3</a:t>
              </a:r>
              <a:endParaRPr lang="en-GB" dirty="0">
                <a:solidFill>
                  <a:schemeClr val="bg1"/>
                </a:solidFill>
              </a:endParaRPr>
            </a:p>
          </p:txBody>
        </p:sp>
      </p:grpSp>
      <p:grpSp>
        <p:nvGrpSpPr>
          <p:cNvPr id="10" name="Group 9">
            <a:extLst>
              <a:ext uri="{FF2B5EF4-FFF2-40B4-BE49-F238E27FC236}">
                <a16:creationId xmlns:a16="http://schemas.microsoft.com/office/drawing/2014/main" id="{9CD9B13F-88E0-7C55-76CA-7DC32109279B}"/>
              </a:ext>
            </a:extLst>
          </p:cNvPr>
          <p:cNvGrpSpPr/>
          <p:nvPr/>
        </p:nvGrpSpPr>
        <p:grpSpPr>
          <a:xfrm>
            <a:off x="6745847" y="4469513"/>
            <a:ext cx="5179799" cy="529877"/>
            <a:chOff x="6688350" y="3737064"/>
            <a:chExt cx="5179799" cy="529877"/>
          </a:xfrm>
        </p:grpSpPr>
        <p:sp>
          <p:nvSpPr>
            <p:cNvPr id="30" name="Rectangle: Rounded Corners 29">
              <a:extLst>
                <a:ext uri="{FF2B5EF4-FFF2-40B4-BE49-F238E27FC236}">
                  <a16:creationId xmlns:a16="http://schemas.microsoft.com/office/drawing/2014/main" id="{E2E51895-B8C1-0E22-D942-874B7BAD9695}"/>
                </a:ext>
              </a:extLst>
            </p:cNvPr>
            <p:cNvSpPr/>
            <p:nvPr/>
          </p:nvSpPr>
          <p:spPr>
            <a:xfrm>
              <a:off x="7936229" y="3764443"/>
              <a:ext cx="3931920" cy="475118"/>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1" name="Arrow: Pentagon 30">
              <a:extLst>
                <a:ext uri="{FF2B5EF4-FFF2-40B4-BE49-F238E27FC236}">
                  <a16:creationId xmlns:a16="http://schemas.microsoft.com/office/drawing/2014/main" id="{ABA078A5-2351-CC73-53C3-DAECB22BC371}"/>
                </a:ext>
              </a:extLst>
            </p:cNvPr>
            <p:cNvSpPr/>
            <p:nvPr/>
          </p:nvSpPr>
          <p:spPr>
            <a:xfrm>
              <a:off x="7035262" y="3764443"/>
              <a:ext cx="1532098" cy="475118"/>
            </a:xfrm>
            <a:prstGeom prst="homePlate">
              <a:avLst/>
            </a:prstGeom>
            <a:solidFill>
              <a:schemeClr val="tx1">
                <a:lumMod val="95000"/>
              </a:schemeClr>
            </a:solid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2" name="TextBox 31">
              <a:extLst>
                <a:ext uri="{FF2B5EF4-FFF2-40B4-BE49-F238E27FC236}">
                  <a16:creationId xmlns:a16="http://schemas.microsoft.com/office/drawing/2014/main" id="{CD92D157-0782-F098-A7C4-82445E5E1721}"/>
                </a:ext>
              </a:extLst>
            </p:cNvPr>
            <p:cNvSpPr txBox="1"/>
            <p:nvPr/>
          </p:nvSpPr>
          <p:spPr>
            <a:xfrm>
              <a:off x="7322570" y="3844849"/>
              <a:ext cx="1243825" cy="327006"/>
            </a:xfrm>
            <a:prstGeom prst="rect">
              <a:avLst/>
            </a:prstGeom>
            <a:noFill/>
          </p:spPr>
          <p:txBody>
            <a:bodyPr wrap="square" lIns="0" tIns="0" rIns="0" bIns="0" rtlCol="0" anchor="ctr">
              <a:noAutofit/>
            </a:bodyPr>
            <a:lstStyle/>
            <a:p>
              <a:pP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Retirement</a:t>
              </a:r>
              <a:endParaRPr lang="en-GB" sz="1600" kern="1200" dirty="0" err="1">
                <a:solidFill>
                  <a:schemeClr val="bg1"/>
                </a:solidFill>
                <a:latin typeface="+mn-lt"/>
                <a:ea typeface="ＭＳ Ｐゴシック" charset="0"/>
              </a:endParaRPr>
            </a:p>
          </p:txBody>
        </p:sp>
        <p:sp>
          <p:nvSpPr>
            <p:cNvPr id="33" name="TextBox 32">
              <a:extLst>
                <a:ext uri="{FF2B5EF4-FFF2-40B4-BE49-F238E27FC236}">
                  <a16:creationId xmlns:a16="http://schemas.microsoft.com/office/drawing/2014/main" id="{E6C3DADE-D8D2-68B5-E896-07053B44DE5C}"/>
                </a:ext>
              </a:extLst>
            </p:cNvPr>
            <p:cNvSpPr txBox="1"/>
            <p:nvPr/>
          </p:nvSpPr>
          <p:spPr>
            <a:xfrm>
              <a:off x="8640916" y="3770793"/>
              <a:ext cx="3155697" cy="475118"/>
            </a:xfrm>
            <a:prstGeom prst="rect">
              <a:avLst/>
            </a:prstGeom>
            <a:noFill/>
          </p:spPr>
          <p:txBody>
            <a:bodyPr wrap="square" lIns="0" tIns="0" rIns="0" bIns="0" rtlCol="0">
              <a:noAutofit/>
            </a:bodyPr>
            <a:lstStyle>
              <a:defPPr>
                <a:defRPr lang="en-US"/>
              </a:defPPr>
              <a:lvl1pPr lvl="0" indent="0" eaLnBrk="0" fontAlgn="base" hangingPunct="0">
                <a:spcBef>
                  <a:spcPct val="0"/>
                </a:spcBef>
                <a:spcAft>
                  <a:spcPct val="0"/>
                </a:spcAft>
                <a:buClrTx/>
                <a:buSzTx/>
                <a:buFont typeface="Arial" panose="020B0604020202020204" pitchFamily="34" charset="0"/>
                <a:buNone/>
                <a:defRPr sz="1000">
                  <a:solidFill>
                    <a:schemeClr val="bg1"/>
                  </a:solidFill>
                  <a:latin typeface="Arial" panose="020B0604020202020204" pitchFamily="34" charset="0"/>
                </a:defRPr>
              </a:lvl1pPr>
            </a:lstStyle>
            <a:p>
              <a:pPr lvl="0"/>
              <a:r>
                <a:rPr lang="en-GB" dirty="0"/>
                <a:t>Shows underperforming assets into a red bucket Signalling outdated web pages and content that should be decommissioned</a:t>
              </a:r>
            </a:p>
          </p:txBody>
        </p:sp>
        <p:sp>
          <p:nvSpPr>
            <p:cNvPr id="34" name="Oval 33">
              <a:extLst>
                <a:ext uri="{FF2B5EF4-FFF2-40B4-BE49-F238E27FC236}">
                  <a16:creationId xmlns:a16="http://schemas.microsoft.com/office/drawing/2014/main" id="{EE32AF85-059E-5947-9F21-520A8F638A83}"/>
                </a:ext>
              </a:extLst>
            </p:cNvPr>
            <p:cNvSpPr/>
            <p:nvPr/>
          </p:nvSpPr>
          <p:spPr>
            <a:xfrm>
              <a:off x="6688350" y="3737064"/>
              <a:ext cx="529877" cy="529877"/>
            </a:xfrm>
            <a:prstGeom prst="ellipse">
              <a:avLst/>
            </a:prstGeom>
            <a:solidFill>
              <a:schemeClr val="tx1"/>
            </a:solid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bg1"/>
                  </a:solidFill>
                </a:rPr>
                <a:t>4</a:t>
              </a:r>
              <a:endParaRPr lang="en-GB" dirty="0">
                <a:solidFill>
                  <a:schemeClr val="bg1"/>
                </a:solidFill>
              </a:endParaRPr>
            </a:p>
          </p:txBody>
        </p:sp>
      </p:grpSp>
      <p:sp>
        <p:nvSpPr>
          <p:cNvPr id="7" name="TextBox 6">
            <a:extLst>
              <a:ext uri="{FF2B5EF4-FFF2-40B4-BE49-F238E27FC236}">
                <a16:creationId xmlns:a16="http://schemas.microsoft.com/office/drawing/2014/main" id="{505839AE-7E6E-B32A-AF13-4AF38DE45B76}"/>
              </a:ext>
            </a:extLst>
          </p:cNvPr>
          <p:cNvSpPr txBox="1"/>
          <p:nvPr/>
        </p:nvSpPr>
        <p:spPr>
          <a:xfrm>
            <a:off x="537028" y="5920702"/>
            <a:ext cx="3398029" cy="328749"/>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hlinkClick r:id="rId2"/>
              </a:rPr>
              <a:t>Content Impact Scorecard</a:t>
            </a:r>
            <a:endParaRPr lang="en-GB" sz="1600" kern="1200" dirty="0" err="1">
              <a:solidFill>
                <a:schemeClr val="bg1"/>
              </a:solidFill>
              <a:latin typeface="+mn-lt"/>
              <a:ea typeface="ＭＳ Ｐゴシック" charset="0"/>
            </a:endParaRPr>
          </a:p>
        </p:txBody>
      </p:sp>
      <p:pic>
        <p:nvPicPr>
          <p:cNvPr id="6" name="Picture 5">
            <a:extLst>
              <a:ext uri="{FF2B5EF4-FFF2-40B4-BE49-F238E27FC236}">
                <a16:creationId xmlns:a16="http://schemas.microsoft.com/office/drawing/2014/main" id="{825AB6BB-536B-5399-881D-51C7C5C83A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42" y="1168831"/>
            <a:ext cx="5643987" cy="4168588"/>
          </a:xfrm>
          <a:prstGeom prst="rect">
            <a:avLst/>
          </a:prstGeom>
        </p:spPr>
      </p:pic>
    </p:spTree>
    <p:extLst>
      <p:ext uri="{BB962C8B-B14F-4D97-AF65-F5344CB8AC3E}">
        <p14:creationId xmlns:p14="http://schemas.microsoft.com/office/powerpoint/2010/main" val="393339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8DF5-7C54-85F7-D015-2EDE625ACB02}"/>
              </a:ext>
            </a:extLst>
          </p:cNvPr>
          <p:cNvSpPr>
            <a:spLocks noGrp="1"/>
          </p:cNvSpPr>
          <p:nvPr>
            <p:ph type="title"/>
          </p:nvPr>
        </p:nvSpPr>
        <p:spPr/>
        <p:txBody>
          <a:bodyPr/>
          <a:lstStyle/>
          <a:p>
            <a:r>
              <a:rPr lang="en-US" dirty="0"/>
              <a:t>ID Combinations</a:t>
            </a:r>
            <a:endParaRPr lang="en-GB" dirty="0"/>
          </a:p>
        </p:txBody>
      </p:sp>
      <p:grpSp>
        <p:nvGrpSpPr>
          <p:cNvPr id="145" name="Group 144">
            <a:extLst>
              <a:ext uri="{FF2B5EF4-FFF2-40B4-BE49-F238E27FC236}">
                <a16:creationId xmlns:a16="http://schemas.microsoft.com/office/drawing/2014/main" id="{8EEDC3EE-6441-CEA9-1C36-56E3798085BA}"/>
              </a:ext>
            </a:extLst>
          </p:cNvPr>
          <p:cNvGrpSpPr/>
          <p:nvPr/>
        </p:nvGrpSpPr>
        <p:grpSpPr>
          <a:xfrm>
            <a:off x="3396894" y="1309013"/>
            <a:ext cx="1381985" cy="794654"/>
            <a:chOff x="3396896" y="1309013"/>
            <a:chExt cx="1381985" cy="794654"/>
          </a:xfrm>
        </p:grpSpPr>
        <p:grpSp>
          <p:nvGrpSpPr>
            <p:cNvPr id="4" name="Group 3">
              <a:extLst>
                <a:ext uri="{FF2B5EF4-FFF2-40B4-BE49-F238E27FC236}">
                  <a16:creationId xmlns:a16="http://schemas.microsoft.com/office/drawing/2014/main" id="{BE7C42F8-533A-E781-B3EF-2053BC84D1BB}"/>
                </a:ext>
              </a:extLst>
            </p:cNvPr>
            <p:cNvGrpSpPr/>
            <p:nvPr/>
          </p:nvGrpSpPr>
          <p:grpSpPr>
            <a:xfrm>
              <a:off x="3396896" y="1316688"/>
              <a:ext cx="1381985" cy="786979"/>
              <a:chOff x="2521324" y="4067735"/>
              <a:chExt cx="2267712" cy="1337983"/>
            </a:xfrm>
          </p:grpSpPr>
          <p:sp>
            <p:nvSpPr>
              <p:cNvPr id="6" name="Rectangle: Rounded Corners 5">
                <a:extLst>
                  <a:ext uri="{FF2B5EF4-FFF2-40B4-BE49-F238E27FC236}">
                    <a16:creationId xmlns:a16="http://schemas.microsoft.com/office/drawing/2014/main" id="{D162684F-A589-7A92-0809-A6D13BE53279}"/>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7" name="Straight Connector 6">
                <a:extLst>
                  <a:ext uri="{FF2B5EF4-FFF2-40B4-BE49-F238E27FC236}">
                    <a16:creationId xmlns:a16="http://schemas.microsoft.com/office/drawing/2014/main" id="{8F437CE7-1E99-0B26-B459-137C45967CC2}"/>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 name="TextBox 7">
                <a:extLst>
                  <a:ext uri="{FF2B5EF4-FFF2-40B4-BE49-F238E27FC236}">
                    <a16:creationId xmlns:a16="http://schemas.microsoft.com/office/drawing/2014/main" id="{CAB263BF-005E-3348-FD79-4F54B02243DB}"/>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9" name="TextBox 8">
                <a:extLst>
                  <a:ext uri="{FF2B5EF4-FFF2-40B4-BE49-F238E27FC236}">
                    <a16:creationId xmlns:a16="http://schemas.microsoft.com/office/drawing/2014/main" id="{E96C8281-496A-C4F2-293D-98BEF3E6B2F1}"/>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cc010898</a:t>
                </a:r>
                <a:endParaRPr lang="en-GB" sz="1000" dirty="0" err="1">
                  <a:solidFill>
                    <a:schemeClr val="bg1"/>
                  </a:solidFill>
                  <a:ea typeface="ＭＳ Ｐゴシック" charset="0"/>
                </a:endParaRPr>
              </a:p>
            </p:txBody>
          </p:sp>
        </p:grpSp>
        <p:pic>
          <p:nvPicPr>
            <p:cNvPr id="5" name="Graphic 4" descr="Mandala with solid fill">
              <a:extLst>
                <a:ext uri="{FF2B5EF4-FFF2-40B4-BE49-F238E27FC236}">
                  <a16:creationId xmlns:a16="http://schemas.microsoft.com/office/drawing/2014/main" id="{3F252100-1A3C-0A06-CC2F-0155BF963B2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477630" y="1309013"/>
              <a:ext cx="235338" cy="235338"/>
            </a:xfrm>
            <a:prstGeom prst="rect">
              <a:avLst/>
            </a:prstGeom>
          </p:spPr>
        </p:pic>
      </p:grpSp>
      <p:grpSp>
        <p:nvGrpSpPr>
          <p:cNvPr id="144" name="Group 143">
            <a:extLst>
              <a:ext uri="{FF2B5EF4-FFF2-40B4-BE49-F238E27FC236}">
                <a16:creationId xmlns:a16="http://schemas.microsoft.com/office/drawing/2014/main" id="{276B44EB-36CD-BAA5-ED6E-97BC3C76E65F}"/>
              </a:ext>
            </a:extLst>
          </p:cNvPr>
          <p:cNvGrpSpPr/>
          <p:nvPr/>
        </p:nvGrpSpPr>
        <p:grpSpPr>
          <a:xfrm>
            <a:off x="6014715" y="1316688"/>
            <a:ext cx="1381985" cy="786979"/>
            <a:chOff x="5649487" y="1316688"/>
            <a:chExt cx="1381985" cy="786979"/>
          </a:xfrm>
        </p:grpSpPr>
        <p:grpSp>
          <p:nvGrpSpPr>
            <p:cNvPr id="126" name="Group 125">
              <a:extLst>
                <a:ext uri="{FF2B5EF4-FFF2-40B4-BE49-F238E27FC236}">
                  <a16:creationId xmlns:a16="http://schemas.microsoft.com/office/drawing/2014/main" id="{4526B714-A57F-FF92-F1AA-F4AB5F999230}"/>
                </a:ext>
              </a:extLst>
            </p:cNvPr>
            <p:cNvGrpSpPr/>
            <p:nvPr/>
          </p:nvGrpSpPr>
          <p:grpSpPr>
            <a:xfrm>
              <a:off x="5649487" y="1316688"/>
              <a:ext cx="1381985" cy="786979"/>
              <a:chOff x="2521324" y="4067735"/>
              <a:chExt cx="2267712" cy="1337983"/>
            </a:xfrm>
          </p:grpSpPr>
          <p:sp>
            <p:nvSpPr>
              <p:cNvPr id="127" name="Rectangle: Rounded Corners 126">
                <a:extLst>
                  <a:ext uri="{FF2B5EF4-FFF2-40B4-BE49-F238E27FC236}">
                    <a16:creationId xmlns:a16="http://schemas.microsoft.com/office/drawing/2014/main" id="{F7CDDBCF-C8E2-B555-FB3C-DE18B23618E4}"/>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28" name="Straight Connector 127">
                <a:extLst>
                  <a:ext uri="{FF2B5EF4-FFF2-40B4-BE49-F238E27FC236}">
                    <a16:creationId xmlns:a16="http://schemas.microsoft.com/office/drawing/2014/main" id="{313E706F-AB3B-D3B5-B68F-4DF2E09DE8AD}"/>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9" name="TextBox 128">
                <a:extLst>
                  <a:ext uri="{FF2B5EF4-FFF2-40B4-BE49-F238E27FC236}">
                    <a16:creationId xmlns:a16="http://schemas.microsoft.com/office/drawing/2014/main" id="{FE5D1FE1-6C43-7A5A-F867-41305FED25F8}"/>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130" name="TextBox 129">
                <a:extLst>
                  <a:ext uri="{FF2B5EF4-FFF2-40B4-BE49-F238E27FC236}">
                    <a16:creationId xmlns:a16="http://schemas.microsoft.com/office/drawing/2014/main" id="{0E6EA18F-E937-F5DD-D559-A01830CCDCB9}"/>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cc010912</a:t>
                </a:r>
                <a:endParaRPr lang="en-GB" sz="1000" dirty="0" err="1">
                  <a:solidFill>
                    <a:schemeClr val="bg1"/>
                  </a:solidFill>
                  <a:ea typeface="ＭＳ Ｐゴシック" charset="0"/>
                </a:endParaRPr>
              </a:p>
            </p:txBody>
          </p:sp>
        </p:grpSp>
        <p:pic>
          <p:nvPicPr>
            <p:cNvPr id="141" name="Graphic 140" descr="Mandala with solid fill">
              <a:extLst>
                <a:ext uri="{FF2B5EF4-FFF2-40B4-BE49-F238E27FC236}">
                  <a16:creationId xmlns:a16="http://schemas.microsoft.com/office/drawing/2014/main" id="{96E6B3C1-1965-D5BD-36B3-2B14AD2378C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680770" y="1323861"/>
              <a:ext cx="235338" cy="235338"/>
            </a:xfrm>
            <a:prstGeom prst="rect">
              <a:avLst/>
            </a:prstGeom>
          </p:spPr>
        </p:pic>
      </p:grpSp>
      <p:grpSp>
        <p:nvGrpSpPr>
          <p:cNvPr id="143" name="Group 142">
            <a:extLst>
              <a:ext uri="{FF2B5EF4-FFF2-40B4-BE49-F238E27FC236}">
                <a16:creationId xmlns:a16="http://schemas.microsoft.com/office/drawing/2014/main" id="{52A4B841-2327-8B02-D81D-BF780C48159C}"/>
              </a:ext>
            </a:extLst>
          </p:cNvPr>
          <p:cNvGrpSpPr/>
          <p:nvPr/>
        </p:nvGrpSpPr>
        <p:grpSpPr>
          <a:xfrm>
            <a:off x="8632538" y="1316688"/>
            <a:ext cx="1381985" cy="786979"/>
            <a:chOff x="7829469" y="1316688"/>
            <a:chExt cx="1381985" cy="786979"/>
          </a:xfrm>
        </p:grpSpPr>
        <p:grpSp>
          <p:nvGrpSpPr>
            <p:cNvPr id="131" name="Group 130">
              <a:extLst>
                <a:ext uri="{FF2B5EF4-FFF2-40B4-BE49-F238E27FC236}">
                  <a16:creationId xmlns:a16="http://schemas.microsoft.com/office/drawing/2014/main" id="{718E22A7-7C1C-EADE-B3B1-3F1A4C2C686A}"/>
                </a:ext>
              </a:extLst>
            </p:cNvPr>
            <p:cNvGrpSpPr/>
            <p:nvPr/>
          </p:nvGrpSpPr>
          <p:grpSpPr>
            <a:xfrm>
              <a:off x="7829469" y="1316688"/>
              <a:ext cx="1381985" cy="786979"/>
              <a:chOff x="2521324" y="4067735"/>
              <a:chExt cx="2267712" cy="1337983"/>
            </a:xfrm>
          </p:grpSpPr>
          <p:sp>
            <p:nvSpPr>
              <p:cNvPr id="132" name="Rectangle: Rounded Corners 131">
                <a:extLst>
                  <a:ext uri="{FF2B5EF4-FFF2-40B4-BE49-F238E27FC236}">
                    <a16:creationId xmlns:a16="http://schemas.microsoft.com/office/drawing/2014/main" id="{FC5BCAE8-CE64-1955-346C-8CA3A3560D17}"/>
                  </a:ext>
                </a:extLst>
              </p:cNvPr>
              <p:cNvSpPr/>
              <p:nvPr/>
            </p:nvSpPr>
            <p:spPr>
              <a:xfrm>
                <a:off x="2522266" y="4067735"/>
                <a:ext cx="2265829" cy="1337983"/>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3" name="Straight Connector 132">
                <a:extLst>
                  <a:ext uri="{FF2B5EF4-FFF2-40B4-BE49-F238E27FC236}">
                    <a16:creationId xmlns:a16="http://schemas.microsoft.com/office/drawing/2014/main" id="{94B8781A-93F9-8BA5-D7EF-BEF85C03B49B}"/>
                  </a:ext>
                </a:extLst>
              </p:cNvPr>
              <p:cNvCxnSpPr>
                <a:cxnSpLocks/>
              </p:cNvCxnSpPr>
              <p:nvPr/>
            </p:nvCxnSpPr>
            <p:spPr>
              <a:xfrm>
                <a:off x="2521324" y="4492235"/>
                <a:ext cx="2267712"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4" name="TextBox 133">
                <a:extLst>
                  <a:ext uri="{FF2B5EF4-FFF2-40B4-BE49-F238E27FC236}">
                    <a16:creationId xmlns:a16="http://schemas.microsoft.com/office/drawing/2014/main" id="{36BF81AD-0F76-97D2-0B8B-51D12FB2D45A}"/>
                  </a:ext>
                </a:extLst>
              </p:cNvPr>
              <p:cNvSpPr txBox="1"/>
              <p:nvPr/>
            </p:nvSpPr>
            <p:spPr>
              <a:xfrm>
                <a:off x="2959295" y="4067735"/>
                <a:ext cx="1391771" cy="34962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2"/>
                    </a:solidFill>
                    <a:ea typeface="ＭＳ Ｐゴシック" charset="0"/>
                  </a:rPr>
                  <a:t>Activity ID</a:t>
                </a:r>
                <a:endParaRPr lang="en-GB" sz="1000" kern="1200" dirty="0" err="1">
                  <a:solidFill>
                    <a:schemeClr val="accent2"/>
                  </a:solidFill>
                  <a:latin typeface="+mn-lt"/>
                  <a:ea typeface="ＭＳ Ｐゴシック" charset="0"/>
                </a:endParaRPr>
              </a:p>
            </p:txBody>
          </p:sp>
          <p:sp>
            <p:nvSpPr>
              <p:cNvPr id="135" name="TextBox 134">
                <a:extLst>
                  <a:ext uri="{FF2B5EF4-FFF2-40B4-BE49-F238E27FC236}">
                    <a16:creationId xmlns:a16="http://schemas.microsoft.com/office/drawing/2014/main" id="{2AE9D172-7E46-470A-348C-2760C7582EA7}"/>
                  </a:ext>
                </a:extLst>
              </p:cNvPr>
              <p:cNvSpPr txBox="1"/>
              <p:nvPr/>
            </p:nvSpPr>
            <p:spPr>
              <a:xfrm>
                <a:off x="2767025" y="4628544"/>
                <a:ext cx="1776311" cy="57638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US" sz="1000" dirty="0">
                    <a:solidFill>
                      <a:schemeClr val="bg1"/>
                    </a:solidFill>
                    <a:ea typeface="ＭＳ Ｐゴシック" charset="0"/>
                  </a:rPr>
                  <a:t>cc011102</a:t>
                </a:r>
                <a:endParaRPr lang="en-GB" sz="1000" dirty="0" err="1">
                  <a:solidFill>
                    <a:schemeClr val="bg1"/>
                  </a:solidFill>
                  <a:ea typeface="ＭＳ Ｐゴシック" charset="0"/>
                </a:endParaRPr>
              </a:p>
            </p:txBody>
          </p:sp>
        </p:grpSp>
        <p:pic>
          <p:nvPicPr>
            <p:cNvPr id="142" name="Graphic 141" descr="Mandala with solid fill">
              <a:extLst>
                <a:ext uri="{FF2B5EF4-FFF2-40B4-BE49-F238E27FC236}">
                  <a16:creationId xmlns:a16="http://schemas.microsoft.com/office/drawing/2014/main" id="{410895DD-06F7-9273-6C01-9688C37FB2A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883910" y="1338709"/>
              <a:ext cx="235338" cy="235338"/>
            </a:xfrm>
            <a:prstGeom prst="rect">
              <a:avLst/>
            </a:prstGeom>
          </p:spPr>
        </p:pic>
      </p:grpSp>
      <p:pic>
        <p:nvPicPr>
          <p:cNvPr id="146" name="Graphic 145" descr="Steering Wheel with solid fill">
            <a:extLst>
              <a:ext uri="{FF2B5EF4-FFF2-40B4-BE49-F238E27FC236}">
                <a16:creationId xmlns:a16="http://schemas.microsoft.com/office/drawing/2014/main" id="{B1772BBA-0109-A93E-6C52-E0931292C1C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477628" y="3183591"/>
            <a:ext cx="235338" cy="235338"/>
          </a:xfrm>
          <a:prstGeom prst="rect">
            <a:avLst/>
          </a:prstGeom>
        </p:spPr>
      </p:pic>
      <p:grpSp>
        <p:nvGrpSpPr>
          <p:cNvPr id="194" name="Group 193">
            <a:extLst>
              <a:ext uri="{FF2B5EF4-FFF2-40B4-BE49-F238E27FC236}">
                <a16:creationId xmlns:a16="http://schemas.microsoft.com/office/drawing/2014/main" id="{5A6BCB42-7F67-5FDB-29BC-C037E7F0DBA4}"/>
              </a:ext>
            </a:extLst>
          </p:cNvPr>
          <p:cNvGrpSpPr/>
          <p:nvPr/>
        </p:nvGrpSpPr>
        <p:grpSpPr>
          <a:xfrm>
            <a:off x="3396893" y="3182594"/>
            <a:ext cx="1381984" cy="1185319"/>
            <a:chOff x="3396894" y="3315118"/>
            <a:chExt cx="1381984" cy="1185319"/>
          </a:xfrm>
        </p:grpSpPr>
        <p:sp>
          <p:nvSpPr>
            <p:cNvPr id="137" name="Rectangle: Rounded Corners 136">
              <a:extLst>
                <a:ext uri="{FF2B5EF4-FFF2-40B4-BE49-F238E27FC236}">
                  <a16:creationId xmlns:a16="http://schemas.microsoft.com/office/drawing/2014/main" id="{5A93B6C8-D20B-6B9D-6E5D-AF507E304F64}"/>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8" name="Straight Connector 137">
              <a:extLst>
                <a:ext uri="{FF2B5EF4-FFF2-40B4-BE49-F238E27FC236}">
                  <a16:creationId xmlns:a16="http://schemas.microsoft.com/office/drawing/2014/main" id="{A21C0515-7092-A1BE-1C01-D7DBF1F067A3}"/>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39" name="TextBox 138">
              <a:extLst>
                <a:ext uri="{FF2B5EF4-FFF2-40B4-BE49-F238E27FC236}">
                  <a16:creationId xmlns:a16="http://schemas.microsoft.com/office/drawing/2014/main" id="{CF6CEDB6-F199-F840-4D58-D3CCE98A793F}"/>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140" name="TextBox 139">
              <a:extLst>
                <a:ext uri="{FF2B5EF4-FFF2-40B4-BE49-F238E27FC236}">
                  <a16:creationId xmlns:a16="http://schemas.microsoft.com/office/drawing/2014/main" id="{6EDAA90F-76EC-3CC3-CAEA-481065AC4DDC}"/>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oemels001119</a:t>
              </a:r>
              <a:endParaRPr lang="en-GB" sz="1000" dirty="0">
                <a:solidFill>
                  <a:schemeClr val="bg1"/>
                </a:solidFill>
                <a:ea typeface="ＭＳ Ｐゴシック" charset="0"/>
              </a:endParaRPr>
            </a:p>
          </p:txBody>
        </p:sp>
        <p:sp>
          <p:nvSpPr>
            <p:cNvPr id="169" name="TextBox 168">
              <a:extLst>
                <a:ext uri="{FF2B5EF4-FFF2-40B4-BE49-F238E27FC236}">
                  <a16:creationId xmlns:a16="http://schemas.microsoft.com/office/drawing/2014/main" id="{F574CBD3-926A-5E57-A0DB-CA76FD0C67C3}"/>
                </a:ext>
              </a:extLst>
            </p:cNvPr>
            <p:cNvSpPr txBox="1"/>
            <p:nvPr/>
          </p:nvSpPr>
          <p:spPr>
            <a:xfrm>
              <a:off x="3546629" y="3800138"/>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Eloqua Email</a:t>
              </a:r>
              <a:endParaRPr lang="en-GB" sz="1000" dirty="0">
                <a:solidFill>
                  <a:schemeClr val="bg1"/>
                </a:solidFill>
                <a:ea typeface="ＭＳ Ｐゴシック" charset="0"/>
              </a:endParaRPr>
            </a:p>
          </p:txBody>
        </p:sp>
        <p:pic>
          <p:nvPicPr>
            <p:cNvPr id="193" name="Graphic 192" descr="Email with solid fill">
              <a:extLst>
                <a:ext uri="{FF2B5EF4-FFF2-40B4-BE49-F238E27FC236}">
                  <a16:creationId xmlns:a16="http://schemas.microsoft.com/office/drawing/2014/main" id="{8C59B188-419A-4AFF-21C2-1F0792DA7D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0434" y="4051439"/>
              <a:ext cx="354905" cy="354905"/>
            </a:xfrm>
            <a:prstGeom prst="rect">
              <a:avLst/>
            </a:prstGeom>
          </p:spPr>
        </p:pic>
      </p:grpSp>
      <p:grpSp>
        <p:nvGrpSpPr>
          <p:cNvPr id="202" name="Group 201">
            <a:extLst>
              <a:ext uri="{FF2B5EF4-FFF2-40B4-BE49-F238E27FC236}">
                <a16:creationId xmlns:a16="http://schemas.microsoft.com/office/drawing/2014/main" id="{18296FC0-AFDC-D9B3-F4D5-DCA749FBF2E4}"/>
              </a:ext>
            </a:extLst>
          </p:cNvPr>
          <p:cNvGrpSpPr/>
          <p:nvPr/>
        </p:nvGrpSpPr>
        <p:grpSpPr>
          <a:xfrm>
            <a:off x="6014715" y="3182594"/>
            <a:ext cx="1381984" cy="1185319"/>
            <a:chOff x="3396894" y="3315118"/>
            <a:chExt cx="1381984" cy="1185319"/>
          </a:xfrm>
        </p:grpSpPr>
        <p:sp>
          <p:nvSpPr>
            <p:cNvPr id="203" name="Rectangle: Rounded Corners 202">
              <a:extLst>
                <a:ext uri="{FF2B5EF4-FFF2-40B4-BE49-F238E27FC236}">
                  <a16:creationId xmlns:a16="http://schemas.microsoft.com/office/drawing/2014/main" id="{9937708C-80D0-E6EF-BDA9-8A045E1A8774}"/>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04" name="Straight Connector 203">
              <a:extLst>
                <a:ext uri="{FF2B5EF4-FFF2-40B4-BE49-F238E27FC236}">
                  <a16:creationId xmlns:a16="http://schemas.microsoft.com/office/drawing/2014/main" id="{8CD2A290-362D-A354-7D78-8580CA131839}"/>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05" name="TextBox 204">
              <a:extLst>
                <a:ext uri="{FF2B5EF4-FFF2-40B4-BE49-F238E27FC236}">
                  <a16:creationId xmlns:a16="http://schemas.microsoft.com/office/drawing/2014/main" id="{8AE4B923-A592-9C15-2556-698BE6F00B51}"/>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206" name="TextBox 205">
              <a:extLst>
                <a:ext uri="{FF2B5EF4-FFF2-40B4-BE49-F238E27FC236}">
                  <a16:creationId xmlns:a16="http://schemas.microsoft.com/office/drawing/2014/main" id="{AEF27BCF-0878-4BC2-00EA-3A461354AB50}"/>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psexsp001647</a:t>
              </a:r>
              <a:endParaRPr lang="en-GB" sz="1000" dirty="0">
                <a:solidFill>
                  <a:schemeClr val="bg1"/>
                </a:solidFill>
                <a:ea typeface="ＭＳ Ｐゴシック" charset="0"/>
              </a:endParaRPr>
            </a:p>
          </p:txBody>
        </p:sp>
        <p:sp>
          <p:nvSpPr>
            <p:cNvPr id="207" name="TextBox 206">
              <a:extLst>
                <a:ext uri="{FF2B5EF4-FFF2-40B4-BE49-F238E27FC236}">
                  <a16:creationId xmlns:a16="http://schemas.microsoft.com/office/drawing/2014/main" id="{DA06C0BE-D81F-D683-D06A-510C7FD98699}"/>
                </a:ext>
              </a:extLst>
            </p:cNvPr>
            <p:cNvSpPr txBox="1"/>
            <p:nvPr/>
          </p:nvSpPr>
          <p:spPr>
            <a:xfrm>
              <a:off x="3397468" y="3828764"/>
              <a:ext cx="1380836" cy="290764"/>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Google Paid Search</a:t>
              </a:r>
              <a:endParaRPr lang="en-GB" sz="1000" dirty="0">
                <a:solidFill>
                  <a:schemeClr val="bg1"/>
                </a:solidFill>
                <a:ea typeface="ＭＳ Ｐゴシック" charset="0"/>
              </a:endParaRPr>
            </a:p>
          </p:txBody>
        </p:sp>
        <p:pic>
          <p:nvPicPr>
            <p:cNvPr id="208" name="Graphic 207" descr="Cloud Computing with solid fill">
              <a:extLst>
                <a:ext uri="{FF2B5EF4-FFF2-40B4-BE49-F238E27FC236}">
                  <a16:creationId xmlns:a16="http://schemas.microsoft.com/office/drawing/2014/main" id="{4A31CE7A-4903-8BAC-DEC0-0AB7BC2DD23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910434" y="4051439"/>
              <a:ext cx="354905" cy="354905"/>
            </a:xfrm>
            <a:prstGeom prst="rect">
              <a:avLst/>
            </a:prstGeom>
          </p:spPr>
        </p:pic>
      </p:grpSp>
      <p:grpSp>
        <p:nvGrpSpPr>
          <p:cNvPr id="209" name="Group 208">
            <a:extLst>
              <a:ext uri="{FF2B5EF4-FFF2-40B4-BE49-F238E27FC236}">
                <a16:creationId xmlns:a16="http://schemas.microsoft.com/office/drawing/2014/main" id="{F4FF3B93-B5E6-12C9-EAEF-E1E1723519C3}"/>
              </a:ext>
            </a:extLst>
          </p:cNvPr>
          <p:cNvGrpSpPr/>
          <p:nvPr/>
        </p:nvGrpSpPr>
        <p:grpSpPr>
          <a:xfrm>
            <a:off x="8632538" y="3182594"/>
            <a:ext cx="1381984" cy="1185319"/>
            <a:chOff x="3396894" y="3315118"/>
            <a:chExt cx="1381984" cy="1185319"/>
          </a:xfrm>
        </p:grpSpPr>
        <p:sp>
          <p:nvSpPr>
            <p:cNvPr id="210" name="Rectangle: Rounded Corners 209">
              <a:extLst>
                <a:ext uri="{FF2B5EF4-FFF2-40B4-BE49-F238E27FC236}">
                  <a16:creationId xmlns:a16="http://schemas.microsoft.com/office/drawing/2014/main" id="{50948E15-403E-2E55-7FBE-11EB2563D101}"/>
                </a:ext>
              </a:extLst>
            </p:cNvPr>
            <p:cNvSpPr/>
            <p:nvPr/>
          </p:nvSpPr>
          <p:spPr>
            <a:xfrm>
              <a:off x="3397468" y="3315118"/>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11" name="Straight Connector 210">
              <a:extLst>
                <a:ext uri="{FF2B5EF4-FFF2-40B4-BE49-F238E27FC236}">
                  <a16:creationId xmlns:a16="http://schemas.microsoft.com/office/drawing/2014/main" id="{ECFC88AF-BC66-E2FB-3D6D-A172560EAA1D}"/>
                </a:ext>
              </a:extLst>
            </p:cNvPr>
            <p:cNvCxnSpPr>
              <a:cxnSpLocks/>
            </p:cNvCxnSpPr>
            <p:nvPr/>
          </p:nvCxnSpPr>
          <p:spPr>
            <a:xfrm>
              <a:off x="3396894" y="3564802"/>
              <a:ext cx="13819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12" name="TextBox 211">
              <a:extLst>
                <a:ext uri="{FF2B5EF4-FFF2-40B4-BE49-F238E27FC236}">
                  <a16:creationId xmlns:a16="http://schemas.microsoft.com/office/drawing/2014/main" id="{E271D6E2-EFEF-BF6E-F8BD-D5C94658DB47}"/>
                </a:ext>
              </a:extLst>
            </p:cNvPr>
            <p:cNvSpPr txBox="1"/>
            <p:nvPr/>
          </p:nvSpPr>
          <p:spPr>
            <a:xfrm>
              <a:off x="3663801" y="3315118"/>
              <a:ext cx="848170" cy="20564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dirty="0">
                  <a:solidFill>
                    <a:schemeClr val="accent3"/>
                  </a:solidFill>
                  <a:ea typeface="ＭＳ Ｐゴシック" charset="0"/>
                </a:rPr>
                <a:t>Drive To ID</a:t>
              </a:r>
              <a:endParaRPr lang="en-GB" sz="1000" kern="1200" dirty="0" err="1">
                <a:solidFill>
                  <a:schemeClr val="accent3"/>
                </a:solidFill>
                <a:latin typeface="+mn-lt"/>
                <a:ea typeface="ＭＳ Ｐゴシック" charset="0"/>
              </a:endParaRPr>
            </a:p>
          </p:txBody>
        </p:sp>
        <p:sp>
          <p:nvSpPr>
            <p:cNvPr id="213" name="TextBox 212">
              <a:extLst>
                <a:ext uri="{FF2B5EF4-FFF2-40B4-BE49-F238E27FC236}">
                  <a16:creationId xmlns:a16="http://schemas.microsoft.com/office/drawing/2014/main" id="{3A95137C-CAB7-432D-DAB0-B056DBC422A3}"/>
                </a:ext>
              </a:extLst>
            </p:cNvPr>
            <p:cNvSpPr txBox="1"/>
            <p:nvPr/>
          </p:nvSpPr>
          <p:spPr>
            <a:xfrm>
              <a:off x="3546629" y="3581402"/>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psoins001233</a:t>
              </a:r>
              <a:endParaRPr lang="en-GB" sz="1000" dirty="0">
                <a:solidFill>
                  <a:schemeClr val="bg1"/>
                </a:solidFill>
                <a:ea typeface="ＭＳ Ｐゴシック" charset="0"/>
              </a:endParaRPr>
            </a:p>
          </p:txBody>
        </p:sp>
        <p:sp>
          <p:nvSpPr>
            <p:cNvPr id="214" name="TextBox 213">
              <a:extLst>
                <a:ext uri="{FF2B5EF4-FFF2-40B4-BE49-F238E27FC236}">
                  <a16:creationId xmlns:a16="http://schemas.microsoft.com/office/drawing/2014/main" id="{CEF1E726-9B45-AEB2-CD28-338F01CC3A9C}"/>
                </a:ext>
              </a:extLst>
            </p:cNvPr>
            <p:cNvSpPr txBox="1"/>
            <p:nvPr/>
          </p:nvSpPr>
          <p:spPr>
            <a:xfrm>
              <a:off x="3546629" y="3800138"/>
              <a:ext cx="1082515" cy="339019"/>
            </a:xfrm>
            <a:prstGeom prst="rect">
              <a:avLst/>
            </a:prstGeom>
            <a:noFill/>
          </p:spPr>
          <p:txBody>
            <a:bodyPr wrap="square" lIns="0" tIns="0" rIns="0" bIns="0" rtlCol="0" anchor="ctr">
              <a:noAutofit/>
            </a:bodyPr>
            <a:lstStyle/>
            <a:p>
              <a:pPr algn="ctr" defTabSz="912276" fontAlgn="base">
                <a:spcAft>
                  <a:spcPts val="1000"/>
                </a:spcAft>
                <a:buClr>
                  <a:schemeClr val="bg1"/>
                </a:buClr>
                <a:buSzPct val="100000"/>
              </a:pPr>
              <a:r>
                <a:rPr lang="en-GB" sz="1000" dirty="0">
                  <a:solidFill>
                    <a:schemeClr val="bg1"/>
                  </a:solidFill>
                </a:rPr>
                <a:t>Insta Paid Social</a:t>
              </a:r>
              <a:endParaRPr lang="en-GB" sz="1000" dirty="0">
                <a:solidFill>
                  <a:schemeClr val="bg1"/>
                </a:solidFill>
                <a:ea typeface="ＭＳ Ｐゴシック" charset="0"/>
              </a:endParaRPr>
            </a:p>
          </p:txBody>
        </p:sp>
        <p:pic>
          <p:nvPicPr>
            <p:cNvPr id="215" name="Graphic 214" descr="Connections with solid fill">
              <a:extLst>
                <a:ext uri="{FF2B5EF4-FFF2-40B4-BE49-F238E27FC236}">
                  <a16:creationId xmlns:a16="http://schemas.microsoft.com/office/drawing/2014/main" id="{B015F70D-DE6F-F13C-2CAE-C84C8934D41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910434" y="4051439"/>
              <a:ext cx="354905" cy="354905"/>
            </a:xfrm>
            <a:prstGeom prst="rect">
              <a:avLst/>
            </a:prstGeom>
          </p:spPr>
        </p:pic>
      </p:grpSp>
      <p:cxnSp>
        <p:nvCxnSpPr>
          <p:cNvPr id="216" name="Straight Connector 215">
            <a:extLst>
              <a:ext uri="{FF2B5EF4-FFF2-40B4-BE49-F238E27FC236}">
                <a16:creationId xmlns:a16="http://schemas.microsoft.com/office/drawing/2014/main" id="{C95E87B8-CEE2-5521-0035-53B8EC9B4EA4}"/>
              </a:ext>
            </a:extLst>
          </p:cNvPr>
          <p:cNvCxnSpPr>
            <a:cxnSpLocks/>
          </p:cNvCxnSpPr>
          <p:nvPr/>
        </p:nvCxnSpPr>
        <p:spPr>
          <a:xfrm rot="16200000">
            <a:off x="6716023" y="-821325"/>
            <a:ext cx="0" cy="6675120"/>
          </a:xfrm>
          <a:prstGeom prst="line">
            <a:avLst/>
          </a:prstGeom>
          <a:noFill/>
          <a:ln w="44450">
            <a:solidFill>
              <a:schemeClr val="tx2">
                <a:lumMod val="20000"/>
                <a:lumOff val="8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cxnSp>
      <p:pic>
        <p:nvPicPr>
          <p:cNvPr id="3" name="Graphic 2" descr="Steering Wheel with solid fill">
            <a:extLst>
              <a:ext uri="{FF2B5EF4-FFF2-40B4-BE49-F238E27FC236}">
                <a16:creationId xmlns:a16="http://schemas.microsoft.com/office/drawing/2014/main" id="{419BB20F-10BD-0910-C556-AB11EC5220C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083281" y="3178637"/>
            <a:ext cx="235338" cy="235338"/>
          </a:xfrm>
          <a:prstGeom prst="rect">
            <a:avLst/>
          </a:prstGeom>
        </p:spPr>
      </p:pic>
      <p:pic>
        <p:nvPicPr>
          <p:cNvPr id="10" name="Graphic 9" descr="Steering Wheel with solid fill">
            <a:extLst>
              <a:ext uri="{FF2B5EF4-FFF2-40B4-BE49-F238E27FC236}">
                <a16:creationId xmlns:a16="http://schemas.microsoft.com/office/drawing/2014/main" id="{0B4418E2-AADC-AC81-6388-DF93CD445BD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688934" y="3173683"/>
            <a:ext cx="235338" cy="235338"/>
          </a:xfrm>
          <a:prstGeom prst="rect">
            <a:avLst/>
          </a:prstGeom>
        </p:spPr>
      </p:pic>
      <p:cxnSp>
        <p:nvCxnSpPr>
          <p:cNvPr id="14" name="Connector: Elbow 13">
            <a:extLst>
              <a:ext uri="{FF2B5EF4-FFF2-40B4-BE49-F238E27FC236}">
                <a16:creationId xmlns:a16="http://schemas.microsoft.com/office/drawing/2014/main" id="{E5A9F9FC-6BFC-50E3-4405-61275B3A36D8}"/>
              </a:ext>
            </a:extLst>
          </p:cNvPr>
          <p:cNvCxnSpPr>
            <a:stCxn id="6" idx="2"/>
            <a:endCxn id="12" idx="0"/>
          </p:cNvCxnSpPr>
          <p:nvPr/>
        </p:nvCxnSpPr>
        <p:spPr>
          <a:xfrm rot="5400000">
            <a:off x="3353917" y="2477787"/>
            <a:ext cx="1108090" cy="3598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A94CEDFC-26C7-A6C8-C20D-7C474953DE94}"/>
              </a:ext>
            </a:extLst>
          </p:cNvPr>
          <p:cNvGrpSpPr/>
          <p:nvPr/>
        </p:nvGrpSpPr>
        <p:grpSpPr>
          <a:xfrm>
            <a:off x="3393534" y="3204615"/>
            <a:ext cx="1380836" cy="1185319"/>
            <a:chOff x="3378463" y="4617597"/>
            <a:chExt cx="1380836" cy="1185319"/>
          </a:xfrm>
        </p:grpSpPr>
        <p:sp>
          <p:nvSpPr>
            <p:cNvPr id="11" name="Rectangle: Rounded Corners 10">
              <a:extLst>
                <a:ext uri="{FF2B5EF4-FFF2-40B4-BE49-F238E27FC236}">
                  <a16:creationId xmlns:a16="http://schemas.microsoft.com/office/drawing/2014/main" id="{4B69443A-72FB-F1E9-DB26-C0C554DA7FF5}"/>
                </a:ext>
              </a:extLst>
            </p:cNvPr>
            <p:cNvSpPr/>
            <p:nvPr/>
          </p:nvSpPr>
          <p:spPr>
            <a:xfrm>
              <a:off x="3378463" y="4617597"/>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 name="Oval 11">
              <a:extLst>
                <a:ext uri="{FF2B5EF4-FFF2-40B4-BE49-F238E27FC236}">
                  <a16:creationId xmlns:a16="http://schemas.microsoft.com/office/drawing/2014/main" id="{A8F8FD77-07F5-AE02-EA54-603159768EAB}"/>
                </a:ext>
              </a:extLst>
            </p:cNvPr>
            <p:cNvSpPr/>
            <p:nvPr/>
          </p:nvSpPr>
          <p:spPr>
            <a:xfrm>
              <a:off x="3614232" y="4624739"/>
              <a:ext cx="197467" cy="182880"/>
            </a:xfrm>
            <a:prstGeom prst="ellipse">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5" name="Oval 14">
              <a:extLst>
                <a:ext uri="{FF2B5EF4-FFF2-40B4-BE49-F238E27FC236}">
                  <a16:creationId xmlns:a16="http://schemas.microsoft.com/office/drawing/2014/main" id="{8BA9355E-0AB8-26C7-AB5A-0A7B2C1E66F9}"/>
                </a:ext>
              </a:extLst>
            </p:cNvPr>
            <p:cNvSpPr/>
            <p:nvPr/>
          </p:nvSpPr>
          <p:spPr>
            <a:xfrm>
              <a:off x="3939587" y="4617597"/>
              <a:ext cx="197467" cy="182880"/>
            </a:xfrm>
            <a:prstGeom prst="ellipse">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cxnSp>
        <p:nvCxnSpPr>
          <p:cNvPr id="19" name="Connector: Elbow 18">
            <a:extLst>
              <a:ext uri="{FF2B5EF4-FFF2-40B4-BE49-F238E27FC236}">
                <a16:creationId xmlns:a16="http://schemas.microsoft.com/office/drawing/2014/main" id="{34E211B2-A09A-C64E-4A56-19B9E31AD39C}"/>
              </a:ext>
            </a:extLst>
          </p:cNvPr>
          <p:cNvCxnSpPr>
            <a:stCxn id="6" idx="2"/>
            <a:endCxn id="17" idx="0"/>
          </p:cNvCxnSpPr>
          <p:nvPr/>
        </p:nvCxnSpPr>
        <p:spPr>
          <a:xfrm rot="16200000" flipH="1">
            <a:off x="4706727" y="1484827"/>
            <a:ext cx="1072237" cy="23099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F270A1C5-8E98-CBD4-E0FB-13C60BE990ED}"/>
              </a:ext>
            </a:extLst>
          </p:cNvPr>
          <p:cNvGrpSpPr/>
          <p:nvPr/>
        </p:nvGrpSpPr>
        <p:grpSpPr>
          <a:xfrm>
            <a:off x="8621232" y="3193850"/>
            <a:ext cx="1380836" cy="1188093"/>
            <a:chOff x="8633112" y="4652850"/>
            <a:chExt cx="1380836" cy="1188093"/>
          </a:xfrm>
        </p:grpSpPr>
        <p:sp>
          <p:nvSpPr>
            <p:cNvPr id="20" name="Rectangle: Rounded Corners 19">
              <a:extLst>
                <a:ext uri="{FF2B5EF4-FFF2-40B4-BE49-F238E27FC236}">
                  <a16:creationId xmlns:a16="http://schemas.microsoft.com/office/drawing/2014/main" id="{078469BC-B9C3-4E08-3EAB-567F202752E3}"/>
                </a:ext>
              </a:extLst>
            </p:cNvPr>
            <p:cNvSpPr/>
            <p:nvPr/>
          </p:nvSpPr>
          <p:spPr>
            <a:xfrm>
              <a:off x="8633112" y="4655624"/>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1" name="Oval 20">
              <a:extLst>
                <a:ext uri="{FF2B5EF4-FFF2-40B4-BE49-F238E27FC236}">
                  <a16:creationId xmlns:a16="http://schemas.microsoft.com/office/drawing/2014/main" id="{CFE0D742-3D73-3459-4887-8C7B8D122D09}"/>
                </a:ext>
              </a:extLst>
            </p:cNvPr>
            <p:cNvSpPr/>
            <p:nvPr/>
          </p:nvSpPr>
          <p:spPr>
            <a:xfrm>
              <a:off x="8922317" y="4652850"/>
              <a:ext cx="197467" cy="182880"/>
            </a:xfrm>
            <a:prstGeom prst="ellipse">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cxnSp>
        <p:nvCxnSpPr>
          <p:cNvPr id="23" name="Connector: Elbow 22">
            <a:extLst>
              <a:ext uri="{FF2B5EF4-FFF2-40B4-BE49-F238E27FC236}">
                <a16:creationId xmlns:a16="http://schemas.microsoft.com/office/drawing/2014/main" id="{27D7353D-CC27-F429-32B8-AFFE8196E7ED}"/>
              </a:ext>
            </a:extLst>
          </p:cNvPr>
          <p:cNvCxnSpPr>
            <a:cxnSpLocks/>
            <a:stCxn id="127" idx="2"/>
            <a:endCxn id="139" idx="0"/>
          </p:cNvCxnSpPr>
          <p:nvPr/>
        </p:nvCxnSpPr>
        <p:spPr>
          <a:xfrm rot="5400000">
            <a:off x="4857334" y="1334219"/>
            <a:ext cx="1078927" cy="26178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35B5A40-8C33-BC3E-7749-B6822DD20540}"/>
              </a:ext>
            </a:extLst>
          </p:cNvPr>
          <p:cNvCxnSpPr>
            <a:stCxn id="127" idx="2"/>
            <a:endCxn id="21" idx="0"/>
          </p:cNvCxnSpPr>
          <p:nvPr/>
        </p:nvCxnSpPr>
        <p:spPr>
          <a:xfrm rot="16200000" flipH="1">
            <a:off x="7312348" y="1497026"/>
            <a:ext cx="1090183" cy="2303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76430097-8AC7-8D89-3B9F-F2EE34EFC018}"/>
              </a:ext>
            </a:extLst>
          </p:cNvPr>
          <p:cNvGrpSpPr/>
          <p:nvPr/>
        </p:nvGrpSpPr>
        <p:grpSpPr>
          <a:xfrm>
            <a:off x="6014141" y="3170859"/>
            <a:ext cx="1380836" cy="1190364"/>
            <a:chOff x="5965059" y="4686251"/>
            <a:chExt cx="1380836" cy="1190364"/>
          </a:xfrm>
        </p:grpSpPr>
        <p:sp>
          <p:nvSpPr>
            <p:cNvPr id="16" name="Rectangle: Rounded Corners 15">
              <a:extLst>
                <a:ext uri="{FF2B5EF4-FFF2-40B4-BE49-F238E27FC236}">
                  <a16:creationId xmlns:a16="http://schemas.microsoft.com/office/drawing/2014/main" id="{EF041918-7615-2FAC-A462-8F28EDD111B1}"/>
                </a:ext>
              </a:extLst>
            </p:cNvPr>
            <p:cNvSpPr/>
            <p:nvPr/>
          </p:nvSpPr>
          <p:spPr>
            <a:xfrm>
              <a:off x="5965059" y="4691296"/>
              <a:ext cx="1380836" cy="1185319"/>
            </a:xfrm>
            <a:prstGeom prst="roundRect">
              <a:avLst/>
            </a:prstGeom>
            <a:noFill/>
            <a:ln w="15875">
              <a:solidFill>
                <a:schemeClr val="accent6">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7" name="Oval 16">
              <a:extLst>
                <a:ext uri="{FF2B5EF4-FFF2-40B4-BE49-F238E27FC236}">
                  <a16:creationId xmlns:a16="http://schemas.microsoft.com/office/drawing/2014/main" id="{0C6720D3-B850-AD61-5CAC-87BE590944A6}"/>
                </a:ext>
              </a:extLst>
            </p:cNvPr>
            <p:cNvSpPr/>
            <p:nvPr/>
          </p:nvSpPr>
          <p:spPr>
            <a:xfrm>
              <a:off x="6249987" y="4691296"/>
              <a:ext cx="197467" cy="182880"/>
            </a:xfrm>
            <a:prstGeom prst="ellipse">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6" name="Oval 25">
              <a:extLst>
                <a:ext uri="{FF2B5EF4-FFF2-40B4-BE49-F238E27FC236}">
                  <a16:creationId xmlns:a16="http://schemas.microsoft.com/office/drawing/2014/main" id="{2335D029-036F-6249-F9CC-ECBA7E1C2689}"/>
                </a:ext>
              </a:extLst>
            </p:cNvPr>
            <p:cNvSpPr/>
            <p:nvPr/>
          </p:nvSpPr>
          <p:spPr>
            <a:xfrm>
              <a:off x="6780352" y="4686251"/>
              <a:ext cx="197467" cy="182880"/>
            </a:xfrm>
            <a:prstGeom prst="ellipse">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cxnSp>
        <p:nvCxnSpPr>
          <p:cNvPr id="28" name="Connector: Elbow 27">
            <a:extLst>
              <a:ext uri="{FF2B5EF4-FFF2-40B4-BE49-F238E27FC236}">
                <a16:creationId xmlns:a16="http://schemas.microsoft.com/office/drawing/2014/main" id="{23B56B28-105F-C763-F7DB-011E05603243}"/>
              </a:ext>
            </a:extLst>
          </p:cNvPr>
          <p:cNvCxnSpPr>
            <a:stCxn id="132" idx="2"/>
            <a:endCxn id="26" idx="0"/>
          </p:cNvCxnSpPr>
          <p:nvPr/>
        </p:nvCxnSpPr>
        <p:spPr>
          <a:xfrm rot="5400000">
            <a:off x="7592254" y="1439582"/>
            <a:ext cx="1067192" cy="23953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22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R3Z3N" val="04c5cae0-5854-4bfb-90de-0538ce5ee3ac"/>
</p:tagLst>
</file>

<file path=ppt/tags/tag2.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3.xml><?xml version="1.0" encoding="utf-8"?>
<p:tagLst xmlns:a="http://schemas.openxmlformats.org/drawingml/2006/main" xmlns:r="http://schemas.openxmlformats.org/officeDocument/2006/relationships" xmlns:p="http://schemas.openxmlformats.org/presentationml/2006/main">
  <p:tag name="PR3Z3N" val="3e662c30-33ad-4448-9c60-6c7472ec52d5"/>
</p:tagLst>
</file>

<file path=ppt/tags/tag4.xml><?xml version="1.0" encoding="utf-8"?>
<p:tagLst xmlns:a="http://schemas.openxmlformats.org/drawingml/2006/main" xmlns:r="http://schemas.openxmlformats.org/officeDocument/2006/relationships" xmlns:p="http://schemas.openxmlformats.org/presentationml/2006/main">
  <p:tag name="PR3Z3N" val="f01732bc-3441-40b0-b196-d7b6fc147a5f"/>
</p:tagLst>
</file>

<file path=ppt/tags/tag5.xml><?xml version="1.0" encoding="utf-8"?>
<p:tagLst xmlns:a="http://schemas.openxmlformats.org/drawingml/2006/main" xmlns:r="http://schemas.openxmlformats.org/officeDocument/2006/relationships" xmlns:p="http://schemas.openxmlformats.org/presentationml/2006/main">
  <p:tag name="PR3Z3N" val="c8ce80b5-4a7e-4c52-ae84-840bc3e45cc0"/>
</p:tagLst>
</file>

<file path=ppt/tags/tag6.xml><?xml version="1.0" encoding="utf-8"?>
<p:tagLst xmlns:a="http://schemas.openxmlformats.org/drawingml/2006/main" xmlns:r="http://schemas.openxmlformats.org/officeDocument/2006/relationships" xmlns:p="http://schemas.openxmlformats.org/presentationml/2006/main">
  <p:tag name="PR3Z3N" val="2dba0975-2a50-45c4-a9c9-193d6d5bbe87"/>
</p:tagLst>
</file>

<file path=ppt/tags/tag7.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8.xml><?xml version="1.0" encoding="utf-8"?>
<p:tagLst xmlns:a="http://schemas.openxmlformats.org/drawingml/2006/main" xmlns:r="http://schemas.openxmlformats.org/officeDocument/2006/relationships" xmlns:p="http://schemas.openxmlformats.org/presentationml/2006/main">
  <p:tag name="PR3Z3N" val="ea878ca3-02d7-40c0-a85c-26d69349f7d0"/>
</p:tagLst>
</file>

<file path=ppt/tags/tag9.xml><?xml version="1.0" encoding="utf-8"?>
<p:tagLst xmlns:a="http://schemas.openxmlformats.org/drawingml/2006/main" xmlns:r="http://schemas.openxmlformats.org/officeDocument/2006/relationships" xmlns:p="http://schemas.openxmlformats.org/presentationml/2006/main">
  <p:tag name="PR3Z3N" val="e7734f56-076a-4261-828b-bc2793cb955e"/>
</p:tagLst>
</file>

<file path=ppt/tags/tag10.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11.xml><?xml version="1.0" encoding="utf-8"?>
<p:tagLst xmlns:a="http://schemas.openxmlformats.org/drawingml/2006/main" xmlns:r="http://schemas.openxmlformats.org/officeDocument/2006/relationships" xmlns:p="http://schemas.openxmlformats.org/presentationml/2006/main">
  <p:tag name="PR3Z3N" val="51df8a30-f5a2-4597-a665-713e28302360"/>
</p:tagLst>
</file>

<file path=ppt/tags/tag12.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13.xml><?xml version="1.0" encoding="utf-8"?>
<p:tagLst xmlns:a="http://schemas.openxmlformats.org/drawingml/2006/main" xmlns:r="http://schemas.openxmlformats.org/officeDocument/2006/relationships" xmlns:p="http://schemas.openxmlformats.org/presentationml/2006/main">
  <p:tag name="PR3Z3N" val="79bbc4ea-9570-4fda-a4c6-6580807adcb9"/>
</p:tagLst>
</file>

<file path=ppt/tags/tag14.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5.xml><?xml version="1.0" encoding="utf-8"?>
<p:tagLst xmlns:a="http://schemas.openxmlformats.org/drawingml/2006/main" xmlns:r="http://schemas.openxmlformats.org/officeDocument/2006/relationships" xmlns:p="http://schemas.openxmlformats.org/presentationml/2006/main">
  <p:tag name="PR3Z3N" val="fbfe69f5-d7b7-46b4-80d1-b9ab0160c87d"/>
</p:tagLst>
</file>

<file path=ppt/tags/tag16.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7.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8.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19.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20.xml><?xml version="1.0" encoding="utf-8"?>
<p:tagLst xmlns:a="http://schemas.openxmlformats.org/drawingml/2006/main" xmlns:r="http://schemas.openxmlformats.org/officeDocument/2006/relationships" xmlns:p="http://schemas.openxmlformats.org/presentationml/2006/main">
  <p:tag name="PR3Z3N" val="ebf9c9c1-269b-49cd-b74c-1fef83f6110f"/>
</p:tagLst>
</file>

<file path=ppt/tags/tag21.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ags/tag22.xml><?xml version="1.0" encoding="utf-8"?>
<p:tagLst xmlns:a="http://schemas.openxmlformats.org/drawingml/2006/main" xmlns:r="http://schemas.openxmlformats.org/officeDocument/2006/relationships" xmlns:p="http://schemas.openxmlformats.org/presentationml/2006/main">
  <p:tag name="PR3Z3N" val="072b375d-5ff5-4548-8cad-a1442fa61234"/>
</p:tagLst>
</file>

<file path=ppt/theme/theme1.xml><?xml version="1.0" encoding="utf-8"?>
<a:theme xmlns:a="http://schemas.openxmlformats.org/drawingml/2006/main" name="FY26 Cisco Default Lite">
  <a:themeElements>
    <a:clrScheme name="Cisco Light 04-16-2025">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FY26 Cisco Default Lite" id="{F6C7F7AC-E1D6-45EE-8B20-455D1551AF7D}" vid="{CB715792-BBCD-4822-A472-92D55CCFFC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39D6B2EE83DB14EAE4D4E887B3F81DB" ma:contentTypeVersion="11" ma:contentTypeDescription="Create a new document." ma:contentTypeScope="" ma:versionID="7cfedeb2a821f50de8ec69fdca3c6975">
  <xsd:schema xmlns:xsd="http://www.w3.org/2001/XMLSchema" xmlns:xs="http://www.w3.org/2001/XMLSchema" xmlns:p="http://schemas.microsoft.com/office/2006/metadata/properties" xmlns:ns2="6223803d-db04-4a26-90f0-03146355f1f7" xmlns:ns3="4870b60d-91a9-42aa-92e9-819e01b9fe5e" targetNamespace="http://schemas.microsoft.com/office/2006/metadata/properties" ma:root="true" ma:fieldsID="c55c233f9708fa5900bc8b0973ab318a" ns2:_="" ns3:_="">
    <xsd:import namespace="6223803d-db04-4a26-90f0-03146355f1f7"/>
    <xsd:import namespace="4870b60d-91a9-42aa-92e9-819e01b9fe5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23803d-db04-4a26-90f0-03146355f1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70b60d-91a9-42aa-92e9-819e01b9fe5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FBF91C-F517-4E7A-A244-7AD1DF409265}">
  <ds:schemaRefs>
    <ds:schemaRef ds:uri="6223803d-db04-4a26-90f0-03146355f1f7"/>
    <ds:schemaRef ds:uri="http://schemas.openxmlformats.org/package/2006/metadata/core-properties"/>
    <ds:schemaRef ds:uri="http://schemas.microsoft.com/office/2006/metadata/properties"/>
    <ds:schemaRef ds:uri="http://purl.org/dc/elements/1.1/"/>
    <ds:schemaRef ds:uri="4870b60d-91a9-42aa-92e9-819e01b9fe5e"/>
    <ds:schemaRef ds:uri="http://purl.org/dc/terms/"/>
    <ds:schemaRef ds:uri="http://schemas.microsoft.com/office/2006/documentManagement/typ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BEDC515B-992C-43E2-9B90-3C6BDE7FC6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23803d-db04-4a26-90f0-03146355f1f7"/>
    <ds:schemaRef ds:uri="4870b60d-91a9-42aa-92e9-819e01b9fe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5A0EF1-5509-40F7-9EEA-8C5148581DB5}">
  <ds:schemaRefs>
    <ds:schemaRef ds:uri="http://schemas.microsoft.com/sharepoint/v3/contenttype/forms"/>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Default Theme</Template>
  <TotalTime>4397</TotalTime>
  <Words>2456</Words>
  <Application>Microsoft Office PowerPoint</Application>
  <PresentationFormat>Widescreen</PresentationFormat>
  <Paragraphs>334</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CiscoSansTT Medium</vt:lpstr>
      <vt:lpstr>CiscoSansTT</vt:lpstr>
      <vt:lpstr>ＭＳ Ｐゴシック</vt:lpstr>
      <vt:lpstr>Aptos</vt:lpstr>
      <vt:lpstr>Calibri</vt:lpstr>
      <vt:lpstr>Wingdings</vt:lpstr>
      <vt:lpstr>FY26 Cisco Default Lite</vt:lpstr>
      <vt:lpstr>Tagging &amp; Tracking Overview</vt:lpstr>
      <vt:lpstr>Module1: Introduction &amp; Overview</vt:lpstr>
      <vt:lpstr>PowerPoint Presentation</vt:lpstr>
      <vt:lpstr>Strategic Value of Tagging &amp; Tracking</vt:lpstr>
      <vt:lpstr>Tracking ID Types</vt:lpstr>
      <vt:lpstr>Module2: Activity IDs</vt:lpstr>
      <vt:lpstr>Operational Impact of an Activity ID</vt:lpstr>
      <vt:lpstr>Structure of an Activity ID</vt:lpstr>
      <vt:lpstr>Create Multiple IDs for Each of your Campaigns</vt:lpstr>
      <vt:lpstr>Technology Insights Reporting</vt:lpstr>
      <vt:lpstr>VDC Executive Overview</vt:lpstr>
      <vt:lpstr>Self Service Deep Dive</vt:lpstr>
      <vt:lpstr>Seller Enablement</vt:lpstr>
      <vt:lpstr>Module 3: Drive To &amp; Offer IDs</vt:lpstr>
      <vt:lpstr>Structure of a Drive To ID</vt:lpstr>
      <vt:lpstr>Structure of an Offer ID</vt:lpstr>
      <vt:lpstr>Anatomy of a Deal</vt:lpstr>
      <vt:lpstr>Vehicle Demand Performance</vt:lpstr>
      <vt:lpstr>Content Impact Scorecard</vt:lpstr>
      <vt:lpstr>ID Combinations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Chenery (achenery)</dc:creator>
  <cp:lastModifiedBy>Amanda Chenery (achenery)</cp:lastModifiedBy>
  <cp:revision>2</cp:revision>
  <dcterms:created xsi:type="dcterms:W3CDTF">2026-06-16T14:36:29Z</dcterms:created>
  <dcterms:modified xsi:type="dcterms:W3CDTF">2026-06-25T10:03:04Z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0x010100A39D6B2EE83DB14EAE4D4E887B3F81DB</vt:lpwstr>
  </property>
</Properties>
</file>