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6984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005596"/>
                </a:solidFill>
              </a:defRPr>
            </a:pPr>
            <a:r>
              <a:t>FY27 Campaign Tagging and Tracking Training</a:t>
            </a:r>
          </a:p>
          <a:p>
            <a:pPr>
              <a:defRPr sz="1800">
                <a:solidFill>
                  <a:srgbClr val="5C7080"/>
                </a:solidFill>
              </a:defRPr>
            </a:pPr>
            <a:r>
              <a:t>Repository-backed draft for FY27 training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880360"/>
            <a:ext cx="10881360" cy="192024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Campaign Tagging IDs, Tracking IDs, and UTM parameters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Why the framework changed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How to build correct tracking URLs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Impacts of incorrect tagging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FY27 precedence and persistence discussion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This deck is based on repository content current as of the May 13, 2026 update. The repo source states that Cisco is in an active transition from the legacy CCID/DTID system to a UTM-based framework.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What users should know by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Which identifiers and UTM parameters are required today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When Workfront should generate the tracking URL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When Stensul or the Manual URL Builder may be used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Which channels require utm_creative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Why utm_medium and utm_source must be standardized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How incorrect values affect attribution, reporting, and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Position this as practical enablement: users should leave knowing when to rely on automation and when to escalate instead of improvising.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Why campaign tagging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Every channel activation that drives traffic to a Cisco central marketing-owned property needs a properly formatted tracking URL.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Campaign tagging connects the activation to the system of record.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Tracking IDs and UTM values give analytics consistent dimensions for campaign, channel, vendor, and creative reporting.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Standardization reduces manual query-string errors and inconsistent channel classification.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Repository source: Workfront is the centralized intake tool for campaign activation tracking URL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Why UTMs were introduced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Cisco is transitioning from the legacy CCID/DTID tracking system to a UTM-based framework.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Current state is hybrid: legacy IDs and UTM values are both required.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Future state: Workfront Channel IDs will replace ccid in utm_id.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Future state: dtid will be replaced by utm_source and utm_medium.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 values support standardized analytics across Workfront, Stensul, and Manual URL Builder 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Keep this slide focused on the business reason: UTMs make channel and vendor attribution explicit and standardized.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Current-state URL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Every standard tracking URL must include: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ccid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dtid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utm_id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utm_medium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utm_source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Conditional: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utm_creative is required only for Paid Direct, Paid Programmatic, and Paid Social.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utm_campaign is optional and reserved for future use; omit it for standard tracking URLs today.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Source deck detail: utm_campaign omission is not a defect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What each required value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Value | Purpose | Training takeaway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ccid | Identifies the channel activation in the system of record | Required on every tracking URL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dtid | Identifies channel and platform/vendor in the legacy framework | Required during current hybrid state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utm_id | Passes the campaign identifier into analytics | Must equal ccid exactly today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utm_medium | Identifies the marketing channel | Highest-priority channel classification input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utm_source | Identifies vendor or platform within the channel | Must come from approved 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Reinforce that ccid and utm_id are the same identifier passed in two ways in the current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When to use Campaign Tagging and Tracking 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Use ccid and dtid for: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All activations in the current hybrid state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Reporting that still depends on legacy campaign and channel identifiers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Maintaining continuity while Workfront Channel IDs and UTM-based attribution mature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Do not: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Drop ccid or dtid before future-state guidance says they are retired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Create new ID formats outside the approved standard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Let utm_id differ from ccid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ccid must start with cc and be 8 characters long, for example cc008317.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When to use UTM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Use UTMs whenever an activation drives traffic to a Cisco central marketing-owned property.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Required today: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utm_id: campaign/activation identifier; equals ccid today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utm_medium: channel classification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utm_source: platform/vendor classification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Conditional: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utm_creative=%ecid!: only for Paid Direct, Paid Programmatic, and Paid Social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Reserved: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utm_campaign: future use; omit today unless the standard changes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UTMs can be created via Workfront, Stensul, and Manual URL Builder, but the same value rules apply.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Use the right build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Situation | Recommended path | Why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Workfront channel activation | Workfront-generated URL | Centralized intake and mapping source of truth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Email or other supported non-Workfront flow | Stensul when applicable | Same UTM rules, managed by the owning team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External web referral or exception | Manual URL Builder | web-referral is manual-build only today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Missing source/medium option | Escalate for mapping update | Avoid creating unapproved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Source says Workfront execution source of truth is Source and Mediums.xlsx. If source documents differ, Source and Mediums.xlsx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Global tagging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All UTM values must be lowercase.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Use hyphens instead of spaces.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Omit empty parameters entirely.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utm_id must always match ccid.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No spaces or special characters (&amp;, %, ?, =) in values.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Use approved values; do not create local variants.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Examples: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Correct: paid-social, technologyadvice, security-info-watch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Incorrect: Paid Social, Technology Advice, security_info_watch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The query string itself uses &amp;, %, ?, and =, but parameter values should not include those characters except the required %ecid! macro for utm_creative.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Approved `utm_medium`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paid-direct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programmatic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cpc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paid-social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social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syndication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ratings-reviews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email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direct-mail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web-referral</a:t>
            </a:r>
          </a:p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Important: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web-referral is for URL generator or manual builds only.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No Workfront project type exists for web referral today.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utm_medium is auto-populated based on channel type, not a user-facing dropdown.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`utm_source` depends on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utm_source identifies the vendor or platform within the channel.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Examples: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Email: eloqua, marketo, salesforce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Paid Direct: bloomberg, foundry, techtarget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Programmatic: dv360, youtube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Paid Social / Organic Social: linkedin, reddit, x, youtube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Paid Search: google, bing, baidu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Ratings and Reviews: g2, gartner, trustradius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Syndication: activate, technologyadvice, netline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A value can appear in more than one channel, such as foundry or trustradius; the combination of source and medium gives the reporting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Channel-specific rules users often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Paid Programmatic: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Show only DV360 and YouTube in Workfront today.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TradeDesk is reserved for future use and hidden in the UI.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Always append utm_creative=%ecid!.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Paid Direct, Paid Programmatic, Paid Social: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Require utm_creative=%ecid!.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Direct Mail: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No approved utm_source list exists yet.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Use lowercase and hyphens until standardized values are published.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Paid Direct legacy sources:</a:t>
            </a:r>
          </a:p>
          <a:p>
            <a:pPr lvl="1"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Under review; do not add new activations using those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Users should not use legacy sources for new activations unless governance explicitly approves.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Precedence and persistence logic - FY27 edit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078992"/>
            <a:ext cx="10881360" cy="594360"/>
          </a:xfrm>
          <a:prstGeom prst="roundRect">
            <a:avLst/>
          </a:prstGeom>
          <a:solidFill>
            <a:srgbClr val="E2F0FA"/>
          </a:solidFill>
          <a:ln>
            <a:solidFill>
              <a:srgbClr val="005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05596"/>
                </a:solidFill>
              </a:defRPr>
            </a:pPr>
            <a:r>
              <a:t>Key repository-backed rule: utm_medium is the highest-priority channel classification input.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10881360" cy="37033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Training implication: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If utm_medium is missing, inconsistent, or manually changed, channel reporting can be misclassified.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If utm_source does not match the selected channel context, vendor/platform reporting can be split or incorrectly grouped.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If persisted values are retained downstream, early mistakes may continue to affect reporting until corrected.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FY27 owner edits: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Add the current FY27 precedence order here.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Add the current FY27 persistence rules here.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Add any exceptions by channel, tool, or reporting surface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The repository does not include the full FY27 persistence specification. Keep this slide as the update point when that logic is finalized.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What happens when tagging 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097280"/>
            <a:ext cx="10881360" cy="530352"/>
          </a:xfrm>
          <a:prstGeom prst="roundRect">
            <a:avLst/>
          </a:prstGeom>
          <a:solidFill>
            <a:srgbClr val="FFF3E0"/>
          </a:solidFill>
          <a:ln>
            <a:solidFill>
              <a:srgbClr val="D6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D67800"/>
                </a:solidFill>
              </a:defRPr>
            </a:pPr>
            <a:r>
              <a:t>Bad tags create bad data; bad data drives the wrong optimization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83080"/>
            <a:ext cx="10881360" cy="3749039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Campaign activity to be disconnected from the system of record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utm_id and ccid mismatch, breaking campaign-level attribution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Channel misclassification when utm_medium is wrong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Vendor/platform reporting errors when utm_source is wrong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Creative reporting gaps when required utm_creative is missing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Duplicate reporting buckets caused by capitalization, spaces, or local naming variants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Cleanup work for Marketing Operations, Analytics, and Workfront teams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Anchor this in business impact: bad tags create bad data, and bad data drives the wrong optimization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Example - correct paid social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Scenario: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Channel: Paid Social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Platform: LinkedIn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CCID: cc008317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DTID: ppdllin001650</a:t>
            </a:r>
          </a:p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Correct format:</a:t>
            </a:r>
          </a:p>
          <a:p>
            <a:pPr>
              <a:spcAft>
                <a:spcPts val="300"/>
              </a:spcAft>
              <a:defRPr sz="1100">
                <a:solidFill>
                  <a:srgbClr val="008060"/>
                </a:solidFill>
                <a:latin typeface="Courier New"/>
              </a:defRPr>
            </a:pPr>
            <a:r>
              <a:t>URL?ccid=cc008317&amp;dtid=ppdllin001650&amp;utm_id=cc008317&amp;utm_medium=paid-social&amp;utm_source=linkedin&amp;utm_creative=%ecid!</a:t>
            </a:r>
          </a:p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Why it works: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utm_id equals ccid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utm_medium uses approved channel value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utm_source uses approved social platform value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utm_creative is included because Paid Social requires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Use this as the walkthrough example for query-string order and conditional creative tagging.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Example - correct email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Scenario: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Channel: Email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Platform: Eloqua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CCID: cc008317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DTID: approved email DTID from intake</a:t>
            </a:r>
          </a:p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Correct format:</a:t>
            </a:r>
          </a:p>
          <a:p>
            <a:pPr>
              <a:spcAft>
                <a:spcPts val="300"/>
              </a:spcAft>
              <a:defRPr sz="1100">
                <a:solidFill>
                  <a:srgbClr val="008060"/>
                </a:solidFill>
                <a:latin typeface="Courier New"/>
              </a:defRPr>
            </a:pPr>
            <a:r>
              <a:t>URL?ccid=cc008317&amp;dtid=[dtid]&amp;utm_id=cc008317&amp;utm_medium=email&amp;utm_source=eloqua</a:t>
            </a:r>
          </a:p>
          <a:p>
            <a:pPr>
              <a:spcAft>
                <a:spcPts val="300"/>
              </a:spcAft>
              <a:defRPr sz="1300" b="1">
                <a:solidFill>
                  <a:srgbClr val="005596"/>
                </a:solidFill>
              </a:defRPr>
            </a:pPr>
            <a:r>
              <a:t>Why it works: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Email does not require utm_creative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utm_source is an approved email platform</a:t>
            </a:r>
          </a:p>
          <a:p>
            <a:pPr>
              <a:spcAft>
                <a:spcPts val="300"/>
              </a:spcAft>
              <a:defRPr sz="1300">
                <a:solidFill>
                  <a:srgbClr val="1F2937"/>
                </a:solidFill>
              </a:defRPr>
            </a:pPr>
            <a:r>
              <a:t>Empty or future-only parameters are omitted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The source document lists email source values but does not list email DTID values in the provided DTID table; keep DTID populated from approved intake/mapping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Incorrect examples and impacts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Incorrect pattern | Impact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utm_medium=Paid Social | Creates inconsistent channel classification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utm_medium=social for paid social | Paid activity may report as organic social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utm_source=LinkedIn Ads | Splits platform reporting from approved linkedin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utm_id=cc008318 while ccid=cc008317 | Campaign attribution mismatch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Missing utm_creative on Paid Direct | Creative-level attribution gap</a:t>
            </a:r>
          </a:p>
          <a:p>
            <a:pPr>
              <a:spcAft>
                <a:spcPts val="300"/>
              </a:spcAft>
              <a:defRPr sz="1300">
                <a:solidFill>
                  <a:srgbClr val="5C7080"/>
                </a:solidFill>
              </a:defRPr>
            </a:pPr>
            <a:r>
              <a:t>Empty parameter like utm_campaign= | Adds noise; omit future-only or empty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These are training examples based on the rules in the repository 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User checklist before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Before a URL is used, confirm: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The build path is correct: Workfront, Stensul, or Manual URL Builder.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ccid, dtid, utm_id, utm_medium, and utm_source are present.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utm_id exactly matches ccid.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utm_medium is one of the approved values.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utm_source is approved for the channel.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utm_creative=%ecid! is included only when required.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Values are lowercase and hyphenated.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Empty parameters are omitted.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This can become a one-page job aid for launch readiness.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5596"/>
                </a:solidFill>
              </a:defRPr>
            </a:pPr>
            <a:r>
              <a:t>Where to go for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881360" cy="45262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Workfront intake mappings: Source and Mediums.xlsx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Repository source document: UTM Framework New Training.md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Generated training deck: FY27 Tagging and Tracking Training Deck.pptx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Editable deck source: FY27 Tagging and Tracking Training Deck.md</a:t>
            </a:r>
          </a:p>
          <a:p>
            <a:pPr>
              <a:spcAft>
                <a:spcPts val="300"/>
              </a:spcAft>
              <a:defRPr sz="1500" b="1">
                <a:solidFill>
                  <a:srgbClr val="005596"/>
                </a:solidFill>
              </a:defRPr>
            </a:pPr>
            <a:r>
              <a:t>Open items for FY27: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Confirm final precedence order.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Confirm final persistence behavior by reporting surface.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Confirm when CCID/DTID retirement criteria are met.</a:t>
            </a:r>
          </a:p>
          <a:p>
            <a:pPr>
              <a:spcAft>
                <a:spcPts val="300"/>
              </a:spcAft>
              <a:defRPr sz="1500">
                <a:solidFill>
                  <a:srgbClr val="1F2937"/>
                </a:solidFill>
              </a:defRPr>
            </a:pPr>
            <a:r>
              <a:t>Confirm any new approved utm_source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687568"/>
            <a:ext cx="10881360" cy="658368"/>
          </a:xfrm>
          <a:prstGeom prst="roundRect">
            <a:avLst/>
          </a:prstGeom>
          <a:solidFill>
            <a:srgbClr val="F5F8FB"/>
          </a:solidFill>
          <a:ln>
            <a:solidFill>
              <a:srgbClr val="E2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5C7080"/>
                </a:solidFill>
              </a:defRPr>
            </a:pPr>
            <a:r>
              <a:t>Facilitator note: If governance changes, update the source Markdown and regenerate the PPTX so the repository remains the training source of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5C7080"/>
                </a:solidFill>
              </a:defRPr>
            </a:pPr>
            <a:r>
              <a:t>FY27 Tagging and Tracking Training | Repository-backed draft | Slide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