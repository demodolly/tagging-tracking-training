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417320"/>
            <a:ext cx="10698480" cy="1234440"/>
          </a:xfrm>
          <a:prstGeom prst="rect">
            <a:avLst/>
          </a:prstGeom>
          <a:noFill/>
        </p:spPr>
        <p:txBody>
          <a:bodyPr wrap="none">
            <a:spAutoFit/>
          </a:bodyPr>
          <a:lstStyle/>
          <a:p>
            <a:pPr>
              <a:defRPr b="1" sz="3800">
                <a:solidFill>
                  <a:srgbClr val="005596"/>
                </a:solidFill>
              </a:defRPr>
            </a:pPr>
            <a:r>
              <a:t>FY27 Campaign Tagging and Tracking Training</a:t>
            </a:r>
          </a:p>
          <a:p>
            <a:pPr>
              <a:defRPr sz="1800">
                <a:solidFill>
                  <a:srgbClr val="5C7080"/>
                </a:solidFill>
              </a:defRPr>
            </a:pPr>
            <a:r>
              <a:t>Repository-backed draft for FY27 training documentation</a:t>
            </a:r>
          </a:p>
        </p:txBody>
      </p:sp>
      <p:sp>
        <p:nvSpPr>
          <p:cNvPr id="4" name="TextBox 3"/>
          <p:cNvSpPr txBox="1"/>
          <p:nvPr/>
        </p:nvSpPr>
        <p:spPr>
          <a:xfrm>
            <a:off x="658368" y="2880360"/>
            <a:ext cx="10881360" cy="1920240"/>
          </a:xfrm>
          <a:prstGeom prst="rect">
            <a:avLst/>
          </a:prstGeom>
          <a:noFill/>
        </p:spPr>
        <p:txBody>
          <a:bodyPr wrap="square" lIns="73152" rIns="73152" bIns="27432">
            <a:spAutoFit/>
          </a:bodyPr>
          <a:lstStyle/>
          <a:p>
            <a:pPr>
              <a:spcAft>
                <a:spcPts val="300"/>
              </a:spcAft>
              <a:defRPr sz="1500">
                <a:solidFill>
                  <a:srgbClr val="1F2937"/>
                </a:solidFill>
              </a:defRPr>
            </a:pPr>
            <a:r>
              <a:t>Campaign Tagging IDs, Tracking IDs, and UTM parameters</a:t>
            </a:r>
          </a:p>
          <a:p>
            <a:pPr>
              <a:spcAft>
                <a:spcPts val="300"/>
              </a:spcAft>
              <a:defRPr sz="1500">
                <a:solidFill>
                  <a:srgbClr val="1F2937"/>
                </a:solidFill>
              </a:defRPr>
            </a:pPr>
            <a:r>
              <a:t>Why the framework changed</a:t>
            </a:r>
          </a:p>
          <a:p>
            <a:pPr>
              <a:spcAft>
                <a:spcPts val="300"/>
              </a:spcAft>
              <a:defRPr sz="1500">
                <a:solidFill>
                  <a:srgbClr val="1F2937"/>
                </a:solidFill>
              </a:defRPr>
            </a:pPr>
            <a:r>
              <a:t>How to build correct tracking URLs</a:t>
            </a:r>
          </a:p>
          <a:p>
            <a:pPr>
              <a:spcAft>
                <a:spcPts val="300"/>
              </a:spcAft>
              <a:defRPr sz="1500">
                <a:solidFill>
                  <a:srgbClr val="1F2937"/>
                </a:solidFill>
              </a:defRPr>
            </a:pPr>
            <a:r>
              <a:t>Impacts of incorrect tagging</a:t>
            </a:r>
          </a:p>
          <a:p>
            <a:pPr>
              <a:spcAft>
                <a:spcPts val="300"/>
              </a:spcAft>
              <a:defRPr sz="1500">
                <a:solidFill>
                  <a:srgbClr val="1F2937"/>
                </a:solidFill>
              </a:defRPr>
            </a:pPr>
            <a:r>
              <a:t>FY27 precedence and persistence discussion points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This deck is based on repository content current as of the May 13, 2026 update. The repo source states that Cisco is in an active transition from the legacy CCID/DTID system to a UTM-based framework.</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What users should know by the end</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a:solidFill>
                  <a:srgbClr val="1F2937"/>
                </a:solidFill>
              </a:defRPr>
            </a:pPr>
            <a:r>
              <a:t>Which identifiers and UTM parameters are required today</a:t>
            </a:r>
          </a:p>
          <a:p>
            <a:pPr>
              <a:spcAft>
                <a:spcPts val="300"/>
              </a:spcAft>
              <a:defRPr sz="1500">
                <a:solidFill>
                  <a:srgbClr val="1F2937"/>
                </a:solidFill>
              </a:defRPr>
            </a:pPr>
            <a:r>
              <a:t>When Workfront should generate the tracking URL</a:t>
            </a:r>
          </a:p>
          <a:p>
            <a:pPr>
              <a:spcAft>
                <a:spcPts val="300"/>
              </a:spcAft>
              <a:defRPr sz="1500">
                <a:solidFill>
                  <a:srgbClr val="1F2937"/>
                </a:solidFill>
              </a:defRPr>
            </a:pPr>
            <a:r>
              <a:t>When Stensul or the Manual URL Builder may be used</a:t>
            </a:r>
          </a:p>
          <a:p>
            <a:pPr>
              <a:spcAft>
                <a:spcPts val="300"/>
              </a:spcAft>
              <a:defRPr sz="1500">
                <a:solidFill>
                  <a:srgbClr val="1F2937"/>
                </a:solidFill>
              </a:defRPr>
            </a:pPr>
            <a:r>
              <a:t>Which channels require utm_creative</a:t>
            </a:r>
          </a:p>
          <a:p>
            <a:pPr>
              <a:spcAft>
                <a:spcPts val="300"/>
              </a:spcAft>
              <a:defRPr sz="1500">
                <a:solidFill>
                  <a:srgbClr val="1F2937"/>
                </a:solidFill>
              </a:defRPr>
            </a:pPr>
            <a:r>
              <a:t>Why utm_medium and utm_source must be standardized</a:t>
            </a:r>
          </a:p>
          <a:p>
            <a:pPr>
              <a:spcAft>
                <a:spcPts val="300"/>
              </a:spcAft>
              <a:defRPr sz="1500">
                <a:solidFill>
                  <a:srgbClr val="1F2937"/>
                </a:solidFill>
              </a:defRPr>
            </a:pPr>
            <a:r>
              <a:t>How incorrect values affect attribution, reporting, and optimization</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Position this as practical enablement: users should leave knowing when to rely on automation and when to escalate instead of improvising.</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Why campaign tagging exists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a:solidFill>
                  <a:srgbClr val="1F2937"/>
                </a:solidFill>
              </a:defRPr>
            </a:pPr>
            <a:r>
              <a:t>Every channel activation that drives traffic to a Cisco central marketing-owned property needs a properly formatted tracking URL.</a:t>
            </a:r>
          </a:p>
          <a:p>
            <a:pPr>
              <a:spcAft>
                <a:spcPts val="300"/>
              </a:spcAft>
              <a:defRPr sz="1500">
                <a:solidFill>
                  <a:srgbClr val="1F2937"/>
                </a:solidFill>
              </a:defRPr>
            </a:pPr>
            <a:r>
              <a:t>Campaign tagging connects the activation to the system of record.</a:t>
            </a:r>
          </a:p>
          <a:p>
            <a:pPr>
              <a:spcAft>
                <a:spcPts val="300"/>
              </a:spcAft>
              <a:defRPr sz="1500">
                <a:solidFill>
                  <a:srgbClr val="1F2937"/>
                </a:solidFill>
              </a:defRPr>
            </a:pPr>
            <a:r>
              <a:t>Tracking IDs and UTM values give analytics consistent dimensions for campaign, channel, vendor, and creative reporting.</a:t>
            </a:r>
          </a:p>
          <a:p>
            <a:pPr>
              <a:spcAft>
                <a:spcPts val="300"/>
              </a:spcAft>
              <a:defRPr sz="1500">
                <a:solidFill>
                  <a:srgbClr val="1F2937"/>
                </a:solidFill>
              </a:defRPr>
            </a:pPr>
            <a:r>
              <a:t>Standardization reduces manual query-string errors and inconsistent channel classification.</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Repository source: Workfront is the centralized intake tool for campaign activation tracking URL generation.</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Why UTMs were introduced</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a:solidFill>
                  <a:srgbClr val="1F2937"/>
                </a:solidFill>
              </a:defRPr>
            </a:pPr>
            <a:r>
              <a:t>Cisco is transitioning from the legacy CCID/DTID tracking system to a UTM-based framework.</a:t>
            </a:r>
          </a:p>
          <a:p>
            <a:pPr>
              <a:spcAft>
                <a:spcPts val="300"/>
              </a:spcAft>
              <a:defRPr sz="1500">
                <a:solidFill>
                  <a:srgbClr val="1F2937"/>
                </a:solidFill>
              </a:defRPr>
            </a:pPr>
            <a:r>
              <a:t>Current state is hybrid: legacy IDs and UTM values are both required.</a:t>
            </a:r>
          </a:p>
          <a:p>
            <a:pPr>
              <a:spcAft>
                <a:spcPts val="300"/>
              </a:spcAft>
              <a:defRPr sz="1500">
                <a:solidFill>
                  <a:srgbClr val="1F2937"/>
                </a:solidFill>
              </a:defRPr>
            </a:pPr>
            <a:r>
              <a:t>Future state: Workfront Channel IDs will replace ccid in utm_id.</a:t>
            </a:r>
          </a:p>
          <a:p>
            <a:pPr>
              <a:spcAft>
                <a:spcPts val="300"/>
              </a:spcAft>
              <a:defRPr sz="1500">
                <a:solidFill>
                  <a:srgbClr val="1F2937"/>
                </a:solidFill>
              </a:defRPr>
            </a:pPr>
            <a:r>
              <a:t>Future state: dtid will be replaced by utm_source and utm_medium.</a:t>
            </a:r>
          </a:p>
          <a:p>
            <a:pPr>
              <a:spcAft>
                <a:spcPts val="300"/>
              </a:spcAft>
              <a:defRPr sz="1500">
                <a:solidFill>
                  <a:srgbClr val="1F2937"/>
                </a:solidFill>
              </a:defRPr>
            </a:pPr>
            <a:r>
              <a:t>UTM values support standardized analytics across Workfront, Stensul, and Manual URL Builder flows.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Keep this slide focused on the business reason: UTMs make channel and vendor attribution explicit and standardized.</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Future-state measurement model: CTT plus UTM</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Future-state tracking should use both value families with clearer roles:</a:t>
            </a:r>
          </a:p>
          <a:p>
            <a:pPr>
              <a:spcAft>
                <a:spcPts val="300"/>
              </a:spcAft>
              <a:defRPr sz="1500">
                <a:solidFill>
                  <a:srgbClr val="1F2937"/>
                </a:solidFill>
              </a:defRPr>
            </a:pPr>
            <a:r>
              <a:t>CTT values identify the marketing initiative, traffic blueprint, offer, or event context.</a:t>
            </a:r>
          </a:p>
          <a:p>
            <a:pPr>
              <a:spcAft>
                <a:spcPts val="300"/>
              </a:spcAft>
              <a:defRPr sz="1500">
                <a:solidFill>
                  <a:srgbClr val="1F2937"/>
                </a:solidFill>
              </a:defRPr>
            </a:pPr>
            <a:r>
              <a:t>UTM values identify the digital traffic path: channel, platform/vendor, campaign, and creative.</a:t>
            </a:r>
          </a:p>
          <a:p>
            <a:pPr>
              <a:spcAft>
                <a:spcPts val="300"/>
              </a:spcAft>
              <a:defRPr sz="1500">
                <a:solidFill>
                  <a:srgbClr val="1F2937"/>
                </a:solidFill>
              </a:defRPr>
            </a:pPr>
            <a:r>
              <a:t>Workfront remains the preferred place to automate values and reduce manual URL building.</a:t>
            </a:r>
          </a:p>
          <a:p>
            <a:pPr>
              <a:spcAft>
                <a:spcPts val="300"/>
              </a:spcAft>
              <a:defRPr sz="1500">
                <a:solidFill>
                  <a:srgbClr val="1F2937"/>
                </a:solidFill>
              </a:defRPr>
            </a:pPr>
            <a:r>
              <a:t>Adobe and marketing effectiveness reporting use standardized UTMs to compare channel and source performance.</a:t>
            </a:r>
          </a:p>
          <a:p>
            <a:pPr>
              <a:spcAft>
                <a:spcPts val="300"/>
              </a:spcAft>
              <a:defRPr sz="1500">
                <a:solidFill>
                  <a:srgbClr val="1F2937"/>
                </a:solidFill>
              </a:defRPr>
            </a:pPr>
            <a:r>
              <a:t>Lead, nurture, VDC, and seller context continue to depend on CTT-aligned metadata.</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Source basis: the FY27 overview deck positions tagging and tracking as the connective tissue between marketing spend, customer engagement, lead routing, pipeline reporting, and seller context.</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How CTT values will be used</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5C7080"/>
                </a:solidFill>
              </a:defRPr>
            </a:pPr>
            <a:r>
              <a:t>CTT value | Future usage | User guidance</a:t>
            </a:r>
          </a:p>
          <a:p>
            <a:pPr>
              <a:spcAft>
                <a:spcPts val="300"/>
              </a:spcAft>
              <a:defRPr sz="1300">
                <a:solidFill>
                  <a:srgbClr val="5C7080"/>
                </a:solidFill>
              </a:defRPr>
            </a:pPr>
            <a:r>
              <a:t>Activity ID / CCID | Campaign, program, lead scoring, nurture, pipeline, and VDC alignment | Use for marketing initiatives expected to generate pipeline or enter scoring/nurture</a:t>
            </a:r>
          </a:p>
          <a:p>
            <a:pPr>
              <a:spcAft>
                <a:spcPts val="300"/>
              </a:spcAft>
              <a:defRPr sz="1300">
                <a:solidFill>
                  <a:srgbClr val="5C7080"/>
                </a:solidFill>
              </a:defRPr>
            </a:pPr>
            <a:r>
              <a:t>Drive To ID / DTID | Channel or vehicle that drives the customer to Cisco-owned web properties | Use for external traffic-driving links; do not treat Cisco.com as the vehicle</a:t>
            </a:r>
          </a:p>
          <a:p>
            <a:pPr>
              <a:spcAft>
                <a:spcPts val="300"/>
              </a:spcAft>
              <a:defRPr sz="1300">
                <a:solidFill>
                  <a:srgbClr val="5C7080"/>
                </a:solidFill>
              </a:defRPr>
            </a:pPr>
            <a:r>
              <a:t>Offer ID | Gated offer or asset consumed before lead generation | Add in the gated offer page HTML, not as a normal URL parameter</a:t>
            </a:r>
          </a:p>
          <a:p>
            <a:pPr>
              <a:spcAft>
                <a:spcPts val="300"/>
              </a:spcAft>
              <a:defRPr sz="1300">
                <a:solidFill>
                  <a:srgbClr val="5C7080"/>
                </a:solidFill>
              </a:defRPr>
            </a:pPr>
            <a:r>
              <a:t>Event ID / EID | Event or integrated activity context | Use for event integrations, static data, manual uploads, and relevant non-URL sources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 old CTT deck states IDs are captured for all marketing sources, not just digital. That means CTT continues to support offline, static, manual-upload, event, and integration scenarios where UTMs alone are insufficient.</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How UTM values will be used</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5C7080"/>
                </a:solidFill>
              </a:defRPr>
            </a:pPr>
            <a:r>
              <a:t>UTM value | Future usage | Cisco alignment from source decks</a:t>
            </a:r>
          </a:p>
          <a:p>
            <a:pPr>
              <a:spcAft>
                <a:spcPts val="300"/>
              </a:spcAft>
              <a:defRPr sz="1300">
                <a:solidFill>
                  <a:srgbClr val="5C7080"/>
                </a:solidFill>
              </a:defRPr>
            </a:pPr>
            <a:r>
              <a:t>utm_id | Universal ID carrying reporting attributes | Activity ID today; future Workfront Channel ID when available</a:t>
            </a:r>
          </a:p>
          <a:p>
            <a:pPr>
              <a:spcAft>
                <a:spcPts val="300"/>
              </a:spcAft>
              <a:defRPr sz="1300">
                <a:solidFill>
                  <a:srgbClr val="5C7080"/>
                </a:solidFill>
              </a:defRPr>
            </a:pPr>
            <a:r>
              <a:t>utm_medium | Marketing method or channel | Vehicle / channel classification</a:t>
            </a:r>
          </a:p>
          <a:p>
            <a:pPr>
              <a:spcAft>
                <a:spcPts val="300"/>
              </a:spcAft>
              <a:defRPr sz="1300">
                <a:solidFill>
                  <a:srgbClr val="5C7080"/>
                </a:solidFill>
              </a:defRPr>
            </a:pPr>
            <a:r>
              <a:t>utm_source | Platform, website, vendor, or source | Sub-vehicle / vendor classification</a:t>
            </a:r>
          </a:p>
          <a:p>
            <a:pPr>
              <a:spcAft>
                <a:spcPts val="300"/>
              </a:spcAft>
              <a:defRPr sz="1300">
                <a:solidFill>
                  <a:srgbClr val="5C7080"/>
                </a:solidFill>
              </a:defRPr>
            </a:pPr>
            <a:r>
              <a:t>utm_campaign | Campaign or promotion grouping | Future campaign-level strategy; not required today</a:t>
            </a:r>
          </a:p>
          <a:p>
            <a:pPr>
              <a:spcAft>
                <a:spcPts val="300"/>
              </a:spcAft>
              <a:defRPr sz="1300">
                <a:solidFill>
                  <a:srgbClr val="5C7080"/>
                </a:solidFill>
              </a:defRPr>
            </a:pPr>
            <a:r>
              <a:t>utm_creative | Creative or placement-level detail | Paid creative attribution where required</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 UTM overview deck describes the goal as automated Universal IDs and UTM codes, standard Adobe reporting, Ace reporting alignment, and one standard tool to create and manage IDs and UTM values.</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Future URL direction</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Current hybrid URL:</a:t>
            </a:r>
          </a:p>
          <a:p>
            <a:pPr>
              <a:spcAft>
                <a:spcPts val="300"/>
              </a:spcAft>
              <a:defRPr sz="1100">
                <a:solidFill>
                  <a:srgbClr val="008060"/>
                </a:solidFill>
                <a:latin typeface="Courier New"/>
              </a:defRPr>
            </a:pPr>
            <a:r>
              <a:t>URL?ccid=[ccid]&amp;dtid=[dtid]&amp;utm_id=[ccid]&amp;utm_medium=[medium]&amp;utm_source=[source]</a:t>
            </a:r>
          </a:p>
          <a:p>
            <a:pPr>
              <a:spcAft>
                <a:spcPts val="300"/>
              </a:spcAft>
              <a:defRPr sz="1500" b="1">
                <a:solidFill>
                  <a:srgbClr val="005596"/>
                </a:solidFill>
              </a:defRPr>
            </a:pPr>
            <a:r>
              <a:t>Future direction after Workfront Channel IDs are available:</a:t>
            </a:r>
          </a:p>
          <a:p>
            <a:pPr>
              <a:spcAft>
                <a:spcPts val="300"/>
              </a:spcAft>
              <a:defRPr sz="1100">
                <a:solidFill>
                  <a:srgbClr val="008060"/>
                </a:solidFill>
                <a:latin typeface="Courier New"/>
              </a:defRPr>
            </a:pPr>
            <a:r>
              <a:t>URL?utm_id=[workfront-channel-id]&amp;utm_medium=[medium]&amp;utm_source=[source]</a:t>
            </a:r>
          </a:p>
          <a:p>
            <a:pPr>
              <a:spcAft>
                <a:spcPts val="300"/>
              </a:spcAft>
              <a:defRPr sz="1500" b="1">
                <a:solidFill>
                  <a:srgbClr val="005596"/>
                </a:solidFill>
              </a:defRPr>
            </a:pPr>
            <a:r>
              <a:t>Still conditional:</a:t>
            </a:r>
          </a:p>
          <a:p>
            <a:pPr>
              <a:spcAft>
                <a:spcPts val="300"/>
              </a:spcAft>
              <a:defRPr sz="1500">
                <a:solidFill>
                  <a:srgbClr val="1F2937"/>
                </a:solidFill>
              </a:defRPr>
            </a:pPr>
            <a:r>
              <a:t>Add utm_creative=%ecid! only for channels that require creative-level attribution.</a:t>
            </a:r>
          </a:p>
          <a:p>
            <a:pPr>
              <a:spcAft>
                <a:spcPts val="300"/>
              </a:spcAft>
              <a:defRPr sz="1500">
                <a:solidFill>
                  <a:srgbClr val="1F2937"/>
                </a:solidFill>
              </a:defRPr>
            </a:pPr>
            <a:r>
              <a:t>Add utm_campaign only after the organization-wide campaign strategy is defined.</a:t>
            </a:r>
          </a:p>
          <a:p>
            <a:pPr>
              <a:spcAft>
                <a:spcPts val="300"/>
              </a:spcAft>
              <a:defRPr sz="1500">
                <a:solidFill>
                  <a:srgbClr val="1F2937"/>
                </a:solidFill>
              </a:defRPr>
            </a:pPr>
            <a:r>
              <a:t>Keep CTT values in the correct system or placement when they still power lead, nurture, offer, event, or static-data use cases.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Repository source says future Workfront Channel IDs will replace the ccid value in utm_id, dtid will be replaced by utm_source and utm_medium, and both dtid and ccid can be removed at that time.</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What users should do differently in the future</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Do:</a:t>
            </a:r>
          </a:p>
          <a:p>
            <a:pPr>
              <a:spcAft>
                <a:spcPts val="300"/>
              </a:spcAft>
              <a:defRPr sz="1500">
                <a:solidFill>
                  <a:srgbClr val="1F2937"/>
                </a:solidFill>
              </a:defRPr>
            </a:pPr>
            <a:r>
              <a:t>Let Workfront or the approved builder generate UTM values whenever possible.</a:t>
            </a:r>
          </a:p>
          <a:p>
            <a:pPr>
              <a:spcAft>
                <a:spcPts val="300"/>
              </a:spcAft>
              <a:defRPr sz="1500">
                <a:solidFill>
                  <a:srgbClr val="1F2937"/>
                </a:solidFill>
              </a:defRPr>
            </a:pPr>
            <a:r>
              <a:t>Use CTT IDs for campaign, drive-to, offer, event, static-data, and lead-flow context.</a:t>
            </a:r>
          </a:p>
          <a:p>
            <a:pPr>
              <a:spcAft>
                <a:spcPts val="300"/>
              </a:spcAft>
              <a:defRPr sz="1500">
                <a:solidFill>
                  <a:srgbClr val="1F2937"/>
                </a:solidFill>
              </a:defRPr>
            </a:pPr>
            <a:r>
              <a:t>Use UTMs for digital traffic attribution and channel/source optimization.</a:t>
            </a:r>
          </a:p>
          <a:p>
            <a:pPr>
              <a:spcAft>
                <a:spcPts val="300"/>
              </a:spcAft>
              <a:defRPr sz="1500">
                <a:solidFill>
                  <a:srgbClr val="1F2937"/>
                </a:solidFill>
              </a:defRPr>
            </a:pPr>
            <a:r>
              <a:t>Escalate when a required source, medium, or CTT value does not exist.</a:t>
            </a:r>
          </a:p>
          <a:p>
            <a:pPr>
              <a:spcAft>
                <a:spcPts val="300"/>
              </a:spcAft>
              <a:defRPr sz="1500" b="1">
                <a:solidFill>
                  <a:srgbClr val="005596"/>
                </a:solidFill>
              </a:defRPr>
            </a:pPr>
            <a:r>
              <a:t>Do not:</a:t>
            </a:r>
          </a:p>
          <a:p>
            <a:pPr>
              <a:spcAft>
                <a:spcPts val="300"/>
              </a:spcAft>
              <a:defRPr sz="1500">
                <a:solidFill>
                  <a:srgbClr val="1F2937"/>
                </a:solidFill>
              </a:defRPr>
            </a:pPr>
            <a:r>
              <a:t>Add CTT IDs to internal Cisco.com URLs or internal CTAs.</a:t>
            </a:r>
          </a:p>
          <a:p>
            <a:pPr>
              <a:spcAft>
                <a:spcPts val="300"/>
              </a:spcAft>
              <a:defRPr sz="1500">
                <a:solidFill>
                  <a:srgbClr val="1F2937"/>
                </a:solidFill>
              </a:defRPr>
            </a:pPr>
            <a:r>
              <a:t>Put Offer IDs into ordinary URL parameters when the offer should be tagged in page HTML.</a:t>
            </a:r>
          </a:p>
          <a:p>
            <a:pPr>
              <a:spcAft>
                <a:spcPts val="300"/>
              </a:spcAft>
              <a:defRPr sz="1500">
                <a:solidFill>
                  <a:srgbClr val="1F2937"/>
                </a:solidFill>
              </a:defRPr>
            </a:pPr>
            <a:r>
              <a:t>Create local utm_medium or utm_source variants.</a:t>
            </a:r>
          </a:p>
          <a:p>
            <a:pPr>
              <a:spcAft>
                <a:spcPts val="300"/>
              </a:spcAft>
              <a:defRPr sz="1500">
                <a:solidFill>
                  <a:srgbClr val="1F2937"/>
                </a:solidFill>
              </a:defRPr>
            </a:pPr>
            <a:r>
              <a:t>Assume UTMs replace every CTT use case; CTT still supports non-digital and lead-context scenarios.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This combines the CTT key takeaways with the UTM transition logic: UTMs improve standardized digital attribution, while CTT values still preserve campaign, offer, event, and lead-generation context.</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Current-state URL anatomy</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Every standard tracking URL must include:</a:t>
            </a:r>
          </a:p>
          <a:p>
            <a:pPr>
              <a:spcAft>
                <a:spcPts val="300"/>
              </a:spcAft>
              <a:defRPr sz="1500">
                <a:solidFill>
                  <a:srgbClr val="1F2937"/>
                </a:solidFill>
              </a:defRPr>
            </a:pPr>
            <a:r>
              <a:t>ccid</a:t>
            </a:r>
          </a:p>
          <a:p>
            <a:pPr>
              <a:spcAft>
                <a:spcPts val="300"/>
              </a:spcAft>
              <a:defRPr sz="1500">
                <a:solidFill>
                  <a:srgbClr val="1F2937"/>
                </a:solidFill>
              </a:defRPr>
            </a:pPr>
            <a:r>
              <a:t>dtid</a:t>
            </a:r>
          </a:p>
          <a:p>
            <a:pPr>
              <a:spcAft>
                <a:spcPts val="300"/>
              </a:spcAft>
              <a:defRPr sz="1500">
                <a:solidFill>
                  <a:srgbClr val="1F2937"/>
                </a:solidFill>
              </a:defRPr>
            </a:pPr>
            <a:r>
              <a:t>utm_id</a:t>
            </a:r>
          </a:p>
          <a:p>
            <a:pPr>
              <a:spcAft>
                <a:spcPts val="300"/>
              </a:spcAft>
              <a:defRPr sz="1500">
                <a:solidFill>
                  <a:srgbClr val="1F2937"/>
                </a:solidFill>
              </a:defRPr>
            </a:pPr>
            <a:r>
              <a:t>utm_medium</a:t>
            </a:r>
          </a:p>
          <a:p>
            <a:pPr>
              <a:spcAft>
                <a:spcPts val="300"/>
              </a:spcAft>
              <a:defRPr sz="1500">
                <a:solidFill>
                  <a:srgbClr val="1F2937"/>
                </a:solidFill>
              </a:defRPr>
            </a:pPr>
            <a:r>
              <a:t>utm_source</a:t>
            </a:r>
          </a:p>
          <a:p>
            <a:pPr>
              <a:spcAft>
                <a:spcPts val="300"/>
              </a:spcAft>
              <a:defRPr sz="1500" b="1">
                <a:solidFill>
                  <a:srgbClr val="005596"/>
                </a:solidFill>
              </a:defRPr>
            </a:pPr>
            <a:r>
              <a:t>Conditional:</a:t>
            </a:r>
          </a:p>
          <a:p>
            <a:pPr>
              <a:spcAft>
                <a:spcPts val="300"/>
              </a:spcAft>
              <a:defRPr sz="1500">
                <a:solidFill>
                  <a:srgbClr val="1F2937"/>
                </a:solidFill>
              </a:defRPr>
            </a:pPr>
            <a:r>
              <a:t>utm_creative is required only for Paid Direct, Paid Programmatic, and Paid Social.</a:t>
            </a:r>
          </a:p>
          <a:p>
            <a:pPr>
              <a:spcAft>
                <a:spcPts val="300"/>
              </a:spcAft>
              <a:defRPr sz="1500">
                <a:solidFill>
                  <a:srgbClr val="1F2937"/>
                </a:solidFill>
              </a:defRPr>
            </a:pPr>
            <a:r>
              <a:t>utm_campaign is optional and reserved for future use; omit it for standard tracking URLs today.</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Source deck detail: utm_campaign omission is not a defect today.</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What each required value does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5C7080"/>
                </a:solidFill>
              </a:defRPr>
            </a:pPr>
            <a:r>
              <a:t>Value | Purpose | Training takeaway</a:t>
            </a:r>
          </a:p>
          <a:p>
            <a:pPr>
              <a:spcAft>
                <a:spcPts val="300"/>
              </a:spcAft>
              <a:defRPr sz="1300">
                <a:solidFill>
                  <a:srgbClr val="5C7080"/>
                </a:solidFill>
              </a:defRPr>
            </a:pPr>
            <a:r>
              <a:t>ccid | Identifies the channel activation in the system of record | Required on every tracking URL</a:t>
            </a:r>
          </a:p>
          <a:p>
            <a:pPr>
              <a:spcAft>
                <a:spcPts val="300"/>
              </a:spcAft>
              <a:defRPr sz="1300">
                <a:solidFill>
                  <a:srgbClr val="5C7080"/>
                </a:solidFill>
              </a:defRPr>
            </a:pPr>
            <a:r>
              <a:t>dtid | Identifies channel and platform/vendor in the legacy framework | Required during current hybrid state</a:t>
            </a:r>
          </a:p>
          <a:p>
            <a:pPr>
              <a:spcAft>
                <a:spcPts val="300"/>
              </a:spcAft>
              <a:defRPr sz="1300">
                <a:solidFill>
                  <a:srgbClr val="5C7080"/>
                </a:solidFill>
              </a:defRPr>
            </a:pPr>
            <a:r>
              <a:t>utm_id | Passes the campaign identifier into analytics | Must equal ccid exactly today</a:t>
            </a:r>
          </a:p>
          <a:p>
            <a:pPr>
              <a:spcAft>
                <a:spcPts val="300"/>
              </a:spcAft>
              <a:defRPr sz="1300">
                <a:solidFill>
                  <a:srgbClr val="5C7080"/>
                </a:solidFill>
              </a:defRPr>
            </a:pPr>
            <a:r>
              <a:t>utm_medium | Identifies the marketing channel | Highest-priority channel classification input</a:t>
            </a:r>
          </a:p>
          <a:p>
            <a:pPr>
              <a:spcAft>
                <a:spcPts val="300"/>
              </a:spcAft>
              <a:defRPr sz="1300">
                <a:solidFill>
                  <a:srgbClr val="5C7080"/>
                </a:solidFill>
              </a:defRPr>
            </a:pPr>
            <a:r>
              <a:t>utm_source | Identifies vendor or platform within the channel | Must come from approved mappings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Reinforce that ccid and utm_id are the same identifier passed in two ways in the current state.</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When to use Campaign Tagging and Tracking IDs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Use ccid and dtid for:</a:t>
            </a:r>
          </a:p>
          <a:p>
            <a:pPr>
              <a:spcAft>
                <a:spcPts val="300"/>
              </a:spcAft>
              <a:defRPr sz="1500">
                <a:solidFill>
                  <a:srgbClr val="1F2937"/>
                </a:solidFill>
              </a:defRPr>
            </a:pPr>
            <a:r>
              <a:t>All activations in the current hybrid state</a:t>
            </a:r>
          </a:p>
          <a:p>
            <a:pPr>
              <a:spcAft>
                <a:spcPts val="300"/>
              </a:spcAft>
              <a:defRPr sz="1500">
                <a:solidFill>
                  <a:srgbClr val="1F2937"/>
                </a:solidFill>
              </a:defRPr>
            </a:pPr>
            <a:r>
              <a:t>Reporting that still depends on legacy campaign and channel identifiers</a:t>
            </a:r>
          </a:p>
          <a:p>
            <a:pPr>
              <a:spcAft>
                <a:spcPts val="300"/>
              </a:spcAft>
              <a:defRPr sz="1500">
                <a:solidFill>
                  <a:srgbClr val="1F2937"/>
                </a:solidFill>
              </a:defRPr>
            </a:pPr>
            <a:r>
              <a:t>Maintaining continuity while Workfront Channel IDs and UTM-based attribution mature</a:t>
            </a:r>
          </a:p>
          <a:p>
            <a:pPr>
              <a:spcAft>
                <a:spcPts val="300"/>
              </a:spcAft>
              <a:defRPr sz="1500" b="1">
                <a:solidFill>
                  <a:srgbClr val="005596"/>
                </a:solidFill>
              </a:defRPr>
            </a:pPr>
            <a:r>
              <a:t>Do not:</a:t>
            </a:r>
          </a:p>
          <a:p>
            <a:pPr>
              <a:spcAft>
                <a:spcPts val="300"/>
              </a:spcAft>
              <a:defRPr sz="1500">
                <a:solidFill>
                  <a:srgbClr val="1F2937"/>
                </a:solidFill>
              </a:defRPr>
            </a:pPr>
            <a:r>
              <a:t>Drop ccid or dtid before future-state guidance says they are retired</a:t>
            </a:r>
          </a:p>
          <a:p>
            <a:pPr>
              <a:spcAft>
                <a:spcPts val="300"/>
              </a:spcAft>
              <a:defRPr sz="1500">
                <a:solidFill>
                  <a:srgbClr val="1F2937"/>
                </a:solidFill>
              </a:defRPr>
            </a:pPr>
            <a:r>
              <a:t>Create new ID formats outside the approved standard</a:t>
            </a:r>
          </a:p>
          <a:p>
            <a:pPr>
              <a:spcAft>
                <a:spcPts val="300"/>
              </a:spcAft>
              <a:defRPr sz="1500">
                <a:solidFill>
                  <a:srgbClr val="1F2937"/>
                </a:solidFill>
              </a:defRPr>
            </a:pPr>
            <a:r>
              <a:t>Let utm_id differ from ccid</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ccid must start with cc and be 8 characters long, for example cc008317.</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When to use UTM parameters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Use UTMs whenever an activation drives traffic to a Cisco central marketing-owned property.</a:t>
            </a:r>
          </a:p>
          <a:p>
            <a:pPr>
              <a:spcAft>
                <a:spcPts val="300"/>
              </a:spcAft>
              <a:defRPr sz="1500" b="1">
                <a:solidFill>
                  <a:srgbClr val="005596"/>
                </a:solidFill>
              </a:defRPr>
            </a:pPr>
            <a:r>
              <a:t>Required today:</a:t>
            </a:r>
          </a:p>
          <a:p>
            <a:pPr>
              <a:spcAft>
                <a:spcPts val="300"/>
              </a:spcAft>
              <a:defRPr sz="1500">
                <a:solidFill>
                  <a:srgbClr val="1F2937"/>
                </a:solidFill>
              </a:defRPr>
            </a:pPr>
            <a:r>
              <a:t>utm_id: campaign/activation identifier; equals ccid today</a:t>
            </a:r>
          </a:p>
          <a:p>
            <a:pPr>
              <a:spcAft>
                <a:spcPts val="300"/>
              </a:spcAft>
              <a:defRPr sz="1500">
                <a:solidFill>
                  <a:srgbClr val="1F2937"/>
                </a:solidFill>
              </a:defRPr>
            </a:pPr>
            <a:r>
              <a:t>utm_medium: channel classification</a:t>
            </a:r>
          </a:p>
          <a:p>
            <a:pPr>
              <a:spcAft>
                <a:spcPts val="300"/>
              </a:spcAft>
              <a:defRPr sz="1500">
                <a:solidFill>
                  <a:srgbClr val="1F2937"/>
                </a:solidFill>
              </a:defRPr>
            </a:pPr>
            <a:r>
              <a:t>utm_source: platform/vendor classification</a:t>
            </a:r>
          </a:p>
          <a:p>
            <a:pPr>
              <a:spcAft>
                <a:spcPts val="300"/>
              </a:spcAft>
              <a:defRPr sz="1500" b="1">
                <a:solidFill>
                  <a:srgbClr val="005596"/>
                </a:solidFill>
              </a:defRPr>
            </a:pPr>
            <a:r>
              <a:t>Conditional:</a:t>
            </a:r>
          </a:p>
          <a:p>
            <a:pPr>
              <a:spcAft>
                <a:spcPts val="300"/>
              </a:spcAft>
              <a:defRPr sz="1500">
                <a:solidFill>
                  <a:srgbClr val="1F2937"/>
                </a:solidFill>
              </a:defRPr>
            </a:pPr>
            <a:r>
              <a:t>utm_creative=%ecid!: only for Paid Direct, Paid Programmatic, and Paid Social</a:t>
            </a:r>
          </a:p>
          <a:p>
            <a:pPr>
              <a:spcAft>
                <a:spcPts val="300"/>
              </a:spcAft>
              <a:defRPr sz="1500" b="1">
                <a:solidFill>
                  <a:srgbClr val="005596"/>
                </a:solidFill>
              </a:defRPr>
            </a:pPr>
            <a:r>
              <a:t>Reserved:</a:t>
            </a:r>
          </a:p>
          <a:p>
            <a:pPr>
              <a:spcAft>
                <a:spcPts val="300"/>
              </a:spcAft>
              <a:defRPr sz="1500">
                <a:solidFill>
                  <a:srgbClr val="1F2937"/>
                </a:solidFill>
              </a:defRPr>
            </a:pPr>
            <a:r>
              <a:t>utm_campaign: future use; omit today unless the standard changes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UTMs can be created via Workfront, Stensul, and Manual URL Builder, but the same value rules apply.</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Use the right build path</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5C7080"/>
                </a:solidFill>
              </a:defRPr>
            </a:pPr>
            <a:r>
              <a:t>Situation | Recommended path | Why</a:t>
            </a:r>
          </a:p>
          <a:p>
            <a:pPr>
              <a:spcAft>
                <a:spcPts val="300"/>
              </a:spcAft>
              <a:defRPr sz="1300">
                <a:solidFill>
                  <a:srgbClr val="5C7080"/>
                </a:solidFill>
              </a:defRPr>
            </a:pPr>
            <a:r>
              <a:t>Workfront channel activation | Workfront-generated URL | Centralized intake and mapping source of truth</a:t>
            </a:r>
          </a:p>
          <a:p>
            <a:pPr>
              <a:spcAft>
                <a:spcPts val="300"/>
              </a:spcAft>
              <a:defRPr sz="1300">
                <a:solidFill>
                  <a:srgbClr val="5C7080"/>
                </a:solidFill>
              </a:defRPr>
            </a:pPr>
            <a:r>
              <a:t>Email or other supported non-Workfront flow | Stensul when applicable | Same UTM rules, managed by the owning team</a:t>
            </a:r>
          </a:p>
          <a:p>
            <a:pPr>
              <a:spcAft>
                <a:spcPts val="300"/>
              </a:spcAft>
              <a:defRPr sz="1300">
                <a:solidFill>
                  <a:srgbClr val="5C7080"/>
                </a:solidFill>
              </a:defRPr>
            </a:pPr>
            <a:r>
              <a:t>External web referral or exception | Manual URL Builder | web-referral is manual-build only today</a:t>
            </a:r>
          </a:p>
          <a:p>
            <a:pPr>
              <a:spcAft>
                <a:spcPts val="300"/>
              </a:spcAft>
              <a:defRPr sz="1300">
                <a:solidFill>
                  <a:srgbClr val="5C7080"/>
                </a:solidFill>
              </a:defRPr>
            </a:pPr>
            <a:r>
              <a:t>Missing source/medium option | Escalate for mapping update | Avoid creating unapproved values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Source says Workfront execution source of truth is Source and Mediums.xlsx. If source documents differ, Source and Mediums.xlsx wins.</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Global tagging rules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a:solidFill>
                  <a:srgbClr val="1F2937"/>
                </a:solidFill>
              </a:defRPr>
            </a:pPr>
            <a:r>
              <a:t>All UTM values must be lowercase.</a:t>
            </a:r>
          </a:p>
          <a:p>
            <a:pPr>
              <a:spcAft>
                <a:spcPts val="300"/>
              </a:spcAft>
              <a:defRPr sz="1500">
                <a:solidFill>
                  <a:srgbClr val="1F2937"/>
                </a:solidFill>
              </a:defRPr>
            </a:pPr>
            <a:r>
              <a:t>Use hyphens instead of spaces.</a:t>
            </a:r>
          </a:p>
          <a:p>
            <a:pPr>
              <a:spcAft>
                <a:spcPts val="300"/>
              </a:spcAft>
              <a:defRPr sz="1500">
                <a:solidFill>
                  <a:srgbClr val="1F2937"/>
                </a:solidFill>
              </a:defRPr>
            </a:pPr>
            <a:r>
              <a:t>Omit empty parameters entirely.</a:t>
            </a:r>
          </a:p>
          <a:p>
            <a:pPr>
              <a:spcAft>
                <a:spcPts val="300"/>
              </a:spcAft>
              <a:defRPr sz="1500">
                <a:solidFill>
                  <a:srgbClr val="1F2937"/>
                </a:solidFill>
              </a:defRPr>
            </a:pPr>
            <a:r>
              <a:t>utm_id must always match ccid.</a:t>
            </a:r>
          </a:p>
          <a:p>
            <a:pPr>
              <a:spcAft>
                <a:spcPts val="300"/>
              </a:spcAft>
              <a:defRPr sz="1500">
                <a:solidFill>
                  <a:srgbClr val="1F2937"/>
                </a:solidFill>
              </a:defRPr>
            </a:pPr>
            <a:r>
              <a:t>No spaces or special characters (&amp;, %, ?, =) in values.</a:t>
            </a:r>
          </a:p>
          <a:p>
            <a:pPr>
              <a:spcAft>
                <a:spcPts val="300"/>
              </a:spcAft>
              <a:defRPr sz="1500">
                <a:solidFill>
                  <a:srgbClr val="1F2937"/>
                </a:solidFill>
              </a:defRPr>
            </a:pPr>
            <a:r>
              <a:t>Use approved values; do not create local variants.</a:t>
            </a:r>
          </a:p>
          <a:p>
            <a:pPr>
              <a:spcAft>
                <a:spcPts val="300"/>
              </a:spcAft>
              <a:defRPr sz="1500" b="1">
                <a:solidFill>
                  <a:srgbClr val="005596"/>
                </a:solidFill>
              </a:defRPr>
            </a:pPr>
            <a:r>
              <a:t>Examples:</a:t>
            </a:r>
          </a:p>
          <a:p>
            <a:pPr>
              <a:spcAft>
                <a:spcPts val="300"/>
              </a:spcAft>
              <a:defRPr sz="1500">
                <a:solidFill>
                  <a:srgbClr val="1F2937"/>
                </a:solidFill>
              </a:defRPr>
            </a:pPr>
            <a:r>
              <a:t>Correct: paid-social, technologyadvice, security-info-watch</a:t>
            </a:r>
          </a:p>
          <a:p>
            <a:pPr>
              <a:spcAft>
                <a:spcPts val="300"/>
              </a:spcAft>
              <a:defRPr sz="1500">
                <a:solidFill>
                  <a:srgbClr val="1F2937"/>
                </a:solidFill>
              </a:defRPr>
            </a:pPr>
            <a:r>
              <a:t>Incorrect: Paid Social, Technology Advice, security_info_watch</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 query string itself uses &amp;, %, ?, and =, but parameter values should not include those characters except the required %ecid! macro for utm_creative.</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Approved `utm_medium` values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1F2937"/>
                </a:solidFill>
              </a:defRPr>
            </a:pPr>
            <a:r>
              <a:t>paid-direct</a:t>
            </a:r>
          </a:p>
          <a:p>
            <a:pPr>
              <a:spcAft>
                <a:spcPts val="300"/>
              </a:spcAft>
              <a:defRPr sz="1300">
                <a:solidFill>
                  <a:srgbClr val="1F2937"/>
                </a:solidFill>
              </a:defRPr>
            </a:pPr>
            <a:r>
              <a:t>programmatic</a:t>
            </a:r>
          </a:p>
          <a:p>
            <a:pPr>
              <a:spcAft>
                <a:spcPts val="300"/>
              </a:spcAft>
              <a:defRPr sz="1300">
                <a:solidFill>
                  <a:srgbClr val="1F2937"/>
                </a:solidFill>
              </a:defRPr>
            </a:pPr>
            <a:r>
              <a:t>cpc</a:t>
            </a:r>
          </a:p>
          <a:p>
            <a:pPr>
              <a:spcAft>
                <a:spcPts val="300"/>
              </a:spcAft>
              <a:defRPr sz="1300">
                <a:solidFill>
                  <a:srgbClr val="1F2937"/>
                </a:solidFill>
              </a:defRPr>
            </a:pPr>
            <a:r>
              <a:t>paid-social</a:t>
            </a:r>
          </a:p>
          <a:p>
            <a:pPr>
              <a:spcAft>
                <a:spcPts val="300"/>
              </a:spcAft>
              <a:defRPr sz="1300">
                <a:solidFill>
                  <a:srgbClr val="1F2937"/>
                </a:solidFill>
              </a:defRPr>
            </a:pPr>
            <a:r>
              <a:t>social</a:t>
            </a:r>
          </a:p>
          <a:p>
            <a:pPr>
              <a:spcAft>
                <a:spcPts val="300"/>
              </a:spcAft>
              <a:defRPr sz="1300">
                <a:solidFill>
                  <a:srgbClr val="1F2937"/>
                </a:solidFill>
              </a:defRPr>
            </a:pPr>
            <a:r>
              <a:t>syndication</a:t>
            </a:r>
          </a:p>
          <a:p>
            <a:pPr>
              <a:spcAft>
                <a:spcPts val="300"/>
              </a:spcAft>
              <a:defRPr sz="1300">
                <a:solidFill>
                  <a:srgbClr val="1F2937"/>
                </a:solidFill>
              </a:defRPr>
            </a:pPr>
            <a:r>
              <a:t>ratings-reviews</a:t>
            </a:r>
          </a:p>
          <a:p>
            <a:pPr>
              <a:spcAft>
                <a:spcPts val="300"/>
              </a:spcAft>
              <a:defRPr sz="1300">
                <a:solidFill>
                  <a:srgbClr val="1F2937"/>
                </a:solidFill>
              </a:defRPr>
            </a:pPr>
            <a:r>
              <a:t>email</a:t>
            </a:r>
          </a:p>
          <a:p>
            <a:pPr>
              <a:spcAft>
                <a:spcPts val="300"/>
              </a:spcAft>
              <a:defRPr sz="1300">
                <a:solidFill>
                  <a:srgbClr val="1F2937"/>
                </a:solidFill>
              </a:defRPr>
            </a:pPr>
            <a:r>
              <a:t>direct-mail</a:t>
            </a:r>
          </a:p>
          <a:p>
            <a:pPr>
              <a:spcAft>
                <a:spcPts val="300"/>
              </a:spcAft>
              <a:defRPr sz="1300">
                <a:solidFill>
                  <a:srgbClr val="1F2937"/>
                </a:solidFill>
              </a:defRPr>
            </a:pPr>
            <a:r>
              <a:t>web-referral</a:t>
            </a:r>
          </a:p>
          <a:p>
            <a:pPr>
              <a:spcAft>
                <a:spcPts val="300"/>
              </a:spcAft>
              <a:defRPr sz="1300" b="1">
                <a:solidFill>
                  <a:srgbClr val="005596"/>
                </a:solidFill>
              </a:defRPr>
            </a:pPr>
            <a:r>
              <a:t>Important:</a:t>
            </a:r>
          </a:p>
          <a:p>
            <a:pPr>
              <a:spcAft>
                <a:spcPts val="300"/>
              </a:spcAft>
              <a:defRPr sz="1300">
                <a:solidFill>
                  <a:srgbClr val="1F2937"/>
                </a:solidFill>
              </a:defRPr>
            </a:pPr>
            <a:r>
              <a:t>web-referral is for URL generator or manual builds only.</a:t>
            </a:r>
          </a:p>
          <a:p>
            <a:pPr>
              <a:spcAft>
                <a:spcPts val="300"/>
              </a:spcAft>
              <a:defRPr sz="1300">
                <a:solidFill>
                  <a:srgbClr val="1F2937"/>
                </a:solidFill>
              </a:defRPr>
            </a:pPr>
            <a:r>
              <a:t>No Workfront project type exists for web referral today.</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utm_medium is auto-populated based on channel type, not a user-facing dropdown.</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`utm_source` depends on channel</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a:solidFill>
                  <a:srgbClr val="1F2937"/>
                </a:solidFill>
              </a:defRPr>
            </a:pPr>
            <a:r>
              <a:t>utm_source identifies the vendor or platform within the channel.</a:t>
            </a:r>
          </a:p>
          <a:p>
            <a:pPr>
              <a:spcAft>
                <a:spcPts val="300"/>
              </a:spcAft>
              <a:defRPr sz="1500" b="1">
                <a:solidFill>
                  <a:srgbClr val="005596"/>
                </a:solidFill>
              </a:defRPr>
            </a:pPr>
            <a:r>
              <a:t>Examples:</a:t>
            </a:r>
          </a:p>
          <a:p>
            <a:pPr>
              <a:spcAft>
                <a:spcPts val="300"/>
              </a:spcAft>
              <a:defRPr sz="1500">
                <a:solidFill>
                  <a:srgbClr val="1F2937"/>
                </a:solidFill>
              </a:defRPr>
            </a:pPr>
            <a:r>
              <a:t>Email: eloqua, marketo, salesforce</a:t>
            </a:r>
          </a:p>
          <a:p>
            <a:pPr>
              <a:spcAft>
                <a:spcPts val="300"/>
              </a:spcAft>
              <a:defRPr sz="1500">
                <a:solidFill>
                  <a:srgbClr val="1F2937"/>
                </a:solidFill>
              </a:defRPr>
            </a:pPr>
            <a:r>
              <a:t>Paid Direct: bloomberg, foundry, techtarget</a:t>
            </a:r>
          </a:p>
          <a:p>
            <a:pPr>
              <a:spcAft>
                <a:spcPts val="300"/>
              </a:spcAft>
              <a:defRPr sz="1500">
                <a:solidFill>
                  <a:srgbClr val="1F2937"/>
                </a:solidFill>
              </a:defRPr>
            </a:pPr>
            <a:r>
              <a:t>Programmatic: dv360, youtube</a:t>
            </a:r>
          </a:p>
          <a:p>
            <a:pPr>
              <a:spcAft>
                <a:spcPts val="300"/>
              </a:spcAft>
              <a:defRPr sz="1500">
                <a:solidFill>
                  <a:srgbClr val="1F2937"/>
                </a:solidFill>
              </a:defRPr>
            </a:pPr>
            <a:r>
              <a:t>Paid Social / Organic Social: linkedin, reddit, x, youtube</a:t>
            </a:r>
          </a:p>
          <a:p>
            <a:pPr>
              <a:spcAft>
                <a:spcPts val="300"/>
              </a:spcAft>
              <a:defRPr sz="1500">
                <a:solidFill>
                  <a:srgbClr val="1F2937"/>
                </a:solidFill>
              </a:defRPr>
            </a:pPr>
            <a:r>
              <a:t>Paid Search: google, bing, baidu</a:t>
            </a:r>
          </a:p>
          <a:p>
            <a:pPr>
              <a:spcAft>
                <a:spcPts val="300"/>
              </a:spcAft>
              <a:defRPr sz="1500">
                <a:solidFill>
                  <a:srgbClr val="1F2937"/>
                </a:solidFill>
              </a:defRPr>
            </a:pPr>
            <a:r>
              <a:t>Ratings and Reviews: g2, gartner, trustradius</a:t>
            </a:r>
          </a:p>
          <a:p>
            <a:pPr>
              <a:spcAft>
                <a:spcPts val="300"/>
              </a:spcAft>
              <a:defRPr sz="1500">
                <a:solidFill>
                  <a:srgbClr val="1F2937"/>
                </a:solidFill>
              </a:defRPr>
            </a:pPr>
            <a:r>
              <a:t>Syndication: activate, technologyadvice, netline</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A value can appear in more than one channel, such as foundry or trustradius; the combination of source and medium gives the reporting context.</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Channel-specific rules users often miss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1F2937"/>
                </a:solidFill>
              </a:defRPr>
            </a:pPr>
            <a:r>
              <a:t>Paid Programmatic:</a:t>
            </a:r>
          </a:p>
          <a:p>
            <a:pPr lvl="1">
              <a:spcAft>
                <a:spcPts val="300"/>
              </a:spcAft>
              <a:defRPr sz="1300">
                <a:solidFill>
                  <a:srgbClr val="1F2937"/>
                </a:solidFill>
              </a:defRPr>
            </a:pPr>
            <a:r>
              <a:t>Show only DV360 and YouTube in Workfront today.</a:t>
            </a:r>
          </a:p>
          <a:p>
            <a:pPr lvl="1">
              <a:spcAft>
                <a:spcPts val="300"/>
              </a:spcAft>
              <a:defRPr sz="1300">
                <a:solidFill>
                  <a:srgbClr val="1F2937"/>
                </a:solidFill>
              </a:defRPr>
            </a:pPr>
            <a:r>
              <a:t>TradeDesk is reserved for future use and hidden in the UI.</a:t>
            </a:r>
          </a:p>
          <a:p>
            <a:pPr lvl="1">
              <a:spcAft>
                <a:spcPts val="300"/>
              </a:spcAft>
              <a:defRPr sz="1300">
                <a:solidFill>
                  <a:srgbClr val="1F2937"/>
                </a:solidFill>
              </a:defRPr>
            </a:pPr>
            <a:r>
              <a:t>Always append utm_creative=%ecid!.</a:t>
            </a:r>
          </a:p>
          <a:p>
            <a:pPr>
              <a:spcAft>
                <a:spcPts val="300"/>
              </a:spcAft>
              <a:defRPr sz="1300">
                <a:solidFill>
                  <a:srgbClr val="1F2937"/>
                </a:solidFill>
              </a:defRPr>
            </a:pPr>
            <a:r>
              <a:t>Paid Direct, Paid Programmatic, Paid Social:</a:t>
            </a:r>
          </a:p>
          <a:p>
            <a:pPr lvl="1">
              <a:spcAft>
                <a:spcPts val="300"/>
              </a:spcAft>
              <a:defRPr sz="1300">
                <a:solidFill>
                  <a:srgbClr val="1F2937"/>
                </a:solidFill>
              </a:defRPr>
            </a:pPr>
            <a:r>
              <a:t>Require utm_creative=%ecid!.</a:t>
            </a:r>
          </a:p>
          <a:p>
            <a:pPr>
              <a:spcAft>
                <a:spcPts val="300"/>
              </a:spcAft>
              <a:defRPr sz="1300">
                <a:solidFill>
                  <a:srgbClr val="1F2937"/>
                </a:solidFill>
              </a:defRPr>
            </a:pPr>
            <a:r>
              <a:t>Direct Mail:</a:t>
            </a:r>
          </a:p>
          <a:p>
            <a:pPr lvl="1">
              <a:spcAft>
                <a:spcPts val="300"/>
              </a:spcAft>
              <a:defRPr sz="1300">
                <a:solidFill>
                  <a:srgbClr val="1F2937"/>
                </a:solidFill>
              </a:defRPr>
            </a:pPr>
            <a:r>
              <a:t>No approved utm_source list exists yet.</a:t>
            </a:r>
          </a:p>
          <a:p>
            <a:pPr lvl="1">
              <a:spcAft>
                <a:spcPts val="300"/>
              </a:spcAft>
              <a:defRPr sz="1300">
                <a:solidFill>
                  <a:srgbClr val="1F2937"/>
                </a:solidFill>
              </a:defRPr>
            </a:pPr>
            <a:r>
              <a:t>Use lowercase and hyphens until standardized values are published.</a:t>
            </a:r>
          </a:p>
          <a:p>
            <a:pPr>
              <a:spcAft>
                <a:spcPts val="300"/>
              </a:spcAft>
              <a:defRPr sz="1300">
                <a:solidFill>
                  <a:srgbClr val="1F2937"/>
                </a:solidFill>
              </a:defRPr>
            </a:pPr>
            <a:r>
              <a:t>Paid Direct legacy sources:</a:t>
            </a:r>
          </a:p>
          <a:p>
            <a:pPr lvl="1">
              <a:spcAft>
                <a:spcPts val="300"/>
              </a:spcAft>
              <a:defRPr sz="1300">
                <a:solidFill>
                  <a:srgbClr val="1F2937"/>
                </a:solidFill>
              </a:defRPr>
            </a:pPr>
            <a:r>
              <a:t>Under review; do not add new activations using those values.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Users should not use legacy sources for new activations unless governance explicitly approves.</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Precedence and persistence logic - FY27 edit slide</a:t>
            </a:r>
          </a:p>
        </p:txBody>
      </p:sp>
      <p:sp>
        <p:nvSpPr>
          <p:cNvPr id="4" name="Rounded Rectangle 3"/>
          <p:cNvSpPr/>
          <p:nvPr/>
        </p:nvSpPr>
        <p:spPr>
          <a:xfrm>
            <a:off x="658368" y="1078992"/>
            <a:ext cx="10881360" cy="594360"/>
          </a:xfrm>
          <a:prstGeom prst="roundRect">
            <a:avLst/>
          </a:prstGeom>
          <a:solidFill>
            <a:srgbClr val="E2F0FA"/>
          </a:solidFill>
          <a:ln>
            <a:solidFill>
              <a:srgbClr val="005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005596"/>
                </a:solidFill>
              </a:defRPr>
            </a:pPr>
            <a:r>
              <a:t>Key repository-backed rule: utm_medium is the highest-priority channel classification input.</a:t>
            </a:r>
          </a:p>
        </p:txBody>
      </p:sp>
      <p:sp>
        <p:nvSpPr>
          <p:cNvPr id="5" name="TextBox 4"/>
          <p:cNvSpPr txBox="1"/>
          <p:nvPr/>
        </p:nvSpPr>
        <p:spPr>
          <a:xfrm>
            <a:off x="658368" y="1828800"/>
            <a:ext cx="10881360" cy="3703320"/>
          </a:xfrm>
          <a:prstGeom prst="rect">
            <a:avLst/>
          </a:prstGeom>
          <a:noFill/>
        </p:spPr>
        <p:txBody>
          <a:bodyPr wrap="square" lIns="73152" rIns="73152" bIns="27432">
            <a:spAutoFit/>
          </a:bodyPr>
          <a:lstStyle/>
          <a:p>
            <a:pPr>
              <a:spcAft>
                <a:spcPts val="300"/>
              </a:spcAft>
              <a:defRPr sz="1500" b="1">
                <a:solidFill>
                  <a:srgbClr val="005596"/>
                </a:solidFill>
              </a:defRPr>
            </a:pPr>
            <a:r>
              <a:t>Training implication:</a:t>
            </a:r>
          </a:p>
          <a:p>
            <a:pPr>
              <a:spcAft>
                <a:spcPts val="300"/>
              </a:spcAft>
              <a:defRPr sz="1500">
                <a:solidFill>
                  <a:srgbClr val="1F2937"/>
                </a:solidFill>
              </a:defRPr>
            </a:pPr>
            <a:r>
              <a:t>If utm_medium is missing, inconsistent, or manually changed, channel reporting can be misclassified.</a:t>
            </a:r>
          </a:p>
          <a:p>
            <a:pPr>
              <a:spcAft>
                <a:spcPts val="300"/>
              </a:spcAft>
              <a:defRPr sz="1500">
                <a:solidFill>
                  <a:srgbClr val="1F2937"/>
                </a:solidFill>
              </a:defRPr>
            </a:pPr>
            <a:r>
              <a:t>If utm_source does not match the selected channel context, vendor/platform reporting can be split or incorrectly grouped.</a:t>
            </a:r>
          </a:p>
          <a:p>
            <a:pPr>
              <a:spcAft>
                <a:spcPts val="300"/>
              </a:spcAft>
              <a:defRPr sz="1500">
                <a:solidFill>
                  <a:srgbClr val="1F2937"/>
                </a:solidFill>
              </a:defRPr>
            </a:pPr>
            <a:r>
              <a:t>If persisted values are retained downstream, early mistakes may continue to affect reporting until corrected.</a:t>
            </a:r>
          </a:p>
          <a:p>
            <a:pPr>
              <a:spcAft>
                <a:spcPts val="300"/>
              </a:spcAft>
              <a:defRPr sz="1500" b="1">
                <a:solidFill>
                  <a:srgbClr val="005596"/>
                </a:solidFill>
              </a:defRPr>
            </a:pPr>
            <a:r>
              <a:t>FY27 owner edits:</a:t>
            </a:r>
          </a:p>
          <a:p>
            <a:pPr>
              <a:spcAft>
                <a:spcPts val="300"/>
              </a:spcAft>
              <a:defRPr sz="1500">
                <a:solidFill>
                  <a:srgbClr val="1F2937"/>
                </a:solidFill>
              </a:defRPr>
            </a:pPr>
            <a:r>
              <a:t>Add the current FY27 precedence order here.</a:t>
            </a:r>
          </a:p>
          <a:p>
            <a:pPr>
              <a:spcAft>
                <a:spcPts val="300"/>
              </a:spcAft>
              <a:defRPr sz="1500">
                <a:solidFill>
                  <a:srgbClr val="1F2937"/>
                </a:solidFill>
              </a:defRPr>
            </a:pPr>
            <a:r>
              <a:t>Add the current FY27 persistence rules here.</a:t>
            </a:r>
          </a:p>
          <a:p>
            <a:pPr>
              <a:spcAft>
                <a:spcPts val="300"/>
              </a:spcAft>
              <a:defRPr sz="1500">
                <a:solidFill>
                  <a:srgbClr val="1F2937"/>
                </a:solidFill>
              </a:defRPr>
            </a:pPr>
            <a:r>
              <a:t>Add any exceptions by channel, tool, or reporting surface here.</a:t>
            </a:r>
          </a:p>
        </p:txBody>
      </p:sp>
      <p:sp>
        <p:nvSpPr>
          <p:cNvPr id="6" name="Rounded Rectangle 5"/>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 repository does not include the full FY27 persistence specification. Keep this slide as the update point when that logic is finalized.</a:t>
            </a:r>
          </a:p>
        </p:txBody>
      </p:sp>
      <p:sp>
        <p:nvSpPr>
          <p:cNvPr id="7" name="TextBox 6"/>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What happens when tagging is wrong</a:t>
            </a:r>
          </a:p>
        </p:txBody>
      </p:sp>
      <p:sp>
        <p:nvSpPr>
          <p:cNvPr id="4" name="Rounded Rectangle 3"/>
          <p:cNvSpPr/>
          <p:nvPr/>
        </p:nvSpPr>
        <p:spPr>
          <a:xfrm>
            <a:off x="658368" y="1097280"/>
            <a:ext cx="10881360" cy="530352"/>
          </a:xfrm>
          <a:prstGeom prst="roundRect">
            <a:avLst/>
          </a:prstGeom>
          <a:solidFill>
            <a:srgbClr val="FFF3E0"/>
          </a:solidFill>
          <a:ln>
            <a:solidFill>
              <a:srgbClr val="D6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D67800"/>
                </a:solidFill>
              </a:defRPr>
            </a:pPr>
            <a:r>
              <a:t>Bad tags create bad data; bad data drives the wrong optimization decisions.</a:t>
            </a:r>
          </a:p>
        </p:txBody>
      </p:sp>
      <p:sp>
        <p:nvSpPr>
          <p:cNvPr id="5" name="TextBox 4"/>
          <p:cNvSpPr txBox="1"/>
          <p:nvPr/>
        </p:nvSpPr>
        <p:spPr>
          <a:xfrm>
            <a:off x="658368" y="1783080"/>
            <a:ext cx="10881360" cy="3749039"/>
          </a:xfrm>
          <a:prstGeom prst="rect">
            <a:avLst/>
          </a:prstGeom>
          <a:noFill/>
        </p:spPr>
        <p:txBody>
          <a:bodyPr wrap="square" lIns="73152" rIns="73152" bIns="27432">
            <a:spAutoFit/>
          </a:bodyPr>
          <a:lstStyle/>
          <a:p>
            <a:pPr>
              <a:spcAft>
                <a:spcPts val="300"/>
              </a:spcAft>
              <a:defRPr sz="1500">
                <a:solidFill>
                  <a:srgbClr val="1F2937"/>
                </a:solidFill>
              </a:defRPr>
            </a:pPr>
            <a:r>
              <a:t>Campaign activity to be disconnected from the system of record</a:t>
            </a:r>
          </a:p>
          <a:p>
            <a:pPr>
              <a:spcAft>
                <a:spcPts val="300"/>
              </a:spcAft>
              <a:defRPr sz="1500">
                <a:solidFill>
                  <a:srgbClr val="1F2937"/>
                </a:solidFill>
              </a:defRPr>
            </a:pPr>
            <a:r>
              <a:t>utm_id and ccid mismatch, breaking campaign-level attribution</a:t>
            </a:r>
          </a:p>
          <a:p>
            <a:pPr>
              <a:spcAft>
                <a:spcPts val="300"/>
              </a:spcAft>
              <a:defRPr sz="1500">
                <a:solidFill>
                  <a:srgbClr val="1F2937"/>
                </a:solidFill>
              </a:defRPr>
            </a:pPr>
            <a:r>
              <a:t>Channel misclassification when utm_medium is wrong</a:t>
            </a:r>
          </a:p>
          <a:p>
            <a:pPr>
              <a:spcAft>
                <a:spcPts val="300"/>
              </a:spcAft>
              <a:defRPr sz="1500">
                <a:solidFill>
                  <a:srgbClr val="1F2937"/>
                </a:solidFill>
              </a:defRPr>
            </a:pPr>
            <a:r>
              <a:t>Vendor/platform reporting errors when utm_source is wrong</a:t>
            </a:r>
          </a:p>
          <a:p>
            <a:pPr>
              <a:spcAft>
                <a:spcPts val="300"/>
              </a:spcAft>
              <a:defRPr sz="1500">
                <a:solidFill>
                  <a:srgbClr val="1F2937"/>
                </a:solidFill>
              </a:defRPr>
            </a:pPr>
            <a:r>
              <a:t>Creative reporting gaps when required utm_creative is missing</a:t>
            </a:r>
          </a:p>
          <a:p>
            <a:pPr>
              <a:spcAft>
                <a:spcPts val="300"/>
              </a:spcAft>
              <a:defRPr sz="1500">
                <a:solidFill>
                  <a:srgbClr val="1F2937"/>
                </a:solidFill>
              </a:defRPr>
            </a:pPr>
            <a:r>
              <a:t>Duplicate reporting buckets caused by capitalization, spaces, or local naming variants</a:t>
            </a:r>
          </a:p>
          <a:p>
            <a:pPr>
              <a:spcAft>
                <a:spcPts val="300"/>
              </a:spcAft>
              <a:defRPr sz="1500">
                <a:solidFill>
                  <a:srgbClr val="1F2937"/>
                </a:solidFill>
              </a:defRPr>
            </a:pPr>
            <a:r>
              <a:t>Cleanup work for Marketing Operations, Analytics, and Workfront teams</a:t>
            </a:r>
          </a:p>
        </p:txBody>
      </p:sp>
      <p:sp>
        <p:nvSpPr>
          <p:cNvPr id="6" name="Rounded Rectangle 5"/>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Anchor this in business impact: bad tags create bad data, and bad data drives the wrong optimization decisions.</a:t>
            </a:r>
          </a:p>
        </p:txBody>
      </p:sp>
      <p:sp>
        <p:nvSpPr>
          <p:cNvPr id="7" name="TextBox 6"/>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Example - correct paid social URL</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b="1">
                <a:solidFill>
                  <a:srgbClr val="005596"/>
                </a:solidFill>
              </a:defRPr>
            </a:pPr>
            <a:r>
              <a:t>Scenario:</a:t>
            </a:r>
          </a:p>
          <a:p>
            <a:pPr>
              <a:spcAft>
                <a:spcPts val="300"/>
              </a:spcAft>
              <a:defRPr sz="1300">
                <a:solidFill>
                  <a:srgbClr val="1F2937"/>
                </a:solidFill>
              </a:defRPr>
            </a:pPr>
            <a:r>
              <a:t>Channel: Paid Social</a:t>
            </a:r>
          </a:p>
          <a:p>
            <a:pPr>
              <a:spcAft>
                <a:spcPts val="300"/>
              </a:spcAft>
              <a:defRPr sz="1300">
                <a:solidFill>
                  <a:srgbClr val="1F2937"/>
                </a:solidFill>
              </a:defRPr>
            </a:pPr>
            <a:r>
              <a:t>Platform: LinkedIn</a:t>
            </a:r>
          </a:p>
          <a:p>
            <a:pPr>
              <a:spcAft>
                <a:spcPts val="300"/>
              </a:spcAft>
              <a:defRPr sz="1300">
                <a:solidFill>
                  <a:srgbClr val="1F2937"/>
                </a:solidFill>
              </a:defRPr>
            </a:pPr>
            <a:r>
              <a:t>CCID: cc008317</a:t>
            </a:r>
          </a:p>
          <a:p>
            <a:pPr>
              <a:spcAft>
                <a:spcPts val="300"/>
              </a:spcAft>
              <a:defRPr sz="1300">
                <a:solidFill>
                  <a:srgbClr val="1F2937"/>
                </a:solidFill>
              </a:defRPr>
            </a:pPr>
            <a:r>
              <a:t>DTID: ppdllin001650</a:t>
            </a:r>
          </a:p>
          <a:p>
            <a:pPr>
              <a:spcAft>
                <a:spcPts val="300"/>
              </a:spcAft>
              <a:defRPr sz="1300" b="1">
                <a:solidFill>
                  <a:srgbClr val="005596"/>
                </a:solidFill>
              </a:defRPr>
            </a:pPr>
            <a:r>
              <a:t>Correct format:</a:t>
            </a:r>
          </a:p>
          <a:p>
            <a:pPr>
              <a:spcAft>
                <a:spcPts val="300"/>
              </a:spcAft>
              <a:defRPr sz="1100">
                <a:solidFill>
                  <a:srgbClr val="008060"/>
                </a:solidFill>
                <a:latin typeface="Courier New"/>
              </a:defRPr>
            </a:pPr>
            <a:r>
              <a:t>URL?ccid=cc008317&amp;dtid=ppdllin001650&amp;utm_id=cc008317&amp;utm_medium=paid-social&amp;utm_source=linkedin&amp;utm_creative=%ecid!</a:t>
            </a:r>
          </a:p>
          <a:p>
            <a:pPr>
              <a:spcAft>
                <a:spcPts val="300"/>
              </a:spcAft>
              <a:defRPr sz="1300" b="1">
                <a:solidFill>
                  <a:srgbClr val="005596"/>
                </a:solidFill>
              </a:defRPr>
            </a:pPr>
            <a:r>
              <a:t>Why it works:</a:t>
            </a:r>
          </a:p>
          <a:p>
            <a:pPr>
              <a:spcAft>
                <a:spcPts val="300"/>
              </a:spcAft>
              <a:defRPr sz="1300">
                <a:solidFill>
                  <a:srgbClr val="1F2937"/>
                </a:solidFill>
              </a:defRPr>
            </a:pPr>
            <a:r>
              <a:t>utm_id equals ccid</a:t>
            </a:r>
          </a:p>
          <a:p>
            <a:pPr>
              <a:spcAft>
                <a:spcPts val="300"/>
              </a:spcAft>
              <a:defRPr sz="1300">
                <a:solidFill>
                  <a:srgbClr val="1F2937"/>
                </a:solidFill>
              </a:defRPr>
            </a:pPr>
            <a:r>
              <a:t>utm_medium uses approved channel value</a:t>
            </a:r>
          </a:p>
          <a:p>
            <a:pPr>
              <a:spcAft>
                <a:spcPts val="300"/>
              </a:spcAft>
              <a:defRPr sz="1300">
                <a:solidFill>
                  <a:srgbClr val="1F2937"/>
                </a:solidFill>
              </a:defRPr>
            </a:pPr>
            <a:r>
              <a:t>utm_source uses approved social platform value</a:t>
            </a:r>
          </a:p>
          <a:p>
            <a:pPr>
              <a:spcAft>
                <a:spcPts val="300"/>
              </a:spcAft>
              <a:defRPr sz="1300">
                <a:solidFill>
                  <a:srgbClr val="1F2937"/>
                </a:solidFill>
              </a:defRPr>
            </a:pPr>
            <a:r>
              <a:t>utm_creative is included because Paid Social requires it</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Use this as the walkthrough example for query-string order and conditional creative tagging.</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Example - correct email URL</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b="1">
                <a:solidFill>
                  <a:srgbClr val="005596"/>
                </a:solidFill>
              </a:defRPr>
            </a:pPr>
            <a:r>
              <a:t>Scenario:</a:t>
            </a:r>
          </a:p>
          <a:p>
            <a:pPr>
              <a:spcAft>
                <a:spcPts val="300"/>
              </a:spcAft>
              <a:defRPr sz="1300">
                <a:solidFill>
                  <a:srgbClr val="1F2937"/>
                </a:solidFill>
              </a:defRPr>
            </a:pPr>
            <a:r>
              <a:t>Channel: Email</a:t>
            </a:r>
          </a:p>
          <a:p>
            <a:pPr>
              <a:spcAft>
                <a:spcPts val="300"/>
              </a:spcAft>
              <a:defRPr sz="1300">
                <a:solidFill>
                  <a:srgbClr val="1F2937"/>
                </a:solidFill>
              </a:defRPr>
            </a:pPr>
            <a:r>
              <a:t>Platform: Eloqua</a:t>
            </a:r>
          </a:p>
          <a:p>
            <a:pPr>
              <a:spcAft>
                <a:spcPts val="300"/>
              </a:spcAft>
              <a:defRPr sz="1300">
                <a:solidFill>
                  <a:srgbClr val="1F2937"/>
                </a:solidFill>
              </a:defRPr>
            </a:pPr>
            <a:r>
              <a:t>CCID: cc008317</a:t>
            </a:r>
          </a:p>
          <a:p>
            <a:pPr>
              <a:spcAft>
                <a:spcPts val="300"/>
              </a:spcAft>
              <a:defRPr sz="1300">
                <a:solidFill>
                  <a:srgbClr val="1F2937"/>
                </a:solidFill>
              </a:defRPr>
            </a:pPr>
            <a:r>
              <a:t>DTID: approved email DTID from intake</a:t>
            </a:r>
          </a:p>
          <a:p>
            <a:pPr>
              <a:spcAft>
                <a:spcPts val="300"/>
              </a:spcAft>
              <a:defRPr sz="1300" b="1">
                <a:solidFill>
                  <a:srgbClr val="005596"/>
                </a:solidFill>
              </a:defRPr>
            </a:pPr>
            <a:r>
              <a:t>Correct format:</a:t>
            </a:r>
          </a:p>
          <a:p>
            <a:pPr>
              <a:spcAft>
                <a:spcPts val="300"/>
              </a:spcAft>
              <a:defRPr sz="1100">
                <a:solidFill>
                  <a:srgbClr val="008060"/>
                </a:solidFill>
                <a:latin typeface="Courier New"/>
              </a:defRPr>
            </a:pPr>
            <a:r>
              <a:t>URL?ccid=cc008317&amp;dtid=[dtid]&amp;utm_id=cc008317&amp;utm_medium=email&amp;utm_source=eloqua</a:t>
            </a:r>
          </a:p>
          <a:p>
            <a:pPr>
              <a:spcAft>
                <a:spcPts val="300"/>
              </a:spcAft>
              <a:defRPr sz="1300" b="1">
                <a:solidFill>
                  <a:srgbClr val="005596"/>
                </a:solidFill>
              </a:defRPr>
            </a:pPr>
            <a:r>
              <a:t>Why it works:</a:t>
            </a:r>
          </a:p>
          <a:p>
            <a:pPr>
              <a:spcAft>
                <a:spcPts val="300"/>
              </a:spcAft>
              <a:defRPr sz="1300">
                <a:solidFill>
                  <a:srgbClr val="1F2937"/>
                </a:solidFill>
              </a:defRPr>
            </a:pPr>
            <a:r>
              <a:t>Email does not require utm_creative</a:t>
            </a:r>
          </a:p>
          <a:p>
            <a:pPr>
              <a:spcAft>
                <a:spcPts val="300"/>
              </a:spcAft>
              <a:defRPr sz="1300">
                <a:solidFill>
                  <a:srgbClr val="1F2937"/>
                </a:solidFill>
              </a:defRPr>
            </a:pPr>
            <a:r>
              <a:t>utm_source is an approved email platform</a:t>
            </a:r>
          </a:p>
          <a:p>
            <a:pPr>
              <a:spcAft>
                <a:spcPts val="300"/>
              </a:spcAft>
              <a:defRPr sz="1300">
                <a:solidFill>
                  <a:srgbClr val="1F2937"/>
                </a:solidFill>
              </a:defRPr>
            </a:pPr>
            <a:r>
              <a:t>Empty or future-only parameters are omitted</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 source document lists email source values but does not list email DTID values in the provided DTID table; keep DTID populated from approved intake/mapping data.</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Incorrect examples and impacts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5C7080"/>
                </a:solidFill>
              </a:defRPr>
            </a:pPr>
            <a:r>
              <a:t>Incorrect pattern | Impact</a:t>
            </a:r>
          </a:p>
          <a:p>
            <a:pPr>
              <a:spcAft>
                <a:spcPts val="300"/>
              </a:spcAft>
              <a:defRPr sz="1300">
                <a:solidFill>
                  <a:srgbClr val="5C7080"/>
                </a:solidFill>
              </a:defRPr>
            </a:pPr>
            <a:r>
              <a:t>utm_medium=Paid Social | Creates inconsistent channel classification</a:t>
            </a:r>
          </a:p>
          <a:p>
            <a:pPr>
              <a:spcAft>
                <a:spcPts val="300"/>
              </a:spcAft>
              <a:defRPr sz="1300">
                <a:solidFill>
                  <a:srgbClr val="5C7080"/>
                </a:solidFill>
              </a:defRPr>
            </a:pPr>
            <a:r>
              <a:t>utm_medium=social for paid social | Paid activity may report as organic social</a:t>
            </a:r>
          </a:p>
          <a:p>
            <a:pPr>
              <a:spcAft>
                <a:spcPts val="300"/>
              </a:spcAft>
              <a:defRPr sz="1300">
                <a:solidFill>
                  <a:srgbClr val="5C7080"/>
                </a:solidFill>
              </a:defRPr>
            </a:pPr>
            <a:r>
              <a:t>utm_source=LinkedIn Ads | Splits platform reporting from approved linkedin</a:t>
            </a:r>
          </a:p>
          <a:p>
            <a:pPr>
              <a:spcAft>
                <a:spcPts val="300"/>
              </a:spcAft>
              <a:defRPr sz="1300">
                <a:solidFill>
                  <a:srgbClr val="5C7080"/>
                </a:solidFill>
              </a:defRPr>
            </a:pPr>
            <a:r>
              <a:t>utm_id=cc008318 while ccid=cc008317 | Campaign attribution mismatch</a:t>
            </a:r>
          </a:p>
          <a:p>
            <a:pPr>
              <a:spcAft>
                <a:spcPts val="300"/>
              </a:spcAft>
              <a:defRPr sz="1300">
                <a:solidFill>
                  <a:srgbClr val="5C7080"/>
                </a:solidFill>
              </a:defRPr>
            </a:pPr>
            <a:r>
              <a:t>Missing utm_creative on Paid Direct | Creative-level attribution gap</a:t>
            </a:r>
          </a:p>
          <a:p>
            <a:pPr>
              <a:spcAft>
                <a:spcPts val="300"/>
              </a:spcAft>
              <a:defRPr sz="1300">
                <a:solidFill>
                  <a:srgbClr val="5C7080"/>
                </a:solidFill>
              </a:defRPr>
            </a:pPr>
            <a:r>
              <a:t>Empty parameter like utm_campaign= | Adds noise; omit future-only or empty parameters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These are training examples based on the rules in the repository source.</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User checklist before launch</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500" b="1">
                <a:solidFill>
                  <a:srgbClr val="005596"/>
                </a:solidFill>
              </a:defRPr>
            </a:pPr>
            <a:r>
              <a:t>Before a URL is used, confirm:</a:t>
            </a:r>
          </a:p>
          <a:p>
            <a:pPr>
              <a:spcAft>
                <a:spcPts val="300"/>
              </a:spcAft>
              <a:defRPr sz="1500">
                <a:solidFill>
                  <a:srgbClr val="1F2937"/>
                </a:solidFill>
              </a:defRPr>
            </a:pPr>
            <a:r>
              <a:t>The build path is correct: Workfront, Stensul, or Manual URL Builder.</a:t>
            </a:r>
          </a:p>
          <a:p>
            <a:pPr>
              <a:spcAft>
                <a:spcPts val="300"/>
              </a:spcAft>
              <a:defRPr sz="1500">
                <a:solidFill>
                  <a:srgbClr val="1F2937"/>
                </a:solidFill>
              </a:defRPr>
            </a:pPr>
            <a:r>
              <a:t>ccid, dtid, utm_id, utm_medium, and utm_source are present.</a:t>
            </a:r>
          </a:p>
          <a:p>
            <a:pPr>
              <a:spcAft>
                <a:spcPts val="300"/>
              </a:spcAft>
              <a:defRPr sz="1500">
                <a:solidFill>
                  <a:srgbClr val="1F2937"/>
                </a:solidFill>
              </a:defRPr>
            </a:pPr>
            <a:r>
              <a:t>utm_id exactly matches ccid.</a:t>
            </a:r>
          </a:p>
          <a:p>
            <a:pPr>
              <a:spcAft>
                <a:spcPts val="300"/>
              </a:spcAft>
              <a:defRPr sz="1500">
                <a:solidFill>
                  <a:srgbClr val="1F2937"/>
                </a:solidFill>
              </a:defRPr>
            </a:pPr>
            <a:r>
              <a:t>utm_medium is one of the approved values.</a:t>
            </a:r>
          </a:p>
          <a:p>
            <a:pPr>
              <a:spcAft>
                <a:spcPts val="300"/>
              </a:spcAft>
              <a:defRPr sz="1500">
                <a:solidFill>
                  <a:srgbClr val="1F2937"/>
                </a:solidFill>
              </a:defRPr>
            </a:pPr>
            <a:r>
              <a:t>utm_source is approved for the channel.</a:t>
            </a:r>
          </a:p>
          <a:p>
            <a:pPr>
              <a:spcAft>
                <a:spcPts val="300"/>
              </a:spcAft>
              <a:defRPr sz="1500">
                <a:solidFill>
                  <a:srgbClr val="1F2937"/>
                </a:solidFill>
              </a:defRPr>
            </a:pPr>
            <a:r>
              <a:t>utm_creative=%ecid! is included only when required.</a:t>
            </a:r>
          </a:p>
          <a:p>
            <a:pPr>
              <a:spcAft>
                <a:spcPts val="300"/>
              </a:spcAft>
              <a:defRPr sz="1500">
                <a:solidFill>
                  <a:srgbClr val="1F2937"/>
                </a:solidFill>
              </a:defRPr>
            </a:pPr>
            <a:r>
              <a:t>Values are lowercase and hyphenated.</a:t>
            </a:r>
          </a:p>
          <a:p>
            <a:pPr>
              <a:spcAft>
                <a:spcPts val="300"/>
              </a:spcAft>
              <a:defRPr sz="1500">
                <a:solidFill>
                  <a:srgbClr val="1F2937"/>
                </a:solidFill>
              </a:defRPr>
            </a:pPr>
            <a:r>
              <a:t>Empty parameters are omitted.</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This can become a one-page job aid for launch readiness.</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0972800" cy="594360"/>
          </a:xfrm>
          <a:prstGeom prst="rect">
            <a:avLst/>
          </a:prstGeom>
          <a:noFill/>
        </p:spPr>
        <p:txBody>
          <a:bodyPr wrap="none">
            <a:spAutoFit/>
          </a:bodyPr>
          <a:lstStyle/>
          <a:p>
            <a:pPr>
              <a:defRPr b="1" sz="2800">
                <a:solidFill>
                  <a:srgbClr val="005596"/>
                </a:solidFill>
              </a:defRPr>
            </a:pPr>
            <a:r>
              <a:t>Where to go for updates</a:t>
            </a:r>
          </a:p>
        </p:txBody>
      </p:sp>
      <p:sp>
        <p:nvSpPr>
          <p:cNvPr id="4" name="TextBox 3"/>
          <p:cNvSpPr txBox="1"/>
          <p:nvPr/>
        </p:nvSpPr>
        <p:spPr>
          <a:xfrm>
            <a:off x="658368" y="1143000"/>
            <a:ext cx="10881360" cy="4526280"/>
          </a:xfrm>
          <a:prstGeom prst="rect">
            <a:avLst/>
          </a:prstGeom>
          <a:noFill/>
        </p:spPr>
        <p:txBody>
          <a:bodyPr wrap="square" lIns="73152" rIns="73152" bIns="27432">
            <a:spAutoFit/>
          </a:bodyPr>
          <a:lstStyle/>
          <a:p>
            <a:pPr>
              <a:spcAft>
                <a:spcPts val="300"/>
              </a:spcAft>
              <a:defRPr sz="1300">
                <a:solidFill>
                  <a:srgbClr val="1F2937"/>
                </a:solidFill>
              </a:defRPr>
            </a:pPr>
            <a:r>
              <a:t>Workfront intake mappings: Source and Mediums.xlsx</a:t>
            </a:r>
          </a:p>
          <a:p>
            <a:pPr>
              <a:spcAft>
                <a:spcPts val="300"/>
              </a:spcAft>
              <a:defRPr sz="1300">
                <a:solidFill>
                  <a:srgbClr val="1F2937"/>
                </a:solidFill>
              </a:defRPr>
            </a:pPr>
            <a:r>
              <a:t>Repository source document: UTM Framework New Training.md</a:t>
            </a:r>
          </a:p>
          <a:p>
            <a:pPr>
              <a:spcAft>
                <a:spcPts val="300"/>
              </a:spcAft>
              <a:defRPr sz="1300">
                <a:solidFill>
                  <a:srgbClr val="1F2937"/>
                </a:solidFill>
              </a:defRPr>
            </a:pPr>
            <a:r>
              <a:t>CTT source context: Tagging &amp; Tracking Overview - FY27 New Training.pptx</a:t>
            </a:r>
          </a:p>
          <a:p>
            <a:pPr>
              <a:spcAft>
                <a:spcPts val="300"/>
              </a:spcAft>
              <a:defRPr sz="1300">
                <a:solidFill>
                  <a:srgbClr val="1F2937"/>
                </a:solidFill>
              </a:defRPr>
            </a:pPr>
            <a:r>
              <a:t>Historical CTT usage context: Creating your Activity ID - Old Training Presentation.pptx</a:t>
            </a:r>
          </a:p>
          <a:p>
            <a:pPr>
              <a:spcAft>
                <a:spcPts val="300"/>
              </a:spcAft>
              <a:defRPr sz="1300">
                <a:solidFill>
                  <a:srgbClr val="1F2937"/>
                </a:solidFill>
              </a:defRPr>
            </a:pPr>
            <a:r>
              <a:t>Historical UTM strategy context: UTM Overview - Old Training.pptx</a:t>
            </a:r>
          </a:p>
          <a:p>
            <a:pPr>
              <a:spcAft>
                <a:spcPts val="300"/>
              </a:spcAft>
              <a:defRPr sz="1300">
                <a:solidFill>
                  <a:srgbClr val="1F2937"/>
                </a:solidFill>
              </a:defRPr>
            </a:pPr>
            <a:r>
              <a:t>Generated training deck: FY27 Tagging and Tracking Training Deck.pptx</a:t>
            </a:r>
          </a:p>
          <a:p>
            <a:pPr>
              <a:spcAft>
                <a:spcPts val="300"/>
              </a:spcAft>
              <a:defRPr sz="1300">
                <a:solidFill>
                  <a:srgbClr val="1F2937"/>
                </a:solidFill>
              </a:defRPr>
            </a:pPr>
            <a:r>
              <a:t>Editable deck source: FY27 Tagging and Tracking Training Deck.md</a:t>
            </a:r>
          </a:p>
          <a:p>
            <a:pPr>
              <a:spcAft>
                <a:spcPts val="300"/>
              </a:spcAft>
              <a:defRPr sz="1300" b="1">
                <a:solidFill>
                  <a:srgbClr val="005596"/>
                </a:solidFill>
              </a:defRPr>
            </a:pPr>
            <a:r>
              <a:t>Open items for FY27:</a:t>
            </a:r>
          </a:p>
          <a:p>
            <a:pPr>
              <a:spcAft>
                <a:spcPts val="300"/>
              </a:spcAft>
              <a:defRPr sz="1300">
                <a:solidFill>
                  <a:srgbClr val="1F2937"/>
                </a:solidFill>
              </a:defRPr>
            </a:pPr>
            <a:r>
              <a:t>Confirm final precedence order.</a:t>
            </a:r>
          </a:p>
          <a:p>
            <a:pPr>
              <a:spcAft>
                <a:spcPts val="300"/>
              </a:spcAft>
              <a:defRPr sz="1300">
                <a:solidFill>
                  <a:srgbClr val="1F2937"/>
                </a:solidFill>
              </a:defRPr>
            </a:pPr>
            <a:r>
              <a:t>Confirm final persistence behavior by reporting surface.</a:t>
            </a:r>
          </a:p>
          <a:p>
            <a:pPr>
              <a:spcAft>
                <a:spcPts val="300"/>
              </a:spcAft>
              <a:defRPr sz="1300">
                <a:solidFill>
                  <a:srgbClr val="1F2937"/>
                </a:solidFill>
              </a:defRPr>
            </a:pPr>
            <a:r>
              <a:t>Confirm when CCID/DTID retirement criteria are met.</a:t>
            </a:r>
          </a:p>
          <a:p>
            <a:pPr>
              <a:spcAft>
                <a:spcPts val="300"/>
              </a:spcAft>
              <a:defRPr sz="1300">
                <a:solidFill>
                  <a:srgbClr val="1F2937"/>
                </a:solidFill>
              </a:defRPr>
            </a:pPr>
            <a:r>
              <a:t>Confirm the final future-state Workfront Channel ID naming and handoff process.</a:t>
            </a:r>
          </a:p>
          <a:p>
            <a:pPr>
              <a:spcAft>
                <a:spcPts val="300"/>
              </a:spcAft>
              <a:defRPr sz="1300">
                <a:solidFill>
                  <a:srgbClr val="1F2937"/>
                </a:solidFill>
              </a:defRPr>
            </a:pPr>
            <a:r>
              <a:t>Confirm whether utm_campaign becomes active and what naming convention it should follow.</a:t>
            </a:r>
          </a:p>
          <a:p>
            <a:pPr>
              <a:spcAft>
                <a:spcPts val="300"/>
              </a:spcAft>
              <a:defRPr sz="1300">
                <a:solidFill>
                  <a:srgbClr val="1F2937"/>
                </a:solidFill>
              </a:defRPr>
            </a:pPr>
            <a:r>
              <a:t>Confirm any new approved utm_source values.</a:t>
            </a:r>
          </a:p>
        </p:txBody>
      </p:sp>
      <p:sp>
        <p:nvSpPr>
          <p:cNvPr id="5" name="Rounded Rectangle 4"/>
          <p:cNvSpPr/>
          <p:nvPr/>
        </p:nvSpPr>
        <p:spPr>
          <a:xfrm>
            <a:off x="658368" y="5687568"/>
            <a:ext cx="10881360" cy="658368"/>
          </a:xfrm>
          <a:prstGeom prst="roundRect">
            <a:avLst/>
          </a:prstGeom>
          <a:solidFill>
            <a:srgbClr val="F5F8FB"/>
          </a:solidFill>
          <a:ln>
            <a:solidFill>
              <a:srgbClr val="E2F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5C7080"/>
                </a:solidFill>
              </a:defRPr>
            </a:pPr>
            <a:r>
              <a:t>Facilitator note: If governance changes, update the source Markdown and regenerate the PPTX so the repository remains the training source of truth.</a:t>
            </a:r>
          </a:p>
        </p:txBody>
      </p:sp>
      <p:sp>
        <p:nvSpPr>
          <p:cNvPr id="6" name="TextBox 5"/>
          <p:cNvSpPr txBox="1"/>
          <p:nvPr/>
        </p:nvSpPr>
        <p:spPr>
          <a:xfrm>
            <a:off x="411480" y="6510528"/>
            <a:ext cx="11384280" cy="201168"/>
          </a:xfrm>
          <a:prstGeom prst="rect">
            <a:avLst/>
          </a:prstGeom>
          <a:noFill/>
        </p:spPr>
        <p:txBody>
          <a:bodyPr wrap="none">
            <a:spAutoFit/>
          </a:bodyPr>
          <a:lstStyle/>
          <a:p>
            <a:pPr algn="r">
              <a:defRPr sz="700">
                <a:solidFill>
                  <a:srgbClr val="5C7080"/>
                </a:solidFill>
              </a:defRPr>
            </a:pPr>
            <a:r>
              <a:t>FY27 Tagging and Tracking Training | Repository-backed draft | Slide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