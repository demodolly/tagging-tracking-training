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39"/>
  </p:notesMasterIdLst>
  <p:sldIdLst>
    <p:sldId id="256" r:id="rId5"/>
    <p:sldId id="259" r:id="rId6"/>
    <p:sldId id="2147471123" r:id="rId7"/>
    <p:sldId id="2147471143" r:id="rId8"/>
    <p:sldId id="2147471110" r:id="rId9"/>
    <p:sldId id="2147471142" r:id="rId10"/>
    <p:sldId id="2147471105" r:id="rId11"/>
    <p:sldId id="2147471116" r:id="rId12"/>
    <p:sldId id="2147471106" r:id="rId13"/>
    <p:sldId id="2147471107" r:id="rId14"/>
    <p:sldId id="2147471108" r:id="rId15"/>
    <p:sldId id="2147471109" r:id="rId16"/>
    <p:sldId id="2147471112" r:id="rId17"/>
    <p:sldId id="2147471113" r:id="rId18"/>
    <p:sldId id="2147471122" r:id="rId19"/>
    <p:sldId id="2147471114" r:id="rId20"/>
    <p:sldId id="2147471111" r:id="rId21"/>
    <p:sldId id="2147471117" r:id="rId22"/>
    <p:sldId id="2147471118" r:id="rId23"/>
    <p:sldId id="2147471119" r:id="rId24"/>
    <p:sldId id="2147471120" r:id="rId25"/>
    <p:sldId id="2147471121" r:id="rId26"/>
    <p:sldId id="2147471144" r:id="rId27"/>
    <p:sldId id="2147471126" r:id="rId28"/>
    <p:sldId id="2147471128" r:id="rId29"/>
    <p:sldId id="2147471129" r:id="rId30"/>
    <p:sldId id="2147471130" r:id="rId31"/>
    <p:sldId id="2147471133" r:id="rId32"/>
    <p:sldId id="2147471135" r:id="rId33"/>
    <p:sldId id="2147471138" r:id="rId34"/>
    <p:sldId id="2147471140" r:id="rId35"/>
    <p:sldId id="2147471141" r:id="rId36"/>
    <p:sldId id="2147471124" r:id="rId37"/>
    <p:sldId id="2147471125" r:id="rId38"/>
  </p:sldIdLst>
  <p:sldSz cx="12192000" cy="6858000"/>
  <p:notesSz cx="6858000" cy="9144000"/>
  <p:embeddedFontLst>
    <p:embeddedFont>
      <p:font typeface="CiscoSansTT" panose="020B0503020201020303" pitchFamily="34" charset="0"/>
      <p:regular r:id="rId40"/>
      <p:bold r:id="rId41"/>
      <p:italic r:id="rId42"/>
      <p:boldItalic r:id="rId43"/>
    </p:embeddedFont>
    <p:embeddedFont>
      <p:font typeface="CiscoSansTT Medium" panose="020B0903020201020303" pitchFamily="34" charset="0"/>
      <p:regular r:id="rId44"/>
      <p:italic r:id="rId45"/>
    </p:embeddedFont>
    <p:embeddedFont>
      <p:font typeface="Impact" panose="020B0806030902050204" pitchFamily="34" charset="0"/>
      <p:regular r:id="rId46"/>
    </p:embeddedFont>
    <p:embeddedFont>
      <p:font typeface="MS PGothic" panose="020B0600070205080204" pitchFamily="34" charset="-128"/>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F26B43"/>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14DC83-90C6-4F83-A989-19751BEE823D}" v="299" dt="2026-08-17T16:40:20.9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89137" autoAdjust="0"/>
  </p:normalViewPr>
  <p:slideViewPr>
    <p:cSldViewPr snapToGrid="0">
      <p:cViewPr>
        <p:scale>
          <a:sx n="66" d="100"/>
          <a:sy n="66" d="100"/>
        </p:scale>
        <p:origin x="987" y="255"/>
      </p:cViewPr>
      <p:guideLst>
        <p:guide pos="3840"/>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5.fntdata"/><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7.fntdata"/><Relationship Id="rId20" Type="http://schemas.openxmlformats.org/officeDocument/2006/relationships/slide" Target="slides/slide16.xml"/><Relationship Id="rId41"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3D5C2C-4435-46CA-84BD-1B73AEB7204F}" type="datetimeFigureOut">
              <a:rPr lang="en-GB" smtClean="0"/>
              <a:t>17/08/2026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45134-E21D-4697-9B99-A9763DB77AC4}" type="slidenum">
              <a:rPr lang="en-GB" smtClean="0"/>
              <a:t>‹#›</a:t>
            </a:fld>
            <a:endParaRPr lang="en-GB"/>
          </a:p>
        </p:txBody>
      </p:sp>
    </p:spTree>
    <p:extLst>
      <p:ext uri="{BB962C8B-B14F-4D97-AF65-F5344CB8AC3E}">
        <p14:creationId xmlns:p14="http://schemas.microsoft.com/office/powerpoint/2010/main" val="560013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6</a:t>
            </a:fld>
            <a:endParaRPr lang="en-GB"/>
          </a:p>
        </p:txBody>
      </p:sp>
    </p:spTree>
    <p:extLst>
      <p:ext uri="{BB962C8B-B14F-4D97-AF65-F5344CB8AC3E}">
        <p14:creationId xmlns:p14="http://schemas.microsoft.com/office/powerpoint/2010/main" val="1310053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7</a:t>
            </a:fld>
            <a:endParaRPr lang="en-GB"/>
          </a:p>
        </p:txBody>
      </p:sp>
    </p:spTree>
    <p:extLst>
      <p:ext uri="{BB962C8B-B14F-4D97-AF65-F5344CB8AC3E}">
        <p14:creationId xmlns:p14="http://schemas.microsoft.com/office/powerpoint/2010/main" val="2915826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18</a:t>
            </a:fld>
            <a:endParaRPr lang="en-GB"/>
          </a:p>
        </p:txBody>
      </p:sp>
    </p:spTree>
    <p:extLst>
      <p:ext uri="{BB962C8B-B14F-4D97-AF65-F5344CB8AC3E}">
        <p14:creationId xmlns:p14="http://schemas.microsoft.com/office/powerpoint/2010/main" val="653955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22</a:t>
            </a:fld>
            <a:endParaRPr lang="en-GB"/>
          </a:p>
        </p:txBody>
      </p:sp>
    </p:spTree>
    <p:extLst>
      <p:ext uri="{BB962C8B-B14F-4D97-AF65-F5344CB8AC3E}">
        <p14:creationId xmlns:p14="http://schemas.microsoft.com/office/powerpoint/2010/main" val="3886121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BCC4-2C00-7BD3-7068-A3849F3F5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84019-3460-87D3-D577-607F0AC17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F30C5-5AA6-9BBF-26A9-4A22215D3FE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591CAD-6215-947C-D23E-F635BFA090C6}"/>
              </a:ext>
            </a:extLst>
          </p:cNvPr>
          <p:cNvSpPr>
            <a:spLocks noGrp="1"/>
          </p:cNvSpPr>
          <p:nvPr>
            <p:ph type="sldNum" sz="quarter" idx="5"/>
          </p:nvPr>
        </p:nvSpPr>
        <p:spPr/>
        <p:txBody>
          <a:bodyPr/>
          <a:lstStyle/>
          <a:p>
            <a:fld id="{71745134-E21D-4697-9B99-A9763DB77AC4}" type="slidenum">
              <a:rPr lang="en-GB" smtClean="0"/>
              <a:t>26</a:t>
            </a:fld>
            <a:endParaRPr lang="en-GB"/>
          </a:p>
        </p:txBody>
      </p:sp>
    </p:spTree>
    <p:extLst>
      <p:ext uri="{BB962C8B-B14F-4D97-AF65-F5344CB8AC3E}">
        <p14:creationId xmlns:p14="http://schemas.microsoft.com/office/powerpoint/2010/main" val="1378554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30</a:t>
            </a:fld>
            <a:endParaRPr lang="en-GB"/>
          </a:p>
        </p:txBody>
      </p:sp>
    </p:spTree>
    <p:extLst>
      <p:ext uri="{BB962C8B-B14F-4D97-AF65-F5344CB8AC3E}">
        <p14:creationId xmlns:p14="http://schemas.microsoft.com/office/powerpoint/2010/main" val="2431316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8EC96-90C9-B095-F68F-56E8FD202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C6881-6CEB-C5D4-7373-B4ECB390B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C8E3C-CC7E-90D5-712B-211B7D68046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D1F5D1-3BA5-59B3-6857-38F53795F7DD}"/>
              </a:ext>
            </a:extLst>
          </p:cNvPr>
          <p:cNvSpPr>
            <a:spLocks noGrp="1"/>
          </p:cNvSpPr>
          <p:nvPr>
            <p:ph type="sldNum" sz="quarter" idx="5"/>
          </p:nvPr>
        </p:nvSpPr>
        <p:spPr/>
        <p:txBody>
          <a:bodyPr/>
          <a:lstStyle/>
          <a:p>
            <a:fld id="{71745134-E21D-4697-9B99-A9763DB77AC4}" type="slidenum">
              <a:rPr lang="en-GB" smtClean="0"/>
              <a:t>31</a:t>
            </a:fld>
            <a:endParaRPr lang="en-GB"/>
          </a:p>
        </p:txBody>
      </p:sp>
    </p:spTree>
    <p:extLst>
      <p:ext uri="{BB962C8B-B14F-4D97-AF65-F5344CB8AC3E}">
        <p14:creationId xmlns:p14="http://schemas.microsoft.com/office/powerpoint/2010/main" val="4004341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32</a:t>
            </a:fld>
            <a:endParaRPr lang="en-GB"/>
          </a:p>
        </p:txBody>
      </p:sp>
    </p:spTree>
    <p:extLst>
      <p:ext uri="{BB962C8B-B14F-4D97-AF65-F5344CB8AC3E}">
        <p14:creationId xmlns:p14="http://schemas.microsoft.com/office/powerpoint/2010/main" val="497206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34</a:t>
            </a:fld>
            <a:endParaRPr lang="en-GB"/>
          </a:p>
        </p:txBody>
      </p:sp>
    </p:spTree>
    <p:extLst>
      <p:ext uri="{BB962C8B-B14F-4D97-AF65-F5344CB8AC3E}">
        <p14:creationId xmlns:p14="http://schemas.microsoft.com/office/powerpoint/2010/main" val="29862115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871345"/>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2820"/>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4061400"/>
            <a:ext cx="5048090" cy="457200"/>
          </a:xfrm>
        </p:spPr>
        <p:txBody>
          <a:bodyPr anchor="t"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676458"/>
            <a:ext cx="5047270" cy="459455"/>
          </a:xfrm>
          <a:noFill/>
        </p:spPr>
        <p:txBody>
          <a:bodyPr anchor="t"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1601984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964900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1,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244600"/>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2886075"/>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3428789"/>
            <a:ext cx="5048090" cy="457200"/>
          </a:xfrm>
        </p:spPr>
        <p:txBody>
          <a:bodyPr anchor="b"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051300"/>
            <a:ext cx="5047270" cy="459455"/>
          </a:xfrm>
          <a:noFill/>
        </p:spPr>
        <p:txBody>
          <a:bodyPr anchor="b"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5" name="Text Placeholder 4">
            <a:extLst>
              <a:ext uri="{FF2B5EF4-FFF2-40B4-BE49-F238E27FC236}">
                <a16:creationId xmlns:a16="http://schemas.microsoft.com/office/drawing/2014/main" id="{1C0E61D1-59EB-7A86-0D12-9388193F45D9}"/>
              </a:ext>
            </a:extLst>
          </p:cNvPr>
          <p:cNvSpPr>
            <a:spLocks noGrp="1"/>
          </p:cNvSpPr>
          <p:nvPr>
            <p:ph type="body" sz="quarter" idx="17" hasCustomPrompt="1"/>
          </p:nvPr>
        </p:nvSpPr>
        <p:spPr>
          <a:xfrm>
            <a:off x="323849" y="4681134"/>
            <a:ext cx="5046663" cy="457200"/>
          </a:xfrm>
        </p:spPr>
        <p:txBody>
          <a:bodyPr anchor="b" anchorCtr="0"/>
          <a:lstStyle>
            <a:lvl1pPr marL="0" indent="0">
              <a:spcAft>
                <a:spcPts val="0"/>
              </a:spcAft>
              <a:buNone/>
              <a:defRPr lang="en-US" sz="1400" kern="1200" dirty="0" smtClean="0">
                <a:solidFill>
                  <a:schemeClr val="bg1"/>
                </a:solidFill>
                <a:latin typeface="+mn-lt"/>
                <a:ea typeface="ＭＳ Ｐゴシック" charset="0"/>
                <a:cs typeface="CiscoSans"/>
              </a:defRPr>
            </a:lvl1pPr>
            <a:lvl2pPr marL="182880" indent="0">
              <a:spcAft>
                <a:spcPts val="0"/>
              </a:spcAft>
              <a:buNone/>
              <a:defRPr sz="1400"/>
            </a:lvl2pPr>
            <a:lvl3pPr marL="365760" indent="0">
              <a:spcAft>
                <a:spcPts val="0"/>
              </a:spcAft>
              <a:buNone/>
              <a:defRPr sz="1200"/>
            </a:lvl3pPr>
            <a:lvl4pPr marL="548640" indent="0">
              <a:spcAft>
                <a:spcPts val="0"/>
              </a:spcAft>
              <a:buNone/>
              <a:defRPr sz="1100"/>
            </a:lvl4pPr>
            <a:lvl5pPr marL="731520" indent="0">
              <a:spcAft>
                <a:spcPts val="0"/>
              </a:spcAft>
              <a:buNone/>
              <a:defRPr sz="1050"/>
            </a:lvl5pPr>
          </a:lstStyle>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Name</a:t>
            </a:r>
          </a:p>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Title placeholder, @social</a:t>
            </a:r>
          </a:p>
        </p:txBody>
      </p:sp>
      <p:sp>
        <p:nvSpPr>
          <p:cNvPr id="7" name="Text Placeholder 6">
            <a:extLst>
              <a:ext uri="{FF2B5EF4-FFF2-40B4-BE49-F238E27FC236}">
                <a16:creationId xmlns:a16="http://schemas.microsoft.com/office/drawing/2014/main" id="{D175C0FC-DD02-0704-8A17-1B3037F861D2}"/>
              </a:ext>
            </a:extLst>
          </p:cNvPr>
          <p:cNvSpPr>
            <a:spLocks noGrp="1"/>
          </p:cNvSpPr>
          <p:nvPr>
            <p:ph type="body" sz="quarter" idx="18" hasCustomPrompt="1"/>
          </p:nvPr>
        </p:nvSpPr>
        <p:spPr>
          <a:xfrm>
            <a:off x="323848" y="5306439"/>
            <a:ext cx="5046663" cy="457200"/>
          </a:xfrm>
        </p:spPr>
        <p:txBody>
          <a:bodyPr anchor="b" anchorCtr="0"/>
          <a:lstStyle>
            <a:lvl1pPr marL="0" indent="0">
              <a:spcAft>
                <a:spcPts val="0"/>
              </a:spcAft>
              <a:buNone/>
              <a:defRPr sz="1400"/>
            </a:lvl1pPr>
            <a:lvl2pPr marL="182880" indent="0">
              <a:buNone/>
              <a:defRPr sz="1200"/>
            </a:lvl2pPr>
            <a:lvl3pPr marL="365760" indent="0">
              <a:buNone/>
              <a:defRPr sz="1100"/>
            </a:lvl3pPr>
            <a:lvl4pPr marL="548640" indent="0">
              <a:buNone/>
              <a:defRPr sz="1050"/>
            </a:lvl4pPr>
            <a:lvl5pPr marL="731520" indent="0">
              <a:buNone/>
              <a:defRPr sz="100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pPr lvl="0"/>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3081099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731229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3, Four Speakers">
    <p:bg>
      <p:bgPr>
        <a:solidFill>
          <a:schemeClr val="tx1"/>
        </a:solidFill>
        <a:effectLst/>
      </p:bgPr>
    </p:bg>
    <p:spTree>
      <p:nvGrpSpPr>
        <p:cNvPr id="1" name=""/>
        <p:cNvGrpSpPr/>
        <p:nvPr/>
      </p:nvGrpSpPr>
      <p:grpSpPr>
        <a:xfrm>
          <a:off x="0" y="0"/>
          <a:ext cx="0" cy="0"/>
          <a:chOff x="0" y="0"/>
          <a:chExt cx="0" cy="0"/>
        </a:xfrm>
      </p:grpSpPr>
      <p:pic>
        <p:nvPicPr>
          <p:cNvPr id="12" name="Picture 7" descr="Cisco logo">
            <a:extLst>
              <a:ext uri="{FF2B5EF4-FFF2-40B4-BE49-F238E27FC236}">
                <a16:creationId xmlns:a16="http://schemas.microsoft.com/office/drawing/2014/main" id="{60C68F8B-19C8-6CB4-297B-32D44AF9C3D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323850" y="320675"/>
            <a:ext cx="792163" cy="416221"/>
          </a:xfrm>
          <a:prstGeom prst="rect">
            <a:avLst/>
          </a:prstGeom>
        </p:spPr>
      </p:pic>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492374"/>
            <a:ext cx="10167938" cy="1243019"/>
          </a:xfrm>
        </p:spPr>
        <p:txBody>
          <a:bodyPr anchor="b" anchorCtr="0"/>
          <a:lstStyle>
            <a:lvl1pPr>
              <a:defRPr sz="3600">
                <a:solidFill>
                  <a:schemeClr val="bg1"/>
                </a:solidFill>
              </a:defRPr>
            </a:lvl1pPr>
          </a:lstStyle>
          <a:p>
            <a:r>
              <a:rPr lang="en-US" dirty="0"/>
              <a:t>Presentation Slide Title Layout 3</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49" y="3827463"/>
            <a:ext cx="1016793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7" name="Text Placeholder 6">
            <a:extLst>
              <a:ext uri="{FF2B5EF4-FFF2-40B4-BE49-F238E27FC236}">
                <a16:creationId xmlns:a16="http://schemas.microsoft.com/office/drawing/2014/main" id="{872EFECA-80DB-74BA-813F-3952A15A5022}"/>
              </a:ext>
            </a:extLst>
          </p:cNvPr>
          <p:cNvSpPr>
            <a:spLocks noGrp="1"/>
          </p:cNvSpPr>
          <p:nvPr>
            <p:ph type="body" sz="quarter" idx="15" hasCustomPrompt="1"/>
          </p:nvPr>
        </p:nvSpPr>
        <p:spPr>
          <a:xfrm>
            <a:off x="4230688" y="4360863"/>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323850" y="4990779"/>
            <a:ext cx="3725863"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13" name="Text Placeholder 12">
            <a:extLst>
              <a:ext uri="{FF2B5EF4-FFF2-40B4-BE49-F238E27FC236}">
                <a16:creationId xmlns:a16="http://schemas.microsoft.com/office/drawing/2014/main" id="{2BBB47F0-F6D2-5FD5-1C2D-8963A9B280F8}"/>
              </a:ext>
            </a:extLst>
          </p:cNvPr>
          <p:cNvSpPr>
            <a:spLocks noGrp="1"/>
          </p:cNvSpPr>
          <p:nvPr>
            <p:ph type="body" sz="quarter" idx="16" hasCustomPrompt="1"/>
          </p:nvPr>
        </p:nvSpPr>
        <p:spPr>
          <a:xfrm>
            <a:off x="4230688" y="4990779"/>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2747354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18737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322890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0" y="4986338"/>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7" y="4986338"/>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Tree>
    <p:extLst>
      <p:ext uri="{BB962C8B-B14F-4D97-AF65-F5344CB8AC3E}">
        <p14:creationId xmlns:p14="http://schemas.microsoft.com/office/powerpoint/2010/main" val="2205143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bg2">
                    <a:lumMod val="60000"/>
                    <a:lumOff val="40000"/>
                  </a:schemeClr>
                </a:solidFill>
                <a:effectLst/>
                <a:uLnTx/>
                <a:uFillTx/>
                <a:latin typeface="+mj-lt"/>
                <a:cs typeface="CiscoSansTT" panose="020B0503020201020303"/>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2849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dirty="0"/>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8512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5677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2814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08835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1180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1303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1101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37197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23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189898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dirty="0"/>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141A00D0-7712-950D-34B2-5551B85F9E7B}"/>
              </a:ext>
            </a:extLst>
          </p:cNvPr>
          <p:cNvSpPr>
            <a:spLocks noGrp="1"/>
          </p:cNvSpPr>
          <p:nvPr>
            <p:ph type="body" sz="quarter" idx="12"/>
          </p:nvPr>
        </p:nvSpPr>
        <p:spPr>
          <a:xfrm>
            <a:off x="323850" y="952500"/>
            <a:ext cx="11544300" cy="5122863"/>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021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122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02181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915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60980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451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79850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6548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1146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72233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4089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9447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241207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997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8020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4738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3371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27719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06597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4675188"/>
          </a:xfrm>
          <a:prstGeom prst="roundRect">
            <a:avLst>
              <a:gd name="adj" fmla="val 0"/>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8928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1"/>
                </a:gs>
                <a:gs pos="100000">
                  <a:schemeClr val="accent2"/>
                </a:gs>
              </a:gsLst>
              <a:lin ang="2700000" scaled="1"/>
              <a:tileRect/>
            </a:gradFill>
            <a:prstDash val="solid"/>
            <a:miter/>
          </a:ln>
        </p:spPr>
        <p:txBody>
          <a:bodyPr rtlCol="0" anchor="ctr"/>
          <a:lstStyle/>
          <a:p>
            <a:endParaRPr lang="en-US" dirty="0">
              <a:gradFill>
                <a:gsLst>
                  <a:gs pos="0">
                    <a:srgbClr val="009DE2"/>
                  </a:gs>
                  <a:gs pos="100000">
                    <a:schemeClr val="accent2"/>
                  </a:gs>
                </a:gsLst>
                <a:lin ang="2700000" scaled="1"/>
              </a:gradFill>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dirty="0"/>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0606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0191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9521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9451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1778090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24269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065490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60615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5914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786531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gu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921097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gu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038744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gu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686022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gue 4">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235825"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272313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hank you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44601"/>
            <a:ext cx="10888663" cy="436721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31489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hank you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spTree>
    <p:extLst>
      <p:ext uri="{BB962C8B-B14F-4D97-AF65-F5344CB8AC3E}">
        <p14:creationId xmlns:p14="http://schemas.microsoft.com/office/powerpoint/2010/main" val="2900985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Closing 1">
    <p:spTree>
      <p:nvGrpSpPr>
        <p:cNvPr id="1" name=""/>
        <p:cNvGrpSpPr/>
        <p:nvPr/>
      </p:nvGrpSpPr>
      <p:grpSpPr>
        <a:xfrm>
          <a:off x="0" y="0"/>
          <a:ext cx="0" cy="0"/>
          <a:chOff x="0" y="0"/>
          <a:chExt cx="0" cy="0"/>
        </a:xfrm>
      </p:grpSpPr>
      <p:grpSp>
        <p:nvGrpSpPr>
          <p:cNvPr id="3" name="Graphic 2" descr="Cisco logo">
            <a:extLst>
              <a:ext uri="{FF2B5EF4-FFF2-40B4-BE49-F238E27FC236}">
                <a16:creationId xmlns:a16="http://schemas.microsoft.com/office/drawing/2014/main" id="{9A32CA38-C4CF-D4BC-78F1-F151F8F9799C}"/>
              </a:ext>
            </a:extLst>
          </p:cNvPr>
          <p:cNvGrpSpPr>
            <a:grpSpLocks noChangeAspect="1"/>
          </p:cNvGrpSpPr>
          <p:nvPr/>
        </p:nvGrpSpPr>
        <p:grpSpPr>
          <a:xfrm>
            <a:off x="5487122" y="2978332"/>
            <a:ext cx="1217756" cy="640080"/>
            <a:chOff x="7202835" y="2919593"/>
            <a:chExt cx="1014444" cy="533215"/>
          </a:xfrm>
          <a:solidFill>
            <a:schemeClr val="bg1"/>
          </a:solidFill>
        </p:grpSpPr>
        <p:sp>
          <p:nvSpPr>
            <p:cNvPr id="4" name="Freeform 24">
              <a:extLst>
                <a:ext uri="{FF2B5EF4-FFF2-40B4-BE49-F238E27FC236}">
                  <a16:creationId xmlns:a16="http://schemas.microsoft.com/office/drawing/2014/main" id="{0848F511-CD0C-4E21-1411-CA7D0F6E3A43}"/>
                </a:ext>
              </a:extLst>
            </p:cNvPr>
            <p:cNvSpPr/>
            <p:nvPr/>
          </p:nvSpPr>
          <p:spPr>
            <a:xfrm>
              <a:off x="7489875" y="3273956"/>
              <a:ext cx="44467" cy="175170"/>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cxn ang="0">
                  <a:pos x="connsiteX0" y="connsiteY0"/>
                </a:cxn>
                <a:cxn ang="0">
                  <a:pos x="connsiteX1" y="connsiteY1"/>
                </a:cxn>
                <a:cxn ang="0">
                  <a:pos x="connsiteX2" y="connsiteY2"/>
                </a:cxn>
                <a:cxn ang="0">
                  <a:pos x="connsiteX3" y="connsiteY3"/>
                </a:cxn>
              </a:cxnLst>
              <a:rect l="l" t="t" r="r" b="b"/>
              <a:pathLst>
                <a:path w="44467" h="175170">
                  <a:moveTo>
                    <a:pt x="0" y="0"/>
                  </a:moveTo>
                  <a:lnTo>
                    <a:pt x="44467" y="0"/>
                  </a:lnTo>
                  <a:lnTo>
                    <a:pt x="44467" y="175170"/>
                  </a:lnTo>
                  <a:lnTo>
                    <a:pt x="0" y="175170"/>
                  </a:lnTo>
                  <a:close/>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5" name="Freeform 25">
              <a:extLst>
                <a:ext uri="{FF2B5EF4-FFF2-40B4-BE49-F238E27FC236}">
                  <a16:creationId xmlns:a16="http://schemas.microsoft.com/office/drawing/2014/main" id="{CE7BD058-D0FF-047D-F5E7-7A0A610E086D}"/>
                </a:ext>
              </a:extLst>
            </p:cNvPr>
            <p:cNvSpPr/>
            <p:nvPr/>
          </p:nvSpPr>
          <p:spPr>
            <a:xfrm>
              <a:off x="7758493" y="3270889"/>
              <a:ext cx="134399" cy="181394"/>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6" name="Freeform 26">
              <a:extLst>
                <a:ext uri="{FF2B5EF4-FFF2-40B4-BE49-F238E27FC236}">
                  <a16:creationId xmlns:a16="http://schemas.microsoft.com/office/drawing/2014/main" id="{83623A44-0F0F-1370-66F6-0846CAF90985}"/>
                </a:ext>
              </a:extLst>
            </p:cNvPr>
            <p:cNvSpPr/>
            <p:nvPr/>
          </p:nvSpPr>
          <p:spPr>
            <a:xfrm>
              <a:off x="7294401" y="3270889"/>
              <a:ext cx="134581" cy="181394"/>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7" name="Freeform 27">
              <a:extLst>
                <a:ext uri="{FF2B5EF4-FFF2-40B4-BE49-F238E27FC236}">
                  <a16:creationId xmlns:a16="http://schemas.microsoft.com/office/drawing/2014/main" id="{8ABAB402-379C-A6D8-AF39-B22717AC8652}"/>
                </a:ext>
              </a:extLst>
            </p:cNvPr>
            <p:cNvSpPr/>
            <p:nvPr/>
          </p:nvSpPr>
          <p:spPr>
            <a:xfrm>
              <a:off x="7943079" y="3270861"/>
              <a:ext cx="182591" cy="181947"/>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8" name="Freeform 28">
              <a:extLst>
                <a:ext uri="{FF2B5EF4-FFF2-40B4-BE49-F238E27FC236}">
                  <a16:creationId xmlns:a16="http://schemas.microsoft.com/office/drawing/2014/main" id="{A0F49F63-D861-23D0-7A32-6898EA38AA9E}"/>
                </a:ext>
              </a:extLst>
            </p:cNvPr>
            <p:cNvSpPr/>
            <p:nvPr/>
          </p:nvSpPr>
          <p:spPr>
            <a:xfrm>
              <a:off x="7593692" y="3270799"/>
              <a:ext cx="121059" cy="181484"/>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9" name="Freeform 29">
              <a:extLst>
                <a:ext uri="{FF2B5EF4-FFF2-40B4-BE49-F238E27FC236}">
                  <a16:creationId xmlns:a16="http://schemas.microsoft.com/office/drawing/2014/main" id="{62CA1BBC-594E-0B3B-ACB5-5180E647EB68}"/>
                </a:ext>
              </a:extLst>
            </p:cNvPr>
            <p:cNvSpPr/>
            <p:nvPr/>
          </p:nvSpPr>
          <p:spPr>
            <a:xfrm>
              <a:off x="7202835" y="3063878"/>
              <a:ext cx="44194" cy="88432"/>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0" name="Freeform 30">
              <a:extLst>
                <a:ext uri="{FF2B5EF4-FFF2-40B4-BE49-F238E27FC236}">
                  <a16:creationId xmlns:a16="http://schemas.microsoft.com/office/drawing/2014/main" id="{51B57147-07A3-179D-3B44-669E31BA0779}"/>
                </a:ext>
              </a:extLst>
            </p:cNvPr>
            <p:cNvSpPr/>
            <p:nvPr/>
          </p:nvSpPr>
          <p:spPr>
            <a:xfrm>
              <a:off x="7324348" y="3003533"/>
              <a:ext cx="44104" cy="150094"/>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1" name="Freeform 31">
              <a:extLst>
                <a:ext uri="{FF2B5EF4-FFF2-40B4-BE49-F238E27FC236}">
                  <a16:creationId xmlns:a16="http://schemas.microsoft.com/office/drawing/2014/main" id="{D2F4977B-6C3A-1749-28D3-74067758D800}"/>
                </a:ext>
              </a:extLst>
            </p:cNvPr>
            <p:cNvSpPr/>
            <p:nvPr/>
          </p:nvSpPr>
          <p:spPr>
            <a:xfrm>
              <a:off x="7445589" y="2921000"/>
              <a:ext cx="44104" cy="27637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2" name="Freeform 32">
              <a:extLst>
                <a:ext uri="{FF2B5EF4-FFF2-40B4-BE49-F238E27FC236}">
                  <a16:creationId xmlns:a16="http://schemas.microsoft.com/office/drawing/2014/main" id="{7539BE40-6861-0AFB-E72A-25B2630122C7}"/>
                </a:ext>
              </a:extLst>
            </p:cNvPr>
            <p:cNvSpPr/>
            <p:nvPr/>
          </p:nvSpPr>
          <p:spPr>
            <a:xfrm>
              <a:off x="7566921" y="3003533"/>
              <a:ext cx="44104" cy="150094"/>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3" name="Freeform 33">
              <a:extLst>
                <a:ext uri="{FF2B5EF4-FFF2-40B4-BE49-F238E27FC236}">
                  <a16:creationId xmlns:a16="http://schemas.microsoft.com/office/drawing/2014/main" id="{8726BE87-6F3D-1887-CD70-E89DF7FE7BFC}"/>
                </a:ext>
              </a:extLst>
            </p:cNvPr>
            <p:cNvSpPr/>
            <p:nvPr/>
          </p:nvSpPr>
          <p:spPr>
            <a:xfrm>
              <a:off x="7687800" y="3063876"/>
              <a:ext cx="44104" cy="89751"/>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4" name="Freeform 34">
              <a:extLst>
                <a:ext uri="{FF2B5EF4-FFF2-40B4-BE49-F238E27FC236}">
                  <a16:creationId xmlns:a16="http://schemas.microsoft.com/office/drawing/2014/main" id="{EB3564BA-B2F9-645B-AD4D-30EC3199A221}"/>
                </a:ext>
              </a:extLst>
            </p:cNvPr>
            <p:cNvSpPr/>
            <p:nvPr/>
          </p:nvSpPr>
          <p:spPr>
            <a:xfrm>
              <a:off x="7809447" y="3002127"/>
              <a:ext cx="44107" cy="151500"/>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5" name="Freeform 35">
              <a:extLst>
                <a:ext uri="{FF2B5EF4-FFF2-40B4-BE49-F238E27FC236}">
                  <a16:creationId xmlns:a16="http://schemas.microsoft.com/office/drawing/2014/main" id="{0B4EEF7D-1D1F-7611-2AD6-3168E2EE165C}"/>
                </a:ext>
              </a:extLst>
            </p:cNvPr>
            <p:cNvSpPr/>
            <p:nvPr/>
          </p:nvSpPr>
          <p:spPr>
            <a:xfrm>
              <a:off x="7930779" y="2919593"/>
              <a:ext cx="44108" cy="279187"/>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6" name="Freeform 36">
              <a:extLst>
                <a:ext uri="{FF2B5EF4-FFF2-40B4-BE49-F238E27FC236}">
                  <a16:creationId xmlns:a16="http://schemas.microsoft.com/office/drawing/2014/main" id="{9A55B643-50C9-ECA1-F047-7AF4A01DADB7}"/>
                </a:ext>
              </a:extLst>
            </p:cNvPr>
            <p:cNvSpPr/>
            <p:nvPr/>
          </p:nvSpPr>
          <p:spPr>
            <a:xfrm>
              <a:off x="8051886" y="3003443"/>
              <a:ext cx="44285" cy="150187"/>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7" name="Freeform 37">
              <a:extLst>
                <a:ext uri="{FF2B5EF4-FFF2-40B4-BE49-F238E27FC236}">
                  <a16:creationId xmlns:a16="http://schemas.microsoft.com/office/drawing/2014/main" id="{46A6ACD1-E596-9055-243C-B9CF5CFB813D}"/>
                </a:ext>
              </a:extLst>
            </p:cNvPr>
            <p:cNvSpPr/>
            <p:nvPr/>
          </p:nvSpPr>
          <p:spPr>
            <a:xfrm>
              <a:off x="8173172" y="3063878"/>
              <a:ext cx="44107" cy="91156"/>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grpSp>
    </p:spTree>
    <p:extLst>
      <p:ext uri="{BB962C8B-B14F-4D97-AF65-F5344CB8AC3E}">
        <p14:creationId xmlns:p14="http://schemas.microsoft.com/office/powerpoint/2010/main" val="191034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ＭＳ Ｐゴシック" charset="0"/>
                <a:cs typeface="CiscoSansTT" panose="020B0503020201020303"/>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pPr defTabSz="814318">
              <a:defRPr/>
            </a:pPr>
            <a:r>
              <a:rPr lang="en-US" dirty="0"/>
              <a:t>Session ID: BRKSEC-XXXX</a:t>
            </a:r>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fld id="{C3C42FAE-7A31-41D3-A712-51D9B15D0B10}" type="slidenum">
              <a:rPr lang="en-US" smtClean="0"/>
              <a:pPr/>
              <a:t>‹#›</a:t>
            </a:fld>
            <a:endParaRPr lang="en-US" dirty="0"/>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385550" y="6672580"/>
            <a:ext cx="765175" cy="107722"/>
          </a:xfrm>
          <a:prstGeom prst="rect">
            <a:avLst/>
          </a:prstGeom>
        </p:spPr>
        <p:txBody>
          <a:bodyPr horzOverflow="overflow" lIns="0" tIns="0" rIns="0" bIns="0">
            <a:spAutoFit/>
          </a:bodyPr>
          <a:lstStyle/>
          <a:p>
            <a:pPr algn="l"/>
            <a:r>
              <a:rPr lang="en-US" sz="700" dirty="0">
                <a:solidFill>
                  <a:schemeClr val="bg2"/>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737073348"/>
      </p:ext>
    </p:extLst>
  </p:cSld>
  <p:clrMap bg1="dk1" tx1="lt1" bg2="dk2" tx2="lt2" accent1="accent1" accent2="accent2" accent3="accent3" accent4="accent4" accent5="accent5" accent6="accent6" hlink="hlink" folHlink="folHlink"/>
  <p:sldLayoutIdLst>
    <p:sldLayoutId id="2147483752" r:id="rId1"/>
    <p:sldLayoutId id="2147483748" r:id="rId2"/>
    <p:sldLayoutId id="2147483787" r:id="rId3"/>
    <p:sldLayoutId id="2147483788" r:id="rId4"/>
    <p:sldLayoutId id="2147483773" r:id="rId5"/>
    <p:sldLayoutId id="2147483799" r:id="rId6"/>
    <p:sldLayoutId id="2147483800" r:id="rId7"/>
    <p:sldLayoutId id="2147483801" r:id="rId8"/>
    <p:sldLayoutId id="2147483668" r:id="rId9"/>
    <p:sldLayoutId id="2147483747" r:id="rId10"/>
    <p:sldLayoutId id="2147483754" r:id="rId11"/>
    <p:sldLayoutId id="2147483753" r:id="rId12"/>
    <p:sldLayoutId id="2147483763" r:id="rId13"/>
    <p:sldLayoutId id="2147483764" r:id="rId14"/>
    <p:sldLayoutId id="2147483771" r:id="rId15"/>
    <p:sldLayoutId id="2147483777" r:id="rId16"/>
    <p:sldLayoutId id="2147483804" r:id="rId17"/>
    <p:sldLayoutId id="2147483789" r:id="rId18"/>
    <p:sldLayoutId id="2147483805" r:id="rId19"/>
    <p:sldLayoutId id="2147483812" r:id="rId20"/>
    <p:sldLayoutId id="2147483811" r:id="rId21"/>
    <p:sldLayoutId id="2147483809" r:id="rId22"/>
    <p:sldLayoutId id="2147483808" r:id="rId23"/>
    <p:sldLayoutId id="2147483807" r:id="rId24"/>
    <p:sldLayoutId id="2147483810" r:id="rId25"/>
    <p:sldLayoutId id="2147483796" r:id="rId26"/>
    <p:sldLayoutId id="2147483780" r:id="rId27"/>
    <p:sldLayoutId id="2147483784" r:id="rId28"/>
    <p:sldLayoutId id="2147483778" r:id="rId29"/>
    <p:sldLayoutId id="2147483781" r:id="rId30"/>
    <p:sldLayoutId id="2147483779" r:id="rId31"/>
    <p:sldLayoutId id="2147483774" r:id="rId32"/>
    <p:sldLayoutId id="2147483775" r:id="rId33"/>
    <p:sldLayoutId id="2147483776" r:id="rId34"/>
    <p:sldLayoutId id="2147483783" r:id="rId35"/>
    <p:sldLayoutId id="2147483797" r:id="rId36"/>
    <p:sldLayoutId id="2147483794" r:id="rId37"/>
    <p:sldLayoutId id="2147483806" r:id="rId38"/>
    <p:sldLayoutId id="2147483798" r:id="rId39"/>
    <p:sldLayoutId id="2147483791" r:id="rId40"/>
    <p:sldLayoutId id="2147483793" r:id="rId41"/>
    <p:sldLayoutId id="2147483792" r:id="rId42"/>
    <p:sldLayoutId id="2147483795" r:id="rId43"/>
    <p:sldLayoutId id="2147483762" r:id="rId44"/>
    <p:sldLayoutId id="2147483785" r:id="rId45"/>
    <p:sldLayoutId id="2147483786" r:id="rId46"/>
    <p:sldLayoutId id="2147483790" r:id="rId47"/>
    <p:sldLayoutId id="2147483756" r:id="rId48"/>
    <p:sldLayoutId id="2147483761" r:id="rId49"/>
    <p:sldLayoutId id="2147483758" r:id="rId50"/>
    <p:sldLayoutId id="2147483760" r:id="rId51"/>
    <p:sldLayoutId id="2147483757" r:id="rId52"/>
    <p:sldLayoutId id="2147483802" r:id="rId53"/>
    <p:sldLayoutId id="2147483751" r:id="rId54"/>
    <p:sldLayoutId id="2147483803" r:id="rId55"/>
    <p:sldLayoutId id="2147483749"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p15:clr>
            <a:srgbClr val="F26B43"/>
          </p15:clr>
        </p15:guide>
        <p15:guide id="3" pos="7476">
          <p15:clr>
            <a:srgbClr val="F26B43"/>
          </p15:clr>
        </p15:guide>
        <p15:guide id="6" pos="3840">
          <p15:clr>
            <a:srgbClr val="F26B43"/>
          </p15:clr>
        </p15:guide>
        <p15:guide id="9" orient="horz" pos="3827">
          <p15:clr>
            <a:srgbClr val="9FCC3B"/>
          </p15:clr>
        </p15:guide>
        <p15:guide id="10" orient="horz" pos="202">
          <p15:clr>
            <a:srgbClr val="F26B43"/>
          </p15:clr>
        </p15:guide>
        <p15:guide id="11" orient="horz" pos="2160">
          <p15:clr>
            <a:srgbClr val="F26B43"/>
          </p15:clr>
        </p15:guide>
        <p15:guide id="12" orient="horz" pos="392">
          <p15:clr>
            <a:srgbClr val="A4A3A4"/>
          </p15:clr>
        </p15:guide>
        <p15:guide id="13" orient="horz" pos="2552">
          <p15:clr>
            <a:srgbClr val="A4A3A4"/>
          </p15:clr>
        </p15:guide>
        <p15:guide id="14" orient="horz" pos="600">
          <p15:clr>
            <a:srgbClr val="A4A3A4"/>
          </p15:clr>
        </p15:guide>
        <p15:guide id="15" orient="horz" pos="1766">
          <p15:clr>
            <a:srgbClr val="A4A3A4"/>
          </p15:clr>
        </p15:guide>
        <p15:guide id="16" orient="horz" pos="2355">
          <p15:clr>
            <a:srgbClr val="A4A3A4"/>
          </p15:clr>
        </p15:guide>
        <p15:guide id="18" orient="horz" pos="4118">
          <p15:clr>
            <a:srgbClr val="F26B43"/>
          </p15:clr>
        </p15:guide>
        <p15:guide id="19" orient="horz" pos="1178">
          <p15:clr>
            <a:srgbClr val="A4A3A4"/>
          </p15:clr>
        </p15:guide>
        <p15:guide id="20" orient="horz" pos="1374">
          <p15:clr>
            <a:srgbClr val="A4A3A4"/>
          </p15:clr>
        </p15:guide>
        <p15:guide id="21" orient="horz" pos="1570">
          <p15:clr>
            <a:srgbClr val="A4A3A4"/>
          </p15:clr>
        </p15:guide>
        <p15:guide id="22" pos="703">
          <p15:clr>
            <a:srgbClr val="A4A3A4"/>
          </p15:clr>
        </p15:guide>
        <p15:guide id="23" pos="820">
          <p15:clr>
            <a:srgbClr val="A4A3A4"/>
          </p15:clr>
        </p15:guide>
        <p15:guide id="24" pos="1321">
          <p15:clr>
            <a:srgbClr val="A4A3A4"/>
          </p15:clr>
        </p15:guide>
        <p15:guide id="25" pos="1435">
          <p15:clr>
            <a:srgbClr val="A4A3A4"/>
          </p15:clr>
        </p15:guide>
        <p15:guide id="26" pos="1936">
          <p15:clr>
            <a:srgbClr val="A4A3A4"/>
          </p15:clr>
        </p15:guide>
        <p15:guide id="27" pos="2051">
          <p15:clr>
            <a:srgbClr val="A4A3A4"/>
          </p15:clr>
        </p15:guide>
        <p15:guide id="28" pos="2551">
          <p15:clr>
            <a:srgbClr val="A4A3A4"/>
          </p15:clr>
        </p15:guide>
        <p15:guide id="29" pos="2665">
          <p15:clr>
            <a:srgbClr val="A4A3A4"/>
          </p15:clr>
        </p15:guide>
        <p15:guide id="30" pos="3167">
          <p15:clr>
            <a:srgbClr val="A4A3A4"/>
          </p15:clr>
        </p15:guide>
        <p15:guide id="31" pos="3281">
          <p15:clr>
            <a:srgbClr val="A4A3A4"/>
          </p15:clr>
        </p15:guide>
        <p15:guide id="32" pos="3783">
          <p15:clr>
            <a:srgbClr val="A4A3A4"/>
          </p15:clr>
        </p15:guide>
        <p15:guide id="33" pos="3896">
          <p15:clr>
            <a:srgbClr val="A4A3A4"/>
          </p15:clr>
        </p15:guide>
        <p15:guide id="34" pos="4397">
          <p15:clr>
            <a:srgbClr val="A4A3A4"/>
          </p15:clr>
        </p15:guide>
        <p15:guide id="35" pos="4512">
          <p15:clr>
            <a:srgbClr val="A4A3A4"/>
          </p15:clr>
        </p15:guide>
        <p15:guide id="36" pos="5013">
          <p15:clr>
            <a:srgbClr val="A4A3A4"/>
          </p15:clr>
        </p15:guide>
        <p15:guide id="37" pos="5128">
          <p15:clr>
            <a:srgbClr val="A4A3A4"/>
          </p15:clr>
        </p15:guide>
        <p15:guide id="38" pos="5629">
          <p15:clr>
            <a:srgbClr val="A4A3A4"/>
          </p15:clr>
        </p15:guide>
        <p15:guide id="39" pos="5742">
          <p15:clr>
            <a:srgbClr val="A4A3A4"/>
          </p15:clr>
        </p15:guide>
        <p15:guide id="40" pos="6244">
          <p15:clr>
            <a:srgbClr val="A4A3A4"/>
          </p15:clr>
        </p15:guide>
        <p15:guide id="41" pos="6359">
          <p15:clr>
            <a:srgbClr val="A4A3A4"/>
          </p15:clr>
        </p15:guide>
        <p15:guide id="42" pos="6859">
          <p15:clr>
            <a:srgbClr val="A4A3A4"/>
          </p15:clr>
        </p15:guide>
        <p15:guide id="43" pos="6975">
          <p15:clr>
            <a:srgbClr val="A4A3A4"/>
          </p15:clr>
        </p15:guide>
        <p15:guide id="44" orient="horz" pos="784">
          <p15:clr>
            <a:srgbClr val="A4A3A4"/>
          </p15:clr>
        </p15:guide>
        <p15:guide id="45" orient="horz" pos="980">
          <p15:clr>
            <a:srgbClr val="A4A3A4"/>
          </p15:clr>
        </p15:guide>
        <p15:guide id="46" orient="horz" pos="1962">
          <p15:clr>
            <a:srgbClr val="A4A3A4"/>
          </p15:clr>
        </p15:guide>
        <p15:guide id="47" orient="horz" pos="2747">
          <p15:clr>
            <a:srgbClr val="A4A3A4"/>
          </p15:clr>
        </p15:guide>
        <p15:guide id="48" orient="horz" pos="2945">
          <p15:clr>
            <a:srgbClr val="A4A3A4"/>
          </p15:clr>
        </p15:guide>
        <p15:guide id="49" orient="horz" pos="3141">
          <p15:clr>
            <a:srgbClr val="A4A3A4"/>
          </p15:clr>
        </p15:guide>
        <p15:guide id="50" orient="horz" pos="3337">
          <p15:clr>
            <a:srgbClr val="A4A3A4"/>
          </p15:clr>
        </p15:guide>
        <p15:guide id="51" orient="horz" pos="3535">
          <p15:clr>
            <a:srgbClr val="A4A3A4"/>
          </p15:clr>
        </p15:guide>
        <p15:guide id="52" orient="horz" pos="3730">
          <p15:clr>
            <a:srgbClr val="A4A3A4"/>
          </p15:clr>
        </p15:guide>
        <p15:guide id="53" orient="horz" pos="3936">
          <p15:clr>
            <a:srgbClr val="A4A3A4"/>
          </p15:clr>
        </p15:guide>
        <p15:guide id="54" orient="horz" pos="187">
          <p15:clr>
            <a:srgbClr val="9FCC3B"/>
          </p15:clr>
        </p15:guide>
        <p15:guide id="55" pos="455">
          <p15:clr>
            <a:srgbClr val="9FCC3B"/>
          </p15:clr>
        </p15:guide>
        <p15:guide id="56" pos="1069">
          <p15:clr>
            <a:srgbClr val="9FCC3B"/>
          </p15:clr>
        </p15:guide>
        <p15:guide id="57" pos="1685">
          <p15:clr>
            <a:srgbClr val="9FCC3B"/>
          </p15:clr>
        </p15:guide>
        <p15:guide id="58" pos="2301">
          <p15:clr>
            <a:srgbClr val="9FCC3B"/>
          </p15:clr>
        </p15:guide>
        <p15:guide id="59" pos="2915">
          <p15:clr>
            <a:srgbClr val="9FCC3B"/>
          </p15:clr>
        </p15:guide>
        <p15:guide id="60" pos="3531">
          <p15:clr>
            <a:srgbClr val="9FCC3B"/>
          </p15:clr>
        </p15:guide>
        <p15:guide id="61" pos="4146">
          <p15:clr>
            <a:srgbClr val="9FCC3B"/>
          </p15:clr>
        </p15:guide>
        <p15:guide id="62" pos="4762">
          <p15:clr>
            <a:srgbClr val="9FCC3B"/>
          </p15:clr>
        </p15:guide>
        <p15:guide id="63" pos="5378">
          <p15:clr>
            <a:srgbClr val="9FCC3B"/>
          </p15:clr>
        </p15:guide>
        <p15:guide id="64" pos="5992">
          <p15:clr>
            <a:srgbClr val="9FCC3B"/>
          </p15:clr>
        </p15:guide>
        <p15:guide id="65" pos="6609">
          <p15:clr>
            <a:srgbClr val="9FCC3B"/>
          </p15:clr>
        </p15:guide>
        <p15:guide id="66" pos="7225">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8.sv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2.xml"/><Relationship Id="rId2" Type="http://schemas.openxmlformats.org/officeDocument/2006/relationships/tags" Target="../tags/tag2.xml"/><Relationship Id="rId16" Type="http://schemas.openxmlformats.org/officeDocument/2006/relationships/slideLayout" Target="../slideLayouts/slideLayout10.xml"/><Relationship Id="rId20" Type="http://schemas.openxmlformats.org/officeDocument/2006/relationships/image" Target="../media/image10.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9.sv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tags" Target="../tags/tag18.xml"/><Relationship Id="rId7" Type="http://schemas.openxmlformats.org/officeDocument/2006/relationships/image" Target="../media/image11.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10.xml"/><Relationship Id="rId11" Type="http://schemas.openxmlformats.org/officeDocument/2006/relationships/image" Target="../media/image15.svg"/><Relationship Id="rId5" Type="http://schemas.openxmlformats.org/officeDocument/2006/relationships/tags" Target="../tags/tag20.xml"/><Relationship Id="rId10" Type="http://schemas.openxmlformats.org/officeDocument/2006/relationships/image" Target="../media/image14.svg"/><Relationship Id="rId4" Type="http://schemas.openxmlformats.org/officeDocument/2006/relationships/tags" Target="../tags/tag19.xml"/><Relationship Id="rId9" Type="http://schemas.openxmlformats.org/officeDocument/2006/relationships/image" Target="../media/image13.svg"/></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10.xml"/><Relationship Id="rId5" Type="http://schemas.openxmlformats.org/officeDocument/2006/relationships/image" Target="../media/image19.svg"/><Relationship Id="rId4" Type="http://schemas.openxmlformats.org/officeDocument/2006/relationships/image" Target="../media/image18.svg"/></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10.xml"/><Relationship Id="rId5" Type="http://schemas.openxmlformats.org/officeDocument/2006/relationships/image" Target="../media/image18.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hyperlink" Target="https://phoenix.cisco.com/web_apps/cisco_marketing_dashboard/campaign_and_segmentation_insights/Technology_and_Campaign_Insights" TargetMode="External"/><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hyperlink" Target="https://phoenix.cisco.com/web_apps/cisco_marketing_dashboard/direct_insights/VDC_Executive_Dashboard" TargetMode="External"/><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phoenix.cisco.com/web_apps/cisco_marketing_dashboard/direct_insights/VDC_Executive_Dashboard" TargetMode="Externa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slideLayout" Target="../slideLayouts/slideLayout10.xml"/><Relationship Id="rId1" Type="http://schemas.openxmlformats.org/officeDocument/2006/relationships/tags" Target="../tags/tag21.xml"/><Relationship Id="rId6" Type="http://schemas.openxmlformats.org/officeDocument/2006/relationships/image" Target="../media/image9.svg"/><Relationship Id="rId5" Type="http://schemas.openxmlformats.org/officeDocument/2006/relationships/image" Target="../media/image18.svg"/><Relationship Id="rId4" Type="http://schemas.openxmlformats.org/officeDocument/2006/relationships/image" Target="../media/image21.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0.svg"/><Relationship Id="rId2" Type="http://schemas.openxmlformats.org/officeDocument/2006/relationships/slideLayout" Target="../slideLayouts/slideLayout10.xml"/><Relationship Id="rId1" Type="http://schemas.openxmlformats.org/officeDocument/2006/relationships/tags" Target="../tags/tag22.xml"/><Relationship Id="rId6" Type="http://schemas.openxmlformats.org/officeDocument/2006/relationships/image" Target="../media/image18.svg"/><Relationship Id="rId5" Type="http://schemas.openxmlformats.org/officeDocument/2006/relationships/image" Target="../media/image28.svg"/><Relationship Id="rId4" Type="http://schemas.openxmlformats.org/officeDocument/2006/relationships/image" Target="../media/image27.sv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phoenix.cisco.com/web_apps/cisco_marketing_dashboard/pipeline_summary/MSP_Opportunity_Analysis" TargetMode="Externa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phoenix.cisco.com/web_apps/cisco_marketing_dashboard/campaign_and_segmentation_insights/Vehicle_Demand_Performance" TargetMode="Externa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phoenix.cisco.com/web_apps/cisco_marketing_dashboard/campaign_and_segmentation_insights/Content_Impact_Dashboard" TargetMode="Externa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png"/><Relationship Id="rId3" Type="http://schemas.openxmlformats.org/officeDocument/2006/relationships/image" Target="../media/image32.svg"/><Relationship Id="rId7" Type="http://schemas.openxmlformats.org/officeDocument/2006/relationships/image" Target="../media/image36.svg"/><Relationship Id="rId12"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svg"/><Relationship Id="rId10" Type="http://schemas.openxmlformats.org/officeDocument/2006/relationships/image" Target="../media/image39.png"/><Relationship Id="rId4" Type="http://schemas.openxmlformats.org/officeDocument/2006/relationships/image" Target="../media/image33.svg"/><Relationship Id="rId9" Type="http://schemas.openxmlformats.org/officeDocument/2006/relationships/image" Target="../media/image38.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tags" Target="../tags/tag40.xml"/><Relationship Id="rId26" Type="http://schemas.openxmlformats.org/officeDocument/2006/relationships/image" Target="../media/image46.svg"/><Relationship Id="rId3" Type="http://schemas.openxmlformats.org/officeDocument/2006/relationships/tags" Target="../tags/tag25.xml"/><Relationship Id="rId21" Type="http://schemas.openxmlformats.org/officeDocument/2006/relationships/slideLayout" Target="../slideLayouts/slideLayout10.xml"/><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5" Type="http://schemas.openxmlformats.org/officeDocument/2006/relationships/image" Target="../media/image45.svg"/><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tags" Target="../tags/tag42.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24" Type="http://schemas.openxmlformats.org/officeDocument/2006/relationships/image" Target="../media/image44.svg"/><Relationship Id="rId5" Type="http://schemas.openxmlformats.org/officeDocument/2006/relationships/tags" Target="../tags/tag27.xml"/><Relationship Id="rId15" Type="http://schemas.openxmlformats.org/officeDocument/2006/relationships/tags" Target="../tags/tag37.xml"/><Relationship Id="rId23" Type="http://schemas.openxmlformats.org/officeDocument/2006/relationships/image" Target="../media/image43.svg"/><Relationship Id="rId10" Type="http://schemas.openxmlformats.org/officeDocument/2006/relationships/tags" Target="../tags/tag32.xml"/><Relationship Id="rId19" Type="http://schemas.openxmlformats.org/officeDocument/2006/relationships/tags" Target="../tags/tag4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 Id="rId2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0.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2" Type="http://schemas.openxmlformats.org/officeDocument/2006/relationships/hyperlink" Target="https://www.cisco.com/site/us/en/about/why-cisco/ai-ready-data-centers/index.html?ccid=cc010089&amp;dtid=pdixsp001642&amp;utm_id=cc010089&amp;utm_medium=paid-direct&amp;utm_source=businessinsider&amp;utm_creative=%ecid" TargetMode="Externa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image" Target="../media/image8.sv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notesSlide" Target="../notesSlides/notesSlide7.xml"/><Relationship Id="rId2" Type="http://schemas.openxmlformats.org/officeDocument/2006/relationships/tags" Target="../tags/tag44.xml"/><Relationship Id="rId16" Type="http://schemas.openxmlformats.org/officeDocument/2006/relationships/slideLayout" Target="../slideLayouts/slideLayout10.xml"/><Relationship Id="rId20" Type="http://schemas.openxmlformats.org/officeDocument/2006/relationships/image" Target="../media/image10.svg"/><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tags" Target="../tags/tag57.xml"/><Relationship Id="rId10" Type="http://schemas.openxmlformats.org/officeDocument/2006/relationships/tags" Target="../tags/tag52.xml"/><Relationship Id="rId19" Type="http://schemas.openxmlformats.org/officeDocument/2006/relationships/image" Target="../media/image9.svg"/><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s>
</file>

<file path=ppt/slides/_rels/slide32.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16.svg"/><Relationship Id="rId7" Type="http://schemas.openxmlformats.org/officeDocument/2006/relationships/image" Target="../media/image51.sv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50.png"/><Relationship Id="rId5" Type="http://schemas.openxmlformats.org/officeDocument/2006/relationships/image" Target="../media/image18.svg"/><Relationship Id="rId4" Type="http://schemas.openxmlformats.org/officeDocument/2006/relationships/image" Target="../media/image17.svg"/><Relationship Id="rId9" Type="http://schemas.openxmlformats.org/officeDocument/2006/relationships/image" Target="../media/image53.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1D39-382D-6375-3CB6-09CB78137C7E}"/>
              </a:ext>
            </a:extLst>
          </p:cNvPr>
          <p:cNvSpPr>
            <a:spLocks noGrp="1"/>
          </p:cNvSpPr>
          <p:nvPr>
            <p:ph type="title"/>
          </p:nvPr>
        </p:nvSpPr>
        <p:spPr/>
        <p:txBody>
          <a:bodyPr/>
          <a:lstStyle/>
          <a:p>
            <a:r>
              <a:rPr lang="en-US" dirty="0"/>
              <a:t>Tagging &amp; Tracking Overview</a:t>
            </a:r>
            <a:endParaRPr lang="en-GB" dirty="0"/>
          </a:p>
        </p:txBody>
      </p:sp>
      <p:sp>
        <p:nvSpPr>
          <p:cNvPr id="3" name="Text Placeholder 2">
            <a:extLst>
              <a:ext uri="{FF2B5EF4-FFF2-40B4-BE49-F238E27FC236}">
                <a16:creationId xmlns:a16="http://schemas.microsoft.com/office/drawing/2014/main" id="{648F5C80-1130-72E4-70F1-0CC1D470584F}"/>
              </a:ext>
            </a:extLst>
          </p:cNvPr>
          <p:cNvSpPr>
            <a:spLocks noGrp="1"/>
          </p:cNvSpPr>
          <p:nvPr>
            <p:ph type="body" sz="quarter" idx="13"/>
          </p:nvPr>
        </p:nvSpPr>
        <p:spPr/>
        <p:txBody>
          <a:bodyPr/>
          <a:lstStyle/>
          <a:p>
            <a:r>
              <a:rPr lang="en-US" dirty="0"/>
              <a:t>Navigating the Hybrid Architecture to Automate Analytics</a:t>
            </a:r>
            <a:endParaRPr lang="en-GB" dirty="0"/>
          </a:p>
        </p:txBody>
      </p:sp>
      <p:sp>
        <p:nvSpPr>
          <p:cNvPr id="4" name="Text Placeholder 3">
            <a:extLst>
              <a:ext uri="{FF2B5EF4-FFF2-40B4-BE49-F238E27FC236}">
                <a16:creationId xmlns:a16="http://schemas.microsoft.com/office/drawing/2014/main" id="{9B95BFB3-3D3E-ADA6-2793-49E3B882F4A8}"/>
              </a:ext>
            </a:extLst>
          </p:cNvPr>
          <p:cNvSpPr>
            <a:spLocks noGrp="1"/>
          </p:cNvSpPr>
          <p:nvPr>
            <p:ph type="body" sz="quarter" idx="16"/>
          </p:nvPr>
        </p:nvSpPr>
        <p:spPr/>
        <p:txBody>
          <a:bodyPr/>
          <a:lstStyle/>
          <a:p>
            <a:r>
              <a:rPr lang="en-US" dirty="0"/>
              <a:t>GTM Readiness &amp; Performance Teams</a:t>
            </a:r>
            <a:endParaRPr lang="en-GB" dirty="0"/>
          </a:p>
        </p:txBody>
      </p:sp>
      <p:sp>
        <p:nvSpPr>
          <p:cNvPr id="5" name="Text Placeholder 4">
            <a:extLst>
              <a:ext uri="{FF2B5EF4-FFF2-40B4-BE49-F238E27FC236}">
                <a16:creationId xmlns:a16="http://schemas.microsoft.com/office/drawing/2014/main" id="{F51C7C56-EEA8-46FB-D0F8-4ECF8E373C67}"/>
              </a:ext>
            </a:extLst>
          </p:cNvPr>
          <p:cNvSpPr>
            <a:spLocks noGrp="1"/>
          </p:cNvSpPr>
          <p:nvPr>
            <p:ph type="body" sz="quarter" idx="14"/>
          </p:nvPr>
        </p:nvSpPr>
        <p:spPr/>
        <p:txBody>
          <a:bodyPr/>
          <a:lstStyle/>
          <a:p>
            <a:endParaRPr lang="en-GB"/>
          </a:p>
        </p:txBody>
      </p:sp>
      <p:sp>
        <p:nvSpPr>
          <p:cNvPr id="6" name="Text Placeholder 5">
            <a:extLst>
              <a:ext uri="{FF2B5EF4-FFF2-40B4-BE49-F238E27FC236}">
                <a16:creationId xmlns:a16="http://schemas.microsoft.com/office/drawing/2014/main" id="{F29684D5-3F3F-AC27-89B8-4B3AEC74348B}"/>
              </a:ext>
            </a:extLst>
          </p:cNvPr>
          <p:cNvSpPr>
            <a:spLocks noGrp="1"/>
          </p:cNvSpPr>
          <p:nvPr>
            <p:ph type="body" sz="quarter" idx="12"/>
          </p:nvPr>
        </p:nvSpPr>
        <p:spPr/>
        <p:txBody>
          <a:bodyPr/>
          <a:lstStyle/>
          <a:p>
            <a:r>
              <a:rPr lang="en-US" dirty="0"/>
              <a:t>June 2026</a:t>
            </a:r>
            <a:endParaRPr lang="en-GB" dirty="0"/>
          </a:p>
        </p:txBody>
      </p:sp>
    </p:spTree>
    <p:extLst>
      <p:ext uri="{BB962C8B-B14F-4D97-AF65-F5344CB8AC3E}">
        <p14:creationId xmlns:p14="http://schemas.microsoft.com/office/powerpoint/2010/main" val="103829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655A1-F2D0-A4E5-037C-DC6C0FBF9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54D1B-BC39-F78E-CCD5-0F77B16CDC6B}"/>
              </a:ext>
            </a:extLst>
          </p:cNvPr>
          <p:cNvSpPr>
            <a:spLocks noGrp="1"/>
          </p:cNvSpPr>
          <p:nvPr>
            <p:ph type="title"/>
          </p:nvPr>
        </p:nvSpPr>
        <p:spPr/>
        <p:txBody>
          <a:bodyPr/>
          <a:lstStyle/>
          <a:p>
            <a:r>
              <a:rPr lang="en-US" dirty="0"/>
              <a:t>Module1: Introduction &amp; Overview</a:t>
            </a:r>
            <a:endParaRPr lang="en-GB" dirty="0"/>
          </a:p>
        </p:txBody>
      </p:sp>
    </p:spTree>
    <p:extLst>
      <p:ext uri="{BB962C8B-B14F-4D97-AF65-F5344CB8AC3E}">
        <p14:creationId xmlns:p14="http://schemas.microsoft.com/office/powerpoint/2010/main" val="47929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05469ABC-8D76-15E6-A25F-4D64C66AF433}"/>
              </a:ext>
            </a:extLst>
          </p:cNvPr>
          <p:cNvCxnSpPr/>
          <p:nvPr/>
        </p:nvCxnSpPr>
        <p:spPr>
          <a:xfrm>
            <a:off x="4223792" y="692696"/>
            <a:ext cx="0" cy="5904656"/>
          </a:xfrm>
          <a:prstGeom prst="line">
            <a:avLst/>
          </a:prstGeom>
          <a:noFill/>
          <a:ln>
            <a:gradFill>
              <a:gsLst>
                <a:gs pos="37000">
                  <a:srgbClr val="02C8FF"/>
                </a:gs>
                <a:gs pos="5000">
                  <a:srgbClr val="0A60FF"/>
                </a:gs>
                <a:gs pos="44000">
                  <a:srgbClr val="02C8FF"/>
                </a:gs>
                <a:gs pos="75000">
                  <a:srgbClr val="FF007F"/>
                </a:gs>
                <a:gs pos="95000">
                  <a:srgbClr val="FF9000"/>
                </a:gs>
              </a:gsLst>
              <a:lin ang="54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0E796B39-96C1-2B47-A4F0-DD0544499523}"/>
              </a:ext>
            </a:extLst>
          </p:cNvPr>
          <p:cNvSpPr txBox="1"/>
          <p:nvPr/>
        </p:nvSpPr>
        <p:spPr>
          <a:xfrm>
            <a:off x="479376" y="2384884"/>
            <a:ext cx="3240360" cy="208823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GB" sz="4800">
                <a:solidFill>
                  <a:schemeClr val="bg1"/>
                </a:solidFill>
                <a:ea typeface="ＭＳ Ｐゴシック" charset="0"/>
              </a:rPr>
              <a:t>Document Objectives</a:t>
            </a:r>
            <a:endParaRPr lang="en-GB" sz="4800" kern="1200">
              <a:solidFill>
                <a:schemeClr val="bg1"/>
              </a:solidFill>
              <a:latin typeface="+mn-lt"/>
              <a:ea typeface="ＭＳ Ｐゴシック" charset="0"/>
            </a:endParaRPr>
          </a:p>
        </p:txBody>
      </p:sp>
      <p:grpSp>
        <p:nvGrpSpPr>
          <p:cNvPr id="3" name="Group 2">
            <a:extLst>
              <a:ext uri="{FF2B5EF4-FFF2-40B4-BE49-F238E27FC236}">
                <a16:creationId xmlns:a16="http://schemas.microsoft.com/office/drawing/2014/main" id="{F23BB1C6-C5E4-59A1-B870-3E8CD0087130}"/>
              </a:ext>
            </a:extLst>
          </p:cNvPr>
          <p:cNvGrpSpPr/>
          <p:nvPr/>
        </p:nvGrpSpPr>
        <p:grpSpPr>
          <a:xfrm>
            <a:off x="4763852" y="903747"/>
            <a:ext cx="7236804" cy="1543061"/>
            <a:chOff x="4763852" y="903747"/>
            <a:chExt cx="7236804" cy="1543061"/>
          </a:xfrm>
        </p:grpSpPr>
        <p:sp>
          <p:nvSpPr>
            <p:cNvPr id="18" name="Rectangle: Rounded Corners 17">
              <a:extLst>
                <a:ext uri="{FF2B5EF4-FFF2-40B4-BE49-F238E27FC236}">
                  <a16:creationId xmlns:a16="http://schemas.microsoft.com/office/drawing/2014/main" id="{171867FC-ACBE-DCA3-D15B-F8C221AB5C89}"/>
                </a:ext>
              </a:extLst>
            </p:cNvPr>
            <p:cNvSpPr/>
            <p:nvPr/>
          </p:nvSpPr>
          <p:spPr>
            <a:xfrm>
              <a:off x="4763852" y="1126637"/>
              <a:ext cx="2016224" cy="1097280"/>
            </a:xfrm>
            <a:prstGeom prst="roundRect">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b="1">
                  <a:solidFill>
                    <a:schemeClr val="bg1">
                      <a:lumMod val="50000"/>
                      <a:lumOff val="50000"/>
                    </a:schemeClr>
                  </a:solidFill>
                </a:rPr>
                <a:t>Purpose</a:t>
              </a:r>
            </a:p>
          </p:txBody>
        </p:sp>
        <p:sp>
          <p:nvSpPr>
            <p:cNvPr id="25" name="TextBox 24">
              <a:extLst>
                <a:ext uri="{FF2B5EF4-FFF2-40B4-BE49-F238E27FC236}">
                  <a16:creationId xmlns:a16="http://schemas.microsoft.com/office/drawing/2014/main" id="{EB3B6231-8E62-E4EE-D613-3627CCEAB99D}"/>
                </a:ext>
              </a:extLst>
            </p:cNvPr>
            <p:cNvSpPr txBox="1"/>
            <p:nvPr/>
          </p:nvSpPr>
          <p:spPr>
            <a:xfrm>
              <a:off x="7176120" y="903747"/>
              <a:ext cx="4824536" cy="1543061"/>
            </a:xfrm>
            <a:prstGeom prst="rect">
              <a:avLst/>
            </a:prstGeom>
            <a:noFill/>
          </p:spPr>
          <p:txBody>
            <a:bodyPr wrap="square" lIns="0" tIns="0" rIns="0" bIns="0" rtlCol="0">
              <a:noAutofit/>
            </a:bodyPr>
            <a:lstStyle>
              <a:defPPr>
                <a:defRPr lang="en-US"/>
              </a:defPPr>
              <a:lvl1pPr>
                <a:defRPr sz="1400">
                  <a:solidFill>
                    <a:schemeClr val="bg1">
                      <a:lumMod val="75000"/>
                      <a:lumOff val="25000"/>
                    </a:schemeClr>
                  </a:solidFill>
                </a:defRPr>
              </a:lvl1pPr>
            </a:lstStyle>
            <a:p>
              <a:r>
                <a:rPr lang="en-US" dirty="0"/>
                <a:t>This guide is here to help you make sense of creating tracking URLs without any confusion. You'll learn which tags and UTM codes are needed for your campaigns right now. This training will show you how the data you enter every day affects everything else, helping you keep things organized and avoid mistakes that impact strategic marketing reporting.</a:t>
              </a:r>
              <a:endParaRPr lang="en-GB" sz="1200" dirty="0"/>
            </a:p>
          </p:txBody>
        </p:sp>
      </p:grpSp>
      <p:grpSp>
        <p:nvGrpSpPr>
          <p:cNvPr id="6" name="Group 5">
            <a:extLst>
              <a:ext uri="{FF2B5EF4-FFF2-40B4-BE49-F238E27FC236}">
                <a16:creationId xmlns:a16="http://schemas.microsoft.com/office/drawing/2014/main" id="{AE49E57D-615E-18AB-CD65-DD6CE787F805}"/>
              </a:ext>
            </a:extLst>
          </p:cNvPr>
          <p:cNvGrpSpPr/>
          <p:nvPr/>
        </p:nvGrpSpPr>
        <p:grpSpPr>
          <a:xfrm>
            <a:off x="4763852" y="2949539"/>
            <a:ext cx="7236804" cy="1306278"/>
            <a:chOff x="4763852" y="2929947"/>
            <a:chExt cx="7236804" cy="1306278"/>
          </a:xfrm>
        </p:grpSpPr>
        <p:sp>
          <p:nvSpPr>
            <p:cNvPr id="19" name="Rectangle: Rounded Corners 18">
              <a:extLst>
                <a:ext uri="{FF2B5EF4-FFF2-40B4-BE49-F238E27FC236}">
                  <a16:creationId xmlns:a16="http://schemas.microsoft.com/office/drawing/2014/main" id="{41B4B4EE-1D5A-66B0-4191-97DB15B785A1}"/>
                </a:ext>
              </a:extLst>
            </p:cNvPr>
            <p:cNvSpPr/>
            <p:nvPr/>
          </p:nvSpPr>
          <p:spPr>
            <a:xfrm>
              <a:off x="4763852" y="3034446"/>
              <a:ext cx="2016224" cy="1097280"/>
            </a:xfrm>
            <a:prstGeom prst="roundRect">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b="1">
                  <a:solidFill>
                    <a:schemeClr val="bg1">
                      <a:lumMod val="50000"/>
                      <a:lumOff val="50000"/>
                    </a:schemeClr>
                  </a:solidFill>
                </a:rPr>
                <a:t>Outcome</a:t>
              </a:r>
            </a:p>
          </p:txBody>
        </p:sp>
        <p:sp>
          <p:nvSpPr>
            <p:cNvPr id="29" name="TextBox 28">
              <a:extLst>
                <a:ext uri="{FF2B5EF4-FFF2-40B4-BE49-F238E27FC236}">
                  <a16:creationId xmlns:a16="http://schemas.microsoft.com/office/drawing/2014/main" id="{479E7B1A-E46C-3FD0-5DCC-0C5FA90C4CA4}"/>
                </a:ext>
              </a:extLst>
            </p:cNvPr>
            <p:cNvSpPr txBox="1"/>
            <p:nvPr/>
          </p:nvSpPr>
          <p:spPr>
            <a:xfrm>
              <a:off x="7176120" y="2929947"/>
              <a:ext cx="4824536" cy="1306278"/>
            </a:xfrm>
            <a:prstGeom prst="rect">
              <a:avLst/>
            </a:prstGeom>
            <a:noFill/>
          </p:spPr>
          <p:txBody>
            <a:bodyPr wrap="square" lIns="0" tIns="0" rIns="0" bIns="0" rtlCol="0">
              <a:noAutofit/>
            </a:bodyPr>
            <a:lstStyle>
              <a:defPPr>
                <a:defRPr lang="en-US"/>
              </a:defPPr>
              <a:lvl1pPr>
                <a:defRPr sz="1400">
                  <a:solidFill>
                    <a:schemeClr val="bg1">
                      <a:lumMod val="75000"/>
                      <a:lumOff val="25000"/>
                    </a:schemeClr>
                  </a:solidFill>
                </a:defRPr>
              </a:lvl1pPr>
            </a:lstStyle>
            <a:p>
              <a:r>
                <a:rPr lang="en-GB" sz="1200" dirty="0"/>
                <a:t>You will gain the confidence to independently build, validate, and deploy flawless tracking URLs across all marketing channels without fear of breaking downstream data. Ultimately, your mastery of these rules ensures that every lead you generate is credited correctly, protecting our fractional attribution and directly empowering our sales teams with the accurate customer context they need to win deals.</a:t>
              </a:r>
            </a:p>
          </p:txBody>
        </p:sp>
      </p:grpSp>
      <p:sp>
        <p:nvSpPr>
          <p:cNvPr id="30" name="TextBox 29">
            <a:extLst>
              <a:ext uri="{FF2B5EF4-FFF2-40B4-BE49-F238E27FC236}">
                <a16:creationId xmlns:a16="http://schemas.microsoft.com/office/drawing/2014/main" id="{9AE6AABA-B298-6D35-CCDD-5049140C1A21}"/>
              </a:ext>
            </a:extLst>
          </p:cNvPr>
          <p:cNvSpPr txBox="1"/>
          <p:nvPr/>
        </p:nvSpPr>
        <p:spPr>
          <a:xfrm>
            <a:off x="13296800" y="5157192"/>
            <a:ext cx="914400" cy="91440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err="1">
              <a:solidFill>
                <a:schemeClr val="bg1"/>
              </a:solidFill>
              <a:latin typeface="+mn-lt"/>
              <a:ea typeface="ＭＳ Ｐゴシック" charset="0"/>
            </a:endParaRPr>
          </a:p>
        </p:txBody>
      </p:sp>
      <p:grpSp>
        <p:nvGrpSpPr>
          <p:cNvPr id="2" name="Group 1">
            <a:extLst>
              <a:ext uri="{FF2B5EF4-FFF2-40B4-BE49-F238E27FC236}">
                <a16:creationId xmlns:a16="http://schemas.microsoft.com/office/drawing/2014/main" id="{CB5DE390-13EF-A4AC-BD0E-A2FE5ABC2F00}"/>
              </a:ext>
            </a:extLst>
          </p:cNvPr>
          <p:cNvGrpSpPr/>
          <p:nvPr/>
        </p:nvGrpSpPr>
        <p:grpSpPr>
          <a:xfrm>
            <a:off x="4763852" y="4758547"/>
            <a:ext cx="7164796" cy="1699009"/>
            <a:chOff x="4763852" y="4758547"/>
            <a:chExt cx="7164796" cy="1699009"/>
          </a:xfrm>
        </p:grpSpPr>
        <p:sp>
          <p:nvSpPr>
            <p:cNvPr id="20" name="Rectangle: Rounded Corners 19">
              <a:extLst>
                <a:ext uri="{FF2B5EF4-FFF2-40B4-BE49-F238E27FC236}">
                  <a16:creationId xmlns:a16="http://schemas.microsoft.com/office/drawing/2014/main" id="{5542667F-169C-2ECD-5DE4-AAD052B7BF34}"/>
                </a:ext>
              </a:extLst>
            </p:cNvPr>
            <p:cNvSpPr/>
            <p:nvPr/>
          </p:nvSpPr>
          <p:spPr>
            <a:xfrm>
              <a:off x="4763852" y="5059411"/>
              <a:ext cx="2016224" cy="1097280"/>
            </a:xfrm>
            <a:prstGeom prst="roundRect">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b="1">
                  <a:solidFill>
                    <a:schemeClr val="bg1">
                      <a:lumMod val="50000"/>
                      <a:lumOff val="50000"/>
                    </a:schemeClr>
                  </a:solidFill>
                </a:rPr>
                <a:t>Plan</a:t>
              </a:r>
            </a:p>
          </p:txBody>
        </p:sp>
        <p:sp>
          <p:nvSpPr>
            <p:cNvPr id="31" name="TextBox 30">
              <a:extLst>
                <a:ext uri="{FF2B5EF4-FFF2-40B4-BE49-F238E27FC236}">
                  <a16:creationId xmlns:a16="http://schemas.microsoft.com/office/drawing/2014/main" id="{666C1903-0B90-C2F4-A302-2259874242B7}"/>
                </a:ext>
              </a:extLst>
            </p:cNvPr>
            <p:cNvSpPr txBox="1"/>
            <p:nvPr/>
          </p:nvSpPr>
          <p:spPr>
            <a:xfrm>
              <a:off x="7104112" y="4758547"/>
              <a:ext cx="4824536" cy="1699009"/>
            </a:xfrm>
            <a:prstGeom prst="rect">
              <a:avLst/>
            </a:prstGeom>
            <a:noFill/>
          </p:spPr>
          <p:txBody>
            <a:bodyPr wrap="square" lIns="0" tIns="0" rIns="0" bIns="0" rtlCol="0">
              <a:noAutofit/>
            </a:bodyPr>
            <a:lstStyle>
              <a:defPPr>
                <a:defRPr lang="en-US"/>
              </a:defPPr>
              <a:lvl1pPr>
                <a:defRPr sz="1200">
                  <a:solidFill>
                    <a:schemeClr val="bg1">
                      <a:lumMod val="75000"/>
                      <a:lumOff val="25000"/>
                    </a:schemeClr>
                  </a:solidFill>
                </a:defRPr>
              </a:lvl1pPr>
            </a:lstStyle>
            <a:p>
              <a:r>
                <a:rPr lang="en-US" altLang="en-US" b="1" dirty="0"/>
                <a:t>Define Core Tracking Rules: </a:t>
              </a:r>
              <a:r>
                <a:rPr lang="en-US" altLang="en-US" dirty="0"/>
                <a:t>Outline the precise criteria for mandatory UTM parameters, defining exact triggers for Workfront automation, </a:t>
              </a:r>
              <a:r>
                <a:rPr lang="en-US" altLang="en-US" dirty="0" err="1"/>
                <a:t>Stensul</a:t>
              </a:r>
              <a:r>
                <a:rPr lang="en-US" altLang="en-US" dirty="0"/>
                <a:t> deployment, and manual overrides.</a:t>
              </a:r>
            </a:p>
            <a:p>
              <a:r>
                <a:rPr lang="en-US" altLang="en-US" b="1" dirty="0"/>
                <a:t>Map Channel Dependencies: </a:t>
              </a:r>
              <a:r>
                <a:rPr lang="en-US" altLang="en-US" dirty="0"/>
                <a:t>Enforce a strict taxonomy matrix detailing standard values for source/medium and identifying the explicit channels where </a:t>
              </a:r>
              <a:r>
                <a:rPr lang="en-US" altLang="en-US" dirty="0" err="1"/>
                <a:t>utm_creative</a:t>
              </a:r>
              <a:r>
                <a:rPr lang="en-US" altLang="en-US" dirty="0"/>
                <a:t> is required.</a:t>
              </a:r>
            </a:p>
            <a:p>
              <a:r>
                <a:rPr lang="en-US" altLang="en-US" b="1" dirty="0"/>
                <a:t>Audit and Educate: </a:t>
              </a:r>
              <a:r>
                <a:rPr lang="en-US" altLang="en-US" dirty="0"/>
                <a:t>Quantify the operational impact of broken tags on downstream reporting, establishing an ongoing validation loop to keep training documentation updated.</a:t>
              </a:r>
            </a:p>
            <a:p>
              <a:endParaRPr lang="en-GB" dirty="0"/>
            </a:p>
          </p:txBody>
        </p:sp>
      </p:grpSp>
    </p:spTree>
    <p:extLst>
      <p:ext uri="{BB962C8B-B14F-4D97-AF65-F5344CB8AC3E}">
        <p14:creationId xmlns:p14="http://schemas.microsoft.com/office/powerpoint/2010/main" val="330044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4D9D1-8E9B-C24C-A298-5A2D7E34E389}"/>
              </a:ext>
            </a:extLst>
          </p:cNvPr>
          <p:cNvSpPr>
            <a:spLocks noGrp="1"/>
          </p:cNvSpPr>
          <p:nvPr>
            <p:ph type="title"/>
          </p:nvPr>
        </p:nvSpPr>
        <p:spPr/>
        <p:txBody>
          <a:bodyPr/>
          <a:lstStyle/>
          <a:p>
            <a:r>
              <a:rPr lang="en-US" dirty="0"/>
              <a:t>Current State</a:t>
            </a:r>
            <a:endParaRPr lang="en-GB" dirty="0"/>
          </a:p>
        </p:txBody>
      </p:sp>
      <p:sp>
        <p:nvSpPr>
          <p:cNvPr id="3" name="TextBox 2">
            <a:extLst>
              <a:ext uri="{FF2B5EF4-FFF2-40B4-BE49-F238E27FC236}">
                <a16:creationId xmlns:a16="http://schemas.microsoft.com/office/drawing/2014/main" id="{F07B5A6C-0CC8-CB41-03E1-4EC524FA07BB}"/>
              </a:ext>
            </a:extLst>
          </p:cNvPr>
          <p:cNvSpPr txBox="1"/>
          <p:nvPr/>
        </p:nvSpPr>
        <p:spPr>
          <a:xfrm>
            <a:off x="968828" y="684491"/>
            <a:ext cx="10254343" cy="6604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800" b="1" i="1" kern="1200" dirty="0">
                <a:solidFill>
                  <a:schemeClr val="accent2"/>
                </a:solidFill>
                <a:latin typeface="+mn-lt"/>
                <a:ea typeface="ＭＳ Ｐゴシック" charset="0"/>
              </a:rPr>
              <a:t>We currently HAVE  to work with a Hybrid Tracking model</a:t>
            </a:r>
            <a:endParaRPr lang="en-GB" sz="2800" b="1" i="1" kern="1200" dirty="0" err="1">
              <a:solidFill>
                <a:schemeClr val="accent2"/>
              </a:solidFill>
              <a:latin typeface="+mn-lt"/>
              <a:ea typeface="ＭＳ Ｐゴシック" charset="0"/>
            </a:endParaRPr>
          </a:p>
        </p:txBody>
      </p:sp>
      <p:sp>
        <p:nvSpPr>
          <p:cNvPr id="7" name="TextBox 6">
            <a:extLst>
              <a:ext uri="{FF2B5EF4-FFF2-40B4-BE49-F238E27FC236}">
                <a16:creationId xmlns:a16="http://schemas.microsoft.com/office/drawing/2014/main" id="{0D20D61C-ECC8-BD73-0266-67433759E2C6}"/>
              </a:ext>
            </a:extLst>
          </p:cNvPr>
          <p:cNvSpPr txBox="1"/>
          <p:nvPr/>
        </p:nvSpPr>
        <p:spPr>
          <a:xfrm>
            <a:off x="1095828" y="1306521"/>
            <a:ext cx="3577771" cy="51525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2000" b="1" dirty="0">
                <a:solidFill>
                  <a:schemeClr val="bg1"/>
                </a:solidFill>
                <a:ea typeface="ＭＳ Ｐゴシック" charset="0"/>
              </a:rPr>
              <a:t>WE MUST:</a:t>
            </a:r>
            <a:endParaRPr lang="en-GB" sz="2000" b="1" kern="1200" dirty="0" err="1">
              <a:solidFill>
                <a:schemeClr val="bg1"/>
              </a:solidFill>
              <a:latin typeface="+mn-lt"/>
              <a:ea typeface="ＭＳ Ｐゴシック" charset="0"/>
            </a:endParaRPr>
          </a:p>
        </p:txBody>
      </p:sp>
      <p:sp>
        <p:nvSpPr>
          <p:cNvPr id="16" name="TextBox 15">
            <a:extLst>
              <a:ext uri="{FF2B5EF4-FFF2-40B4-BE49-F238E27FC236}">
                <a16:creationId xmlns:a16="http://schemas.microsoft.com/office/drawing/2014/main" id="{415A85A1-B4E7-6936-CCBC-880F93C10EE3}"/>
              </a:ext>
            </a:extLst>
          </p:cNvPr>
          <p:cNvSpPr txBox="1"/>
          <p:nvPr/>
        </p:nvSpPr>
        <p:spPr>
          <a:xfrm>
            <a:off x="1567543" y="5515429"/>
            <a:ext cx="7148286" cy="1117600"/>
          </a:xfrm>
          <a:prstGeom prst="rect">
            <a:avLst/>
          </a:prstGeom>
          <a:noFill/>
        </p:spPr>
        <p:txBody>
          <a:bodyPr wrap="squar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grpSp>
        <p:nvGrpSpPr>
          <p:cNvPr id="19" name="Group 18">
            <a:extLst>
              <a:ext uri="{FF2B5EF4-FFF2-40B4-BE49-F238E27FC236}">
                <a16:creationId xmlns:a16="http://schemas.microsoft.com/office/drawing/2014/main" id="{699F3975-1D13-78E7-ECF3-4488708B0B11}"/>
              </a:ext>
            </a:extLst>
          </p:cNvPr>
          <p:cNvGrpSpPr/>
          <p:nvPr/>
        </p:nvGrpSpPr>
        <p:grpSpPr>
          <a:xfrm>
            <a:off x="1102903" y="1286840"/>
            <a:ext cx="9986195" cy="5001865"/>
            <a:chOff x="1236975" y="1286840"/>
            <a:chExt cx="9986195" cy="5001865"/>
          </a:xfrm>
        </p:grpSpPr>
        <p:grpSp>
          <p:nvGrpSpPr>
            <p:cNvPr id="13" name="Group 12">
              <a:extLst>
                <a:ext uri="{FF2B5EF4-FFF2-40B4-BE49-F238E27FC236}">
                  <a16:creationId xmlns:a16="http://schemas.microsoft.com/office/drawing/2014/main" id="{35359FB1-100B-1D7E-63E8-B1F290814BDC}"/>
                </a:ext>
              </a:extLst>
            </p:cNvPr>
            <p:cNvGrpSpPr/>
            <p:nvPr/>
          </p:nvGrpSpPr>
          <p:grpSpPr>
            <a:xfrm>
              <a:off x="1236975" y="1286840"/>
              <a:ext cx="9986195" cy="1543061"/>
              <a:chOff x="1236975" y="1620664"/>
              <a:chExt cx="9986195" cy="1543061"/>
            </a:xfrm>
          </p:grpSpPr>
          <p:sp>
            <p:nvSpPr>
              <p:cNvPr id="5" name="Oval 4">
                <a:extLst>
                  <a:ext uri="{FF2B5EF4-FFF2-40B4-BE49-F238E27FC236}">
                    <a16:creationId xmlns:a16="http://schemas.microsoft.com/office/drawing/2014/main" id="{7712DD22-6D63-6D0B-5077-CA0954EA119F}"/>
                  </a:ext>
                </a:extLst>
              </p:cNvPr>
              <p:cNvSpPr/>
              <p:nvPr/>
            </p:nvSpPr>
            <p:spPr>
              <a:xfrm>
                <a:off x="1236975" y="2056551"/>
                <a:ext cx="671286" cy="671286"/>
              </a:xfrm>
              <a:prstGeom prst="ellipse">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sz="4000" b="1" dirty="0">
                    <a:solidFill>
                      <a:schemeClr val="bg1">
                        <a:lumMod val="50000"/>
                        <a:lumOff val="50000"/>
                      </a:schemeClr>
                    </a:solidFill>
                    <a:latin typeface="Impact" panose="020B0806030902050204" pitchFamily="34" charset="0"/>
                  </a:rPr>
                  <a:t>1</a:t>
                </a:r>
                <a:endParaRPr lang="en-GB" b="1" dirty="0">
                  <a:solidFill>
                    <a:schemeClr val="bg1">
                      <a:lumMod val="50000"/>
                      <a:lumOff val="50000"/>
                    </a:schemeClr>
                  </a:solidFill>
                  <a:latin typeface="Impact" panose="020B0806030902050204" pitchFamily="34" charset="0"/>
                </a:endParaRPr>
              </a:p>
            </p:txBody>
          </p:sp>
          <p:sp>
            <p:nvSpPr>
              <p:cNvPr id="6" name="TextBox 5">
                <a:extLst>
                  <a:ext uri="{FF2B5EF4-FFF2-40B4-BE49-F238E27FC236}">
                    <a16:creationId xmlns:a16="http://schemas.microsoft.com/office/drawing/2014/main" id="{C9405374-8159-B604-3175-8A182ABCCA91}"/>
                  </a:ext>
                </a:extLst>
              </p:cNvPr>
              <p:cNvSpPr txBox="1"/>
              <p:nvPr/>
            </p:nvSpPr>
            <p:spPr>
              <a:xfrm>
                <a:off x="2633609" y="1620664"/>
                <a:ext cx="8589561" cy="1543061"/>
              </a:xfrm>
              <a:prstGeom prst="rect">
                <a:avLst/>
              </a:prstGeom>
              <a:noFill/>
            </p:spPr>
            <p:txBody>
              <a:bodyPr wrap="square" lIns="0" tIns="0" rIns="0" bIns="0" rtlCol="0" anchor="ctr">
                <a:noAutofit/>
              </a:bodyPr>
              <a:lstStyle>
                <a:defPPr>
                  <a:defRPr lang="en-US"/>
                </a:defPPr>
                <a:lvl1pPr>
                  <a:defRPr sz="1400">
                    <a:solidFill>
                      <a:schemeClr val="bg1">
                        <a:lumMod val="75000"/>
                        <a:lumOff val="25000"/>
                      </a:schemeClr>
                    </a:solidFill>
                  </a:defRPr>
                </a:lvl1pPr>
              </a:lstStyle>
              <a:p>
                <a:r>
                  <a:rPr lang="en-GB" sz="2400" dirty="0"/>
                  <a:t>Continue capturing legacy IDs because critical operational systems still depend on them.</a:t>
                </a:r>
              </a:p>
            </p:txBody>
          </p:sp>
        </p:grpSp>
        <p:grpSp>
          <p:nvGrpSpPr>
            <p:cNvPr id="14" name="Group 13">
              <a:extLst>
                <a:ext uri="{FF2B5EF4-FFF2-40B4-BE49-F238E27FC236}">
                  <a16:creationId xmlns:a16="http://schemas.microsoft.com/office/drawing/2014/main" id="{05BE22CD-CA75-C054-F81E-7B1D7E2F4782}"/>
                </a:ext>
              </a:extLst>
            </p:cNvPr>
            <p:cNvGrpSpPr/>
            <p:nvPr/>
          </p:nvGrpSpPr>
          <p:grpSpPr>
            <a:xfrm>
              <a:off x="1236975" y="2496004"/>
              <a:ext cx="9986195" cy="1543061"/>
              <a:chOff x="1236975" y="3022990"/>
              <a:chExt cx="9986195" cy="1543061"/>
            </a:xfrm>
          </p:grpSpPr>
          <p:sp>
            <p:nvSpPr>
              <p:cNvPr id="9" name="Oval 8">
                <a:extLst>
                  <a:ext uri="{FF2B5EF4-FFF2-40B4-BE49-F238E27FC236}">
                    <a16:creationId xmlns:a16="http://schemas.microsoft.com/office/drawing/2014/main" id="{2F9F1870-15A0-5ED4-89E1-61045D7757CB}"/>
                  </a:ext>
                </a:extLst>
              </p:cNvPr>
              <p:cNvSpPr/>
              <p:nvPr/>
            </p:nvSpPr>
            <p:spPr>
              <a:xfrm>
                <a:off x="1236975" y="3458877"/>
                <a:ext cx="671286" cy="671286"/>
              </a:xfrm>
              <a:prstGeom prst="ellipse">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sz="4000" b="1" dirty="0">
                    <a:solidFill>
                      <a:schemeClr val="bg1">
                        <a:lumMod val="50000"/>
                        <a:lumOff val="50000"/>
                      </a:schemeClr>
                    </a:solidFill>
                    <a:latin typeface="Impact" panose="020B0806030902050204" pitchFamily="34" charset="0"/>
                  </a:rPr>
                  <a:t>2</a:t>
                </a:r>
                <a:endParaRPr lang="en-GB" b="1" dirty="0">
                  <a:solidFill>
                    <a:schemeClr val="bg1">
                      <a:lumMod val="50000"/>
                      <a:lumOff val="50000"/>
                    </a:schemeClr>
                  </a:solidFill>
                  <a:latin typeface="Impact" panose="020B0806030902050204" pitchFamily="34" charset="0"/>
                </a:endParaRPr>
              </a:p>
            </p:txBody>
          </p:sp>
          <p:sp>
            <p:nvSpPr>
              <p:cNvPr id="10" name="TextBox 9">
                <a:extLst>
                  <a:ext uri="{FF2B5EF4-FFF2-40B4-BE49-F238E27FC236}">
                    <a16:creationId xmlns:a16="http://schemas.microsoft.com/office/drawing/2014/main" id="{42C7E121-5CF8-26C3-4016-94D2EC6156A8}"/>
                  </a:ext>
                </a:extLst>
              </p:cNvPr>
              <p:cNvSpPr txBox="1"/>
              <p:nvPr/>
            </p:nvSpPr>
            <p:spPr>
              <a:xfrm>
                <a:off x="2633609" y="3022990"/>
                <a:ext cx="8589561" cy="1543061"/>
              </a:xfrm>
              <a:prstGeom prst="rect">
                <a:avLst/>
              </a:prstGeom>
              <a:noFill/>
            </p:spPr>
            <p:txBody>
              <a:bodyPr wrap="square" lIns="0" tIns="0" rIns="0" bIns="0" rtlCol="0" anchor="ctr">
                <a:noAutofit/>
              </a:bodyPr>
              <a:lstStyle>
                <a:defPPr>
                  <a:defRPr lang="en-US"/>
                </a:defPPr>
                <a:lvl1pPr>
                  <a:defRPr sz="2400">
                    <a:solidFill>
                      <a:schemeClr val="bg1">
                        <a:lumMod val="75000"/>
                        <a:lumOff val="25000"/>
                      </a:schemeClr>
                    </a:solidFill>
                  </a:defRPr>
                </a:lvl1pPr>
              </a:lstStyle>
              <a:p>
                <a:r>
                  <a:rPr lang="en-GB" dirty="0"/>
                  <a:t>Simultaneously capture Adobe-friendly tracking parameters because they are the foundation of our future attribution model.</a:t>
                </a:r>
              </a:p>
            </p:txBody>
          </p:sp>
        </p:grpSp>
        <p:grpSp>
          <p:nvGrpSpPr>
            <p:cNvPr id="15" name="Group 14">
              <a:extLst>
                <a:ext uri="{FF2B5EF4-FFF2-40B4-BE49-F238E27FC236}">
                  <a16:creationId xmlns:a16="http://schemas.microsoft.com/office/drawing/2014/main" id="{2045D489-EFDA-97D3-6249-68E8199ABB97}"/>
                </a:ext>
              </a:extLst>
            </p:cNvPr>
            <p:cNvGrpSpPr/>
            <p:nvPr/>
          </p:nvGrpSpPr>
          <p:grpSpPr>
            <a:xfrm>
              <a:off x="1236975" y="3705168"/>
              <a:ext cx="9986195" cy="1543061"/>
              <a:chOff x="1236975" y="4300248"/>
              <a:chExt cx="9986195" cy="1543061"/>
            </a:xfrm>
          </p:grpSpPr>
          <p:sp>
            <p:nvSpPr>
              <p:cNvPr id="11" name="Oval 10">
                <a:extLst>
                  <a:ext uri="{FF2B5EF4-FFF2-40B4-BE49-F238E27FC236}">
                    <a16:creationId xmlns:a16="http://schemas.microsoft.com/office/drawing/2014/main" id="{E0E89791-7027-A55D-EE4C-B94771A8322A}"/>
                  </a:ext>
                </a:extLst>
              </p:cNvPr>
              <p:cNvSpPr/>
              <p:nvPr/>
            </p:nvSpPr>
            <p:spPr>
              <a:xfrm>
                <a:off x="1236975" y="4736135"/>
                <a:ext cx="671286" cy="671286"/>
              </a:xfrm>
              <a:prstGeom prst="ellipse">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4000" b="1" dirty="0">
                    <a:solidFill>
                      <a:schemeClr val="bg1">
                        <a:lumMod val="50000"/>
                        <a:lumOff val="50000"/>
                      </a:schemeClr>
                    </a:solidFill>
                    <a:latin typeface="Impact" panose="020B0806030902050204" pitchFamily="34" charset="0"/>
                  </a:rPr>
                  <a:t>3</a:t>
                </a:r>
                <a:endParaRPr lang="en-GB" b="1" dirty="0">
                  <a:solidFill>
                    <a:schemeClr val="bg1">
                      <a:lumMod val="50000"/>
                      <a:lumOff val="50000"/>
                    </a:schemeClr>
                  </a:solidFill>
                  <a:latin typeface="Impact" panose="020B0806030902050204" pitchFamily="34" charset="0"/>
                </a:endParaRPr>
              </a:p>
            </p:txBody>
          </p:sp>
          <p:sp>
            <p:nvSpPr>
              <p:cNvPr id="12" name="TextBox 11">
                <a:extLst>
                  <a:ext uri="{FF2B5EF4-FFF2-40B4-BE49-F238E27FC236}">
                    <a16:creationId xmlns:a16="http://schemas.microsoft.com/office/drawing/2014/main" id="{8F32009F-4E77-2A8D-4E8F-139CEC376616}"/>
                  </a:ext>
                </a:extLst>
              </p:cNvPr>
              <p:cNvSpPr txBox="1"/>
              <p:nvPr/>
            </p:nvSpPr>
            <p:spPr>
              <a:xfrm>
                <a:off x="2633609" y="4300248"/>
                <a:ext cx="8589561" cy="1543061"/>
              </a:xfrm>
              <a:prstGeom prst="rect">
                <a:avLst/>
              </a:prstGeom>
              <a:noFill/>
            </p:spPr>
            <p:txBody>
              <a:bodyPr wrap="square" lIns="0" tIns="0" rIns="0" bIns="0" rtlCol="0" anchor="ctr">
                <a:noAutofit/>
              </a:bodyPr>
              <a:lstStyle>
                <a:defPPr>
                  <a:defRPr lang="en-US"/>
                </a:defPPr>
                <a:lvl1pPr>
                  <a:defRPr sz="2400">
                    <a:solidFill>
                      <a:schemeClr val="bg1">
                        <a:lumMod val="75000"/>
                        <a:lumOff val="25000"/>
                      </a:schemeClr>
                    </a:solidFill>
                  </a:defRPr>
                </a:lvl1pPr>
              </a:lstStyle>
              <a:p>
                <a:r>
                  <a:rPr lang="en-GB" dirty="0"/>
                  <a:t>Use Workfront automation to bridge both worlds and remove manual effort.</a:t>
                </a:r>
              </a:p>
            </p:txBody>
          </p:sp>
        </p:grpSp>
        <p:sp>
          <p:nvSpPr>
            <p:cNvPr id="18" name="TextBox 17">
              <a:extLst>
                <a:ext uri="{FF2B5EF4-FFF2-40B4-BE49-F238E27FC236}">
                  <a16:creationId xmlns:a16="http://schemas.microsoft.com/office/drawing/2014/main" id="{C1717AF7-711E-BA49-61FF-A1EC555C999D}"/>
                </a:ext>
              </a:extLst>
            </p:cNvPr>
            <p:cNvSpPr txBox="1"/>
            <p:nvPr/>
          </p:nvSpPr>
          <p:spPr>
            <a:xfrm>
              <a:off x="1353457" y="5036222"/>
              <a:ext cx="9485086" cy="1252483"/>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2400" b="1" dirty="0">
                  <a:solidFill>
                    <a:schemeClr val="bg1"/>
                  </a:solidFill>
                </a:rPr>
                <a:t>The goal is not to replace CCID, DTID, and OID today.</a:t>
              </a:r>
              <a:r>
                <a:rPr lang="en-GB" sz="2400" dirty="0">
                  <a:solidFill>
                    <a:schemeClr val="bg1"/>
                  </a:solidFill>
                </a:rPr>
                <a:t> </a:t>
              </a:r>
            </a:p>
            <a:p>
              <a:pPr algn="ctr" defTabSz="912276" fontAlgn="base">
                <a:spcAft>
                  <a:spcPts val="1000"/>
                </a:spcAft>
                <a:buClr>
                  <a:schemeClr val="bg1"/>
                </a:buClr>
                <a:buSzPct val="100000"/>
              </a:pPr>
              <a:r>
                <a:rPr lang="en-GB" sz="2400" dirty="0">
                  <a:solidFill>
                    <a:schemeClr val="bg1"/>
                  </a:solidFill>
                </a:rPr>
                <a:t>The goal is to capture both legacy and modern identifiers until downstream systems are fully migrated.</a:t>
              </a:r>
            </a:p>
          </p:txBody>
        </p:sp>
      </p:grpSp>
    </p:spTree>
    <p:extLst>
      <p:ext uri="{BB962C8B-B14F-4D97-AF65-F5344CB8AC3E}">
        <p14:creationId xmlns:p14="http://schemas.microsoft.com/office/powerpoint/2010/main" val="39179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66E1A4-8C93-D78B-05FE-FB98B2F3F54F}"/>
              </a:ext>
            </a:extLst>
          </p:cNvPr>
          <p:cNvSpPr>
            <a:spLocks noGrp="1"/>
          </p:cNvSpPr>
          <p:nvPr>
            <p:ph type="title"/>
          </p:nvPr>
        </p:nvSpPr>
        <p:spPr/>
        <p:txBody>
          <a:bodyPr/>
          <a:lstStyle/>
          <a:p>
            <a:r>
              <a:rPr lang="en-US" dirty="0"/>
              <a:t>Strategic Value of Campaign Tagging &amp; Tracking</a:t>
            </a:r>
            <a:endParaRPr lang="en-GB" dirty="0"/>
          </a:p>
        </p:txBody>
      </p:sp>
      <p:sp>
        <p:nvSpPr>
          <p:cNvPr id="4" name="TextBox 3">
            <a:extLst>
              <a:ext uri="{FF2B5EF4-FFF2-40B4-BE49-F238E27FC236}">
                <a16:creationId xmlns:a16="http://schemas.microsoft.com/office/drawing/2014/main" id="{DF26E543-89F3-827D-3480-B326317FEBEE}"/>
              </a:ext>
            </a:extLst>
          </p:cNvPr>
          <p:cNvSpPr txBox="1"/>
          <p:nvPr/>
        </p:nvSpPr>
        <p:spPr>
          <a:xfrm>
            <a:off x="438733" y="1023598"/>
            <a:ext cx="11098635" cy="984375"/>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b="1" dirty="0">
                <a:solidFill>
                  <a:schemeClr val="bg1"/>
                </a:solidFill>
              </a:rPr>
              <a:t>Why We Track:</a:t>
            </a:r>
            <a:r>
              <a:rPr lang="en-GB" dirty="0">
                <a:solidFill>
                  <a:schemeClr val="bg1"/>
                </a:solidFill>
              </a:rPr>
              <a:t> Flawless data integrity connects every marketing dollar to real-world sales outcomes—proving ROI, unlocking automated customer journeys, and empowering sellers to win deals.</a:t>
            </a:r>
            <a:endParaRPr lang="en-GB" sz="1600" kern="1200" dirty="0">
              <a:solidFill>
                <a:schemeClr val="bg1"/>
              </a:solidFill>
              <a:latin typeface="+mn-lt"/>
              <a:ea typeface="ＭＳ Ｐゴシック" charset="0"/>
            </a:endParaRPr>
          </a:p>
        </p:txBody>
      </p:sp>
      <p:sp>
        <p:nvSpPr>
          <p:cNvPr id="5" name="TextBox 4">
            <a:extLst>
              <a:ext uri="{FF2B5EF4-FFF2-40B4-BE49-F238E27FC236}">
                <a16:creationId xmlns:a16="http://schemas.microsoft.com/office/drawing/2014/main" id="{6FA12C9B-B95C-2581-4F66-DAEC238FE2C6}"/>
              </a:ext>
            </a:extLst>
          </p:cNvPr>
          <p:cNvSpPr txBox="1"/>
          <p:nvPr/>
        </p:nvSpPr>
        <p:spPr>
          <a:xfrm>
            <a:off x="871650" y="3149964"/>
            <a:ext cx="2556588" cy="2740091"/>
          </a:xfrm>
          <a:prstGeom prst="rect">
            <a:avLst/>
          </a:prstGeom>
          <a:noFill/>
        </p:spPr>
        <p:txBody>
          <a:bodyPr wrap="square" lIns="0" tIns="0" rIns="0" bIns="0" rtlCol="0">
            <a:noAutofit/>
          </a:bodyPr>
          <a:lstStyle/>
          <a:p>
            <a:pPr algn="ctr"/>
            <a:r>
              <a:rPr lang="en-GB" dirty="0">
                <a:solidFill>
                  <a:schemeClr val="bg1"/>
                </a:solidFill>
              </a:rPr>
              <a:t>Pinpoint exactly which campaigns and channels yield actual closed-won pipeline. Shift budgets in real time from low-intent channels to top-performing initiatives.</a:t>
            </a:r>
          </a:p>
          <a:p>
            <a:pPr marL="182880" indent="-182880" algn="ctr"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
        <p:nvSpPr>
          <p:cNvPr id="6" name="TextBox 5">
            <a:extLst>
              <a:ext uri="{FF2B5EF4-FFF2-40B4-BE49-F238E27FC236}">
                <a16:creationId xmlns:a16="http://schemas.microsoft.com/office/drawing/2014/main" id="{247FF8F7-BD52-036D-80BA-57D929B00555}"/>
              </a:ext>
            </a:extLst>
          </p:cNvPr>
          <p:cNvSpPr txBox="1"/>
          <p:nvPr/>
        </p:nvSpPr>
        <p:spPr>
          <a:xfrm>
            <a:off x="4865532" y="3149964"/>
            <a:ext cx="2560320" cy="2743200"/>
          </a:xfrm>
          <a:prstGeom prst="rect">
            <a:avLst/>
          </a:prstGeom>
          <a:noFill/>
        </p:spPr>
        <p:txBody>
          <a:bodyPr wrap="square" lIns="0" tIns="0" rIns="0" bIns="0" rtlCol="0">
            <a:noAutofit/>
          </a:bodyPr>
          <a:lstStyle/>
          <a:p>
            <a:pPr algn="ctr"/>
            <a:r>
              <a:rPr lang="en-GB" dirty="0">
                <a:solidFill>
                  <a:schemeClr val="bg1"/>
                </a:solidFill>
              </a:rPr>
              <a:t>Trigger highly targeted, program-specific "always-on" nurture sequences. Deliver hyper-relevant content to the buyer based on precise digital hand-raisers.</a:t>
            </a:r>
          </a:p>
          <a:p>
            <a:pPr marL="182880" indent="-182880" algn="ctr"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5B27BD87-FB71-1073-13CA-ABD195D62783}"/>
              </a:ext>
            </a:extLst>
          </p:cNvPr>
          <p:cNvSpPr txBox="1"/>
          <p:nvPr/>
        </p:nvSpPr>
        <p:spPr>
          <a:xfrm>
            <a:off x="8861279" y="3149964"/>
            <a:ext cx="2560320" cy="2743200"/>
          </a:xfrm>
          <a:prstGeom prst="rect">
            <a:avLst/>
          </a:prstGeom>
          <a:noFill/>
        </p:spPr>
        <p:txBody>
          <a:bodyPr wrap="square" lIns="0" tIns="0" rIns="0" bIns="0" rtlCol="0">
            <a:noAutofit/>
          </a:bodyPr>
          <a:lstStyle/>
          <a:p>
            <a:pPr algn="ctr"/>
            <a:r>
              <a:rPr lang="en-GB" dirty="0">
                <a:solidFill>
                  <a:schemeClr val="bg1"/>
                </a:solidFill>
              </a:rPr>
              <a:t>Deliver rich, contextual content consumption details to CRM profiles. Help sales reps bypass dry, cold calls to start highly specific, high-value conversations.</a:t>
            </a:r>
          </a:p>
          <a:p>
            <a:pPr marL="182880" indent="-182880" algn="ctr"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grpSp>
        <p:nvGrpSpPr>
          <p:cNvPr id="15" name="Group 14">
            <a:extLst>
              <a:ext uri="{FF2B5EF4-FFF2-40B4-BE49-F238E27FC236}">
                <a16:creationId xmlns:a16="http://schemas.microsoft.com/office/drawing/2014/main" id="{3B1E1121-69AC-A602-8BCC-73CCC83AC181}"/>
              </a:ext>
            </a:extLst>
          </p:cNvPr>
          <p:cNvGrpSpPr/>
          <p:nvPr/>
        </p:nvGrpSpPr>
        <p:grpSpPr>
          <a:xfrm>
            <a:off x="8414729" y="2384567"/>
            <a:ext cx="3453421" cy="3447138"/>
            <a:chOff x="771331" y="2157451"/>
            <a:chExt cx="2929812" cy="3447138"/>
          </a:xfrm>
        </p:grpSpPr>
        <p:sp>
          <p:nvSpPr>
            <p:cNvPr id="16" name="Freeform: Shape 15">
              <a:extLst>
                <a:ext uri="{FF2B5EF4-FFF2-40B4-BE49-F238E27FC236}">
                  <a16:creationId xmlns:a16="http://schemas.microsoft.com/office/drawing/2014/main" id="{DED9FDD8-DA4D-862D-7AA2-F5E3F65B8EAE}"/>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Rectangle: Rounded Corners 16">
              <a:extLst>
                <a:ext uri="{FF2B5EF4-FFF2-40B4-BE49-F238E27FC236}">
                  <a16:creationId xmlns:a16="http://schemas.microsoft.com/office/drawing/2014/main" id="{3F86165F-349A-0E38-DC5B-38FA0B953B4D}"/>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Empower Sellers</a:t>
              </a:r>
              <a:endParaRPr lang="en-GB" sz="1600" b="1" dirty="0">
                <a:solidFill>
                  <a:schemeClr val="bg1"/>
                </a:solidFill>
              </a:endParaRPr>
            </a:p>
          </p:txBody>
        </p:sp>
      </p:grpSp>
      <p:grpSp>
        <p:nvGrpSpPr>
          <p:cNvPr id="18" name="Group 17">
            <a:extLst>
              <a:ext uri="{FF2B5EF4-FFF2-40B4-BE49-F238E27FC236}">
                <a16:creationId xmlns:a16="http://schemas.microsoft.com/office/drawing/2014/main" id="{714C1901-2E0A-2A39-EE0A-D93D34B784FD}"/>
              </a:ext>
            </a:extLst>
          </p:cNvPr>
          <p:cNvGrpSpPr/>
          <p:nvPr/>
        </p:nvGrpSpPr>
        <p:grpSpPr>
          <a:xfrm>
            <a:off x="423234" y="2384567"/>
            <a:ext cx="3453421" cy="3447138"/>
            <a:chOff x="771331" y="2157451"/>
            <a:chExt cx="2929812" cy="3447138"/>
          </a:xfrm>
        </p:grpSpPr>
        <p:sp>
          <p:nvSpPr>
            <p:cNvPr id="19" name="Freeform: Shape 18">
              <a:extLst>
                <a:ext uri="{FF2B5EF4-FFF2-40B4-BE49-F238E27FC236}">
                  <a16:creationId xmlns:a16="http://schemas.microsoft.com/office/drawing/2014/main" id="{31C86659-A1B1-A3F1-88A3-7581504DC270}"/>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Rectangle: Rounded Corners 19">
              <a:extLst>
                <a:ext uri="{FF2B5EF4-FFF2-40B4-BE49-F238E27FC236}">
                  <a16:creationId xmlns:a16="http://schemas.microsoft.com/office/drawing/2014/main" id="{8C1B7ECC-0941-911B-4B4F-44FCCFFD4783}"/>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Optimize Spend</a:t>
              </a:r>
              <a:endParaRPr lang="en-GB" sz="1600" b="1" dirty="0">
                <a:solidFill>
                  <a:schemeClr val="bg1"/>
                </a:solidFill>
              </a:endParaRPr>
            </a:p>
          </p:txBody>
        </p:sp>
      </p:grpSp>
      <p:grpSp>
        <p:nvGrpSpPr>
          <p:cNvPr id="21" name="Group 20">
            <a:extLst>
              <a:ext uri="{FF2B5EF4-FFF2-40B4-BE49-F238E27FC236}">
                <a16:creationId xmlns:a16="http://schemas.microsoft.com/office/drawing/2014/main" id="{FC0A651D-31FF-4392-7FB5-E57C231BC9F6}"/>
              </a:ext>
            </a:extLst>
          </p:cNvPr>
          <p:cNvGrpSpPr/>
          <p:nvPr/>
        </p:nvGrpSpPr>
        <p:grpSpPr>
          <a:xfrm>
            <a:off x="4418982" y="2384567"/>
            <a:ext cx="3453421" cy="3447138"/>
            <a:chOff x="771331" y="2157451"/>
            <a:chExt cx="2929812" cy="3447138"/>
          </a:xfrm>
        </p:grpSpPr>
        <p:sp>
          <p:nvSpPr>
            <p:cNvPr id="22" name="Freeform: Shape 21">
              <a:extLst>
                <a:ext uri="{FF2B5EF4-FFF2-40B4-BE49-F238E27FC236}">
                  <a16:creationId xmlns:a16="http://schemas.microsoft.com/office/drawing/2014/main" id="{109FD1C5-98F4-70D5-5598-77DEFBA7E9D3}"/>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3" name="Rectangle: Rounded Corners 22">
              <a:extLst>
                <a:ext uri="{FF2B5EF4-FFF2-40B4-BE49-F238E27FC236}">
                  <a16:creationId xmlns:a16="http://schemas.microsoft.com/office/drawing/2014/main" id="{665C5D5B-8439-6CF3-B036-AA3B728ECF31}"/>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Personalize Journeys</a:t>
              </a:r>
              <a:endParaRPr lang="en-GB" sz="1600" b="1" dirty="0">
                <a:solidFill>
                  <a:schemeClr val="bg1"/>
                </a:solidFill>
              </a:endParaRPr>
            </a:p>
          </p:txBody>
        </p:sp>
      </p:grpSp>
    </p:spTree>
    <p:extLst>
      <p:ext uri="{BB962C8B-B14F-4D97-AF65-F5344CB8AC3E}">
        <p14:creationId xmlns:p14="http://schemas.microsoft.com/office/powerpoint/2010/main" val="1389049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61CC6-CF13-B86B-CEE0-17CCEC8E4621}"/>
              </a:ext>
            </a:extLst>
          </p:cNvPr>
          <p:cNvSpPr>
            <a:spLocks noGrp="1"/>
          </p:cNvSpPr>
          <p:nvPr>
            <p:ph type="title"/>
          </p:nvPr>
        </p:nvSpPr>
        <p:spPr/>
        <p:txBody>
          <a:bodyPr/>
          <a:lstStyle/>
          <a:p>
            <a:r>
              <a:rPr lang="en-US" dirty="0"/>
              <a:t>Navigating the Hybrid Tracking Landscape</a:t>
            </a:r>
            <a:endParaRPr lang="en-GB" dirty="0"/>
          </a:p>
        </p:txBody>
      </p:sp>
      <p:grpSp>
        <p:nvGrpSpPr>
          <p:cNvPr id="14" name="Group 13">
            <a:extLst>
              <a:ext uri="{FF2B5EF4-FFF2-40B4-BE49-F238E27FC236}">
                <a16:creationId xmlns:a16="http://schemas.microsoft.com/office/drawing/2014/main" id="{DF2240E4-02AF-528A-6BCD-963067C350E5}"/>
              </a:ext>
            </a:extLst>
          </p:cNvPr>
          <p:cNvGrpSpPr/>
          <p:nvPr/>
        </p:nvGrpSpPr>
        <p:grpSpPr>
          <a:xfrm>
            <a:off x="403465" y="1268598"/>
            <a:ext cx="3520966" cy="4691818"/>
            <a:chOff x="403465" y="1268598"/>
            <a:chExt cx="3520966" cy="4691818"/>
          </a:xfrm>
        </p:grpSpPr>
        <p:sp>
          <p:nvSpPr>
            <p:cNvPr id="3" name="Rectangle: Rounded Corners 2">
              <a:extLst>
                <a:ext uri="{FF2B5EF4-FFF2-40B4-BE49-F238E27FC236}">
                  <a16:creationId xmlns:a16="http://schemas.microsoft.com/office/drawing/2014/main" id="{100EF232-EDBC-DDF9-F603-3D188398B384}"/>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 name="Straight Connector 5">
              <a:extLst>
                <a:ext uri="{FF2B5EF4-FFF2-40B4-BE49-F238E27FC236}">
                  <a16:creationId xmlns:a16="http://schemas.microsoft.com/office/drawing/2014/main" id="{1FB21077-BF65-C317-11C2-AED528C58622}"/>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7" name="TextBox 6">
              <a:extLst>
                <a:ext uri="{FF2B5EF4-FFF2-40B4-BE49-F238E27FC236}">
                  <a16:creationId xmlns:a16="http://schemas.microsoft.com/office/drawing/2014/main" id="{5DD1361B-55DB-1968-1601-208011B5FFDD}"/>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The Constraint</a:t>
              </a:r>
              <a:endParaRPr lang="en-GB" sz="20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623CB324-A659-A135-57C3-B2744F127D6A}"/>
                </a:ext>
              </a:extLst>
            </p:cNvPr>
            <p:cNvSpPr txBox="1"/>
            <p:nvPr/>
          </p:nvSpPr>
          <p:spPr>
            <a:xfrm>
              <a:off x="577937" y="2336194"/>
              <a:ext cx="3172023" cy="2427889"/>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sz="1600" dirty="0">
                  <a:solidFill>
                    <a:srgbClr val="333333"/>
                  </a:solidFill>
                </a:rPr>
                <a:t>SFDC lead creation depends on CCID (Activity ID)</a:t>
              </a:r>
            </a:p>
            <a:p>
              <a:pPr marL="182880" indent="-182880" defTabSz="912276" fontAlgn="base">
                <a:spcAft>
                  <a:spcPts val="1000"/>
                </a:spcAft>
                <a:buClr>
                  <a:schemeClr val="bg1"/>
                </a:buClr>
                <a:buSzPct val="100000"/>
                <a:buFont typeface="Arial" panose="020B0604020202020204" pitchFamily="34" charset="0"/>
                <a:buChar char="•"/>
              </a:pPr>
              <a:r>
                <a:rPr lang="en-US" sz="1600" dirty="0">
                  <a:solidFill>
                    <a:srgbClr val="333333"/>
                  </a:solidFill>
                </a:rPr>
                <a:t>Reporting continuity requires: CCID (</a:t>
              </a:r>
              <a:r>
                <a:rPr lang="en-US" sz="1600" dirty="0" err="1">
                  <a:solidFill>
                    <a:srgbClr val="333333"/>
                  </a:solidFill>
                </a:rPr>
                <a:t>Activites</a:t>
              </a:r>
              <a:r>
                <a:rPr lang="en-US" sz="1600" dirty="0">
                  <a:solidFill>
                    <a:srgbClr val="333333"/>
                  </a:solidFill>
                </a:rPr>
                <a:t>), DTID (Channels), OID (Content) </a:t>
              </a:r>
            </a:p>
            <a:p>
              <a:pPr marL="182880" indent="-182880" defTabSz="912276" fontAlgn="base">
                <a:spcAft>
                  <a:spcPts val="1000"/>
                </a:spcAft>
                <a:buClr>
                  <a:schemeClr val="bg1"/>
                </a:buClr>
                <a:buSzPct val="100000"/>
                <a:buFont typeface="Arial" panose="020B0604020202020204" pitchFamily="34" charset="0"/>
                <a:buChar char="•"/>
              </a:pPr>
              <a:r>
                <a:rPr lang="en-US" sz="1600" dirty="0">
                  <a:solidFill>
                    <a:srgbClr val="333333"/>
                  </a:solidFill>
                </a:rPr>
                <a:t>Hybrid capture preserves existing dashboards during transition</a:t>
              </a:r>
              <a:endParaRPr lang="en-GB" sz="1600" kern="1200" dirty="0" err="1">
                <a:solidFill>
                  <a:schemeClr val="bg1"/>
                </a:solidFill>
                <a:latin typeface="+mn-lt"/>
                <a:ea typeface="ＭＳ Ｐゴシック" charset="0"/>
              </a:endParaRPr>
            </a:p>
          </p:txBody>
        </p:sp>
      </p:grpSp>
      <p:grpSp>
        <p:nvGrpSpPr>
          <p:cNvPr id="15" name="Group 14">
            <a:extLst>
              <a:ext uri="{FF2B5EF4-FFF2-40B4-BE49-F238E27FC236}">
                <a16:creationId xmlns:a16="http://schemas.microsoft.com/office/drawing/2014/main" id="{DF4527CA-652F-379F-B791-821CE201590D}"/>
              </a:ext>
            </a:extLst>
          </p:cNvPr>
          <p:cNvGrpSpPr/>
          <p:nvPr/>
        </p:nvGrpSpPr>
        <p:grpSpPr>
          <a:xfrm>
            <a:off x="4402651" y="1268598"/>
            <a:ext cx="3520966" cy="4691818"/>
            <a:chOff x="403465" y="1268598"/>
            <a:chExt cx="3520966" cy="4691818"/>
          </a:xfrm>
        </p:grpSpPr>
        <p:sp>
          <p:nvSpPr>
            <p:cNvPr id="16" name="Rectangle: Rounded Corners 15">
              <a:extLst>
                <a:ext uri="{FF2B5EF4-FFF2-40B4-BE49-F238E27FC236}">
                  <a16:creationId xmlns:a16="http://schemas.microsoft.com/office/drawing/2014/main" id="{203B2E7B-35FF-217E-F128-D606BB65C0BB}"/>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7" name="Straight Connector 16">
              <a:extLst>
                <a:ext uri="{FF2B5EF4-FFF2-40B4-BE49-F238E27FC236}">
                  <a16:creationId xmlns:a16="http://schemas.microsoft.com/office/drawing/2014/main" id="{F2A332C4-FB39-7D67-DB0B-9190BFEA9BAB}"/>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8" name="TextBox 17">
              <a:extLst>
                <a:ext uri="{FF2B5EF4-FFF2-40B4-BE49-F238E27FC236}">
                  <a16:creationId xmlns:a16="http://schemas.microsoft.com/office/drawing/2014/main" id="{9A2FB374-9754-8644-C090-F68D139E57D7}"/>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The Friction</a:t>
              </a:r>
              <a:endParaRPr lang="en-GB" sz="2000" kern="1200" dirty="0" err="1">
                <a:solidFill>
                  <a:schemeClr val="bg1"/>
                </a:solidFill>
                <a:latin typeface="+mn-lt"/>
                <a:ea typeface="ＭＳ Ｐゴシック" charset="0"/>
              </a:endParaRPr>
            </a:p>
          </p:txBody>
        </p:sp>
        <p:sp>
          <p:nvSpPr>
            <p:cNvPr id="19" name="TextBox 18">
              <a:extLst>
                <a:ext uri="{FF2B5EF4-FFF2-40B4-BE49-F238E27FC236}">
                  <a16:creationId xmlns:a16="http://schemas.microsoft.com/office/drawing/2014/main" id="{2AA5D462-D564-6AE9-CA25-3FBAECA2A508}"/>
                </a:ext>
              </a:extLst>
            </p:cNvPr>
            <p:cNvSpPr txBox="1"/>
            <p:nvPr/>
          </p:nvSpPr>
          <p:spPr>
            <a:xfrm>
              <a:off x="577937" y="2336194"/>
              <a:ext cx="3172023" cy="2897957"/>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CCID performs multiple jobs across lead creation and channel activation</a:t>
              </a:r>
              <a:r>
                <a:rPr lang="en-GB" dirty="0">
                  <a:solidFill>
                    <a:schemeClr val="bg1"/>
                  </a:solidFill>
                </a:rPr>
                <a:t>​</a:t>
              </a:r>
            </a:p>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Multi-role IDs distort campaign and touch point reporting</a:t>
              </a:r>
              <a:r>
                <a:rPr lang="en-GB" dirty="0">
                  <a:solidFill>
                    <a:schemeClr val="bg1"/>
                  </a:solidFill>
                </a:rPr>
                <a:t>​ </a:t>
              </a:r>
            </a:p>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Manual URL and ID selection creates errors and analytics gaps</a:t>
              </a:r>
              <a:r>
                <a:rPr lang="en-GB" dirty="0">
                  <a:solidFill>
                    <a:schemeClr val="bg1"/>
                  </a:solidFill>
                </a:rPr>
                <a:t>​</a:t>
              </a:r>
              <a:endParaRPr lang="en-GB" sz="1600" kern="1200" dirty="0">
                <a:solidFill>
                  <a:schemeClr val="bg1"/>
                </a:solidFill>
                <a:latin typeface="+mn-lt"/>
                <a:ea typeface="ＭＳ Ｐゴシック" charset="0"/>
              </a:endParaRPr>
            </a:p>
          </p:txBody>
        </p:sp>
      </p:grpSp>
      <p:grpSp>
        <p:nvGrpSpPr>
          <p:cNvPr id="20" name="Group 19">
            <a:extLst>
              <a:ext uri="{FF2B5EF4-FFF2-40B4-BE49-F238E27FC236}">
                <a16:creationId xmlns:a16="http://schemas.microsoft.com/office/drawing/2014/main" id="{5273DB30-7BD6-1D96-D111-702B45464BA2}"/>
              </a:ext>
            </a:extLst>
          </p:cNvPr>
          <p:cNvGrpSpPr/>
          <p:nvPr/>
        </p:nvGrpSpPr>
        <p:grpSpPr>
          <a:xfrm>
            <a:off x="8401837" y="1268598"/>
            <a:ext cx="3520966" cy="4691818"/>
            <a:chOff x="403465" y="1268598"/>
            <a:chExt cx="3520966" cy="4691818"/>
          </a:xfrm>
        </p:grpSpPr>
        <p:sp>
          <p:nvSpPr>
            <p:cNvPr id="21" name="Rectangle: Rounded Corners 20">
              <a:extLst>
                <a:ext uri="{FF2B5EF4-FFF2-40B4-BE49-F238E27FC236}">
                  <a16:creationId xmlns:a16="http://schemas.microsoft.com/office/drawing/2014/main" id="{67C8D41A-344B-3529-9F50-CDD2B070B0A8}"/>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2" name="Straight Connector 21">
              <a:extLst>
                <a:ext uri="{FF2B5EF4-FFF2-40B4-BE49-F238E27FC236}">
                  <a16:creationId xmlns:a16="http://schemas.microsoft.com/office/drawing/2014/main" id="{C707A0CB-4690-A329-7FC6-B7493BB28315}"/>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7FCA3CC7-5FF3-5D62-17C8-CFB701476A7F}"/>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The Future State</a:t>
              </a:r>
              <a:endParaRPr lang="en-GB" sz="2000" kern="1200" dirty="0" err="1">
                <a:solidFill>
                  <a:schemeClr val="bg1"/>
                </a:solidFill>
                <a:latin typeface="+mn-lt"/>
                <a:ea typeface="ＭＳ Ｐゴシック" charset="0"/>
              </a:endParaRPr>
            </a:p>
          </p:txBody>
        </p:sp>
        <p:sp>
          <p:nvSpPr>
            <p:cNvPr id="24" name="TextBox 23">
              <a:extLst>
                <a:ext uri="{FF2B5EF4-FFF2-40B4-BE49-F238E27FC236}">
                  <a16:creationId xmlns:a16="http://schemas.microsoft.com/office/drawing/2014/main" id="{7F7044BB-DECD-604F-CA0B-64AE58D94B8A}"/>
                </a:ext>
              </a:extLst>
            </p:cNvPr>
            <p:cNvSpPr txBox="1"/>
            <p:nvPr/>
          </p:nvSpPr>
          <p:spPr>
            <a:xfrm>
              <a:off x="577937" y="2336194"/>
              <a:ext cx="3172023" cy="2427889"/>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 Industry-standard UTMs: </a:t>
              </a:r>
            </a:p>
            <a:p>
              <a:pPr marL="640080" lvl="1" indent="-182880" defTabSz="912276" fontAlgn="base">
                <a:spcAft>
                  <a:spcPts val="1000"/>
                </a:spcAft>
                <a:buClr>
                  <a:schemeClr val="bg1"/>
                </a:buClr>
                <a:buSzPct val="100000"/>
                <a:buFont typeface="Arial" panose="020B0604020202020204" pitchFamily="34" charset="0"/>
                <a:buChar char="•"/>
              </a:pPr>
              <a:r>
                <a:rPr lang="en-US" dirty="0" err="1">
                  <a:solidFill>
                    <a:schemeClr val="bg1"/>
                  </a:solidFill>
                </a:rPr>
                <a:t>utm_id</a:t>
              </a:r>
              <a:endParaRPr lang="en-US" dirty="0">
                <a:solidFill>
                  <a:schemeClr val="bg1"/>
                </a:solidFill>
              </a:endParaRPr>
            </a:p>
            <a:p>
              <a:pPr marL="640080" lvl="1" indent="-182880" defTabSz="912276" fontAlgn="base">
                <a:spcAft>
                  <a:spcPts val="1000"/>
                </a:spcAft>
                <a:buClr>
                  <a:schemeClr val="bg1"/>
                </a:buClr>
                <a:buSzPct val="100000"/>
                <a:buFont typeface="Arial" panose="020B0604020202020204" pitchFamily="34" charset="0"/>
                <a:buChar char="•"/>
              </a:pPr>
              <a:r>
                <a:rPr lang="en-US" dirty="0" err="1">
                  <a:solidFill>
                    <a:schemeClr val="bg1"/>
                  </a:solidFill>
                </a:rPr>
                <a:t>utm_medium</a:t>
              </a:r>
              <a:endParaRPr lang="en-US" dirty="0">
                <a:solidFill>
                  <a:schemeClr val="bg1"/>
                </a:solidFill>
              </a:endParaRPr>
            </a:p>
            <a:p>
              <a:pPr marL="640080" lvl="1" indent="-182880" defTabSz="912276" fontAlgn="base">
                <a:spcAft>
                  <a:spcPts val="1000"/>
                </a:spcAft>
                <a:buClr>
                  <a:schemeClr val="bg1"/>
                </a:buClr>
                <a:buSzPct val="100000"/>
                <a:buFont typeface="Arial" panose="020B0604020202020204" pitchFamily="34" charset="0"/>
                <a:buChar char="•"/>
              </a:pPr>
              <a:r>
                <a:rPr lang="en-US" dirty="0" err="1">
                  <a:solidFill>
                    <a:schemeClr val="bg1"/>
                  </a:solidFill>
                </a:rPr>
                <a:t>utm_source</a:t>
              </a:r>
              <a:r>
                <a:rPr lang="en-GB" dirty="0">
                  <a:solidFill>
                    <a:schemeClr val="bg1"/>
                  </a:solidFill>
                </a:rPr>
                <a:t>​ </a:t>
              </a:r>
            </a:p>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Single-purpose Channel IDs and Content IDs</a:t>
              </a:r>
              <a:r>
                <a:rPr lang="en-GB" dirty="0">
                  <a:solidFill>
                    <a:schemeClr val="bg1"/>
                  </a:solidFill>
                </a:rPr>
                <a:t>​ </a:t>
              </a:r>
            </a:p>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 Workfront automates tracking </a:t>
              </a:r>
              <a:r>
                <a:rPr lang="en-US">
                  <a:solidFill>
                    <a:schemeClr val="bg1"/>
                  </a:solidFill>
                </a:rPr>
                <a:t>creation and metadata </a:t>
              </a:r>
              <a:r>
                <a:rPr lang="en-US" dirty="0">
                  <a:solidFill>
                    <a:schemeClr val="bg1"/>
                  </a:solidFill>
                </a:rPr>
                <a:t>application, removing human error</a:t>
              </a:r>
              <a:endParaRPr lang="en-GB" sz="1600" kern="1200" dirty="0" err="1">
                <a:solidFill>
                  <a:schemeClr val="bg1"/>
                </a:solidFill>
                <a:latin typeface="+mn-lt"/>
                <a:ea typeface="ＭＳ Ｐゴシック" charset="0"/>
              </a:endParaRPr>
            </a:p>
          </p:txBody>
        </p:sp>
      </p:grpSp>
    </p:spTree>
    <p:extLst>
      <p:ext uri="{BB962C8B-B14F-4D97-AF65-F5344CB8AC3E}">
        <p14:creationId xmlns:p14="http://schemas.microsoft.com/office/powerpoint/2010/main" val="1801986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6E6D7-58F9-BE56-D9E0-C93D45466DF9}"/>
              </a:ext>
            </a:extLst>
          </p:cNvPr>
          <p:cNvSpPr>
            <a:spLocks noGrp="1"/>
          </p:cNvSpPr>
          <p:nvPr>
            <p:ph type="title"/>
          </p:nvPr>
        </p:nvSpPr>
        <p:spPr/>
        <p:txBody>
          <a:bodyPr/>
          <a:lstStyle/>
          <a:p>
            <a:r>
              <a:rPr lang="en-US" dirty="0"/>
              <a:t>Campaign Tagging &amp; Tracking ID Types</a:t>
            </a:r>
            <a:endParaRPr lang="en-GB" dirty="0"/>
          </a:p>
        </p:txBody>
      </p:sp>
      <p:cxnSp>
        <p:nvCxnSpPr>
          <p:cNvPr id="3" name="Straight Connector 2">
            <a:extLst>
              <a:ext uri="{FF2B5EF4-FFF2-40B4-BE49-F238E27FC236}">
                <a16:creationId xmlns:a16="http://schemas.microsoft.com/office/drawing/2014/main" id="{D152FB28-095C-4138-B9B1-3F4EC735F4C4}"/>
              </a:ext>
            </a:extLst>
          </p:cNvPr>
          <p:cNvCxnSpPr>
            <a:cxnSpLocks/>
          </p:cNvCxnSpPr>
          <p:nvPr/>
        </p:nvCxnSpPr>
        <p:spPr>
          <a:xfrm>
            <a:off x="0" y="1694919"/>
            <a:ext cx="12192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D42CEC42-B49C-2D13-DE2B-11AFD66B1493}"/>
              </a:ext>
            </a:extLst>
          </p:cNvPr>
          <p:cNvCxnSpPr>
            <a:cxnSpLocks/>
          </p:cNvCxnSpPr>
          <p:nvPr/>
        </p:nvCxnSpPr>
        <p:spPr>
          <a:xfrm>
            <a:off x="1892561" y="3204454"/>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FC2F0993-D423-B81C-88F4-568327C69033}"/>
              </a:ext>
            </a:extLst>
          </p:cNvPr>
          <p:cNvCxnSpPr>
            <a:cxnSpLocks/>
          </p:cNvCxnSpPr>
          <p:nvPr/>
        </p:nvCxnSpPr>
        <p:spPr>
          <a:xfrm>
            <a:off x="1972775" y="407537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0" name="TextBox 29">
            <a:extLst>
              <a:ext uri="{FF2B5EF4-FFF2-40B4-BE49-F238E27FC236}">
                <a16:creationId xmlns:a16="http://schemas.microsoft.com/office/drawing/2014/main" id="{5C9468E8-C408-D2AB-7FA9-709CD5C6FD20}"/>
              </a:ext>
            </a:extLst>
          </p:cNvPr>
          <p:cNvSpPr txBox="1"/>
          <p:nvPr/>
        </p:nvSpPr>
        <p:spPr>
          <a:xfrm>
            <a:off x="323850" y="3488636"/>
            <a:ext cx="1280160" cy="30255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What it Does</a:t>
            </a:r>
            <a:endParaRPr lang="en-GB" sz="1600" kern="1200" dirty="0" err="1">
              <a:solidFill>
                <a:schemeClr val="bg1"/>
              </a:solidFill>
              <a:latin typeface="+mn-lt"/>
              <a:ea typeface="ＭＳ Ｐゴシック" charset="0"/>
            </a:endParaRPr>
          </a:p>
        </p:txBody>
      </p:sp>
      <p:sp>
        <p:nvSpPr>
          <p:cNvPr id="31" name="TextBox 30">
            <a:extLst>
              <a:ext uri="{FF2B5EF4-FFF2-40B4-BE49-F238E27FC236}">
                <a16:creationId xmlns:a16="http://schemas.microsoft.com/office/drawing/2014/main" id="{7836EA72-DB0C-6AE9-C170-4600BDC66451}"/>
              </a:ext>
            </a:extLst>
          </p:cNvPr>
          <p:cNvSpPr txBox="1"/>
          <p:nvPr/>
        </p:nvSpPr>
        <p:spPr>
          <a:xfrm>
            <a:off x="323850" y="4754620"/>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Key Rules</a:t>
            </a:r>
            <a:endParaRPr lang="en-GB" sz="1600" kern="1200" dirty="0" err="1">
              <a:solidFill>
                <a:schemeClr val="bg1"/>
              </a:solidFill>
              <a:latin typeface="+mn-lt"/>
              <a:ea typeface="ＭＳ Ｐゴシック" charset="0"/>
            </a:endParaRPr>
          </a:p>
        </p:txBody>
      </p:sp>
      <p:sp>
        <p:nvSpPr>
          <p:cNvPr id="32" name="TextBox 31">
            <a:extLst>
              <a:ext uri="{FF2B5EF4-FFF2-40B4-BE49-F238E27FC236}">
                <a16:creationId xmlns:a16="http://schemas.microsoft.com/office/drawing/2014/main" id="{C6E39CF5-FAC2-263D-ECFF-5AA6D26D09AB}"/>
              </a:ext>
            </a:extLst>
          </p:cNvPr>
          <p:cNvSpPr txBox="1"/>
          <p:nvPr/>
        </p:nvSpPr>
        <p:spPr>
          <a:xfrm>
            <a:off x="323850" y="5918709"/>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Example</a:t>
            </a:r>
            <a:endParaRPr lang="en-GB" sz="1600" kern="1200" dirty="0" err="1">
              <a:solidFill>
                <a:schemeClr val="bg1"/>
              </a:solidFill>
              <a:latin typeface="+mn-lt"/>
              <a:ea typeface="ＭＳ Ｐゴシック" charset="0"/>
            </a:endParaRPr>
          </a:p>
        </p:txBody>
      </p:sp>
      <p:cxnSp>
        <p:nvCxnSpPr>
          <p:cNvPr id="34" name="Straight Connector 33">
            <a:extLst>
              <a:ext uri="{FF2B5EF4-FFF2-40B4-BE49-F238E27FC236}">
                <a16:creationId xmlns:a16="http://schemas.microsoft.com/office/drawing/2014/main" id="{AFB517D5-EC1F-E3B4-8884-FFE4FCDD363C}"/>
              </a:ext>
            </a:extLst>
          </p:cNvPr>
          <p:cNvCxnSpPr>
            <a:cxnSpLocks/>
          </p:cNvCxnSpPr>
          <p:nvPr/>
        </p:nvCxnSpPr>
        <p:spPr>
          <a:xfrm>
            <a:off x="2015542" y="569210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nvGrpSpPr>
          <p:cNvPr id="51" name="Group 50">
            <a:extLst>
              <a:ext uri="{FF2B5EF4-FFF2-40B4-BE49-F238E27FC236}">
                <a16:creationId xmlns:a16="http://schemas.microsoft.com/office/drawing/2014/main" id="{2F72A423-B701-C765-6B46-FBED58EBE774}"/>
              </a:ext>
            </a:extLst>
          </p:cNvPr>
          <p:cNvGrpSpPr/>
          <p:nvPr/>
        </p:nvGrpSpPr>
        <p:grpSpPr>
          <a:xfrm>
            <a:off x="1935708" y="859000"/>
            <a:ext cx="2944368" cy="5518362"/>
            <a:chOff x="1935708" y="859000"/>
            <a:chExt cx="2944368" cy="5518362"/>
          </a:xfrm>
        </p:grpSpPr>
        <p:sp>
          <p:nvSpPr>
            <p:cNvPr id="6" name="TextBox 5">
              <a:extLst>
                <a:ext uri="{FF2B5EF4-FFF2-40B4-BE49-F238E27FC236}">
                  <a16:creationId xmlns:a16="http://schemas.microsoft.com/office/drawing/2014/main" id="{77C7EAC6-B28F-030E-4D1C-1A7F5965F358}"/>
                </a:ext>
              </a:extLst>
            </p:cNvPr>
            <p:cNvSpPr txBox="1"/>
            <p:nvPr>
              <p:custDataLst>
                <p:tags r:id="rId11"/>
              </p:custDataLst>
            </p:nvPr>
          </p:nvSpPr>
          <p:spPr>
            <a:xfrm>
              <a:off x="2137968"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Activity ID</a:t>
              </a:r>
            </a:p>
          </p:txBody>
        </p:sp>
        <p:grpSp>
          <p:nvGrpSpPr>
            <p:cNvPr id="22" name="Group 21">
              <a:extLst>
                <a:ext uri="{FF2B5EF4-FFF2-40B4-BE49-F238E27FC236}">
                  <a16:creationId xmlns:a16="http://schemas.microsoft.com/office/drawing/2014/main" id="{DD7F81BE-04F6-AFAA-AED3-0414ADB924AD}"/>
                </a:ext>
              </a:extLst>
            </p:cNvPr>
            <p:cNvGrpSpPr/>
            <p:nvPr/>
          </p:nvGrpSpPr>
          <p:grpSpPr>
            <a:xfrm>
              <a:off x="3014726" y="1301754"/>
              <a:ext cx="786332" cy="786331"/>
              <a:chOff x="2401016" y="1237421"/>
              <a:chExt cx="786332" cy="786331"/>
            </a:xfrm>
          </p:grpSpPr>
          <p:sp>
            <p:nvSpPr>
              <p:cNvPr id="5" name="Shape1_20250523_195849">
                <a:extLst>
                  <a:ext uri="{FF2B5EF4-FFF2-40B4-BE49-F238E27FC236}">
                    <a16:creationId xmlns:a16="http://schemas.microsoft.com/office/drawing/2014/main" id="{23226C90-692E-903A-C0E5-B201B233B8E6}"/>
                  </a:ext>
                </a:extLst>
              </p:cNvPr>
              <p:cNvSpPr txBox="1">
                <a:spLocks noChangeAspect="1"/>
              </p:cNvSpPr>
              <p:nvPr>
                <p:custDataLst>
                  <p:tags r:id="rId14"/>
                </p:custDataLst>
              </p:nvPr>
            </p:nvSpPr>
            <p:spPr>
              <a:xfrm>
                <a:off x="2401016" y="123742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8" name="dark1" descr="Mandala with solid fill">
                <a:extLst>
                  <a:ext uri="{FF2B5EF4-FFF2-40B4-BE49-F238E27FC236}">
                    <a16:creationId xmlns:a16="http://schemas.microsoft.com/office/drawing/2014/main" id="{71B791A4-A4E3-6376-C283-232F6844BFCE}"/>
                  </a:ext>
                </a:extLst>
              </p:cNvPr>
              <p:cNvPicPr>
                <a:picLocks noChangeAspect="1"/>
              </p:cNvPicPr>
              <p:nvPr>
                <p:custDataLst>
                  <p:tags r:id="rId15"/>
                </p:custDataLst>
              </p:nvPr>
            </p:nvPicPr>
            <p:blipFill>
              <a:blip>
                <a:extLst>
                  <a:ext uri="{96DAC541-7B7A-43D3-8B79-37D633B846F1}">
                    <asvg:svgBlip xmlns:asvg="http://schemas.microsoft.com/office/drawing/2016/SVG/main" r:embed="rId18"/>
                  </a:ext>
                </a:extLst>
              </a:blip>
              <a:srcRect/>
              <a:stretch/>
            </p:blipFill>
            <p:spPr>
              <a:xfrm>
                <a:off x="2517484" y="1353888"/>
                <a:ext cx="553396" cy="553396"/>
              </a:xfrm>
              <a:prstGeom prst="rect">
                <a:avLst/>
              </a:prstGeom>
            </p:spPr>
          </p:pic>
        </p:grpSp>
        <p:sp>
          <p:nvSpPr>
            <p:cNvPr id="7" name="TextBox 6">
              <a:extLst>
                <a:ext uri="{FF2B5EF4-FFF2-40B4-BE49-F238E27FC236}">
                  <a16:creationId xmlns:a16="http://schemas.microsoft.com/office/drawing/2014/main" id="{C0528976-02CC-EE72-2174-76E6047FE8D5}"/>
                </a:ext>
              </a:extLst>
            </p:cNvPr>
            <p:cNvSpPr txBox="1"/>
            <p:nvPr>
              <p:custDataLst>
                <p:tags r:id="rId12"/>
              </p:custDataLst>
            </p:nvPr>
          </p:nvSpPr>
          <p:spPr>
            <a:xfrm>
              <a:off x="1935708" y="2164436"/>
              <a:ext cx="2944368" cy="970317"/>
            </a:xfrm>
            <a:prstGeom prst="rect">
              <a:avLst/>
            </a:prstGeom>
            <a:noFill/>
          </p:spPr>
          <p:txBody>
            <a:bodyPr vert="horz" wrap="square" lIns="18288" tIns="18288" rIns="18288" bIns="18288" rtlCol="0" anchor="t">
              <a:no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lvl="0" algn="ctr"/>
              <a:r>
                <a:rPr lang="en-GB" sz="1200" dirty="0">
                  <a:solidFill>
                    <a:schemeClr val="bg1"/>
                  </a:solidFill>
                  <a:latin typeface="+mn-lt"/>
                </a:rPr>
                <a:t>The </a:t>
              </a:r>
              <a:r>
                <a:rPr lang="en-GB" sz="1200" b="1" dirty="0">
                  <a:solidFill>
                    <a:schemeClr val="bg1"/>
                  </a:solidFill>
                  <a:latin typeface="+mn-lt"/>
                </a:rPr>
                <a:t>Activity ID</a:t>
              </a:r>
              <a:r>
                <a:rPr lang="en-GB" sz="1200" dirty="0">
                  <a:solidFill>
                    <a:schemeClr val="bg1"/>
                  </a:solidFill>
                  <a:latin typeface="+mn-lt"/>
                </a:rPr>
                <a:t> is the foundational umbrella identifier used to track specific marketing initiatives that generate customer activity in support of global campaigns and programs.</a:t>
              </a:r>
              <a:endParaRPr kumimoji="0" lang="en-IN" sz="1200" b="0" i="0" u="none" strike="noStrike" kern="1200" cap="none" spc="0" normalizeH="0" baseline="0" noProof="0" dirty="0">
                <a:solidFill>
                  <a:schemeClr val="bg1"/>
                </a:solidFill>
                <a:uLnTx/>
                <a:uFillTx/>
                <a:latin typeface="+mn-lt"/>
                <a:ea typeface="ＭＳ Ｐゴシック" charset="0"/>
                <a:cs typeface="CiscoSansTT Light" panose="020B0503020201020303" pitchFamily="34" charset="0"/>
                <a:sym typeface="Wingdings"/>
              </a:endParaRPr>
            </a:p>
          </p:txBody>
        </p:sp>
        <p:sp>
          <p:nvSpPr>
            <p:cNvPr id="19" name="TextBox 18">
              <a:extLst>
                <a:ext uri="{FF2B5EF4-FFF2-40B4-BE49-F238E27FC236}">
                  <a16:creationId xmlns:a16="http://schemas.microsoft.com/office/drawing/2014/main" id="{DC744436-9A59-01CA-167B-D417824192CD}"/>
                </a:ext>
              </a:extLst>
            </p:cNvPr>
            <p:cNvSpPr txBox="1"/>
            <p:nvPr>
              <p:custDataLst>
                <p:tags r:id="rId13"/>
              </p:custDataLst>
            </p:nvPr>
          </p:nvSpPr>
          <p:spPr>
            <a:xfrm>
              <a:off x="1935708"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Acts as the mandatory trigger for lead generation, entering the scoring program, and adding prospects to nurture journeys.</a:t>
              </a:r>
              <a:endParaRPr lang="en-IN" sz="1000" dirty="0">
                <a:sym typeface="Wingdings"/>
              </a:endParaRPr>
            </a:p>
          </p:txBody>
        </p:sp>
        <p:sp>
          <p:nvSpPr>
            <p:cNvPr id="39" name="Rectangle 3">
              <a:extLst>
                <a:ext uri="{FF2B5EF4-FFF2-40B4-BE49-F238E27FC236}">
                  <a16:creationId xmlns:a16="http://schemas.microsoft.com/office/drawing/2014/main" id="{EA4495F9-0935-F2DB-B623-22C3163E1090}"/>
                </a:ext>
              </a:extLst>
            </p:cNvPr>
            <p:cNvSpPr>
              <a:spLocks noChangeArrowheads="1"/>
            </p:cNvSpPr>
            <p:nvPr/>
          </p:nvSpPr>
          <p:spPr bwMode="auto">
            <a:xfrm>
              <a:off x="1935708" y="4222022"/>
              <a:ext cx="294436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bg1"/>
                  </a:solidFill>
                  <a:effectLst/>
                </a:rPr>
                <a:t>Financial Alignment:</a:t>
              </a:r>
              <a:r>
                <a:rPr kumimoji="0" lang="en-US" altLang="en-US" sz="1000" b="0" i="0" u="none" strike="noStrike" cap="none" normalizeH="0" baseline="0" dirty="0">
                  <a:ln>
                    <a:noFill/>
                  </a:ln>
                  <a:solidFill>
                    <a:schemeClr val="bg1"/>
                  </a:solidFill>
                  <a:effectLst/>
                </a:rPr>
                <a:t> Every Activity ID </a:t>
              </a:r>
              <a:r>
                <a:rPr kumimoji="0" lang="en-US" altLang="en-US" sz="1000" b="1" i="0" u="none" strike="noStrike" cap="none" normalizeH="0" baseline="0" dirty="0">
                  <a:ln>
                    <a:noFill/>
                  </a:ln>
                  <a:solidFill>
                    <a:schemeClr val="bg1"/>
                  </a:solidFill>
                  <a:effectLst/>
                </a:rPr>
                <a:t>must</a:t>
              </a:r>
              <a:r>
                <a:rPr kumimoji="0" lang="en-US" altLang="en-US" sz="1000" b="0" i="0" u="none" strike="noStrike" cap="none" normalizeH="0" baseline="0" dirty="0">
                  <a:ln>
                    <a:noFill/>
                  </a:ln>
                  <a:solidFill>
                    <a:schemeClr val="bg1"/>
                  </a:solidFill>
                  <a:effectLst/>
                </a:rPr>
                <a:t> align with a specific cost value in marketing (e.g., an Allocadia budget line item, formal sales requests, or a specific series of events/webinars).</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bg1"/>
                  </a:solidFill>
                  <a:effectLst/>
                </a:rPr>
                <a:t>Naming Convention:</a:t>
              </a:r>
              <a:r>
                <a:rPr kumimoji="0" lang="en-US" altLang="en-US" sz="1000" b="0" i="0" u="none" strike="noStrike" cap="none" normalizeH="0" baseline="0" dirty="0">
                  <a:ln>
                    <a:noFill/>
                  </a:ln>
                  <a:solidFill>
                    <a:schemeClr val="bg1"/>
                  </a:solidFill>
                  <a:effectLst/>
                </a:rPr>
                <a:t> Names must reflect the specific marketing initiative, including its objective and target audience.</a:t>
              </a:r>
            </a:p>
          </p:txBody>
        </p:sp>
        <p:sp>
          <p:nvSpPr>
            <p:cNvPr id="44" name="TextBox 43">
              <a:extLst>
                <a:ext uri="{FF2B5EF4-FFF2-40B4-BE49-F238E27FC236}">
                  <a16:creationId xmlns:a16="http://schemas.microsoft.com/office/drawing/2014/main" id="{5C772AEB-0401-9798-95D0-282CE5AD06CC}"/>
                </a:ext>
              </a:extLst>
            </p:cNvPr>
            <p:cNvSpPr txBox="1"/>
            <p:nvPr/>
          </p:nvSpPr>
          <p:spPr>
            <a:xfrm>
              <a:off x="1935708" y="5761809"/>
              <a:ext cx="2944368"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bg1"/>
                  </a:solidFill>
                </a:defRPr>
              </a:lvl1pPr>
            </a:lstStyle>
            <a:p>
              <a:r>
                <a:rPr lang="en-GB" dirty="0">
                  <a:solidFill>
                    <a:schemeClr val="accent2"/>
                  </a:solidFill>
                </a:rPr>
                <a:t>cc0013423</a:t>
              </a:r>
            </a:p>
            <a:p>
              <a:r>
                <a:rPr lang="en-GB" sz="800" dirty="0">
                  <a:solidFill>
                    <a:schemeClr val="accent2"/>
                  </a:solidFill>
                </a:rPr>
                <a:t>EMEA Band A Digital Marketing - ABX Cross-sell Cloud management solution to Manufacturing Catalyst customers</a:t>
              </a:r>
            </a:p>
          </p:txBody>
        </p:sp>
      </p:grpSp>
      <p:grpSp>
        <p:nvGrpSpPr>
          <p:cNvPr id="52" name="Group 51">
            <a:extLst>
              <a:ext uri="{FF2B5EF4-FFF2-40B4-BE49-F238E27FC236}">
                <a16:creationId xmlns:a16="http://schemas.microsoft.com/office/drawing/2014/main" id="{C1B9F61A-EFCD-F04D-7B98-4C108F25F6C8}"/>
              </a:ext>
            </a:extLst>
          </p:cNvPr>
          <p:cNvGrpSpPr/>
          <p:nvPr/>
        </p:nvGrpSpPr>
        <p:grpSpPr>
          <a:xfrm>
            <a:off x="5176266" y="859000"/>
            <a:ext cx="2944368" cy="5272141"/>
            <a:chOff x="4998238" y="859000"/>
            <a:chExt cx="2944368" cy="5272141"/>
          </a:xfrm>
        </p:grpSpPr>
        <p:sp>
          <p:nvSpPr>
            <p:cNvPr id="11" name="TextBox 10">
              <a:extLst>
                <a:ext uri="{FF2B5EF4-FFF2-40B4-BE49-F238E27FC236}">
                  <a16:creationId xmlns:a16="http://schemas.microsoft.com/office/drawing/2014/main" id="{5E1B3A82-9CE6-5B6D-53CB-C26897A774FE}"/>
                </a:ext>
              </a:extLst>
            </p:cNvPr>
            <p:cNvSpPr txBox="1"/>
            <p:nvPr>
              <p:custDataLst>
                <p:tags r:id="rId6"/>
              </p:custDataLst>
            </p:nvPr>
          </p:nvSpPr>
          <p:spPr>
            <a:xfrm>
              <a:off x="5200498"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Drive To ID</a:t>
              </a:r>
            </a:p>
          </p:txBody>
        </p:sp>
        <p:grpSp>
          <p:nvGrpSpPr>
            <p:cNvPr id="23" name="Group 22">
              <a:extLst>
                <a:ext uri="{FF2B5EF4-FFF2-40B4-BE49-F238E27FC236}">
                  <a16:creationId xmlns:a16="http://schemas.microsoft.com/office/drawing/2014/main" id="{F5FFC877-AD7E-41A8-426F-93B2A87F9ECF}"/>
                </a:ext>
              </a:extLst>
            </p:cNvPr>
            <p:cNvGrpSpPr/>
            <p:nvPr/>
          </p:nvGrpSpPr>
          <p:grpSpPr>
            <a:xfrm>
              <a:off x="6077256" y="1301754"/>
              <a:ext cx="786332" cy="786331"/>
              <a:chOff x="4981422" y="1366087"/>
              <a:chExt cx="786332" cy="786331"/>
            </a:xfrm>
          </p:grpSpPr>
          <p:sp>
            <p:nvSpPr>
              <p:cNvPr id="10" name="Shape2_20250523_195849">
                <a:extLst>
                  <a:ext uri="{FF2B5EF4-FFF2-40B4-BE49-F238E27FC236}">
                    <a16:creationId xmlns:a16="http://schemas.microsoft.com/office/drawing/2014/main" id="{C7C037AF-2E26-463F-6B96-AB83A1C3A42C}"/>
                  </a:ext>
                </a:extLst>
              </p:cNvPr>
              <p:cNvSpPr txBox="1">
                <a:spLocks noChangeAspect="1"/>
              </p:cNvSpPr>
              <p:nvPr>
                <p:custDataLst>
                  <p:tags r:id="rId9"/>
                </p:custDataLst>
              </p:nvPr>
            </p:nvSpPr>
            <p:spPr>
              <a:xfrm>
                <a:off x="4981422" y="136608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a:sym typeface="Arial"/>
                  </a:rPr>
                  <a:t> </a:t>
                </a:r>
                <a:endParaRPr>
                  <a:sym typeface="Arial"/>
                </a:endParaRPr>
              </a:p>
            </p:txBody>
          </p:sp>
          <p:pic>
            <p:nvPicPr>
              <p:cNvPr id="13" name="dark2" descr="Steering Wheel with solid fill">
                <a:extLst>
                  <a:ext uri="{FF2B5EF4-FFF2-40B4-BE49-F238E27FC236}">
                    <a16:creationId xmlns:a16="http://schemas.microsoft.com/office/drawing/2014/main" id="{DCB98C5D-DEEC-BF2F-833D-48640A23F757}"/>
                  </a:ext>
                </a:extLst>
              </p:cNvPr>
              <p:cNvPicPr>
                <a:picLocks noChangeAspect="1"/>
              </p:cNvPicPr>
              <p:nvPr>
                <p:custDataLst>
                  <p:tags r:id="rId10"/>
                </p:custDataLst>
              </p:nvPr>
            </p:nvPicPr>
            <p:blipFill>
              <a:blip>
                <a:extLst>
                  <a:ext uri="{96DAC541-7B7A-43D3-8B79-37D633B846F1}">
                    <asvg:svgBlip xmlns:asvg="http://schemas.microsoft.com/office/drawing/2016/SVG/main" r:embed="rId19"/>
                  </a:ext>
                </a:extLst>
              </a:blip>
              <a:srcRect/>
              <a:stretch/>
            </p:blipFill>
            <p:spPr>
              <a:xfrm>
                <a:off x="5102911" y="1487575"/>
                <a:ext cx="543355" cy="543355"/>
              </a:xfrm>
              <a:prstGeom prst="rect">
                <a:avLst/>
              </a:prstGeom>
            </p:spPr>
          </p:pic>
        </p:grpSp>
        <p:sp>
          <p:nvSpPr>
            <p:cNvPr id="12" name="TextBox 11">
              <a:extLst>
                <a:ext uri="{FF2B5EF4-FFF2-40B4-BE49-F238E27FC236}">
                  <a16:creationId xmlns:a16="http://schemas.microsoft.com/office/drawing/2014/main" id="{79591D38-232F-C703-F1F7-248E81F24772}"/>
                </a:ext>
              </a:extLst>
            </p:cNvPr>
            <p:cNvSpPr txBox="1"/>
            <p:nvPr>
              <p:custDataLst>
                <p:tags r:id="rId7"/>
              </p:custDataLst>
            </p:nvPr>
          </p:nvSpPr>
          <p:spPr>
            <a:xfrm>
              <a:off x="4998238" y="2164436"/>
              <a:ext cx="2944368" cy="970317"/>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Drive To ID </a:t>
              </a:r>
              <a:r>
                <a:rPr lang="en-GB" dirty="0"/>
                <a:t>denotes the specific marketing channel or vehicle being used to direct customers to our digital destinations (such as Cisco.com).</a:t>
              </a:r>
              <a:endParaRPr lang="en-IN" dirty="0">
                <a:sym typeface="Wingdings"/>
              </a:endParaRPr>
            </a:p>
          </p:txBody>
        </p:sp>
        <p:sp>
          <p:nvSpPr>
            <p:cNvPr id="20" name="TextBox 19">
              <a:extLst>
                <a:ext uri="{FF2B5EF4-FFF2-40B4-BE49-F238E27FC236}">
                  <a16:creationId xmlns:a16="http://schemas.microsoft.com/office/drawing/2014/main" id="{468069DE-1119-4C29-EDE9-ECA2D2422C40}"/>
                </a:ext>
              </a:extLst>
            </p:cNvPr>
            <p:cNvSpPr txBox="1"/>
            <p:nvPr>
              <p:custDataLst>
                <p:tags r:id="rId8"/>
              </p:custDataLst>
            </p:nvPr>
          </p:nvSpPr>
          <p:spPr>
            <a:xfrm>
              <a:off x="4998238"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Tracks the path a user took to get to our site, such as Paid Search or social media platforms.</a:t>
              </a:r>
              <a:endParaRPr lang="en-IN" sz="1000" dirty="0">
                <a:sym typeface="Wingdings"/>
              </a:endParaRPr>
            </a:p>
          </p:txBody>
        </p:sp>
        <p:sp>
          <p:nvSpPr>
            <p:cNvPr id="41" name="Rectangle 4">
              <a:extLst>
                <a:ext uri="{FF2B5EF4-FFF2-40B4-BE49-F238E27FC236}">
                  <a16:creationId xmlns:a16="http://schemas.microsoft.com/office/drawing/2014/main" id="{BCD46CAD-5981-7EBD-8F3A-DE06CE9684E3}"/>
                </a:ext>
              </a:extLst>
            </p:cNvPr>
            <p:cNvSpPr>
              <a:spLocks noChangeArrowheads="1"/>
            </p:cNvSpPr>
            <p:nvPr/>
          </p:nvSpPr>
          <p:spPr bwMode="auto">
            <a:xfrm>
              <a:off x="4998238" y="4298966"/>
              <a:ext cx="294436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000" b="1" dirty="0">
                  <a:solidFill>
                    <a:schemeClr val="bg1"/>
                  </a:solidFill>
                </a:rPr>
                <a:t>One-to-Many Relationship: </a:t>
              </a:r>
              <a:r>
                <a:rPr lang="en-US" altLang="en-US" sz="1000" dirty="0">
                  <a:solidFill>
                    <a:schemeClr val="bg1"/>
                  </a:solidFill>
                </a:rPr>
                <a:t>A single Activity ID can be communicated through one or multiple Drive To IDs (e.g., one campaign running across both Facebook and LinkedIn).</a:t>
              </a:r>
            </a:p>
            <a:p>
              <a:pPr eaLnBrk="0" fontAlgn="base" hangingPunct="0">
                <a:spcBef>
                  <a:spcPct val="0"/>
                </a:spcBef>
                <a:spcAft>
                  <a:spcPct val="0"/>
                </a:spcAft>
                <a:tabLst>
                  <a:tab pos="2003425" algn="l"/>
                </a:tabLst>
              </a:pPr>
              <a:r>
                <a:rPr lang="en-US" altLang="en-US" sz="1000" b="1" dirty="0">
                  <a:solidFill>
                    <a:schemeClr val="bg1"/>
                  </a:solidFill>
                </a:rPr>
                <a:t>Exceptions: </a:t>
              </a:r>
              <a:r>
                <a:rPr lang="en-US" altLang="en-US" sz="1000" dirty="0">
                  <a:solidFill>
                    <a:schemeClr val="bg1"/>
                  </a:solidFill>
                </a:rPr>
                <a:t>Not all marketing vehicles will require a Drive To ID (e.g., offline or non-digital channels like direct audio).</a:t>
              </a:r>
            </a:p>
          </p:txBody>
        </p:sp>
        <p:sp>
          <p:nvSpPr>
            <p:cNvPr id="45" name="TextBox 44">
              <a:extLst>
                <a:ext uri="{FF2B5EF4-FFF2-40B4-BE49-F238E27FC236}">
                  <a16:creationId xmlns:a16="http://schemas.microsoft.com/office/drawing/2014/main" id="{AF59B741-ABCB-7758-E079-D67521D19BD3}"/>
                </a:ext>
              </a:extLst>
            </p:cNvPr>
            <p:cNvSpPr txBox="1"/>
            <p:nvPr/>
          </p:nvSpPr>
          <p:spPr>
            <a:xfrm>
              <a:off x="4998238" y="5761809"/>
              <a:ext cx="29443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800" b="1">
                  <a:solidFill>
                    <a:schemeClr val="accent2"/>
                  </a:solidFill>
                </a:defRPr>
              </a:lvl1pPr>
            </a:lstStyle>
            <a:p>
              <a:r>
                <a:rPr lang="en-GB" sz="1000" dirty="0"/>
                <a:t>oemels001119</a:t>
              </a:r>
            </a:p>
            <a:p>
              <a:r>
                <a:rPr lang="en-GB" dirty="0"/>
                <a:t>Owned - Email - Eloqua Campaign Emails</a:t>
              </a:r>
            </a:p>
          </p:txBody>
        </p:sp>
      </p:grpSp>
      <p:grpSp>
        <p:nvGrpSpPr>
          <p:cNvPr id="53" name="Group 52">
            <a:extLst>
              <a:ext uri="{FF2B5EF4-FFF2-40B4-BE49-F238E27FC236}">
                <a16:creationId xmlns:a16="http://schemas.microsoft.com/office/drawing/2014/main" id="{40A30337-318C-09FE-6919-43FDD6D64C9A}"/>
              </a:ext>
            </a:extLst>
          </p:cNvPr>
          <p:cNvGrpSpPr/>
          <p:nvPr/>
        </p:nvGrpSpPr>
        <p:grpSpPr>
          <a:xfrm>
            <a:off x="8416824" y="859000"/>
            <a:ext cx="2944368" cy="5379863"/>
            <a:chOff x="8416824" y="859000"/>
            <a:chExt cx="2944368" cy="5379863"/>
          </a:xfrm>
        </p:grpSpPr>
        <p:sp>
          <p:nvSpPr>
            <p:cNvPr id="16" name="TextBox 15">
              <a:extLst>
                <a:ext uri="{FF2B5EF4-FFF2-40B4-BE49-F238E27FC236}">
                  <a16:creationId xmlns:a16="http://schemas.microsoft.com/office/drawing/2014/main" id="{8A7A35A0-03EE-19E9-7969-2207779240B9}"/>
                </a:ext>
              </a:extLst>
            </p:cNvPr>
            <p:cNvSpPr txBox="1"/>
            <p:nvPr>
              <p:custDataLst>
                <p:tags r:id="rId1"/>
              </p:custDataLst>
            </p:nvPr>
          </p:nvSpPr>
          <p:spPr>
            <a:xfrm>
              <a:off x="8619084"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Offer ID</a:t>
              </a:r>
              <a:endPar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endParaRPr>
            </a:p>
          </p:txBody>
        </p:sp>
        <p:sp>
          <p:nvSpPr>
            <p:cNvPr id="17" name="TextBox 16">
              <a:extLst>
                <a:ext uri="{FF2B5EF4-FFF2-40B4-BE49-F238E27FC236}">
                  <a16:creationId xmlns:a16="http://schemas.microsoft.com/office/drawing/2014/main" id="{83E8E3F1-7B33-A2CD-F83D-27BF4E0D7CCB}"/>
                </a:ext>
              </a:extLst>
            </p:cNvPr>
            <p:cNvSpPr txBox="1"/>
            <p:nvPr>
              <p:custDataLst>
                <p:tags r:id="rId2"/>
              </p:custDataLst>
            </p:nvPr>
          </p:nvSpPr>
          <p:spPr>
            <a:xfrm>
              <a:off x="8416824" y="2164436"/>
              <a:ext cx="2944368" cy="970317"/>
            </a:xfrm>
            <a:prstGeom prst="rect">
              <a:avLst/>
            </a:prstGeom>
            <a:noFill/>
          </p:spPr>
          <p:txBody>
            <a:bodyPr vert="horz" wrap="square" lIns="18288" tIns="18288" rIns="18288" bIns="18288" rtlCol="0" anchor="t">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Offer ID </a:t>
              </a:r>
              <a:r>
                <a:rPr lang="en-GB" dirty="0"/>
                <a:t>tracks the specific value exchange given to customers to encourage engagement.</a:t>
              </a:r>
              <a:endParaRPr lang="en-IN" dirty="0">
                <a:sym typeface="Wingdings"/>
              </a:endParaRPr>
            </a:p>
          </p:txBody>
        </p:sp>
        <p:grpSp>
          <p:nvGrpSpPr>
            <p:cNvPr id="24" name="Group 23">
              <a:extLst>
                <a:ext uri="{FF2B5EF4-FFF2-40B4-BE49-F238E27FC236}">
                  <a16:creationId xmlns:a16="http://schemas.microsoft.com/office/drawing/2014/main" id="{B757657E-9313-FFC7-7014-E41779436A94}"/>
                </a:ext>
              </a:extLst>
            </p:cNvPr>
            <p:cNvGrpSpPr/>
            <p:nvPr/>
          </p:nvGrpSpPr>
          <p:grpSpPr>
            <a:xfrm>
              <a:off x="9495842" y="1301754"/>
              <a:ext cx="786332" cy="786331"/>
              <a:chOff x="9431957" y="1247111"/>
              <a:chExt cx="786332" cy="786331"/>
            </a:xfrm>
          </p:grpSpPr>
          <p:sp>
            <p:nvSpPr>
              <p:cNvPr id="15" name="Shape3_20250523_195849">
                <a:extLst>
                  <a:ext uri="{FF2B5EF4-FFF2-40B4-BE49-F238E27FC236}">
                    <a16:creationId xmlns:a16="http://schemas.microsoft.com/office/drawing/2014/main" id="{026B841E-F32C-7980-B1D8-D02CF174DD7D}"/>
                  </a:ext>
                </a:extLst>
              </p:cNvPr>
              <p:cNvSpPr txBox="1">
                <a:spLocks noChangeAspect="1"/>
              </p:cNvSpPr>
              <p:nvPr>
                <p:custDataLst>
                  <p:tags r:id="rId4"/>
                </p:custDataLst>
              </p:nvPr>
            </p:nvSpPr>
            <p:spPr>
              <a:xfrm>
                <a:off x="9431957" y="124711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18" name="dark3" descr="Shield Tick with solid fill">
                <a:extLst>
                  <a:ext uri="{FF2B5EF4-FFF2-40B4-BE49-F238E27FC236}">
                    <a16:creationId xmlns:a16="http://schemas.microsoft.com/office/drawing/2014/main" id="{79D934DF-C0CE-3769-75F6-36DC31DB1928}"/>
                  </a:ext>
                </a:extLst>
              </p:cNvPr>
              <p:cNvPicPr>
                <a:picLocks noChangeAspect="1"/>
              </p:cNvPicPr>
              <p:nvPr>
                <p:custDataLst>
                  <p:tags r:id="rId5"/>
                </p:custDataLst>
              </p:nvPr>
            </p:nvPicPr>
            <p:blipFill>
              <a:blip>
                <a:extLst>
                  <a:ext uri="{96DAC541-7B7A-43D3-8B79-37D633B846F1}">
                    <asvg:svgBlip xmlns:asvg="http://schemas.microsoft.com/office/drawing/2016/SVG/main" r:embed="rId20"/>
                  </a:ext>
                </a:extLst>
              </a:blip>
              <a:srcRect/>
              <a:stretch/>
            </p:blipFill>
            <p:spPr>
              <a:xfrm>
                <a:off x="9548425" y="1363578"/>
                <a:ext cx="553396" cy="553396"/>
              </a:xfrm>
              <a:prstGeom prst="rect">
                <a:avLst/>
              </a:prstGeom>
            </p:spPr>
          </p:pic>
        </p:grpSp>
        <p:sp>
          <p:nvSpPr>
            <p:cNvPr id="21" name="TextBox 20">
              <a:extLst>
                <a:ext uri="{FF2B5EF4-FFF2-40B4-BE49-F238E27FC236}">
                  <a16:creationId xmlns:a16="http://schemas.microsoft.com/office/drawing/2014/main" id="{E6B62D36-F7C1-A801-0693-D2BEBE80E7E6}"/>
                </a:ext>
              </a:extLst>
            </p:cNvPr>
            <p:cNvSpPr txBox="1"/>
            <p:nvPr>
              <p:custDataLst>
                <p:tags r:id="rId3"/>
              </p:custDataLst>
            </p:nvPr>
          </p:nvSpPr>
          <p:spPr>
            <a:xfrm>
              <a:off x="8416824"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Monitors the performance of assets or incentives provided to customers in exchange for a specific action, such as filling out a form.</a:t>
              </a:r>
              <a:endParaRPr lang="en-IN" sz="1000" dirty="0">
                <a:sym typeface="Wingdings"/>
              </a:endParaRPr>
            </a:p>
          </p:txBody>
        </p:sp>
        <p:sp>
          <p:nvSpPr>
            <p:cNvPr id="43" name="Rectangle 5">
              <a:extLst>
                <a:ext uri="{FF2B5EF4-FFF2-40B4-BE49-F238E27FC236}">
                  <a16:creationId xmlns:a16="http://schemas.microsoft.com/office/drawing/2014/main" id="{BCCDF231-28C7-143F-DC6F-CBA2E210C8AB}"/>
                </a:ext>
              </a:extLst>
            </p:cNvPr>
            <p:cNvSpPr>
              <a:spLocks noChangeArrowheads="1"/>
            </p:cNvSpPr>
            <p:nvPr/>
          </p:nvSpPr>
          <p:spPr bwMode="auto">
            <a:xfrm>
              <a:off x="8416824" y="4145077"/>
              <a:ext cx="2944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000" b="1" dirty="0">
                  <a:solidFill>
                    <a:schemeClr val="bg1"/>
                  </a:solidFill>
                </a:rPr>
                <a:t>One ID Per Asset: </a:t>
              </a:r>
              <a:r>
                <a:rPr lang="en-US" altLang="en-US" sz="1000" dirty="0">
                  <a:solidFill>
                    <a:schemeClr val="bg1"/>
                  </a:solidFill>
                </a:rPr>
                <a:t>Use exactly one unique Offer ID for a specific asset or offer. Do not create multiple Offer IDs based on the different channels or campaigns driving traffic to that offer.</a:t>
              </a:r>
            </a:p>
            <a:p>
              <a:pPr eaLnBrk="0" fontAlgn="base" hangingPunct="0">
                <a:spcBef>
                  <a:spcPct val="0"/>
                </a:spcBef>
                <a:spcAft>
                  <a:spcPct val="0"/>
                </a:spcAft>
              </a:pPr>
              <a:r>
                <a:rPr lang="en-US" altLang="en-US" sz="1000" b="1" dirty="0">
                  <a:solidFill>
                    <a:schemeClr val="bg1"/>
                  </a:solidFill>
                </a:rPr>
                <a:t>Sales Enablement (Naming): </a:t>
              </a:r>
              <a:r>
                <a:rPr lang="en-US" altLang="en-US" sz="1000" dirty="0">
                  <a:solidFill>
                    <a:schemeClr val="bg1"/>
                  </a:solidFill>
                </a:rPr>
                <a:t>The offer name serves as a direct signal to sellers; the name must contain enough context for them to use it as a conversation starter.</a:t>
              </a:r>
            </a:p>
          </p:txBody>
        </p:sp>
        <p:sp>
          <p:nvSpPr>
            <p:cNvPr id="46" name="TextBox 45">
              <a:extLst>
                <a:ext uri="{FF2B5EF4-FFF2-40B4-BE49-F238E27FC236}">
                  <a16:creationId xmlns:a16="http://schemas.microsoft.com/office/drawing/2014/main" id="{F9427C46-E35F-3A3D-9B70-9C8A3D9C9006}"/>
                </a:ext>
              </a:extLst>
            </p:cNvPr>
            <p:cNvSpPr txBox="1"/>
            <p:nvPr/>
          </p:nvSpPr>
          <p:spPr>
            <a:xfrm>
              <a:off x="8416824" y="5838753"/>
              <a:ext cx="29443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dirty="0"/>
                <a:t>trlsc027054</a:t>
              </a:r>
            </a:p>
            <a:p>
              <a:r>
                <a:rPr lang="en-US" b="0" dirty="0"/>
                <a:t>Cisco Secure Firewall Free Trial Security</a:t>
              </a:r>
              <a:endParaRPr lang="en-GB" b="0" dirty="0"/>
            </a:p>
          </p:txBody>
        </p:sp>
      </p:grpSp>
    </p:spTree>
    <p:extLst>
      <p:ext uri="{BB962C8B-B14F-4D97-AF65-F5344CB8AC3E}">
        <p14:creationId xmlns:p14="http://schemas.microsoft.com/office/powerpoint/2010/main" val="3851751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16141-C933-6C26-D534-C30A91B00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3AC6B-87FB-D4C9-E45C-18E3680A0BE8}"/>
              </a:ext>
            </a:extLst>
          </p:cNvPr>
          <p:cNvSpPr>
            <a:spLocks noGrp="1"/>
          </p:cNvSpPr>
          <p:nvPr>
            <p:ph type="title"/>
          </p:nvPr>
        </p:nvSpPr>
        <p:spPr/>
        <p:txBody>
          <a:bodyPr/>
          <a:lstStyle/>
          <a:p>
            <a:r>
              <a:rPr lang="en-US" dirty="0"/>
              <a:t>Module2: Activity IDs</a:t>
            </a:r>
            <a:endParaRPr lang="en-GB" dirty="0"/>
          </a:p>
        </p:txBody>
      </p:sp>
    </p:spTree>
    <p:extLst>
      <p:ext uri="{BB962C8B-B14F-4D97-AF65-F5344CB8AC3E}">
        <p14:creationId xmlns:p14="http://schemas.microsoft.com/office/powerpoint/2010/main" val="365906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8BD1C-97DE-907E-D6C1-802F29DF13F5}"/>
              </a:ext>
            </a:extLst>
          </p:cNvPr>
          <p:cNvSpPr>
            <a:spLocks noGrp="1"/>
          </p:cNvSpPr>
          <p:nvPr>
            <p:ph type="title"/>
          </p:nvPr>
        </p:nvSpPr>
        <p:spPr/>
        <p:txBody>
          <a:bodyPr/>
          <a:lstStyle/>
          <a:p>
            <a:r>
              <a:rPr lang="en-US" dirty="0"/>
              <a:t>Operational Impact of an Activity ID</a:t>
            </a:r>
            <a:endParaRPr lang="en-GB" dirty="0"/>
          </a:p>
        </p:txBody>
      </p:sp>
      <p:sp>
        <p:nvSpPr>
          <p:cNvPr id="38" name="TextBox 37">
            <a:extLst>
              <a:ext uri="{FF2B5EF4-FFF2-40B4-BE49-F238E27FC236}">
                <a16:creationId xmlns:a16="http://schemas.microsoft.com/office/drawing/2014/main" id="{3A2AB497-5B1C-2015-8186-2F34E8210B93}"/>
              </a:ext>
            </a:extLst>
          </p:cNvPr>
          <p:cNvSpPr txBox="1"/>
          <p:nvPr/>
        </p:nvSpPr>
        <p:spPr>
          <a:xfrm>
            <a:off x="410136" y="1905369"/>
            <a:ext cx="3543300" cy="3526888"/>
          </a:xfrm>
          <a:prstGeom prst="rect">
            <a:avLst/>
          </a:prstGeom>
          <a:noFill/>
        </p:spPr>
        <p:txBody>
          <a:bodyPr wrap="square" lIns="0" tIns="0" rIns="0" bIns="0" rtlCol="0" anchor="ctr">
            <a:noAutofit/>
          </a:bodyPr>
          <a:lstStyle/>
          <a:p>
            <a:pPr algn="ctr"/>
            <a:r>
              <a:rPr lang="en-GB" b="1" cap="all" dirty="0">
                <a:solidFill>
                  <a:schemeClr val="bg1"/>
                </a:solidFill>
              </a:rPr>
              <a:t>The Engine of Data Integrity</a:t>
            </a:r>
          </a:p>
          <a:p>
            <a:pPr algn="ctr"/>
            <a:endParaRPr lang="en-GB" b="1" cap="all" dirty="0">
              <a:solidFill>
                <a:schemeClr val="bg1"/>
              </a:solidFill>
            </a:endParaRPr>
          </a:p>
          <a:p>
            <a:pPr algn="ctr"/>
            <a:r>
              <a:rPr lang="en-GB" dirty="0">
                <a:solidFill>
                  <a:schemeClr val="bg1"/>
                </a:solidFill>
              </a:rPr>
              <a:t>Activity IDs are not just tracking parameters—they are critical systemic requirements that directly drive downstream sales context, automated lead routing, and pipeline reporting accuracy.</a:t>
            </a:r>
          </a:p>
        </p:txBody>
      </p:sp>
      <p:grpSp>
        <p:nvGrpSpPr>
          <p:cNvPr id="64" name="Group 63">
            <a:extLst>
              <a:ext uri="{FF2B5EF4-FFF2-40B4-BE49-F238E27FC236}">
                <a16:creationId xmlns:a16="http://schemas.microsoft.com/office/drawing/2014/main" id="{225B8164-ED9F-C6B9-2877-08F35C10A775}"/>
              </a:ext>
            </a:extLst>
          </p:cNvPr>
          <p:cNvGrpSpPr/>
          <p:nvPr/>
        </p:nvGrpSpPr>
        <p:grpSpPr>
          <a:xfrm>
            <a:off x="4504970" y="4062169"/>
            <a:ext cx="7183660" cy="786331"/>
            <a:chOff x="4504970" y="4404399"/>
            <a:chExt cx="7183660" cy="786331"/>
          </a:xfrm>
        </p:grpSpPr>
        <p:sp>
          <p:nvSpPr>
            <p:cNvPr id="21" name="Rectangle: Rounded Corners 20">
              <a:extLst>
                <a:ext uri="{FF2B5EF4-FFF2-40B4-BE49-F238E27FC236}">
                  <a16:creationId xmlns:a16="http://schemas.microsoft.com/office/drawing/2014/main" id="{8D2F8AF4-09E0-E060-365A-0AC9EA9DA233}"/>
                </a:ext>
              </a:extLst>
            </p:cNvPr>
            <p:cNvSpPr/>
            <p:nvPr/>
          </p:nvSpPr>
          <p:spPr>
            <a:xfrm>
              <a:off x="6385110" y="4404399"/>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2" name="Arrow: Pentagon 21">
              <a:extLst>
                <a:ext uri="{FF2B5EF4-FFF2-40B4-BE49-F238E27FC236}">
                  <a16:creationId xmlns:a16="http://schemas.microsoft.com/office/drawing/2014/main" id="{6221FEE2-453D-E16D-8616-55575415736D}"/>
                </a:ext>
              </a:extLst>
            </p:cNvPr>
            <p:cNvSpPr/>
            <p:nvPr/>
          </p:nvSpPr>
          <p:spPr>
            <a:xfrm>
              <a:off x="5012572" y="4404399"/>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TextBox 30">
              <a:extLst>
                <a:ext uri="{FF2B5EF4-FFF2-40B4-BE49-F238E27FC236}">
                  <a16:creationId xmlns:a16="http://schemas.microsoft.com/office/drawing/2014/main" id="{055C4042-92C8-7C8F-BB52-11E64B95346C}"/>
                </a:ext>
              </a:extLst>
            </p:cNvPr>
            <p:cNvSpPr txBox="1"/>
            <p:nvPr/>
          </p:nvSpPr>
          <p:spPr>
            <a:xfrm>
              <a:off x="5559244" y="4546180"/>
              <a:ext cx="1737360" cy="502769"/>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Marketing Journeys</a:t>
              </a:r>
              <a:endParaRPr lang="en-GB" sz="1600" kern="1200" dirty="0" err="1">
                <a:solidFill>
                  <a:schemeClr val="bg1"/>
                </a:solidFill>
                <a:latin typeface="+mn-lt"/>
                <a:ea typeface="ＭＳ Ｐゴシック" charset="0"/>
              </a:endParaRPr>
            </a:p>
          </p:txBody>
        </p:sp>
        <p:grpSp>
          <p:nvGrpSpPr>
            <p:cNvPr id="54" name="Group 53">
              <a:extLst>
                <a:ext uri="{FF2B5EF4-FFF2-40B4-BE49-F238E27FC236}">
                  <a16:creationId xmlns:a16="http://schemas.microsoft.com/office/drawing/2014/main" id="{C9E45C74-2106-9DFD-C4D7-E97C6C0D9B83}"/>
                </a:ext>
              </a:extLst>
            </p:cNvPr>
            <p:cNvGrpSpPr/>
            <p:nvPr/>
          </p:nvGrpSpPr>
          <p:grpSpPr>
            <a:xfrm>
              <a:off x="4504970" y="4404399"/>
              <a:ext cx="786332" cy="786331"/>
              <a:chOff x="4122653" y="4386771"/>
              <a:chExt cx="786332" cy="786331"/>
            </a:xfrm>
          </p:grpSpPr>
          <p:sp>
            <p:nvSpPr>
              <p:cNvPr id="23" name="Shape1_20250523_195849">
                <a:extLst>
                  <a:ext uri="{FF2B5EF4-FFF2-40B4-BE49-F238E27FC236}">
                    <a16:creationId xmlns:a16="http://schemas.microsoft.com/office/drawing/2014/main" id="{31B1CF74-B14F-DE66-6ECB-1EB96A7FF165}"/>
                  </a:ext>
                </a:extLst>
              </p:cNvPr>
              <p:cNvSpPr txBox="1">
                <a:spLocks noChangeAspect="1"/>
              </p:cNvSpPr>
              <p:nvPr>
                <p:custDataLst>
                  <p:tags r:id="rId5"/>
                </p:custDataLst>
              </p:nvPr>
            </p:nvSpPr>
            <p:spPr>
              <a:xfrm>
                <a:off x="4122653" y="438677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2" name="Graphic 41" descr="Playbook with solid fill">
                <a:extLst>
                  <a:ext uri="{FF2B5EF4-FFF2-40B4-BE49-F238E27FC236}">
                    <a16:creationId xmlns:a16="http://schemas.microsoft.com/office/drawing/2014/main" id="{174BA133-34C6-D7F9-563F-2FDCC53E73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41499" y="4505616"/>
                <a:ext cx="548640" cy="548640"/>
              </a:xfrm>
              <a:prstGeom prst="rect">
                <a:avLst/>
              </a:prstGeom>
            </p:spPr>
          </p:pic>
        </p:grpSp>
      </p:grpSp>
      <p:grpSp>
        <p:nvGrpSpPr>
          <p:cNvPr id="61" name="Group 60">
            <a:extLst>
              <a:ext uri="{FF2B5EF4-FFF2-40B4-BE49-F238E27FC236}">
                <a16:creationId xmlns:a16="http://schemas.microsoft.com/office/drawing/2014/main" id="{EFDDC7A7-33E5-1D91-8C49-2EC25921B155}"/>
              </a:ext>
            </a:extLst>
          </p:cNvPr>
          <p:cNvGrpSpPr/>
          <p:nvPr/>
        </p:nvGrpSpPr>
        <p:grpSpPr>
          <a:xfrm>
            <a:off x="4504970" y="1082293"/>
            <a:ext cx="7183660" cy="786331"/>
            <a:chOff x="4504970" y="1438647"/>
            <a:chExt cx="7183660" cy="786331"/>
          </a:xfrm>
        </p:grpSpPr>
        <p:sp>
          <p:nvSpPr>
            <p:cNvPr id="9" name="Rectangle: Rounded Corners 8">
              <a:extLst>
                <a:ext uri="{FF2B5EF4-FFF2-40B4-BE49-F238E27FC236}">
                  <a16:creationId xmlns:a16="http://schemas.microsoft.com/office/drawing/2014/main" id="{CE4E09D7-DC2E-8B6E-20A1-781BAD89EA21}"/>
                </a:ext>
              </a:extLst>
            </p:cNvPr>
            <p:cNvSpPr/>
            <p:nvPr/>
          </p:nvSpPr>
          <p:spPr>
            <a:xfrm>
              <a:off x="6385110" y="1438647"/>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8" name="Arrow: Pentagon 7">
              <a:extLst>
                <a:ext uri="{FF2B5EF4-FFF2-40B4-BE49-F238E27FC236}">
                  <a16:creationId xmlns:a16="http://schemas.microsoft.com/office/drawing/2014/main" id="{C78489B2-3EF2-0137-5B58-985F69CED2C0}"/>
                </a:ext>
              </a:extLst>
            </p:cNvPr>
            <p:cNvSpPr/>
            <p:nvPr/>
          </p:nvSpPr>
          <p:spPr>
            <a:xfrm>
              <a:off x="5012572" y="1438647"/>
              <a:ext cx="2334002" cy="786331"/>
            </a:xfrm>
            <a:prstGeom prst="homePlate">
              <a:avLst/>
            </a:prstGeom>
            <a:solidFill>
              <a:schemeClr val="tx2">
                <a:lumMod val="20000"/>
                <a:lumOff val="80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tx1">
                    <a:lumMod val="95000"/>
                  </a:schemeClr>
                </a:solidFill>
              </a:endParaRPr>
            </a:p>
          </p:txBody>
        </p:sp>
        <p:sp>
          <p:nvSpPr>
            <p:cNvPr id="28" name="TextBox 27">
              <a:extLst>
                <a:ext uri="{FF2B5EF4-FFF2-40B4-BE49-F238E27FC236}">
                  <a16:creationId xmlns:a16="http://schemas.microsoft.com/office/drawing/2014/main" id="{8EB3E9CC-28B6-2B3B-C94D-7781670721DE}"/>
                </a:ext>
              </a:extLst>
            </p:cNvPr>
            <p:cNvSpPr txBox="1"/>
            <p:nvPr/>
          </p:nvSpPr>
          <p:spPr>
            <a:xfrm>
              <a:off x="5559244" y="1683775"/>
              <a:ext cx="1737360" cy="29607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Lead Scoring</a:t>
              </a:r>
              <a:endParaRPr lang="en-GB" sz="1600" kern="1200" dirty="0" err="1">
                <a:solidFill>
                  <a:schemeClr val="bg1"/>
                </a:solidFill>
                <a:latin typeface="+mn-lt"/>
                <a:ea typeface="ＭＳ Ｐゴシック" charset="0"/>
              </a:endParaRPr>
            </a:p>
          </p:txBody>
        </p:sp>
        <p:grpSp>
          <p:nvGrpSpPr>
            <p:cNvPr id="51" name="Group 50">
              <a:extLst>
                <a:ext uri="{FF2B5EF4-FFF2-40B4-BE49-F238E27FC236}">
                  <a16:creationId xmlns:a16="http://schemas.microsoft.com/office/drawing/2014/main" id="{031AB112-F987-B385-ED96-BA965F5F3FA2}"/>
                </a:ext>
              </a:extLst>
            </p:cNvPr>
            <p:cNvGrpSpPr/>
            <p:nvPr/>
          </p:nvGrpSpPr>
          <p:grpSpPr>
            <a:xfrm>
              <a:off x="4504970" y="1438647"/>
              <a:ext cx="786332" cy="786331"/>
              <a:chOff x="4123829" y="1434346"/>
              <a:chExt cx="786332" cy="786331"/>
            </a:xfrm>
          </p:grpSpPr>
          <p:sp>
            <p:nvSpPr>
              <p:cNvPr id="3" name="Shape1_20250523_195849">
                <a:extLst>
                  <a:ext uri="{FF2B5EF4-FFF2-40B4-BE49-F238E27FC236}">
                    <a16:creationId xmlns:a16="http://schemas.microsoft.com/office/drawing/2014/main" id="{1D4AAE0B-AB84-B22C-2B09-41985947BA3B}"/>
                  </a:ext>
                </a:extLst>
              </p:cNvPr>
              <p:cNvSpPr txBox="1">
                <a:spLocks noChangeAspect="1"/>
              </p:cNvSpPr>
              <p:nvPr>
                <p:custDataLst>
                  <p:tags r:id="rId4"/>
                </p:custDataLst>
              </p:nvPr>
            </p:nvSpPr>
            <p:spPr>
              <a:xfrm>
                <a:off x="4123829" y="1434346"/>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50" name="Graphic 49" descr="Tally with solid fill">
                <a:extLst>
                  <a:ext uri="{FF2B5EF4-FFF2-40B4-BE49-F238E27FC236}">
                    <a16:creationId xmlns:a16="http://schemas.microsoft.com/office/drawing/2014/main" id="{6AE87D82-DEAE-F9F0-74B1-03EFCA766CA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42675" y="1553191"/>
                <a:ext cx="548640" cy="548640"/>
              </a:xfrm>
              <a:prstGeom prst="rect">
                <a:avLst/>
              </a:prstGeom>
            </p:spPr>
          </p:pic>
        </p:grpSp>
        <p:sp>
          <p:nvSpPr>
            <p:cNvPr id="56" name="TextBox 55">
              <a:extLst>
                <a:ext uri="{FF2B5EF4-FFF2-40B4-BE49-F238E27FC236}">
                  <a16:creationId xmlns:a16="http://schemas.microsoft.com/office/drawing/2014/main" id="{73381CB2-C7CB-0AD0-2004-DDD36711CC73}"/>
                </a:ext>
              </a:extLst>
            </p:cNvPr>
            <p:cNvSpPr txBox="1"/>
            <p:nvPr/>
          </p:nvSpPr>
          <p:spPr>
            <a:xfrm>
              <a:off x="7458632" y="1582552"/>
              <a:ext cx="4023360" cy="498520"/>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1200" dirty="0">
                  <a:solidFill>
                    <a:schemeClr val="bg1"/>
                  </a:solidFill>
                </a:rPr>
                <a:t>Bypasses the scoring model entirely if transactions lack a CCID, blocking vital last-touch details from sellers.</a:t>
              </a:r>
              <a:endParaRPr lang="en-GB" sz="1200" kern="1200" dirty="0">
                <a:solidFill>
                  <a:schemeClr val="bg1"/>
                </a:solidFill>
                <a:latin typeface="+mn-lt"/>
                <a:ea typeface="ＭＳ Ｐゴシック" charset="0"/>
              </a:endParaRPr>
            </a:p>
          </p:txBody>
        </p:sp>
      </p:grpSp>
      <p:grpSp>
        <p:nvGrpSpPr>
          <p:cNvPr id="62" name="Group 61">
            <a:extLst>
              <a:ext uri="{FF2B5EF4-FFF2-40B4-BE49-F238E27FC236}">
                <a16:creationId xmlns:a16="http://schemas.microsoft.com/office/drawing/2014/main" id="{0EFDFFB3-0FD7-9F92-29B6-5E282E69263F}"/>
              </a:ext>
            </a:extLst>
          </p:cNvPr>
          <p:cNvGrpSpPr/>
          <p:nvPr/>
        </p:nvGrpSpPr>
        <p:grpSpPr>
          <a:xfrm>
            <a:off x="4504970" y="2075585"/>
            <a:ext cx="7183660" cy="786331"/>
            <a:chOff x="4504970" y="2404478"/>
            <a:chExt cx="7183660" cy="786331"/>
          </a:xfrm>
        </p:grpSpPr>
        <p:sp>
          <p:nvSpPr>
            <p:cNvPr id="13" name="Rectangle: Rounded Corners 12">
              <a:extLst>
                <a:ext uri="{FF2B5EF4-FFF2-40B4-BE49-F238E27FC236}">
                  <a16:creationId xmlns:a16="http://schemas.microsoft.com/office/drawing/2014/main" id="{533C1131-C5FE-F5DA-87A8-80440DB9C507}"/>
                </a:ext>
              </a:extLst>
            </p:cNvPr>
            <p:cNvSpPr/>
            <p:nvPr/>
          </p:nvSpPr>
          <p:spPr>
            <a:xfrm>
              <a:off x="6385110" y="2404478"/>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Arrow: Pentagon 13">
              <a:extLst>
                <a:ext uri="{FF2B5EF4-FFF2-40B4-BE49-F238E27FC236}">
                  <a16:creationId xmlns:a16="http://schemas.microsoft.com/office/drawing/2014/main" id="{AD0D076A-E3FD-B975-6489-AA2DE5BC1F00}"/>
                </a:ext>
              </a:extLst>
            </p:cNvPr>
            <p:cNvSpPr/>
            <p:nvPr/>
          </p:nvSpPr>
          <p:spPr>
            <a:xfrm>
              <a:off x="5012572" y="2404478"/>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9" name="TextBox 28">
              <a:extLst>
                <a:ext uri="{FF2B5EF4-FFF2-40B4-BE49-F238E27FC236}">
                  <a16:creationId xmlns:a16="http://schemas.microsoft.com/office/drawing/2014/main" id="{F4776E3F-97C8-8B58-B8E5-6727FE95938A}"/>
                </a:ext>
              </a:extLst>
            </p:cNvPr>
            <p:cNvSpPr txBox="1"/>
            <p:nvPr/>
          </p:nvSpPr>
          <p:spPr>
            <a:xfrm>
              <a:off x="5559244" y="2649606"/>
              <a:ext cx="1737360" cy="29607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Lead Generation</a:t>
              </a:r>
              <a:endParaRPr lang="en-GB" sz="1600" kern="1200" dirty="0" err="1">
                <a:solidFill>
                  <a:schemeClr val="bg1"/>
                </a:solidFill>
                <a:latin typeface="+mn-lt"/>
                <a:ea typeface="ＭＳ Ｐゴシック" charset="0"/>
              </a:endParaRPr>
            </a:p>
          </p:txBody>
        </p:sp>
        <p:grpSp>
          <p:nvGrpSpPr>
            <p:cNvPr id="52" name="Group 51">
              <a:extLst>
                <a:ext uri="{FF2B5EF4-FFF2-40B4-BE49-F238E27FC236}">
                  <a16:creationId xmlns:a16="http://schemas.microsoft.com/office/drawing/2014/main" id="{A2ED9FD6-7EAB-EF1A-246C-5B762AFE7452}"/>
                </a:ext>
              </a:extLst>
            </p:cNvPr>
            <p:cNvGrpSpPr/>
            <p:nvPr/>
          </p:nvGrpSpPr>
          <p:grpSpPr>
            <a:xfrm>
              <a:off x="4504970" y="2404478"/>
              <a:ext cx="786332" cy="786331"/>
              <a:chOff x="4122653" y="2372981"/>
              <a:chExt cx="786332" cy="786331"/>
            </a:xfrm>
          </p:grpSpPr>
          <p:sp>
            <p:nvSpPr>
              <p:cNvPr id="15" name="Shape1_20250523_195849">
                <a:extLst>
                  <a:ext uri="{FF2B5EF4-FFF2-40B4-BE49-F238E27FC236}">
                    <a16:creationId xmlns:a16="http://schemas.microsoft.com/office/drawing/2014/main" id="{8D4C4D6E-0770-4CD4-B007-F199449EA089}"/>
                  </a:ext>
                </a:extLst>
              </p:cNvPr>
              <p:cNvSpPr txBox="1">
                <a:spLocks noChangeAspect="1"/>
              </p:cNvSpPr>
              <p:nvPr>
                <p:custDataLst>
                  <p:tags r:id="rId3"/>
                </p:custDataLst>
              </p:nvPr>
            </p:nvSpPr>
            <p:spPr>
              <a:xfrm>
                <a:off x="4122653" y="237298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6" name="Graphic 45" descr="Programmer female with solid fill">
                <a:extLst>
                  <a:ext uri="{FF2B5EF4-FFF2-40B4-BE49-F238E27FC236}">
                    <a16:creationId xmlns:a16="http://schemas.microsoft.com/office/drawing/2014/main" id="{D8FFAB8D-1699-010C-E1AC-66B0D8F2037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241499" y="2491826"/>
                <a:ext cx="548640" cy="548640"/>
              </a:xfrm>
              <a:prstGeom prst="rect">
                <a:avLst/>
              </a:prstGeom>
              <a:effectLst/>
            </p:spPr>
          </p:pic>
        </p:grpSp>
        <p:sp>
          <p:nvSpPr>
            <p:cNvPr id="57" name="TextBox 56">
              <a:extLst>
                <a:ext uri="{FF2B5EF4-FFF2-40B4-BE49-F238E27FC236}">
                  <a16:creationId xmlns:a16="http://schemas.microsoft.com/office/drawing/2014/main" id="{A681CF0C-3B08-93EA-710B-D999E0C83410}"/>
                </a:ext>
              </a:extLst>
            </p:cNvPr>
            <p:cNvSpPr txBox="1"/>
            <p:nvPr/>
          </p:nvSpPr>
          <p:spPr>
            <a:xfrm>
              <a:off x="7458632" y="2600397"/>
              <a:ext cx="4018432" cy="394493"/>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1200" dirty="0">
                  <a:solidFill>
                    <a:schemeClr val="bg1"/>
                  </a:solidFill>
                </a:rPr>
                <a:t>Enforced by system rules in SFDC; leads cannot be generated in the VDC without an active Activity ID.</a:t>
              </a:r>
              <a:endParaRPr lang="en-GB" sz="1200" kern="1200" dirty="0">
                <a:solidFill>
                  <a:schemeClr val="bg1"/>
                </a:solidFill>
                <a:latin typeface="+mn-lt"/>
                <a:ea typeface="ＭＳ Ｐゴシック" charset="0"/>
              </a:endParaRPr>
            </a:p>
          </p:txBody>
        </p:sp>
      </p:grpSp>
      <p:grpSp>
        <p:nvGrpSpPr>
          <p:cNvPr id="63" name="Group 62">
            <a:extLst>
              <a:ext uri="{FF2B5EF4-FFF2-40B4-BE49-F238E27FC236}">
                <a16:creationId xmlns:a16="http://schemas.microsoft.com/office/drawing/2014/main" id="{CAA8F769-013C-2403-6DD0-D254A98F555B}"/>
              </a:ext>
            </a:extLst>
          </p:cNvPr>
          <p:cNvGrpSpPr/>
          <p:nvPr/>
        </p:nvGrpSpPr>
        <p:grpSpPr>
          <a:xfrm>
            <a:off x="4504970" y="3068877"/>
            <a:ext cx="7183660" cy="786331"/>
            <a:chOff x="4504970" y="3412992"/>
            <a:chExt cx="7183660" cy="786331"/>
          </a:xfrm>
        </p:grpSpPr>
        <p:sp>
          <p:nvSpPr>
            <p:cNvPr id="17" name="Rectangle: Rounded Corners 16">
              <a:extLst>
                <a:ext uri="{FF2B5EF4-FFF2-40B4-BE49-F238E27FC236}">
                  <a16:creationId xmlns:a16="http://schemas.microsoft.com/office/drawing/2014/main" id="{B3056046-CA60-5264-B504-950DCDCB52D6}"/>
                </a:ext>
              </a:extLst>
            </p:cNvPr>
            <p:cNvSpPr/>
            <p:nvPr/>
          </p:nvSpPr>
          <p:spPr>
            <a:xfrm>
              <a:off x="6385110" y="3412992"/>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8" name="Arrow: Pentagon 17">
              <a:extLst>
                <a:ext uri="{FF2B5EF4-FFF2-40B4-BE49-F238E27FC236}">
                  <a16:creationId xmlns:a16="http://schemas.microsoft.com/office/drawing/2014/main" id="{EA580A6E-9C5B-0D99-5C07-D0FC601461EB}"/>
                </a:ext>
              </a:extLst>
            </p:cNvPr>
            <p:cNvSpPr/>
            <p:nvPr/>
          </p:nvSpPr>
          <p:spPr>
            <a:xfrm>
              <a:off x="5012572" y="3412992"/>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0" name="TextBox 29">
              <a:extLst>
                <a:ext uri="{FF2B5EF4-FFF2-40B4-BE49-F238E27FC236}">
                  <a16:creationId xmlns:a16="http://schemas.microsoft.com/office/drawing/2014/main" id="{3BB0145A-542D-51A9-B942-0A3EA0E3FBFD}"/>
                </a:ext>
              </a:extLst>
            </p:cNvPr>
            <p:cNvSpPr txBox="1"/>
            <p:nvPr/>
          </p:nvSpPr>
          <p:spPr>
            <a:xfrm>
              <a:off x="5559244" y="3535556"/>
              <a:ext cx="1737360" cy="54120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Program Alignment</a:t>
              </a:r>
              <a:endParaRPr lang="en-GB" sz="1600" kern="1200" dirty="0" err="1">
                <a:solidFill>
                  <a:schemeClr val="bg1"/>
                </a:solidFill>
                <a:latin typeface="+mn-lt"/>
                <a:ea typeface="ＭＳ Ｐゴシック" charset="0"/>
              </a:endParaRPr>
            </a:p>
          </p:txBody>
        </p:sp>
        <p:grpSp>
          <p:nvGrpSpPr>
            <p:cNvPr id="53" name="Group 52">
              <a:extLst>
                <a:ext uri="{FF2B5EF4-FFF2-40B4-BE49-F238E27FC236}">
                  <a16:creationId xmlns:a16="http://schemas.microsoft.com/office/drawing/2014/main" id="{6942F44A-A6BD-F588-AF6C-BF5237B99F35}"/>
                </a:ext>
              </a:extLst>
            </p:cNvPr>
            <p:cNvGrpSpPr/>
            <p:nvPr/>
          </p:nvGrpSpPr>
          <p:grpSpPr>
            <a:xfrm>
              <a:off x="4504970" y="3412992"/>
              <a:ext cx="786332" cy="786331"/>
              <a:chOff x="4145235" y="3396983"/>
              <a:chExt cx="786332" cy="786331"/>
            </a:xfrm>
          </p:grpSpPr>
          <p:sp>
            <p:nvSpPr>
              <p:cNvPr id="19" name="Shape1_20250523_195849">
                <a:extLst>
                  <a:ext uri="{FF2B5EF4-FFF2-40B4-BE49-F238E27FC236}">
                    <a16:creationId xmlns:a16="http://schemas.microsoft.com/office/drawing/2014/main" id="{9FCB5A31-3785-4F2A-937C-0AFDEB91CC45}"/>
                  </a:ext>
                </a:extLst>
              </p:cNvPr>
              <p:cNvSpPr txBox="1">
                <a:spLocks noChangeAspect="1"/>
              </p:cNvSpPr>
              <p:nvPr>
                <p:custDataLst>
                  <p:tags r:id="rId2"/>
                </p:custDataLst>
              </p:nvPr>
            </p:nvSpPr>
            <p:spPr>
              <a:xfrm>
                <a:off x="4145235" y="3396983"/>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4" name="Graphic 43" descr="Ethernet with solid fill">
                <a:extLst>
                  <a:ext uri="{FF2B5EF4-FFF2-40B4-BE49-F238E27FC236}">
                    <a16:creationId xmlns:a16="http://schemas.microsoft.com/office/drawing/2014/main" id="{D2CCC441-7C99-0D90-C108-704380FE59F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264081" y="3515828"/>
                <a:ext cx="548640" cy="548640"/>
              </a:xfrm>
              <a:prstGeom prst="rect">
                <a:avLst/>
              </a:prstGeom>
            </p:spPr>
          </p:pic>
        </p:grpSp>
        <p:sp>
          <p:nvSpPr>
            <p:cNvPr id="58" name="TextBox 57">
              <a:extLst>
                <a:ext uri="{FF2B5EF4-FFF2-40B4-BE49-F238E27FC236}">
                  <a16:creationId xmlns:a16="http://schemas.microsoft.com/office/drawing/2014/main" id="{EE4D6CED-6599-D5F5-F262-86A9A3A13CC8}"/>
                </a:ext>
              </a:extLst>
            </p:cNvPr>
            <p:cNvSpPr txBox="1"/>
            <p:nvPr/>
          </p:nvSpPr>
          <p:spPr>
            <a:xfrm>
              <a:off x="7458632" y="3517045"/>
              <a:ext cx="4018432" cy="578224"/>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dirty="0"/>
                <a:t>Unlocks the mandatory 80% campaign alignment target. Accreditation relies entirely on ID data attributes.</a:t>
              </a:r>
            </a:p>
          </p:txBody>
        </p:sp>
      </p:grpSp>
      <p:sp>
        <p:nvSpPr>
          <p:cNvPr id="59" name="TextBox 58">
            <a:extLst>
              <a:ext uri="{FF2B5EF4-FFF2-40B4-BE49-F238E27FC236}">
                <a16:creationId xmlns:a16="http://schemas.microsoft.com/office/drawing/2014/main" id="{D51B47CC-FE9E-F5A0-C5CB-124ED6672144}"/>
              </a:ext>
            </a:extLst>
          </p:cNvPr>
          <p:cNvSpPr txBox="1"/>
          <p:nvPr/>
        </p:nvSpPr>
        <p:spPr>
          <a:xfrm>
            <a:off x="7458632" y="4121592"/>
            <a:ext cx="4018432" cy="786331"/>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dirty="0"/>
              <a:t>Automatically routes contacts into structured, always-on campaigns or generic journeys using program metadata.</a:t>
            </a:r>
          </a:p>
        </p:txBody>
      </p:sp>
      <p:grpSp>
        <p:nvGrpSpPr>
          <p:cNvPr id="65" name="Group 64">
            <a:extLst>
              <a:ext uri="{FF2B5EF4-FFF2-40B4-BE49-F238E27FC236}">
                <a16:creationId xmlns:a16="http://schemas.microsoft.com/office/drawing/2014/main" id="{E5CE58D5-8E1D-4AB6-99F1-7568B59CDFCB}"/>
              </a:ext>
            </a:extLst>
          </p:cNvPr>
          <p:cNvGrpSpPr/>
          <p:nvPr/>
        </p:nvGrpSpPr>
        <p:grpSpPr>
          <a:xfrm>
            <a:off x="4504970" y="5055461"/>
            <a:ext cx="7183660" cy="786331"/>
            <a:chOff x="4504970" y="5411815"/>
            <a:chExt cx="7183660" cy="786331"/>
          </a:xfrm>
        </p:grpSpPr>
        <p:sp>
          <p:nvSpPr>
            <p:cNvPr id="25" name="Rectangle: Rounded Corners 24">
              <a:extLst>
                <a:ext uri="{FF2B5EF4-FFF2-40B4-BE49-F238E27FC236}">
                  <a16:creationId xmlns:a16="http://schemas.microsoft.com/office/drawing/2014/main" id="{D9C003E3-76DB-012B-A1D6-3A23F2AE1EB8}"/>
                </a:ext>
              </a:extLst>
            </p:cNvPr>
            <p:cNvSpPr/>
            <p:nvPr/>
          </p:nvSpPr>
          <p:spPr>
            <a:xfrm>
              <a:off x="6385110" y="5411815"/>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Arrow: Pentagon 25">
              <a:extLst>
                <a:ext uri="{FF2B5EF4-FFF2-40B4-BE49-F238E27FC236}">
                  <a16:creationId xmlns:a16="http://schemas.microsoft.com/office/drawing/2014/main" id="{7496B746-760D-ABDF-790E-4FEAE0C55051}"/>
                </a:ext>
              </a:extLst>
            </p:cNvPr>
            <p:cNvSpPr/>
            <p:nvPr/>
          </p:nvSpPr>
          <p:spPr>
            <a:xfrm>
              <a:off x="5012572" y="5411815"/>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6297C681-BAF3-C130-3573-561A57CC468D}"/>
                </a:ext>
              </a:extLst>
            </p:cNvPr>
            <p:cNvSpPr txBox="1"/>
            <p:nvPr/>
          </p:nvSpPr>
          <p:spPr>
            <a:xfrm>
              <a:off x="5559244" y="5656943"/>
              <a:ext cx="1737360" cy="29607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Reporting</a:t>
              </a:r>
              <a:endParaRPr lang="en-GB" sz="1600" kern="1200" dirty="0" err="1">
                <a:solidFill>
                  <a:schemeClr val="bg1"/>
                </a:solidFill>
                <a:latin typeface="+mn-lt"/>
                <a:ea typeface="ＭＳ Ｐゴシック" charset="0"/>
              </a:endParaRPr>
            </a:p>
          </p:txBody>
        </p:sp>
        <p:grpSp>
          <p:nvGrpSpPr>
            <p:cNvPr id="55" name="Group 54">
              <a:extLst>
                <a:ext uri="{FF2B5EF4-FFF2-40B4-BE49-F238E27FC236}">
                  <a16:creationId xmlns:a16="http://schemas.microsoft.com/office/drawing/2014/main" id="{95D02743-8427-0F05-9395-CC7E3F948471}"/>
                </a:ext>
              </a:extLst>
            </p:cNvPr>
            <p:cNvGrpSpPr/>
            <p:nvPr/>
          </p:nvGrpSpPr>
          <p:grpSpPr>
            <a:xfrm>
              <a:off x="4504970" y="5411815"/>
              <a:ext cx="786332" cy="786331"/>
              <a:chOff x="4174579" y="5408577"/>
              <a:chExt cx="786332" cy="786331"/>
            </a:xfrm>
          </p:grpSpPr>
          <p:sp>
            <p:nvSpPr>
              <p:cNvPr id="27" name="Shape1_20250523_195849">
                <a:extLst>
                  <a:ext uri="{FF2B5EF4-FFF2-40B4-BE49-F238E27FC236}">
                    <a16:creationId xmlns:a16="http://schemas.microsoft.com/office/drawing/2014/main" id="{2E91409C-898C-2DE1-F050-C1D7B30AF707}"/>
                  </a:ext>
                </a:extLst>
              </p:cNvPr>
              <p:cNvSpPr txBox="1">
                <a:spLocks noChangeAspect="1"/>
              </p:cNvSpPr>
              <p:nvPr>
                <p:custDataLst>
                  <p:tags r:id="rId1"/>
                </p:custDataLst>
              </p:nvPr>
            </p:nvSpPr>
            <p:spPr>
              <a:xfrm>
                <a:off x="4174579" y="540857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0" name="Graphic 39" descr="Document with solid fill">
                <a:extLst>
                  <a:ext uri="{FF2B5EF4-FFF2-40B4-BE49-F238E27FC236}">
                    <a16:creationId xmlns:a16="http://schemas.microsoft.com/office/drawing/2014/main" id="{10799A40-B5FE-BF7A-97C8-19123B82419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293425" y="5527422"/>
                <a:ext cx="548640" cy="548640"/>
              </a:xfrm>
              <a:prstGeom prst="rect">
                <a:avLst/>
              </a:prstGeom>
            </p:spPr>
          </p:pic>
        </p:grpSp>
        <p:sp>
          <p:nvSpPr>
            <p:cNvPr id="60" name="TextBox 59">
              <a:extLst>
                <a:ext uri="{FF2B5EF4-FFF2-40B4-BE49-F238E27FC236}">
                  <a16:creationId xmlns:a16="http://schemas.microsoft.com/office/drawing/2014/main" id="{BB03FB54-F413-123A-5259-96CD54D015D5}"/>
                </a:ext>
              </a:extLst>
            </p:cNvPr>
            <p:cNvSpPr txBox="1"/>
            <p:nvPr/>
          </p:nvSpPr>
          <p:spPr>
            <a:xfrm>
              <a:off x="7458632" y="5530660"/>
              <a:ext cx="4018432" cy="54864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dirty="0"/>
                <a:t>Feeds full-funnel pipeline reporting and fractional attribution models to evaluate real-world ROI.</a:t>
              </a:r>
            </a:p>
          </p:txBody>
        </p:sp>
      </p:grpSp>
      <p:cxnSp>
        <p:nvCxnSpPr>
          <p:cNvPr id="66" name="Straight Connector 65">
            <a:extLst>
              <a:ext uri="{FF2B5EF4-FFF2-40B4-BE49-F238E27FC236}">
                <a16:creationId xmlns:a16="http://schemas.microsoft.com/office/drawing/2014/main" id="{8A088CC1-EBBF-1172-8600-98F8B791B0E7}"/>
              </a:ext>
            </a:extLst>
          </p:cNvPr>
          <p:cNvCxnSpPr>
            <a:cxnSpLocks/>
          </p:cNvCxnSpPr>
          <p:nvPr/>
        </p:nvCxnSpPr>
        <p:spPr>
          <a:xfrm>
            <a:off x="4223792" y="868680"/>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591318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3B51-5ABF-5E58-FB8A-2DC0476BDCDC}"/>
              </a:ext>
            </a:extLst>
          </p:cNvPr>
          <p:cNvSpPr>
            <a:spLocks noGrp="1"/>
          </p:cNvSpPr>
          <p:nvPr>
            <p:ph type="title"/>
          </p:nvPr>
        </p:nvSpPr>
        <p:spPr/>
        <p:txBody>
          <a:bodyPr/>
          <a:lstStyle/>
          <a:p>
            <a:r>
              <a:rPr lang="en-US" dirty="0"/>
              <a:t>Structure of an Activity ID</a:t>
            </a:r>
            <a:endParaRPr lang="en-GB" dirty="0"/>
          </a:p>
        </p:txBody>
      </p:sp>
      <p:grpSp>
        <p:nvGrpSpPr>
          <p:cNvPr id="62" name="Group 61">
            <a:extLst>
              <a:ext uri="{FF2B5EF4-FFF2-40B4-BE49-F238E27FC236}">
                <a16:creationId xmlns:a16="http://schemas.microsoft.com/office/drawing/2014/main" id="{02AC9969-2FA3-207D-3050-4C92FF34680E}"/>
              </a:ext>
            </a:extLst>
          </p:cNvPr>
          <p:cNvGrpSpPr/>
          <p:nvPr/>
        </p:nvGrpSpPr>
        <p:grpSpPr>
          <a:xfrm>
            <a:off x="502848" y="2089658"/>
            <a:ext cx="5706660" cy="2998635"/>
            <a:chOff x="1510553" y="1337709"/>
            <a:chExt cx="8317692" cy="4370634"/>
          </a:xfrm>
        </p:grpSpPr>
        <p:grpSp>
          <p:nvGrpSpPr>
            <p:cNvPr id="45" name="Group 44">
              <a:extLst>
                <a:ext uri="{FF2B5EF4-FFF2-40B4-BE49-F238E27FC236}">
                  <a16:creationId xmlns:a16="http://schemas.microsoft.com/office/drawing/2014/main" id="{0564C304-BE05-5EB2-BFA1-7E30BBAFEBF8}"/>
                </a:ext>
              </a:extLst>
            </p:cNvPr>
            <p:cNvGrpSpPr/>
            <p:nvPr/>
          </p:nvGrpSpPr>
          <p:grpSpPr>
            <a:xfrm>
              <a:off x="4772406" y="4343023"/>
              <a:ext cx="2056738" cy="1213505"/>
              <a:chOff x="5225124" y="4067734"/>
              <a:chExt cx="2267712" cy="1337983"/>
            </a:xfrm>
          </p:grpSpPr>
          <p:grpSp>
            <p:nvGrpSpPr>
              <p:cNvPr id="8" name="Group 7">
                <a:extLst>
                  <a:ext uri="{FF2B5EF4-FFF2-40B4-BE49-F238E27FC236}">
                    <a16:creationId xmlns:a16="http://schemas.microsoft.com/office/drawing/2014/main" id="{2C748C6C-59C2-B74E-6372-A6F05AA99859}"/>
                  </a:ext>
                </a:extLst>
              </p:cNvPr>
              <p:cNvGrpSpPr/>
              <p:nvPr/>
            </p:nvGrpSpPr>
            <p:grpSpPr>
              <a:xfrm>
                <a:off x="5225124" y="4067734"/>
                <a:ext cx="2267712" cy="1337983"/>
                <a:chOff x="2521324" y="4067735"/>
                <a:chExt cx="2267712" cy="1337983"/>
              </a:xfrm>
            </p:grpSpPr>
            <p:sp>
              <p:nvSpPr>
                <p:cNvPr id="9" name="Rectangle: Rounded Corners 8">
                  <a:extLst>
                    <a:ext uri="{FF2B5EF4-FFF2-40B4-BE49-F238E27FC236}">
                      <a16:creationId xmlns:a16="http://schemas.microsoft.com/office/drawing/2014/main" id="{E00B5DB9-86A1-D615-25DB-3E8AC58DFDB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0" name="Straight Connector 9">
                  <a:extLst>
                    <a:ext uri="{FF2B5EF4-FFF2-40B4-BE49-F238E27FC236}">
                      <a16:creationId xmlns:a16="http://schemas.microsoft.com/office/drawing/2014/main" id="{A36173C6-F967-A10F-9E1E-D77E143E4DD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 name="TextBox 10">
                  <a:extLst>
                    <a:ext uri="{FF2B5EF4-FFF2-40B4-BE49-F238E27FC236}">
                      <a16:creationId xmlns:a16="http://schemas.microsoft.com/office/drawing/2014/main" id="{B6874433-55AF-9217-50E5-31F0F356BD5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12" name="TextBox 11">
                  <a:extLst>
                    <a:ext uri="{FF2B5EF4-FFF2-40B4-BE49-F238E27FC236}">
                      <a16:creationId xmlns:a16="http://schemas.microsoft.com/office/drawing/2014/main" id="{670CDEE5-B956-6C04-9497-0442A2E6AEBE}"/>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Mid Market Networking</a:t>
                  </a:r>
                  <a:endParaRPr lang="en-GB" sz="1000" kern="1200" dirty="0" err="1">
                    <a:solidFill>
                      <a:schemeClr val="bg1"/>
                    </a:solidFill>
                    <a:latin typeface="+mn-lt"/>
                    <a:ea typeface="ＭＳ Ｐゴシック" charset="0"/>
                  </a:endParaRPr>
                </a:p>
              </p:txBody>
            </p:sp>
          </p:grpSp>
          <p:pic>
            <p:nvPicPr>
              <p:cNvPr id="39" name="Graphic 38" descr="Processor with solid fill">
                <a:extLst>
                  <a:ext uri="{FF2B5EF4-FFF2-40B4-BE49-F238E27FC236}">
                    <a16:creationId xmlns:a16="http://schemas.microsoft.com/office/drawing/2014/main" id="{E31FC2C7-ED93-AD32-3598-538DC14A63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71355" y="4079929"/>
                <a:ext cx="400110" cy="400110"/>
              </a:xfrm>
              <a:prstGeom prst="rect">
                <a:avLst/>
              </a:prstGeom>
            </p:spPr>
          </p:pic>
        </p:grpSp>
        <p:grpSp>
          <p:nvGrpSpPr>
            <p:cNvPr id="44" name="Group 43">
              <a:extLst>
                <a:ext uri="{FF2B5EF4-FFF2-40B4-BE49-F238E27FC236}">
                  <a16:creationId xmlns:a16="http://schemas.microsoft.com/office/drawing/2014/main" id="{CF5349D9-53F4-DB5D-9821-0F76BF6A7517}"/>
                </a:ext>
              </a:extLst>
            </p:cNvPr>
            <p:cNvGrpSpPr/>
            <p:nvPr/>
          </p:nvGrpSpPr>
          <p:grpSpPr>
            <a:xfrm>
              <a:off x="7476206" y="4343023"/>
              <a:ext cx="2056738" cy="1213505"/>
              <a:chOff x="7928924" y="4067733"/>
              <a:chExt cx="2267712" cy="1337983"/>
            </a:xfrm>
          </p:grpSpPr>
          <p:grpSp>
            <p:nvGrpSpPr>
              <p:cNvPr id="13" name="Group 12">
                <a:extLst>
                  <a:ext uri="{FF2B5EF4-FFF2-40B4-BE49-F238E27FC236}">
                    <a16:creationId xmlns:a16="http://schemas.microsoft.com/office/drawing/2014/main" id="{792FD355-4549-26AC-8721-260A1578939B}"/>
                  </a:ext>
                </a:extLst>
              </p:cNvPr>
              <p:cNvGrpSpPr/>
              <p:nvPr/>
            </p:nvGrpSpPr>
            <p:grpSpPr>
              <a:xfrm>
                <a:off x="7928924" y="4067733"/>
                <a:ext cx="2267712" cy="1337983"/>
                <a:chOff x="2521324" y="4067735"/>
                <a:chExt cx="2267712" cy="1337983"/>
              </a:xfrm>
            </p:grpSpPr>
            <p:sp>
              <p:nvSpPr>
                <p:cNvPr id="14" name="Rectangle: Rounded Corners 13">
                  <a:extLst>
                    <a:ext uri="{FF2B5EF4-FFF2-40B4-BE49-F238E27FC236}">
                      <a16:creationId xmlns:a16="http://schemas.microsoft.com/office/drawing/2014/main" id="{1386BAE0-00EA-0FE3-95AE-43C5EDACD7D0}"/>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5" name="Straight Connector 14">
                  <a:extLst>
                    <a:ext uri="{FF2B5EF4-FFF2-40B4-BE49-F238E27FC236}">
                      <a16:creationId xmlns:a16="http://schemas.microsoft.com/office/drawing/2014/main" id="{92A82F3A-EDFF-D3FD-7E5C-AF7F1E51E6B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C47E3910-9A92-D8E5-F66A-F3777EDA5E92}"/>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17" name="TextBox 16">
                  <a:extLst>
                    <a:ext uri="{FF2B5EF4-FFF2-40B4-BE49-F238E27FC236}">
                      <a16:creationId xmlns:a16="http://schemas.microsoft.com/office/drawing/2014/main" id="{11A2B7D4-F1B1-109B-E75D-5AAC0BD5630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41" name="Graphic 40" descr="Circles with arrows with solid fill">
                <a:extLst>
                  <a:ext uri="{FF2B5EF4-FFF2-40B4-BE49-F238E27FC236}">
                    <a16:creationId xmlns:a16="http://schemas.microsoft.com/office/drawing/2014/main" id="{ECDE1571-F0AD-0149-4AFB-67C18DBB62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0955" y="4079928"/>
                <a:ext cx="400110" cy="400110"/>
              </a:xfrm>
              <a:prstGeom prst="rect">
                <a:avLst/>
              </a:prstGeom>
            </p:spPr>
          </p:pic>
        </p:grpSp>
        <p:grpSp>
          <p:nvGrpSpPr>
            <p:cNvPr id="46" name="Group 45">
              <a:extLst>
                <a:ext uri="{FF2B5EF4-FFF2-40B4-BE49-F238E27FC236}">
                  <a16:creationId xmlns:a16="http://schemas.microsoft.com/office/drawing/2014/main" id="{0C61B11B-ECCA-394A-0AB8-56BA652E8F35}"/>
                </a:ext>
              </a:extLst>
            </p:cNvPr>
            <p:cNvGrpSpPr/>
            <p:nvPr/>
          </p:nvGrpSpPr>
          <p:grpSpPr>
            <a:xfrm>
              <a:off x="2068606" y="4336499"/>
              <a:ext cx="2056738" cy="1225339"/>
              <a:chOff x="2521324" y="4054687"/>
              <a:chExt cx="2267712" cy="1351031"/>
            </a:xfrm>
          </p:grpSpPr>
          <p:grpSp>
            <p:nvGrpSpPr>
              <p:cNvPr id="7" name="Group 6">
                <a:extLst>
                  <a:ext uri="{FF2B5EF4-FFF2-40B4-BE49-F238E27FC236}">
                    <a16:creationId xmlns:a16="http://schemas.microsoft.com/office/drawing/2014/main" id="{638C6DFC-3914-3143-1B94-BD43FE5D49D8}"/>
                  </a:ext>
                </a:extLst>
              </p:cNvPr>
              <p:cNvGrpSpPr/>
              <p:nvPr/>
            </p:nvGrpSpPr>
            <p:grpSpPr>
              <a:xfrm>
                <a:off x="2521324" y="4067735"/>
                <a:ext cx="2267712" cy="1337983"/>
                <a:chOff x="2521324" y="4067735"/>
                <a:chExt cx="2267712" cy="1337983"/>
              </a:xfrm>
            </p:grpSpPr>
            <p:sp>
              <p:nvSpPr>
                <p:cNvPr id="3" name="Rectangle: Rounded Corners 2">
                  <a:extLst>
                    <a:ext uri="{FF2B5EF4-FFF2-40B4-BE49-F238E27FC236}">
                      <a16:creationId xmlns:a16="http://schemas.microsoft.com/office/drawing/2014/main" id="{25671DA9-70C5-1A18-ED2F-D3C13504D790}"/>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 name="Straight Connector 3">
                  <a:extLst>
                    <a:ext uri="{FF2B5EF4-FFF2-40B4-BE49-F238E27FC236}">
                      <a16:creationId xmlns:a16="http://schemas.microsoft.com/office/drawing/2014/main" id="{E8DC1658-7DF1-6292-1258-0EC878A0A123}"/>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 name="TextBox 4">
                  <a:extLst>
                    <a:ext uri="{FF2B5EF4-FFF2-40B4-BE49-F238E27FC236}">
                      <a16:creationId xmlns:a16="http://schemas.microsoft.com/office/drawing/2014/main" id="{9E1CAE67-B398-20DA-72BA-FCDE49E507F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6" name="TextBox 5">
                  <a:extLst>
                    <a:ext uri="{FF2B5EF4-FFF2-40B4-BE49-F238E27FC236}">
                      <a16:creationId xmlns:a16="http://schemas.microsoft.com/office/drawing/2014/main" id="{5364A726-753E-B873-6416-27E3A5AB348E}"/>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43" name="Graphic 42" descr="Cycle with people with solid fill">
                <a:extLst>
                  <a:ext uri="{FF2B5EF4-FFF2-40B4-BE49-F238E27FC236}">
                    <a16:creationId xmlns:a16="http://schemas.microsoft.com/office/drawing/2014/main" id="{E7EFB222-9BDE-B2E3-2078-29F18E95B5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6830" y="4054687"/>
                <a:ext cx="400110" cy="400110"/>
              </a:xfrm>
              <a:prstGeom prst="rect">
                <a:avLst/>
              </a:prstGeom>
            </p:spPr>
          </p:pic>
        </p:grpSp>
        <p:sp>
          <p:nvSpPr>
            <p:cNvPr id="47" name="TextBox 46">
              <a:extLst>
                <a:ext uri="{FF2B5EF4-FFF2-40B4-BE49-F238E27FC236}">
                  <a16:creationId xmlns:a16="http://schemas.microsoft.com/office/drawing/2014/main" id="{2AAE0072-E511-C087-524C-87554ED308E1}"/>
                </a:ext>
              </a:extLst>
            </p:cNvPr>
            <p:cNvSpPr txBox="1"/>
            <p:nvPr/>
          </p:nvSpPr>
          <p:spPr>
            <a:xfrm>
              <a:off x="1661662" y="2280238"/>
              <a:ext cx="8015472" cy="2037946"/>
            </a:xfrm>
            <a:prstGeom prst="rect">
              <a:avLst/>
            </a:prstGeom>
            <a:noFill/>
          </p:spPr>
          <p:txBody>
            <a:bodyPr wrap="square" lIns="0" tIns="0" rIns="0" bIns="0" rtlCol="0">
              <a:noAutofit/>
            </a:bodyPr>
            <a:lstStyle/>
            <a:p>
              <a:pPr defTabSz="912276" fontAlgn="base">
                <a:buClr>
                  <a:schemeClr val="bg1"/>
                </a:buClr>
                <a:buSzPct val="100000"/>
              </a:pPr>
              <a:r>
                <a:rPr lang="en-US" sz="10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1000" dirty="0">
                  <a:solidFill>
                    <a:schemeClr val="accent2"/>
                  </a:solidFill>
                </a:rPr>
                <a:t>Drive engagement and pipeline growth in EMEA Band A mid-market segment relating to Zero Trust Access</a:t>
              </a:r>
            </a:p>
            <a:p>
              <a:pPr defTabSz="912276" fontAlgn="base">
                <a:buClr>
                  <a:schemeClr val="bg1"/>
                </a:buClr>
                <a:buSzPct val="100000"/>
              </a:pPr>
              <a:r>
                <a:rPr lang="en-GB" sz="10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1000" dirty="0">
                  <a:solidFill>
                    <a:schemeClr val="accent2"/>
                  </a:solidFill>
                </a:rPr>
                <a:t>Drive targeted engagement and accelerate pipeline growth within the EMEA Band A mid-market segment. By focusing specifically on Zero Trust Access solutions, the initiative addresses critical security needs for growing organizations across the region. Ultimately, it establishes a strategic framework to capture market share and nurture high-value prospects through dedicated security messaging</a:t>
              </a:r>
            </a:p>
          </p:txBody>
        </p:sp>
        <p:sp>
          <p:nvSpPr>
            <p:cNvPr id="59" name="Freeform: Shape 58">
              <a:extLst>
                <a:ext uri="{FF2B5EF4-FFF2-40B4-BE49-F238E27FC236}">
                  <a16:creationId xmlns:a16="http://schemas.microsoft.com/office/drawing/2014/main" id="{A3B64A03-501B-2D88-DB8F-5B169C75FC7E}"/>
                </a:ext>
              </a:extLst>
            </p:cNvPr>
            <p:cNvSpPr/>
            <p:nvPr/>
          </p:nvSpPr>
          <p:spPr>
            <a:xfrm>
              <a:off x="1510553" y="1773410"/>
              <a:ext cx="8317692" cy="3934933"/>
            </a:xfrm>
            <a:custGeom>
              <a:avLst/>
              <a:gdLst>
                <a:gd name="csX0" fmla="*/ 319709 w 9170894"/>
                <a:gd name="csY0" fmla="*/ 0 h 4338566"/>
                <a:gd name="csX1" fmla="*/ 683559 w 9170894"/>
                <a:gd name="csY1" fmla="*/ 0 h 4338566"/>
                <a:gd name="csX2" fmla="*/ 683559 w 9170894"/>
                <a:gd name="csY2" fmla="*/ 319022 h 4338566"/>
                <a:gd name="csX3" fmla="*/ 835458 w 9170894"/>
                <a:gd name="csY3" fmla="*/ 470921 h 4338566"/>
                <a:gd name="csX4" fmla="*/ 7250706 w 9170894"/>
                <a:gd name="csY4" fmla="*/ 470921 h 4338566"/>
                <a:gd name="csX5" fmla="*/ 7402605 w 9170894"/>
                <a:gd name="csY5" fmla="*/ 319022 h 4338566"/>
                <a:gd name="csX6" fmla="*/ 7402605 w 9170894"/>
                <a:gd name="csY6" fmla="*/ 0 h 4338566"/>
                <a:gd name="csX7" fmla="*/ 8851185 w 9170894"/>
                <a:gd name="csY7" fmla="*/ 0 h 4338566"/>
                <a:gd name="csX8" fmla="*/ 9170894 w 9170894"/>
                <a:gd name="csY8" fmla="*/ 319709 h 4338566"/>
                <a:gd name="csX9" fmla="*/ 9170894 w 9170894"/>
                <a:gd name="csY9" fmla="*/ 4018857 h 4338566"/>
                <a:gd name="csX10" fmla="*/ 8851185 w 9170894"/>
                <a:gd name="csY10" fmla="*/ 4338566 h 4338566"/>
                <a:gd name="csX11" fmla="*/ 319709 w 9170894"/>
                <a:gd name="csY11" fmla="*/ 4338566 h 4338566"/>
                <a:gd name="csX12" fmla="*/ 0 w 9170894"/>
                <a:gd name="csY12" fmla="*/ 4018857 h 4338566"/>
                <a:gd name="csX13" fmla="*/ 0 w 9170894"/>
                <a:gd name="csY13" fmla="*/ 319709 h 4338566"/>
                <a:gd name="csX14" fmla="*/ 319709 w 9170894"/>
                <a:gd name="csY14" fmla="*/ 0 h 43385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170894" h="4338566">
                  <a:moveTo>
                    <a:pt x="319709" y="0"/>
                  </a:moveTo>
                  <a:lnTo>
                    <a:pt x="683559" y="0"/>
                  </a:lnTo>
                  <a:lnTo>
                    <a:pt x="683559" y="319022"/>
                  </a:lnTo>
                  <a:cubicBezTo>
                    <a:pt x="683559" y="402914"/>
                    <a:pt x="751566" y="470921"/>
                    <a:pt x="835458" y="470921"/>
                  </a:cubicBezTo>
                  <a:lnTo>
                    <a:pt x="7250706" y="470921"/>
                  </a:lnTo>
                  <a:cubicBezTo>
                    <a:pt x="7334598" y="470921"/>
                    <a:pt x="7402605" y="402914"/>
                    <a:pt x="7402605" y="319022"/>
                  </a:cubicBezTo>
                  <a:lnTo>
                    <a:pt x="7402605" y="0"/>
                  </a:lnTo>
                  <a:lnTo>
                    <a:pt x="8851185" y="0"/>
                  </a:lnTo>
                  <a:cubicBezTo>
                    <a:pt x="9027755" y="0"/>
                    <a:pt x="9170894" y="143139"/>
                    <a:pt x="9170894" y="319709"/>
                  </a:cubicBezTo>
                  <a:lnTo>
                    <a:pt x="9170894" y="4018857"/>
                  </a:lnTo>
                  <a:cubicBezTo>
                    <a:pt x="9170894" y="4195427"/>
                    <a:pt x="9027755" y="4338566"/>
                    <a:pt x="8851185" y="4338566"/>
                  </a:cubicBezTo>
                  <a:lnTo>
                    <a:pt x="319709" y="4338566"/>
                  </a:lnTo>
                  <a:cubicBezTo>
                    <a:pt x="143139" y="4338566"/>
                    <a:pt x="0" y="4195427"/>
                    <a:pt x="0" y="4018857"/>
                  </a:cubicBezTo>
                  <a:lnTo>
                    <a:pt x="0" y="319709"/>
                  </a:lnTo>
                  <a:cubicBezTo>
                    <a:pt x="0" y="143139"/>
                    <a:pt x="143139" y="0"/>
                    <a:pt x="319709"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60" name="Group 59">
              <a:extLst>
                <a:ext uri="{FF2B5EF4-FFF2-40B4-BE49-F238E27FC236}">
                  <a16:creationId xmlns:a16="http://schemas.microsoft.com/office/drawing/2014/main" id="{4609A97C-741F-29C6-1ED4-064318B9B0ED}"/>
                </a:ext>
              </a:extLst>
            </p:cNvPr>
            <p:cNvGrpSpPr/>
            <p:nvPr/>
          </p:nvGrpSpPr>
          <p:grpSpPr>
            <a:xfrm>
              <a:off x="2122658" y="1337709"/>
              <a:ext cx="6093948" cy="863285"/>
              <a:chOff x="2568046" y="900391"/>
              <a:chExt cx="6719046" cy="951838"/>
            </a:xfrm>
          </p:grpSpPr>
          <p:sp>
            <p:nvSpPr>
              <p:cNvPr id="58" name="Rectangle: Rounded Corners 57">
                <a:extLst>
                  <a:ext uri="{FF2B5EF4-FFF2-40B4-BE49-F238E27FC236}">
                    <a16:creationId xmlns:a16="http://schemas.microsoft.com/office/drawing/2014/main" id="{32FD235F-C4B1-A996-02CB-9222599EC04F}"/>
                  </a:ext>
                </a:extLst>
              </p:cNvPr>
              <p:cNvSpPr/>
              <p:nvPr/>
            </p:nvSpPr>
            <p:spPr>
              <a:xfrm>
                <a:off x="2568046" y="940853"/>
                <a:ext cx="6719046" cy="911376"/>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56" name="Graphic 55" descr="Mandala with solid fill">
                <a:extLst>
                  <a:ext uri="{FF2B5EF4-FFF2-40B4-BE49-F238E27FC236}">
                    <a16:creationId xmlns:a16="http://schemas.microsoft.com/office/drawing/2014/main" id="{83D52CDA-9D23-5167-371A-31D8C9A055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26124" y="900391"/>
                <a:ext cx="914400" cy="914400"/>
              </a:xfrm>
              <a:prstGeom prst="rect">
                <a:avLst/>
              </a:prstGeom>
            </p:spPr>
          </p:pic>
          <p:sp>
            <p:nvSpPr>
              <p:cNvPr id="57" name="TextBox 56">
                <a:extLst>
                  <a:ext uri="{FF2B5EF4-FFF2-40B4-BE49-F238E27FC236}">
                    <a16:creationId xmlns:a16="http://schemas.microsoft.com/office/drawing/2014/main" id="{DCB1752F-12E3-5E52-2950-D66999B0950F}"/>
                  </a:ext>
                </a:extLst>
              </p:cNvPr>
              <p:cNvSpPr txBox="1"/>
              <p:nvPr/>
            </p:nvSpPr>
            <p:spPr>
              <a:xfrm>
                <a:off x="3980329" y="1058663"/>
                <a:ext cx="3745006" cy="597856"/>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cc010898</a:t>
                </a:r>
                <a:endParaRPr lang="en-GB" sz="2400" kern="1200" dirty="0" err="1">
                  <a:solidFill>
                    <a:schemeClr val="bg1"/>
                  </a:solidFill>
                  <a:latin typeface="+mn-lt"/>
                  <a:ea typeface="ＭＳ Ｐゴシック" charset="0"/>
                </a:endParaRPr>
              </a:p>
            </p:txBody>
          </p:sp>
        </p:grpSp>
      </p:grpSp>
      <p:cxnSp>
        <p:nvCxnSpPr>
          <p:cNvPr id="102" name="Straight Connector 101">
            <a:extLst>
              <a:ext uri="{FF2B5EF4-FFF2-40B4-BE49-F238E27FC236}">
                <a16:creationId xmlns:a16="http://schemas.microsoft.com/office/drawing/2014/main" id="{4D2D8CFF-6D9E-939E-4DCB-7B2E16EAFD70}"/>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131" name="Group 130">
            <a:extLst>
              <a:ext uri="{FF2B5EF4-FFF2-40B4-BE49-F238E27FC236}">
                <a16:creationId xmlns:a16="http://schemas.microsoft.com/office/drawing/2014/main" id="{CE35D0A7-C53D-85A2-0F22-EBF791457548}"/>
              </a:ext>
            </a:extLst>
          </p:cNvPr>
          <p:cNvGrpSpPr/>
          <p:nvPr/>
        </p:nvGrpSpPr>
        <p:grpSpPr>
          <a:xfrm>
            <a:off x="6689663" y="1277027"/>
            <a:ext cx="5179799" cy="529877"/>
            <a:chOff x="6689663" y="2085046"/>
            <a:chExt cx="5179799" cy="529877"/>
          </a:xfrm>
        </p:grpSpPr>
        <p:sp>
          <p:nvSpPr>
            <p:cNvPr id="104" name="Rectangle: Rounded Corners 103">
              <a:extLst>
                <a:ext uri="{FF2B5EF4-FFF2-40B4-BE49-F238E27FC236}">
                  <a16:creationId xmlns:a16="http://schemas.microsoft.com/office/drawing/2014/main" id="{F41A94C0-56CA-8000-447A-507ED62EA015}"/>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5" name="Arrow: Pentagon 104">
              <a:extLst>
                <a:ext uri="{FF2B5EF4-FFF2-40B4-BE49-F238E27FC236}">
                  <a16:creationId xmlns:a16="http://schemas.microsoft.com/office/drawing/2014/main" id="{6286E43B-654D-E1F6-B964-401F7F3B72EF}"/>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6" name="TextBox 105">
              <a:extLst>
                <a:ext uri="{FF2B5EF4-FFF2-40B4-BE49-F238E27FC236}">
                  <a16:creationId xmlns:a16="http://schemas.microsoft.com/office/drawing/2014/main" id="{1B0E33AB-2E53-2E40-713D-79C0FB6E6B19}"/>
                </a:ext>
              </a:extLst>
            </p:cNvPr>
            <p:cNvSpPr txBox="1"/>
            <p:nvPr/>
          </p:nvSpPr>
          <p:spPr>
            <a:xfrm>
              <a:off x="7395424" y="226053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CCID</a:t>
              </a:r>
              <a:endParaRPr lang="en-GB" sz="1600" kern="1200" dirty="0" err="1">
                <a:solidFill>
                  <a:schemeClr val="bg1"/>
                </a:solidFill>
                <a:latin typeface="+mn-lt"/>
                <a:ea typeface="ＭＳ Ｐゴシック" charset="0"/>
              </a:endParaRPr>
            </a:p>
          </p:txBody>
        </p:sp>
        <p:sp>
          <p:nvSpPr>
            <p:cNvPr id="108" name="TextBox 107">
              <a:extLst>
                <a:ext uri="{FF2B5EF4-FFF2-40B4-BE49-F238E27FC236}">
                  <a16:creationId xmlns:a16="http://schemas.microsoft.com/office/drawing/2014/main" id="{B846E208-7320-D919-9284-45ACADE77D87}"/>
                </a:ext>
              </a:extLst>
            </p:cNvPr>
            <p:cNvSpPr txBox="1"/>
            <p:nvPr/>
          </p:nvSpPr>
          <p:spPr>
            <a:xfrm>
              <a:off x="8642230" y="2184234"/>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On Creation of an Activity ID a CCID is automatically generated</a:t>
              </a:r>
            </a:p>
          </p:txBody>
        </p:sp>
        <p:sp>
          <p:nvSpPr>
            <p:cNvPr id="111" name="Oval 110">
              <a:extLst>
                <a:ext uri="{FF2B5EF4-FFF2-40B4-BE49-F238E27FC236}">
                  <a16:creationId xmlns:a16="http://schemas.microsoft.com/office/drawing/2014/main" id="{7994777B-2627-1196-E0D1-4D9F2BE9B2C3}"/>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32" name="Group 131">
            <a:extLst>
              <a:ext uri="{FF2B5EF4-FFF2-40B4-BE49-F238E27FC236}">
                <a16:creationId xmlns:a16="http://schemas.microsoft.com/office/drawing/2014/main" id="{A499A42C-175B-7A74-9E2A-D95815671180}"/>
              </a:ext>
            </a:extLst>
          </p:cNvPr>
          <p:cNvGrpSpPr/>
          <p:nvPr/>
        </p:nvGrpSpPr>
        <p:grpSpPr>
          <a:xfrm>
            <a:off x="6689663" y="2285654"/>
            <a:ext cx="5179799" cy="529877"/>
            <a:chOff x="6689663" y="2850599"/>
            <a:chExt cx="5179799" cy="529877"/>
          </a:xfrm>
        </p:grpSpPr>
        <p:sp>
          <p:nvSpPr>
            <p:cNvPr id="114" name="Rectangle: Rounded Corners 113">
              <a:extLst>
                <a:ext uri="{FF2B5EF4-FFF2-40B4-BE49-F238E27FC236}">
                  <a16:creationId xmlns:a16="http://schemas.microsoft.com/office/drawing/2014/main" id="{B46256B8-FBEC-5CE1-02E7-967E09315485}"/>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5" name="Arrow: Pentagon 114">
              <a:extLst>
                <a:ext uri="{FF2B5EF4-FFF2-40B4-BE49-F238E27FC236}">
                  <a16:creationId xmlns:a16="http://schemas.microsoft.com/office/drawing/2014/main" id="{0B1D4353-AB22-E856-56DD-F79E79D80BBB}"/>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6" name="TextBox 115">
              <a:extLst>
                <a:ext uri="{FF2B5EF4-FFF2-40B4-BE49-F238E27FC236}">
                  <a16:creationId xmlns:a16="http://schemas.microsoft.com/office/drawing/2014/main" id="{8C3EA2AC-FE92-60F9-C393-5D2AEAAE0FAF}"/>
                </a:ext>
              </a:extLst>
            </p:cNvPr>
            <p:cNvSpPr txBox="1"/>
            <p:nvPr/>
          </p:nvSpPr>
          <p:spPr>
            <a:xfrm>
              <a:off x="7395424" y="302609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Information</a:t>
              </a:r>
              <a:endParaRPr lang="en-GB" sz="1600" kern="1200" dirty="0" err="1">
                <a:solidFill>
                  <a:schemeClr val="bg1"/>
                </a:solidFill>
                <a:latin typeface="+mn-lt"/>
                <a:ea typeface="ＭＳ Ｐゴシック" charset="0"/>
              </a:endParaRPr>
            </a:p>
          </p:txBody>
        </p:sp>
        <p:sp>
          <p:nvSpPr>
            <p:cNvPr id="117" name="TextBox 116">
              <a:extLst>
                <a:ext uri="{FF2B5EF4-FFF2-40B4-BE49-F238E27FC236}">
                  <a16:creationId xmlns:a16="http://schemas.microsoft.com/office/drawing/2014/main" id="{A8864AA3-7486-2B90-4CD1-380A5F8BCAF7}"/>
                </a:ext>
              </a:extLst>
            </p:cNvPr>
            <p:cNvSpPr txBox="1"/>
            <p:nvPr/>
          </p:nvSpPr>
          <p:spPr>
            <a:xfrm>
              <a:off x="8642230" y="2877979"/>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Passed downstream to sellers &amp; must reflect the specific marketing activity used to target the customer.</a:t>
              </a:r>
            </a:p>
          </p:txBody>
        </p:sp>
        <p:sp>
          <p:nvSpPr>
            <p:cNvPr id="118" name="Oval 117">
              <a:extLst>
                <a:ext uri="{FF2B5EF4-FFF2-40B4-BE49-F238E27FC236}">
                  <a16:creationId xmlns:a16="http://schemas.microsoft.com/office/drawing/2014/main" id="{E7D1DB1B-4DCE-BFFB-6557-60A5CB2D1789}"/>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133" name="Group 132">
            <a:extLst>
              <a:ext uri="{FF2B5EF4-FFF2-40B4-BE49-F238E27FC236}">
                <a16:creationId xmlns:a16="http://schemas.microsoft.com/office/drawing/2014/main" id="{B8F68B14-A96C-A119-656E-7DCD5FFA6FFC}"/>
              </a:ext>
            </a:extLst>
          </p:cNvPr>
          <p:cNvGrpSpPr/>
          <p:nvPr/>
        </p:nvGrpSpPr>
        <p:grpSpPr>
          <a:xfrm>
            <a:off x="6689663" y="3294281"/>
            <a:ext cx="5179799" cy="529877"/>
            <a:chOff x="6704329" y="3670911"/>
            <a:chExt cx="5179799" cy="529877"/>
          </a:xfrm>
        </p:grpSpPr>
        <p:sp>
          <p:nvSpPr>
            <p:cNvPr id="120" name="Rectangle: Rounded Corners 119">
              <a:extLst>
                <a:ext uri="{FF2B5EF4-FFF2-40B4-BE49-F238E27FC236}">
                  <a16:creationId xmlns:a16="http://schemas.microsoft.com/office/drawing/2014/main" id="{D84AC78F-06C2-609E-2B2F-09499B418E43}"/>
                </a:ext>
              </a:extLst>
            </p:cNvPr>
            <p:cNvSpPr/>
            <p:nvPr/>
          </p:nvSpPr>
          <p:spPr>
            <a:xfrm>
              <a:off x="7952208" y="3698290"/>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1" name="Arrow: Pentagon 120">
              <a:extLst>
                <a:ext uri="{FF2B5EF4-FFF2-40B4-BE49-F238E27FC236}">
                  <a16:creationId xmlns:a16="http://schemas.microsoft.com/office/drawing/2014/main" id="{EC443799-B0E7-27D9-E02E-FC72C2ADF815}"/>
                </a:ext>
              </a:extLst>
            </p:cNvPr>
            <p:cNvSpPr/>
            <p:nvPr/>
          </p:nvSpPr>
          <p:spPr>
            <a:xfrm>
              <a:off x="7051241" y="3698290"/>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2" name="TextBox 121">
              <a:extLst>
                <a:ext uri="{FF2B5EF4-FFF2-40B4-BE49-F238E27FC236}">
                  <a16:creationId xmlns:a16="http://schemas.microsoft.com/office/drawing/2014/main" id="{B1F8FE4E-6F9B-5117-FB73-DF804C6916FA}"/>
                </a:ext>
              </a:extLst>
            </p:cNvPr>
            <p:cNvSpPr txBox="1"/>
            <p:nvPr/>
          </p:nvSpPr>
          <p:spPr>
            <a:xfrm>
              <a:off x="7410090" y="3846402"/>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Campaign</a:t>
              </a:r>
              <a:endParaRPr lang="en-GB" sz="1600" kern="1200" dirty="0" err="1">
                <a:solidFill>
                  <a:schemeClr val="bg1"/>
                </a:solidFill>
                <a:latin typeface="+mn-lt"/>
                <a:ea typeface="ＭＳ Ｐゴシック" charset="0"/>
              </a:endParaRPr>
            </a:p>
          </p:txBody>
        </p:sp>
        <p:sp>
          <p:nvSpPr>
            <p:cNvPr id="123" name="TextBox 122">
              <a:extLst>
                <a:ext uri="{FF2B5EF4-FFF2-40B4-BE49-F238E27FC236}">
                  <a16:creationId xmlns:a16="http://schemas.microsoft.com/office/drawing/2014/main" id="{35943B9E-7864-8A48-4A6B-8B0F45B05FC6}"/>
                </a:ext>
              </a:extLst>
            </p:cNvPr>
            <p:cNvSpPr txBox="1"/>
            <p:nvPr/>
          </p:nvSpPr>
          <p:spPr>
            <a:xfrm>
              <a:off x="8656896" y="3698291"/>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 coordinated, structured set of marketing activities targeted at a specific audience segment to achieve a defined, short-term objective..</a:t>
              </a:r>
            </a:p>
          </p:txBody>
        </p:sp>
        <p:sp>
          <p:nvSpPr>
            <p:cNvPr id="124" name="Oval 123">
              <a:extLst>
                <a:ext uri="{FF2B5EF4-FFF2-40B4-BE49-F238E27FC236}">
                  <a16:creationId xmlns:a16="http://schemas.microsoft.com/office/drawing/2014/main" id="{3EB7CF2C-08C3-291B-6421-7F057DC3AFFE}"/>
                </a:ext>
              </a:extLst>
            </p:cNvPr>
            <p:cNvSpPr/>
            <p:nvPr/>
          </p:nvSpPr>
          <p:spPr>
            <a:xfrm>
              <a:off x="6704329" y="3670911"/>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34" name="Group 133">
            <a:extLst>
              <a:ext uri="{FF2B5EF4-FFF2-40B4-BE49-F238E27FC236}">
                <a16:creationId xmlns:a16="http://schemas.microsoft.com/office/drawing/2014/main" id="{23407C09-BFF8-6094-E88E-930613F7C73D}"/>
              </a:ext>
            </a:extLst>
          </p:cNvPr>
          <p:cNvGrpSpPr/>
          <p:nvPr/>
        </p:nvGrpSpPr>
        <p:grpSpPr>
          <a:xfrm>
            <a:off x="6689663" y="4302908"/>
            <a:ext cx="5179799" cy="529877"/>
            <a:chOff x="6775864" y="4491223"/>
            <a:chExt cx="5179799" cy="529877"/>
          </a:xfrm>
        </p:grpSpPr>
        <p:sp>
          <p:nvSpPr>
            <p:cNvPr id="126" name="Rectangle: Rounded Corners 125">
              <a:extLst>
                <a:ext uri="{FF2B5EF4-FFF2-40B4-BE49-F238E27FC236}">
                  <a16:creationId xmlns:a16="http://schemas.microsoft.com/office/drawing/2014/main" id="{D22300FC-D282-AED7-5F00-116BE3BE1CBB}"/>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7" name="Arrow: Pentagon 126">
              <a:extLst>
                <a:ext uri="{FF2B5EF4-FFF2-40B4-BE49-F238E27FC236}">
                  <a16:creationId xmlns:a16="http://schemas.microsoft.com/office/drawing/2014/main" id="{249A06B2-0F46-7CFE-F199-DD3E143502C2}"/>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8" name="TextBox 127">
              <a:extLst>
                <a:ext uri="{FF2B5EF4-FFF2-40B4-BE49-F238E27FC236}">
                  <a16:creationId xmlns:a16="http://schemas.microsoft.com/office/drawing/2014/main" id="{862AC5BF-3679-501F-E270-1A06B0FAC7EA}"/>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Program</a:t>
              </a:r>
              <a:endParaRPr lang="en-GB" sz="1600" kern="1200" dirty="0" err="1">
                <a:solidFill>
                  <a:schemeClr val="bg1"/>
                </a:solidFill>
                <a:latin typeface="+mn-lt"/>
                <a:ea typeface="ＭＳ Ｐゴシック" charset="0"/>
              </a:endParaRPr>
            </a:p>
          </p:txBody>
        </p:sp>
        <p:sp>
          <p:nvSpPr>
            <p:cNvPr id="129" name="TextBox 128">
              <a:extLst>
                <a:ext uri="{FF2B5EF4-FFF2-40B4-BE49-F238E27FC236}">
                  <a16:creationId xmlns:a16="http://schemas.microsoft.com/office/drawing/2014/main" id="{C78C41E6-4041-7666-60C3-FD9B1B71D84D}"/>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 broader, ongoing strategic framework that encompasses and coordinates multiple related campaigns and initiatives over a longer period.</a:t>
              </a:r>
            </a:p>
          </p:txBody>
        </p:sp>
        <p:sp>
          <p:nvSpPr>
            <p:cNvPr id="130" name="Oval 129">
              <a:extLst>
                <a:ext uri="{FF2B5EF4-FFF2-40B4-BE49-F238E27FC236}">
                  <a16:creationId xmlns:a16="http://schemas.microsoft.com/office/drawing/2014/main" id="{5C0A75BB-D059-5CFF-96ED-C48D53B9D1A2}"/>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135" name="Group 134">
            <a:extLst>
              <a:ext uri="{FF2B5EF4-FFF2-40B4-BE49-F238E27FC236}">
                <a16:creationId xmlns:a16="http://schemas.microsoft.com/office/drawing/2014/main" id="{13A19C2F-6843-1B6C-FDDD-85A0BDEE2550}"/>
              </a:ext>
            </a:extLst>
          </p:cNvPr>
          <p:cNvGrpSpPr/>
          <p:nvPr/>
        </p:nvGrpSpPr>
        <p:grpSpPr>
          <a:xfrm>
            <a:off x="6689663" y="5311535"/>
            <a:ext cx="5179799" cy="529877"/>
            <a:chOff x="6775864" y="4491223"/>
            <a:chExt cx="5179799" cy="529877"/>
          </a:xfrm>
        </p:grpSpPr>
        <p:sp>
          <p:nvSpPr>
            <p:cNvPr id="136" name="Rectangle: Rounded Corners 135">
              <a:extLst>
                <a:ext uri="{FF2B5EF4-FFF2-40B4-BE49-F238E27FC236}">
                  <a16:creationId xmlns:a16="http://schemas.microsoft.com/office/drawing/2014/main" id="{B7758F79-2F93-9971-F2F3-C04160090DE9}"/>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7" name="Arrow: Pentagon 136">
              <a:extLst>
                <a:ext uri="{FF2B5EF4-FFF2-40B4-BE49-F238E27FC236}">
                  <a16:creationId xmlns:a16="http://schemas.microsoft.com/office/drawing/2014/main" id="{2E34256B-55A3-13E5-020B-0C39F82EE490}"/>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8" name="TextBox 137">
              <a:extLst>
                <a:ext uri="{FF2B5EF4-FFF2-40B4-BE49-F238E27FC236}">
                  <a16:creationId xmlns:a16="http://schemas.microsoft.com/office/drawing/2014/main" id="{104B10A5-EE27-B206-2B4D-E61925FB8F90}"/>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Motion</a:t>
              </a:r>
              <a:endParaRPr lang="en-GB" sz="1600" kern="1200" dirty="0" err="1">
                <a:solidFill>
                  <a:schemeClr val="bg1"/>
                </a:solidFill>
                <a:latin typeface="+mn-lt"/>
                <a:ea typeface="ＭＳ Ｐゴシック" charset="0"/>
              </a:endParaRPr>
            </a:p>
          </p:txBody>
        </p:sp>
        <p:sp>
          <p:nvSpPr>
            <p:cNvPr id="139" name="TextBox 138">
              <a:extLst>
                <a:ext uri="{FF2B5EF4-FFF2-40B4-BE49-F238E27FC236}">
                  <a16:creationId xmlns:a16="http://schemas.microsoft.com/office/drawing/2014/main" id="{3AE0F64E-9E72-03FF-697F-A24FA6ACFF83}"/>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How teams target prospects based on personalization level, ranging from high-touch ABM and ABX to broad-reach Scale Marketing</a:t>
              </a:r>
            </a:p>
          </p:txBody>
        </p:sp>
        <p:sp>
          <p:nvSpPr>
            <p:cNvPr id="140" name="Oval 139">
              <a:extLst>
                <a:ext uri="{FF2B5EF4-FFF2-40B4-BE49-F238E27FC236}">
                  <a16:creationId xmlns:a16="http://schemas.microsoft.com/office/drawing/2014/main" id="{28AFCD27-317A-6E2C-BB9E-374DF50846FF}"/>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
        <p:nvSpPr>
          <p:cNvPr id="141" name="Oval 140">
            <a:extLst>
              <a:ext uri="{FF2B5EF4-FFF2-40B4-BE49-F238E27FC236}">
                <a16:creationId xmlns:a16="http://schemas.microsoft.com/office/drawing/2014/main" id="{2D0261BC-95F8-9E8E-0B1E-3F52AAA13C2B}"/>
              </a:ext>
            </a:extLst>
          </p:cNvPr>
          <p:cNvSpPr/>
          <p:nvPr/>
        </p:nvSpPr>
        <p:spPr>
          <a:xfrm>
            <a:off x="131198" y="2251427"/>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142" name="Oval 141">
            <a:extLst>
              <a:ext uri="{FF2B5EF4-FFF2-40B4-BE49-F238E27FC236}">
                <a16:creationId xmlns:a16="http://schemas.microsoft.com/office/drawing/2014/main" id="{A81F1DC4-6244-54BE-5C88-4E46FC4DF8E7}"/>
              </a:ext>
            </a:extLst>
          </p:cNvPr>
          <p:cNvSpPr/>
          <p:nvPr/>
        </p:nvSpPr>
        <p:spPr>
          <a:xfrm>
            <a:off x="126044" y="319545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143" name="Oval 142">
            <a:extLst>
              <a:ext uri="{FF2B5EF4-FFF2-40B4-BE49-F238E27FC236}">
                <a16:creationId xmlns:a16="http://schemas.microsoft.com/office/drawing/2014/main" id="{E4161A12-51AF-6529-7EA3-54CE649E14FC}"/>
              </a:ext>
            </a:extLst>
          </p:cNvPr>
          <p:cNvSpPr/>
          <p:nvPr/>
        </p:nvSpPr>
        <p:spPr>
          <a:xfrm>
            <a:off x="1454111" y="522262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144" name="Oval 143">
            <a:extLst>
              <a:ext uri="{FF2B5EF4-FFF2-40B4-BE49-F238E27FC236}">
                <a16:creationId xmlns:a16="http://schemas.microsoft.com/office/drawing/2014/main" id="{562F8351-D3C6-7012-6D20-B862D59E21C6}"/>
              </a:ext>
            </a:extLst>
          </p:cNvPr>
          <p:cNvSpPr/>
          <p:nvPr/>
        </p:nvSpPr>
        <p:spPr>
          <a:xfrm>
            <a:off x="3219017" y="522262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145" name="Oval 144">
            <a:extLst>
              <a:ext uri="{FF2B5EF4-FFF2-40B4-BE49-F238E27FC236}">
                <a16:creationId xmlns:a16="http://schemas.microsoft.com/office/drawing/2014/main" id="{8C25C122-9E8D-35F9-C7DF-FA443C0F7489}"/>
              </a:ext>
            </a:extLst>
          </p:cNvPr>
          <p:cNvSpPr/>
          <p:nvPr/>
        </p:nvSpPr>
        <p:spPr>
          <a:xfrm>
            <a:off x="5164195" y="522262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spTree>
    <p:extLst>
      <p:ext uri="{BB962C8B-B14F-4D97-AF65-F5344CB8AC3E}">
        <p14:creationId xmlns:p14="http://schemas.microsoft.com/office/powerpoint/2010/main" val="3300933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B6B8-FC5F-428E-6804-22F61536852D}"/>
              </a:ext>
            </a:extLst>
          </p:cNvPr>
          <p:cNvSpPr>
            <a:spLocks noGrp="1"/>
          </p:cNvSpPr>
          <p:nvPr>
            <p:ph type="title"/>
          </p:nvPr>
        </p:nvSpPr>
        <p:spPr/>
        <p:txBody>
          <a:bodyPr/>
          <a:lstStyle/>
          <a:p>
            <a:r>
              <a:rPr lang="en-US" dirty="0"/>
              <a:t>Create an ID for Each of your Initiatives</a:t>
            </a:r>
            <a:endParaRPr lang="en-GB" dirty="0"/>
          </a:p>
        </p:txBody>
      </p:sp>
      <p:grpSp>
        <p:nvGrpSpPr>
          <p:cNvPr id="38" name="Group 37">
            <a:extLst>
              <a:ext uri="{FF2B5EF4-FFF2-40B4-BE49-F238E27FC236}">
                <a16:creationId xmlns:a16="http://schemas.microsoft.com/office/drawing/2014/main" id="{F7E3C8D3-0F7B-AC21-9214-D6F17AFC0F5E}"/>
              </a:ext>
            </a:extLst>
          </p:cNvPr>
          <p:cNvGrpSpPr/>
          <p:nvPr/>
        </p:nvGrpSpPr>
        <p:grpSpPr>
          <a:xfrm>
            <a:off x="941293" y="1192613"/>
            <a:ext cx="5029200" cy="2532222"/>
            <a:chOff x="2292723" y="2436466"/>
            <a:chExt cx="5029200" cy="2532222"/>
          </a:xfrm>
        </p:grpSpPr>
        <p:sp>
          <p:nvSpPr>
            <p:cNvPr id="10" name="Freeform: Shape 9">
              <a:extLst>
                <a:ext uri="{FF2B5EF4-FFF2-40B4-BE49-F238E27FC236}">
                  <a16:creationId xmlns:a16="http://schemas.microsoft.com/office/drawing/2014/main" id="{486B663B-933D-BC73-6993-2EA91B6EDF7D}"/>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14" name="Group 13">
              <a:extLst>
                <a:ext uri="{FF2B5EF4-FFF2-40B4-BE49-F238E27FC236}">
                  <a16:creationId xmlns:a16="http://schemas.microsoft.com/office/drawing/2014/main" id="{25905EC8-CAB0-D670-CCC2-576567A1F9D0}"/>
                </a:ext>
              </a:extLst>
            </p:cNvPr>
            <p:cNvGrpSpPr/>
            <p:nvPr/>
          </p:nvGrpSpPr>
          <p:grpSpPr>
            <a:xfrm>
              <a:off x="2794747" y="2436466"/>
              <a:ext cx="2675964" cy="492443"/>
              <a:chOff x="2794747" y="2436466"/>
              <a:chExt cx="2675964" cy="492443"/>
            </a:xfrm>
          </p:grpSpPr>
          <p:sp>
            <p:nvSpPr>
              <p:cNvPr id="9" name="Rectangle: Rounded Corners 8">
                <a:extLst>
                  <a:ext uri="{FF2B5EF4-FFF2-40B4-BE49-F238E27FC236}">
                    <a16:creationId xmlns:a16="http://schemas.microsoft.com/office/drawing/2014/main" id="{51FCB0CB-6ABE-D41B-CFDB-262117B3C5CC}"/>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12" name="Graphic 11" descr="Mandala with solid fill">
                <a:extLst>
                  <a:ext uri="{FF2B5EF4-FFF2-40B4-BE49-F238E27FC236}">
                    <a16:creationId xmlns:a16="http://schemas.microsoft.com/office/drawing/2014/main" id="{11C12668-5676-4547-6739-7BB9583A1C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13" name="TextBox 12">
                <a:extLst>
                  <a:ext uri="{FF2B5EF4-FFF2-40B4-BE49-F238E27FC236}">
                    <a16:creationId xmlns:a16="http://schemas.microsoft.com/office/drawing/2014/main" id="{0802225D-9CAE-6745-9D3D-2A5D91BCCE1E}"/>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cc010898</a:t>
                </a:r>
                <a:endParaRPr lang="en-GB" sz="2400" kern="1200" dirty="0" err="1">
                  <a:solidFill>
                    <a:schemeClr val="bg1"/>
                  </a:solidFill>
                  <a:latin typeface="+mn-lt"/>
                  <a:ea typeface="ＭＳ Ｐゴシック" charset="0"/>
                </a:endParaRPr>
              </a:p>
            </p:txBody>
          </p:sp>
        </p:grpSp>
        <p:grpSp>
          <p:nvGrpSpPr>
            <p:cNvPr id="36" name="Group 35">
              <a:extLst>
                <a:ext uri="{FF2B5EF4-FFF2-40B4-BE49-F238E27FC236}">
                  <a16:creationId xmlns:a16="http://schemas.microsoft.com/office/drawing/2014/main" id="{58FDC1CC-E061-DB07-8648-25EC861E8F89}"/>
                </a:ext>
              </a:extLst>
            </p:cNvPr>
            <p:cNvGrpSpPr/>
            <p:nvPr/>
          </p:nvGrpSpPr>
          <p:grpSpPr>
            <a:xfrm>
              <a:off x="2605869" y="4048152"/>
              <a:ext cx="4402908" cy="805656"/>
              <a:chOff x="2582839" y="3959740"/>
              <a:chExt cx="4402908" cy="805656"/>
            </a:xfrm>
          </p:grpSpPr>
          <p:grpSp>
            <p:nvGrpSpPr>
              <p:cNvPr id="15" name="Group 14">
                <a:extLst>
                  <a:ext uri="{FF2B5EF4-FFF2-40B4-BE49-F238E27FC236}">
                    <a16:creationId xmlns:a16="http://schemas.microsoft.com/office/drawing/2014/main" id="{F0B9DB11-B6C9-6179-A0D2-2ADAAC6B97B2}"/>
                  </a:ext>
                </a:extLst>
              </p:cNvPr>
              <p:cNvGrpSpPr/>
              <p:nvPr/>
            </p:nvGrpSpPr>
            <p:grpSpPr>
              <a:xfrm>
                <a:off x="4108143" y="3963630"/>
                <a:ext cx="1352299" cy="797876"/>
                <a:chOff x="5225124" y="4067734"/>
                <a:chExt cx="2267712" cy="1337983"/>
              </a:xfrm>
            </p:grpSpPr>
            <p:grpSp>
              <p:nvGrpSpPr>
                <p:cNvPr id="16" name="Group 15">
                  <a:extLst>
                    <a:ext uri="{FF2B5EF4-FFF2-40B4-BE49-F238E27FC236}">
                      <a16:creationId xmlns:a16="http://schemas.microsoft.com/office/drawing/2014/main" id="{7E24A011-BDA7-CFB6-063D-4BC181423A1B}"/>
                    </a:ext>
                  </a:extLst>
                </p:cNvPr>
                <p:cNvGrpSpPr/>
                <p:nvPr/>
              </p:nvGrpSpPr>
              <p:grpSpPr>
                <a:xfrm>
                  <a:off x="5225124" y="4067734"/>
                  <a:ext cx="2267712" cy="1337983"/>
                  <a:chOff x="2521324" y="4067735"/>
                  <a:chExt cx="2267712" cy="1337983"/>
                </a:xfrm>
              </p:grpSpPr>
              <p:sp>
                <p:nvSpPr>
                  <p:cNvPr id="18" name="Rectangle: Rounded Corners 17">
                    <a:extLst>
                      <a:ext uri="{FF2B5EF4-FFF2-40B4-BE49-F238E27FC236}">
                        <a16:creationId xmlns:a16="http://schemas.microsoft.com/office/drawing/2014/main" id="{78A894C9-3724-7DB2-BBAA-22563BF5647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9" name="Straight Connector 18">
                    <a:extLst>
                      <a:ext uri="{FF2B5EF4-FFF2-40B4-BE49-F238E27FC236}">
                        <a16:creationId xmlns:a16="http://schemas.microsoft.com/office/drawing/2014/main" id="{CEE621D4-00AE-3A15-CF9A-ABF6AF19714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0" name="TextBox 19">
                    <a:extLst>
                      <a:ext uri="{FF2B5EF4-FFF2-40B4-BE49-F238E27FC236}">
                        <a16:creationId xmlns:a16="http://schemas.microsoft.com/office/drawing/2014/main" id="{82237BD4-83AF-1540-8286-A9C1C520C66C}"/>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21" name="TextBox 20">
                    <a:extLst>
                      <a:ext uri="{FF2B5EF4-FFF2-40B4-BE49-F238E27FC236}">
                        <a16:creationId xmlns:a16="http://schemas.microsoft.com/office/drawing/2014/main" id="{8A7F94E6-DBFA-A5D4-A9E9-046917572C7A}"/>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Mid Market Networking</a:t>
                    </a:r>
                    <a:endParaRPr lang="en-GB" sz="1000" kern="1200" dirty="0" err="1">
                      <a:solidFill>
                        <a:schemeClr val="bg1"/>
                      </a:solidFill>
                      <a:latin typeface="+mn-lt"/>
                      <a:ea typeface="ＭＳ Ｐゴシック" charset="0"/>
                    </a:endParaRPr>
                  </a:p>
                </p:txBody>
              </p:sp>
            </p:grpSp>
            <p:pic>
              <p:nvPicPr>
                <p:cNvPr id="17" name="Graphic 16" descr="Processor with solid fill">
                  <a:extLst>
                    <a:ext uri="{FF2B5EF4-FFF2-40B4-BE49-F238E27FC236}">
                      <a16:creationId xmlns:a16="http://schemas.microsoft.com/office/drawing/2014/main" id="{102F0B3B-930B-5F73-4845-ED8872AFD1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22" name="Group 21">
                <a:extLst>
                  <a:ext uri="{FF2B5EF4-FFF2-40B4-BE49-F238E27FC236}">
                    <a16:creationId xmlns:a16="http://schemas.microsoft.com/office/drawing/2014/main" id="{34400E22-5246-3309-800C-AC7A66952BE5}"/>
                  </a:ext>
                </a:extLst>
              </p:cNvPr>
              <p:cNvGrpSpPr/>
              <p:nvPr/>
            </p:nvGrpSpPr>
            <p:grpSpPr>
              <a:xfrm>
                <a:off x="5633448" y="3963630"/>
                <a:ext cx="1352299" cy="797876"/>
                <a:chOff x="7928924" y="4067733"/>
                <a:chExt cx="2267712" cy="1337983"/>
              </a:xfrm>
            </p:grpSpPr>
            <p:grpSp>
              <p:nvGrpSpPr>
                <p:cNvPr id="23" name="Group 22">
                  <a:extLst>
                    <a:ext uri="{FF2B5EF4-FFF2-40B4-BE49-F238E27FC236}">
                      <a16:creationId xmlns:a16="http://schemas.microsoft.com/office/drawing/2014/main" id="{6C56D2DC-2486-E4E0-7EE8-8D528B9DD28E}"/>
                    </a:ext>
                  </a:extLst>
                </p:cNvPr>
                <p:cNvGrpSpPr/>
                <p:nvPr/>
              </p:nvGrpSpPr>
              <p:grpSpPr>
                <a:xfrm>
                  <a:off x="7928924" y="4067733"/>
                  <a:ext cx="2267712" cy="1337983"/>
                  <a:chOff x="2521324" y="4067735"/>
                  <a:chExt cx="2267712" cy="1337983"/>
                </a:xfrm>
              </p:grpSpPr>
              <p:sp>
                <p:nvSpPr>
                  <p:cNvPr id="25" name="Rectangle: Rounded Corners 24">
                    <a:extLst>
                      <a:ext uri="{FF2B5EF4-FFF2-40B4-BE49-F238E27FC236}">
                        <a16:creationId xmlns:a16="http://schemas.microsoft.com/office/drawing/2014/main" id="{43898BBE-7CCF-9E59-7343-E431B556A025}"/>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26" name="Straight Connector 25">
                    <a:extLst>
                      <a:ext uri="{FF2B5EF4-FFF2-40B4-BE49-F238E27FC236}">
                        <a16:creationId xmlns:a16="http://schemas.microsoft.com/office/drawing/2014/main" id="{6874EF5D-69D4-AF8C-B6E8-65C7C1F4DC6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7" name="TextBox 26">
                    <a:extLst>
                      <a:ext uri="{FF2B5EF4-FFF2-40B4-BE49-F238E27FC236}">
                        <a16:creationId xmlns:a16="http://schemas.microsoft.com/office/drawing/2014/main" id="{82262CFA-3191-FF24-C1C2-CCF20809B2C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28" name="TextBox 27">
                    <a:extLst>
                      <a:ext uri="{FF2B5EF4-FFF2-40B4-BE49-F238E27FC236}">
                        <a16:creationId xmlns:a16="http://schemas.microsoft.com/office/drawing/2014/main" id="{8A90ED0F-9F33-FB31-377E-04E24668CBD2}"/>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24" name="Graphic 23" descr="Circles with arrows with solid fill">
                  <a:extLst>
                    <a:ext uri="{FF2B5EF4-FFF2-40B4-BE49-F238E27FC236}">
                      <a16:creationId xmlns:a16="http://schemas.microsoft.com/office/drawing/2014/main" id="{BE55DF24-19BF-23E3-F37F-D5A1A308B4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29" name="Group 28">
                <a:extLst>
                  <a:ext uri="{FF2B5EF4-FFF2-40B4-BE49-F238E27FC236}">
                    <a16:creationId xmlns:a16="http://schemas.microsoft.com/office/drawing/2014/main" id="{DC54F2D7-2951-464B-3B2F-BEE6D72F1ED9}"/>
                  </a:ext>
                </a:extLst>
              </p:cNvPr>
              <p:cNvGrpSpPr/>
              <p:nvPr/>
            </p:nvGrpSpPr>
            <p:grpSpPr>
              <a:xfrm>
                <a:off x="2582839" y="3959740"/>
                <a:ext cx="1352298" cy="805656"/>
                <a:chOff x="2521324" y="4054687"/>
                <a:chExt cx="2267712" cy="1351031"/>
              </a:xfrm>
            </p:grpSpPr>
            <p:grpSp>
              <p:nvGrpSpPr>
                <p:cNvPr id="30" name="Group 29">
                  <a:extLst>
                    <a:ext uri="{FF2B5EF4-FFF2-40B4-BE49-F238E27FC236}">
                      <a16:creationId xmlns:a16="http://schemas.microsoft.com/office/drawing/2014/main" id="{DB4004C8-1E26-0479-AADF-2CB5D0A12684}"/>
                    </a:ext>
                  </a:extLst>
                </p:cNvPr>
                <p:cNvGrpSpPr/>
                <p:nvPr/>
              </p:nvGrpSpPr>
              <p:grpSpPr>
                <a:xfrm>
                  <a:off x="2521324" y="4067735"/>
                  <a:ext cx="2267712" cy="1337983"/>
                  <a:chOff x="2521324" y="4067735"/>
                  <a:chExt cx="2267712" cy="1337983"/>
                </a:xfrm>
              </p:grpSpPr>
              <p:sp>
                <p:nvSpPr>
                  <p:cNvPr id="32" name="Rectangle: Rounded Corners 31">
                    <a:extLst>
                      <a:ext uri="{FF2B5EF4-FFF2-40B4-BE49-F238E27FC236}">
                        <a16:creationId xmlns:a16="http://schemas.microsoft.com/office/drawing/2014/main" id="{1CF09517-0F9A-AEB5-E29A-6C5D7C6F8A47}"/>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33" name="Straight Connector 32">
                    <a:extLst>
                      <a:ext uri="{FF2B5EF4-FFF2-40B4-BE49-F238E27FC236}">
                        <a16:creationId xmlns:a16="http://schemas.microsoft.com/office/drawing/2014/main" id="{34416A1E-2218-1852-DBAE-B130409651B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4" name="TextBox 33">
                    <a:extLst>
                      <a:ext uri="{FF2B5EF4-FFF2-40B4-BE49-F238E27FC236}">
                        <a16:creationId xmlns:a16="http://schemas.microsoft.com/office/drawing/2014/main" id="{16CE68BF-EED8-15F1-1F42-6E273BD88D97}"/>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35" name="TextBox 34">
                    <a:extLst>
                      <a:ext uri="{FF2B5EF4-FFF2-40B4-BE49-F238E27FC236}">
                        <a16:creationId xmlns:a16="http://schemas.microsoft.com/office/drawing/2014/main" id="{75E3CE59-0168-6704-A6E3-C49CCF215698}"/>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31" name="Graphic 30" descr="Cycle with people with solid fill">
                  <a:extLst>
                    <a:ext uri="{FF2B5EF4-FFF2-40B4-BE49-F238E27FC236}">
                      <a16:creationId xmlns:a16="http://schemas.microsoft.com/office/drawing/2014/main" id="{599158BF-4F27-C10B-080B-026363E1B0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37" name="TextBox 36">
              <a:extLst>
                <a:ext uri="{FF2B5EF4-FFF2-40B4-BE49-F238E27FC236}">
                  <a16:creationId xmlns:a16="http://schemas.microsoft.com/office/drawing/2014/main" id="{16120CF3-EC9B-AD5E-91A3-F4E3320BB965}"/>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Drive engagement and pipeline growth in EMEA Band A mid-market segment relating to Zero Trust Access</a:t>
              </a:r>
            </a:p>
            <a:p>
              <a:pPr defTabSz="912276" fontAlgn="base">
                <a:buClr>
                  <a:schemeClr val="bg1"/>
                </a:buClr>
                <a:buSzPct val="100000"/>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Drive targeted engagement and accelerate pipeline growth within the EMEA Band A mid-market segment. By focusing specifically on Zero Trust Access solutions, the initiative addresses critical security needs for growing organizations across the region. Ultimately, it establishes a strategic framework to capture market share and nurture high-value prospects through dedicated security messaging</a:t>
              </a:r>
            </a:p>
          </p:txBody>
        </p:sp>
      </p:grpSp>
      <p:grpSp>
        <p:nvGrpSpPr>
          <p:cNvPr id="39" name="Group 38">
            <a:extLst>
              <a:ext uri="{FF2B5EF4-FFF2-40B4-BE49-F238E27FC236}">
                <a16:creationId xmlns:a16="http://schemas.microsoft.com/office/drawing/2014/main" id="{4ADE1DD4-F09C-8417-503C-5AC644FDFB69}"/>
              </a:ext>
            </a:extLst>
          </p:cNvPr>
          <p:cNvGrpSpPr/>
          <p:nvPr/>
        </p:nvGrpSpPr>
        <p:grpSpPr>
          <a:xfrm>
            <a:off x="6372790" y="1143307"/>
            <a:ext cx="5029200" cy="2532222"/>
            <a:chOff x="2292723" y="2436466"/>
            <a:chExt cx="5029200" cy="2532222"/>
          </a:xfrm>
        </p:grpSpPr>
        <p:sp>
          <p:nvSpPr>
            <p:cNvPr id="40" name="Freeform: Shape 39">
              <a:extLst>
                <a:ext uri="{FF2B5EF4-FFF2-40B4-BE49-F238E27FC236}">
                  <a16:creationId xmlns:a16="http://schemas.microsoft.com/office/drawing/2014/main" id="{FE8EF383-41B5-F134-2EC9-F787D60F3D72}"/>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41" name="Group 40">
              <a:extLst>
                <a:ext uri="{FF2B5EF4-FFF2-40B4-BE49-F238E27FC236}">
                  <a16:creationId xmlns:a16="http://schemas.microsoft.com/office/drawing/2014/main" id="{D8D2AB1A-7AEF-7B68-9EE9-8F8C998A90A1}"/>
                </a:ext>
              </a:extLst>
            </p:cNvPr>
            <p:cNvGrpSpPr/>
            <p:nvPr/>
          </p:nvGrpSpPr>
          <p:grpSpPr>
            <a:xfrm>
              <a:off x="2794747" y="2436466"/>
              <a:ext cx="2675964" cy="492443"/>
              <a:chOff x="2794747" y="2436466"/>
              <a:chExt cx="2675964" cy="492443"/>
            </a:xfrm>
          </p:grpSpPr>
          <p:sp>
            <p:nvSpPr>
              <p:cNvPr id="65" name="Rectangle: Rounded Corners 64">
                <a:extLst>
                  <a:ext uri="{FF2B5EF4-FFF2-40B4-BE49-F238E27FC236}">
                    <a16:creationId xmlns:a16="http://schemas.microsoft.com/office/drawing/2014/main" id="{6CA78B3E-398E-BFA5-F420-995CC965A318}"/>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66" name="Graphic 65" descr="Mandala with solid fill">
                <a:extLst>
                  <a:ext uri="{FF2B5EF4-FFF2-40B4-BE49-F238E27FC236}">
                    <a16:creationId xmlns:a16="http://schemas.microsoft.com/office/drawing/2014/main" id="{95CEC54F-6F61-9E89-25A7-F7B2DBE942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67" name="TextBox 66">
                <a:extLst>
                  <a:ext uri="{FF2B5EF4-FFF2-40B4-BE49-F238E27FC236}">
                    <a16:creationId xmlns:a16="http://schemas.microsoft.com/office/drawing/2014/main" id="{72A93691-AEE7-E8C1-6CD1-ADD294732A90}"/>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cc010912</a:t>
                </a:r>
                <a:endParaRPr lang="en-GB" sz="2400" kern="1200" dirty="0" err="1">
                  <a:solidFill>
                    <a:schemeClr val="bg1"/>
                  </a:solidFill>
                  <a:latin typeface="+mn-lt"/>
                  <a:ea typeface="ＭＳ Ｐゴシック" charset="0"/>
                </a:endParaRPr>
              </a:p>
            </p:txBody>
          </p:sp>
        </p:grpSp>
        <p:grpSp>
          <p:nvGrpSpPr>
            <p:cNvPr id="42" name="Group 41">
              <a:extLst>
                <a:ext uri="{FF2B5EF4-FFF2-40B4-BE49-F238E27FC236}">
                  <a16:creationId xmlns:a16="http://schemas.microsoft.com/office/drawing/2014/main" id="{9AE462E3-0BF4-DA22-D884-3F0FB4156A3C}"/>
                </a:ext>
              </a:extLst>
            </p:cNvPr>
            <p:cNvGrpSpPr/>
            <p:nvPr/>
          </p:nvGrpSpPr>
          <p:grpSpPr>
            <a:xfrm>
              <a:off x="2605869" y="4048152"/>
              <a:ext cx="4402908" cy="805656"/>
              <a:chOff x="2582839" y="3959740"/>
              <a:chExt cx="4402908" cy="805656"/>
            </a:xfrm>
          </p:grpSpPr>
          <p:grpSp>
            <p:nvGrpSpPr>
              <p:cNvPr id="44" name="Group 43">
                <a:extLst>
                  <a:ext uri="{FF2B5EF4-FFF2-40B4-BE49-F238E27FC236}">
                    <a16:creationId xmlns:a16="http://schemas.microsoft.com/office/drawing/2014/main" id="{480C8070-6DAE-0EA0-7038-60E987EBCFC1}"/>
                  </a:ext>
                </a:extLst>
              </p:cNvPr>
              <p:cNvGrpSpPr/>
              <p:nvPr/>
            </p:nvGrpSpPr>
            <p:grpSpPr>
              <a:xfrm>
                <a:off x="4108143" y="3963630"/>
                <a:ext cx="1352299" cy="797876"/>
                <a:chOff x="5225124" y="4067734"/>
                <a:chExt cx="2267712" cy="1337983"/>
              </a:xfrm>
            </p:grpSpPr>
            <p:grpSp>
              <p:nvGrpSpPr>
                <p:cNvPr id="59" name="Group 58">
                  <a:extLst>
                    <a:ext uri="{FF2B5EF4-FFF2-40B4-BE49-F238E27FC236}">
                      <a16:creationId xmlns:a16="http://schemas.microsoft.com/office/drawing/2014/main" id="{D9C4BF71-EE16-0AE4-3E39-09F0E0CFA93E}"/>
                    </a:ext>
                  </a:extLst>
                </p:cNvPr>
                <p:cNvGrpSpPr/>
                <p:nvPr/>
              </p:nvGrpSpPr>
              <p:grpSpPr>
                <a:xfrm>
                  <a:off x="5225124" y="4067734"/>
                  <a:ext cx="2267712" cy="1337983"/>
                  <a:chOff x="2521324" y="4067735"/>
                  <a:chExt cx="2267712" cy="1337983"/>
                </a:xfrm>
              </p:grpSpPr>
              <p:sp>
                <p:nvSpPr>
                  <p:cNvPr id="61" name="Rectangle: Rounded Corners 60">
                    <a:extLst>
                      <a:ext uri="{FF2B5EF4-FFF2-40B4-BE49-F238E27FC236}">
                        <a16:creationId xmlns:a16="http://schemas.microsoft.com/office/drawing/2014/main" id="{0F9D5ED0-BFE2-039D-94EC-CB685A1E59D5}"/>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62" name="Straight Connector 61">
                    <a:extLst>
                      <a:ext uri="{FF2B5EF4-FFF2-40B4-BE49-F238E27FC236}">
                        <a16:creationId xmlns:a16="http://schemas.microsoft.com/office/drawing/2014/main" id="{75F947C1-8E0E-9C76-80AC-BE08E9885103}"/>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3" name="TextBox 62">
                    <a:extLst>
                      <a:ext uri="{FF2B5EF4-FFF2-40B4-BE49-F238E27FC236}">
                        <a16:creationId xmlns:a16="http://schemas.microsoft.com/office/drawing/2014/main" id="{5AB8FE06-5D7C-3A7B-C652-5C1EA8FD34C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64" name="TextBox 63">
                    <a:extLst>
                      <a:ext uri="{FF2B5EF4-FFF2-40B4-BE49-F238E27FC236}">
                        <a16:creationId xmlns:a16="http://schemas.microsoft.com/office/drawing/2014/main" id="{248601D1-1BB5-07C1-F7FF-EACB9CF17E76}"/>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Mid Market Networking</a:t>
                    </a:r>
                    <a:endParaRPr lang="en-GB" sz="1000" kern="1200" dirty="0" err="1">
                      <a:solidFill>
                        <a:schemeClr val="bg1"/>
                      </a:solidFill>
                      <a:latin typeface="+mn-lt"/>
                      <a:ea typeface="ＭＳ Ｐゴシック" charset="0"/>
                    </a:endParaRPr>
                  </a:p>
                </p:txBody>
              </p:sp>
            </p:grpSp>
            <p:pic>
              <p:nvPicPr>
                <p:cNvPr id="60" name="Graphic 59" descr="Processor with solid fill">
                  <a:extLst>
                    <a:ext uri="{FF2B5EF4-FFF2-40B4-BE49-F238E27FC236}">
                      <a16:creationId xmlns:a16="http://schemas.microsoft.com/office/drawing/2014/main" id="{1B41E877-EE78-8FE9-1203-D33190ED87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45" name="Group 44">
                <a:extLst>
                  <a:ext uri="{FF2B5EF4-FFF2-40B4-BE49-F238E27FC236}">
                    <a16:creationId xmlns:a16="http://schemas.microsoft.com/office/drawing/2014/main" id="{9D0E758B-37E3-9E9B-57AE-06B2E60CB2BC}"/>
                  </a:ext>
                </a:extLst>
              </p:cNvPr>
              <p:cNvGrpSpPr/>
              <p:nvPr/>
            </p:nvGrpSpPr>
            <p:grpSpPr>
              <a:xfrm>
                <a:off x="5633448" y="3963630"/>
                <a:ext cx="1352299" cy="797876"/>
                <a:chOff x="7928924" y="4067733"/>
                <a:chExt cx="2267712" cy="1337983"/>
              </a:xfrm>
            </p:grpSpPr>
            <p:grpSp>
              <p:nvGrpSpPr>
                <p:cNvPr id="53" name="Group 52">
                  <a:extLst>
                    <a:ext uri="{FF2B5EF4-FFF2-40B4-BE49-F238E27FC236}">
                      <a16:creationId xmlns:a16="http://schemas.microsoft.com/office/drawing/2014/main" id="{1D09A211-D89A-A6FE-AB31-673D0ADE3032}"/>
                    </a:ext>
                  </a:extLst>
                </p:cNvPr>
                <p:cNvGrpSpPr/>
                <p:nvPr/>
              </p:nvGrpSpPr>
              <p:grpSpPr>
                <a:xfrm>
                  <a:off x="7928924" y="4067733"/>
                  <a:ext cx="2267712" cy="1337983"/>
                  <a:chOff x="2521324" y="4067735"/>
                  <a:chExt cx="2267712" cy="1337983"/>
                </a:xfrm>
              </p:grpSpPr>
              <p:sp>
                <p:nvSpPr>
                  <p:cNvPr id="55" name="Rectangle: Rounded Corners 54">
                    <a:extLst>
                      <a:ext uri="{FF2B5EF4-FFF2-40B4-BE49-F238E27FC236}">
                        <a16:creationId xmlns:a16="http://schemas.microsoft.com/office/drawing/2014/main" id="{F4CF44B9-5339-7018-2DD2-E674B7AEAC3D}"/>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56" name="Straight Connector 55">
                    <a:extLst>
                      <a:ext uri="{FF2B5EF4-FFF2-40B4-BE49-F238E27FC236}">
                        <a16:creationId xmlns:a16="http://schemas.microsoft.com/office/drawing/2014/main" id="{679818F6-9385-6FAB-1721-7D5D3224B2C6}"/>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7" name="TextBox 56">
                    <a:extLst>
                      <a:ext uri="{FF2B5EF4-FFF2-40B4-BE49-F238E27FC236}">
                        <a16:creationId xmlns:a16="http://schemas.microsoft.com/office/drawing/2014/main" id="{B49E0821-ABBE-E4C4-C746-43C48CE4B86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58" name="TextBox 57">
                    <a:extLst>
                      <a:ext uri="{FF2B5EF4-FFF2-40B4-BE49-F238E27FC236}">
                        <a16:creationId xmlns:a16="http://schemas.microsoft.com/office/drawing/2014/main" id="{BD98BF59-9FA5-9CE8-CD74-32B723AF98A0}"/>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54" name="Graphic 53" descr="Circles with arrows with solid fill">
                  <a:extLst>
                    <a:ext uri="{FF2B5EF4-FFF2-40B4-BE49-F238E27FC236}">
                      <a16:creationId xmlns:a16="http://schemas.microsoft.com/office/drawing/2014/main" id="{1F51A4AA-1570-A9EE-A042-9DA58912C2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46" name="Group 45">
                <a:extLst>
                  <a:ext uri="{FF2B5EF4-FFF2-40B4-BE49-F238E27FC236}">
                    <a16:creationId xmlns:a16="http://schemas.microsoft.com/office/drawing/2014/main" id="{B4CC83C9-57B5-7CC5-9D2A-F24B1544C297}"/>
                  </a:ext>
                </a:extLst>
              </p:cNvPr>
              <p:cNvGrpSpPr/>
              <p:nvPr/>
            </p:nvGrpSpPr>
            <p:grpSpPr>
              <a:xfrm>
                <a:off x="2582839" y="3959740"/>
                <a:ext cx="1352298" cy="805656"/>
                <a:chOff x="2521324" y="4054687"/>
                <a:chExt cx="2267712" cy="1351031"/>
              </a:xfrm>
            </p:grpSpPr>
            <p:grpSp>
              <p:nvGrpSpPr>
                <p:cNvPr id="47" name="Group 46">
                  <a:extLst>
                    <a:ext uri="{FF2B5EF4-FFF2-40B4-BE49-F238E27FC236}">
                      <a16:creationId xmlns:a16="http://schemas.microsoft.com/office/drawing/2014/main" id="{1CEE94F1-6ED3-A809-E180-AFB2D027035D}"/>
                    </a:ext>
                  </a:extLst>
                </p:cNvPr>
                <p:cNvGrpSpPr/>
                <p:nvPr/>
              </p:nvGrpSpPr>
              <p:grpSpPr>
                <a:xfrm>
                  <a:off x="2521324" y="4067735"/>
                  <a:ext cx="2267712" cy="1337983"/>
                  <a:chOff x="2521324" y="4067735"/>
                  <a:chExt cx="2267712" cy="1337983"/>
                </a:xfrm>
              </p:grpSpPr>
              <p:sp>
                <p:nvSpPr>
                  <p:cNvPr id="49" name="Rectangle: Rounded Corners 48">
                    <a:extLst>
                      <a:ext uri="{FF2B5EF4-FFF2-40B4-BE49-F238E27FC236}">
                        <a16:creationId xmlns:a16="http://schemas.microsoft.com/office/drawing/2014/main" id="{45BCCE7A-A3D3-3523-C367-14F6C6BE7D4E}"/>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50" name="Straight Connector 49">
                    <a:extLst>
                      <a:ext uri="{FF2B5EF4-FFF2-40B4-BE49-F238E27FC236}">
                        <a16:creationId xmlns:a16="http://schemas.microsoft.com/office/drawing/2014/main" id="{4BDB3299-D16F-06EF-EFCF-60FC503594A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1" name="TextBox 50">
                    <a:extLst>
                      <a:ext uri="{FF2B5EF4-FFF2-40B4-BE49-F238E27FC236}">
                        <a16:creationId xmlns:a16="http://schemas.microsoft.com/office/drawing/2014/main" id="{AA3AD59B-C854-7F58-F61D-FF4DC7547B7A}"/>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52" name="TextBox 51">
                    <a:extLst>
                      <a:ext uri="{FF2B5EF4-FFF2-40B4-BE49-F238E27FC236}">
                        <a16:creationId xmlns:a16="http://schemas.microsoft.com/office/drawing/2014/main" id="{E15008FB-063D-AFBB-1E51-EB174905B56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48" name="Graphic 47" descr="Cycle with people with solid fill">
                  <a:extLst>
                    <a:ext uri="{FF2B5EF4-FFF2-40B4-BE49-F238E27FC236}">
                      <a16:creationId xmlns:a16="http://schemas.microsoft.com/office/drawing/2014/main" id="{9C0CE74B-4AEE-892A-664A-AB3D8E0160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43" name="TextBox 42">
              <a:extLst>
                <a:ext uri="{FF2B5EF4-FFF2-40B4-BE49-F238E27FC236}">
                  <a16:creationId xmlns:a16="http://schemas.microsoft.com/office/drawing/2014/main" id="{F84354A2-6695-FBF7-E188-36AB27FA189E}"/>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AMER Mid-Market Secure Campus &amp; Branch Connect</a:t>
              </a:r>
            </a:p>
            <a:p>
              <a:pPr defTabSz="912276" fontAlgn="base">
                <a:buClr>
                  <a:schemeClr val="bg1"/>
                </a:buClr>
                <a:buSzPct val="100000"/>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This campaign focuses on driving engagement and pipeline growth within the Americas mid-market segment by highlighting secure campus and branch networking solutions. It addresses the critical need for midsize businesses to deploy scalable, robust, and highly secure infrastructure across distributed office environments. Through targeted messaging, the initiative aims to accelerate the sales cycle and capture expanding network security opportunities across the region.</a:t>
              </a:r>
            </a:p>
          </p:txBody>
        </p:sp>
      </p:grpSp>
      <p:grpSp>
        <p:nvGrpSpPr>
          <p:cNvPr id="68" name="Group 67">
            <a:extLst>
              <a:ext uri="{FF2B5EF4-FFF2-40B4-BE49-F238E27FC236}">
                <a16:creationId xmlns:a16="http://schemas.microsoft.com/office/drawing/2014/main" id="{BACE89A9-4476-B150-B56C-1E91D90D4AAD}"/>
              </a:ext>
            </a:extLst>
          </p:cNvPr>
          <p:cNvGrpSpPr/>
          <p:nvPr/>
        </p:nvGrpSpPr>
        <p:grpSpPr>
          <a:xfrm>
            <a:off x="891987" y="3838498"/>
            <a:ext cx="5029200" cy="2532222"/>
            <a:chOff x="2292723" y="2436466"/>
            <a:chExt cx="5029200" cy="2532222"/>
          </a:xfrm>
        </p:grpSpPr>
        <p:sp>
          <p:nvSpPr>
            <p:cNvPr id="69" name="Freeform: Shape 68">
              <a:extLst>
                <a:ext uri="{FF2B5EF4-FFF2-40B4-BE49-F238E27FC236}">
                  <a16:creationId xmlns:a16="http://schemas.microsoft.com/office/drawing/2014/main" id="{24FFF187-20A3-7B1E-0E7F-F4E1F9C04580}"/>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70" name="Group 69">
              <a:extLst>
                <a:ext uri="{FF2B5EF4-FFF2-40B4-BE49-F238E27FC236}">
                  <a16:creationId xmlns:a16="http://schemas.microsoft.com/office/drawing/2014/main" id="{8337B887-D11B-B94E-DE65-6EABB6D72FE8}"/>
                </a:ext>
              </a:extLst>
            </p:cNvPr>
            <p:cNvGrpSpPr/>
            <p:nvPr/>
          </p:nvGrpSpPr>
          <p:grpSpPr>
            <a:xfrm>
              <a:off x="2794747" y="2436466"/>
              <a:ext cx="2675964" cy="492443"/>
              <a:chOff x="2794747" y="2436466"/>
              <a:chExt cx="2675964" cy="492443"/>
            </a:xfrm>
          </p:grpSpPr>
          <p:sp>
            <p:nvSpPr>
              <p:cNvPr id="94" name="Rectangle: Rounded Corners 93">
                <a:extLst>
                  <a:ext uri="{FF2B5EF4-FFF2-40B4-BE49-F238E27FC236}">
                    <a16:creationId xmlns:a16="http://schemas.microsoft.com/office/drawing/2014/main" id="{0413D299-4537-F8AC-8DDC-8A12F6342BEB}"/>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95" name="Graphic 94" descr="Mandala with solid fill">
                <a:extLst>
                  <a:ext uri="{FF2B5EF4-FFF2-40B4-BE49-F238E27FC236}">
                    <a16:creationId xmlns:a16="http://schemas.microsoft.com/office/drawing/2014/main" id="{538ABE7E-8CDF-FC28-041A-03F2A0A4A9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96" name="TextBox 95">
                <a:extLst>
                  <a:ext uri="{FF2B5EF4-FFF2-40B4-BE49-F238E27FC236}">
                    <a16:creationId xmlns:a16="http://schemas.microsoft.com/office/drawing/2014/main" id="{828E48B6-89EF-394C-D625-219C4DF75BD9}"/>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cc010918</a:t>
                </a:r>
                <a:endParaRPr lang="en-GB" sz="2400" kern="1200" dirty="0" err="1">
                  <a:solidFill>
                    <a:schemeClr val="bg1"/>
                  </a:solidFill>
                  <a:latin typeface="+mn-lt"/>
                  <a:ea typeface="ＭＳ Ｐゴシック" charset="0"/>
                </a:endParaRPr>
              </a:p>
            </p:txBody>
          </p:sp>
        </p:grpSp>
        <p:grpSp>
          <p:nvGrpSpPr>
            <p:cNvPr id="71" name="Group 70">
              <a:extLst>
                <a:ext uri="{FF2B5EF4-FFF2-40B4-BE49-F238E27FC236}">
                  <a16:creationId xmlns:a16="http://schemas.microsoft.com/office/drawing/2014/main" id="{35E40BB9-CEF1-BA0F-1730-E971BE4F85E8}"/>
                </a:ext>
              </a:extLst>
            </p:cNvPr>
            <p:cNvGrpSpPr/>
            <p:nvPr/>
          </p:nvGrpSpPr>
          <p:grpSpPr>
            <a:xfrm>
              <a:off x="2605869" y="4048152"/>
              <a:ext cx="4402908" cy="805656"/>
              <a:chOff x="2582839" y="3959740"/>
              <a:chExt cx="4402908" cy="805656"/>
            </a:xfrm>
          </p:grpSpPr>
          <p:grpSp>
            <p:nvGrpSpPr>
              <p:cNvPr id="73" name="Group 72">
                <a:extLst>
                  <a:ext uri="{FF2B5EF4-FFF2-40B4-BE49-F238E27FC236}">
                    <a16:creationId xmlns:a16="http://schemas.microsoft.com/office/drawing/2014/main" id="{822BF5F0-1C04-D207-F25E-AA1C6163B106}"/>
                  </a:ext>
                </a:extLst>
              </p:cNvPr>
              <p:cNvGrpSpPr/>
              <p:nvPr/>
            </p:nvGrpSpPr>
            <p:grpSpPr>
              <a:xfrm>
                <a:off x="4108143" y="3963630"/>
                <a:ext cx="1352299" cy="797876"/>
                <a:chOff x="5225124" y="4067734"/>
                <a:chExt cx="2267712" cy="1337983"/>
              </a:xfrm>
            </p:grpSpPr>
            <p:grpSp>
              <p:nvGrpSpPr>
                <p:cNvPr id="88" name="Group 87">
                  <a:extLst>
                    <a:ext uri="{FF2B5EF4-FFF2-40B4-BE49-F238E27FC236}">
                      <a16:creationId xmlns:a16="http://schemas.microsoft.com/office/drawing/2014/main" id="{3DEADFDD-7AB1-EC08-EE89-18FD66CB4791}"/>
                    </a:ext>
                  </a:extLst>
                </p:cNvPr>
                <p:cNvGrpSpPr/>
                <p:nvPr/>
              </p:nvGrpSpPr>
              <p:grpSpPr>
                <a:xfrm>
                  <a:off x="5225124" y="4067734"/>
                  <a:ext cx="2267712" cy="1337983"/>
                  <a:chOff x="2521324" y="4067735"/>
                  <a:chExt cx="2267712" cy="1337983"/>
                </a:xfrm>
              </p:grpSpPr>
              <p:sp>
                <p:nvSpPr>
                  <p:cNvPr id="90" name="Rectangle: Rounded Corners 89">
                    <a:extLst>
                      <a:ext uri="{FF2B5EF4-FFF2-40B4-BE49-F238E27FC236}">
                        <a16:creationId xmlns:a16="http://schemas.microsoft.com/office/drawing/2014/main" id="{72448345-CE91-EA08-E964-F7726E3F4EEC}"/>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91" name="Straight Connector 90">
                    <a:extLst>
                      <a:ext uri="{FF2B5EF4-FFF2-40B4-BE49-F238E27FC236}">
                        <a16:creationId xmlns:a16="http://schemas.microsoft.com/office/drawing/2014/main" id="{C3A4CB19-A70E-97A1-8279-937818ED7195}"/>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92" name="TextBox 91">
                    <a:extLst>
                      <a:ext uri="{FF2B5EF4-FFF2-40B4-BE49-F238E27FC236}">
                        <a16:creationId xmlns:a16="http://schemas.microsoft.com/office/drawing/2014/main" id="{C65E8D5D-5AB5-8961-491F-2741C274062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93" name="TextBox 92">
                    <a:extLst>
                      <a:ext uri="{FF2B5EF4-FFF2-40B4-BE49-F238E27FC236}">
                        <a16:creationId xmlns:a16="http://schemas.microsoft.com/office/drawing/2014/main" id="{836D641A-90DB-EC7A-685C-6FDE5B9D63BB}"/>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Up Market Networking LDOS</a:t>
                    </a:r>
                    <a:endParaRPr lang="en-GB" sz="1000" kern="1200" dirty="0" err="1">
                      <a:solidFill>
                        <a:schemeClr val="bg1"/>
                      </a:solidFill>
                      <a:latin typeface="+mn-lt"/>
                      <a:ea typeface="ＭＳ Ｐゴシック" charset="0"/>
                    </a:endParaRPr>
                  </a:p>
                </p:txBody>
              </p:sp>
            </p:grpSp>
            <p:pic>
              <p:nvPicPr>
                <p:cNvPr id="89" name="Graphic 88" descr="Processor with solid fill">
                  <a:extLst>
                    <a:ext uri="{FF2B5EF4-FFF2-40B4-BE49-F238E27FC236}">
                      <a16:creationId xmlns:a16="http://schemas.microsoft.com/office/drawing/2014/main" id="{4E1D78FE-5D87-6908-DDA7-2C1DF0724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74" name="Group 73">
                <a:extLst>
                  <a:ext uri="{FF2B5EF4-FFF2-40B4-BE49-F238E27FC236}">
                    <a16:creationId xmlns:a16="http://schemas.microsoft.com/office/drawing/2014/main" id="{B64ED66F-9B0E-8DB7-608B-35F50FF46BF7}"/>
                  </a:ext>
                </a:extLst>
              </p:cNvPr>
              <p:cNvGrpSpPr/>
              <p:nvPr/>
            </p:nvGrpSpPr>
            <p:grpSpPr>
              <a:xfrm>
                <a:off x="5633448" y="3963630"/>
                <a:ext cx="1352299" cy="797876"/>
                <a:chOff x="7928924" y="4067733"/>
                <a:chExt cx="2267712" cy="1337983"/>
              </a:xfrm>
            </p:grpSpPr>
            <p:grpSp>
              <p:nvGrpSpPr>
                <p:cNvPr id="82" name="Group 81">
                  <a:extLst>
                    <a:ext uri="{FF2B5EF4-FFF2-40B4-BE49-F238E27FC236}">
                      <a16:creationId xmlns:a16="http://schemas.microsoft.com/office/drawing/2014/main" id="{F051F144-E503-4B86-6C0C-6213BACB064C}"/>
                    </a:ext>
                  </a:extLst>
                </p:cNvPr>
                <p:cNvGrpSpPr/>
                <p:nvPr/>
              </p:nvGrpSpPr>
              <p:grpSpPr>
                <a:xfrm>
                  <a:off x="7928924" y="4067733"/>
                  <a:ext cx="2267712" cy="1337983"/>
                  <a:chOff x="2521324" y="4067735"/>
                  <a:chExt cx="2267712" cy="1337983"/>
                </a:xfrm>
              </p:grpSpPr>
              <p:sp>
                <p:nvSpPr>
                  <p:cNvPr id="84" name="Rectangle: Rounded Corners 83">
                    <a:extLst>
                      <a:ext uri="{FF2B5EF4-FFF2-40B4-BE49-F238E27FC236}">
                        <a16:creationId xmlns:a16="http://schemas.microsoft.com/office/drawing/2014/main" id="{C83C9FA7-9A24-C399-0704-FE6E4FFD19F9}"/>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85" name="Straight Connector 84">
                    <a:extLst>
                      <a:ext uri="{FF2B5EF4-FFF2-40B4-BE49-F238E27FC236}">
                        <a16:creationId xmlns:a16="http://schemas.microsoft.com/office/drawing/2014/main" id="{46402405-BF7F-2E8D-B74F-D21EF2925C1A}"/>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6" name="TextBox 85">
                    <a:extLst>
                      <a:ext uri="{FF2B5EF4-FFF2-40B4-BE49-F238E27FC236}">
                        <a16:creationId xmlns:a16="http://schemas.microsoft.com/office/drawing/2014/main" id="{DB6DAA78-211C-F779-9C29-6AD8619A26E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87" name="TextBox 86">
                    <a:extLst>
                      <a:ext uri="{FF2B5EF4-FFF2-40B4-BE49-F238E27FC236}">
                        <a16:creationId xmlns:a16="http://schemas.microsoft.com/office/drawing/2014/main" id="{EDA2AA37-1B15-C48F-4909-6C25FD131B13}"/>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83" name="Graphic 82" descr="Circles with arrows with solid fill">
                  <a:extLst>
                    <a:ext uri="{FF2B5EF4-FFF2-40B4-BE49-F238E27FC236}">
                      <a16:creationId xmlns:a16="http://schemas.microsoft.com/office/drawing/2014/main" id="{07CA8D28-5DA4-5048-E41E-1D9D7887D3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75" name="Group 74">
                <a:extLst>
                  <a:ext uri="{FF2B5EF4-FFF2-40B4-BE49-F238E27FC236}">
                    <a16:creationId xmlns:a16="http://schemas.microsoft.com/office/drawing/2014/main" id="{30D3300E-B2B2-9AAA-6D30-D3A7A43EBA46}"/>
                  </a:ext>
                </a:extLst>
              </p:cNvPr>
              <p:cNvGrpSpPr/>
              <p:nvPr/>
            </p:nvGrpSpPr>
            <p:grpSpPr>
              <a:xfrm>
                <a:off x="2582839" y="3959740"/>
                <a:ext cx="1352298" cy="805656"/>
                <a:chOff x="2521324" y="4054687"/>
                <a:chExt cx="2267712" cy="1351031"/>
              </a:xfrm>
            </p:grpSpPr>
            <p:grpSp>
              <p:nvGrpSpPr>
                <p:cNvPr id="76" name="Group 75">
                  <a:extLst>
                    <a:ext uri="{FF2B5EF4-FFF2-40B4-BE49-F238E27FC236}">
                      <a16:creationId xmlns:a16="http://schemas.microsoft.com/office/drawing/2014/main" id="{1AFF521E-A833-CF71-CCAD-C2F6D2B4B857}"/>
                    </a:ext>
                  </a:extLst>
                </p:cNvPr>
                <p:cNvGrpSpPr/>
                <p:nvPr/>
              </p:nvGrpSpPr>
              <p:grpSpPr>
                <a:xfrm>
                  <a:off x="2521324" y="4067735"/>
                  <a:ext cx="2267712" cy="1337983"/>
                  <a:chOff x="2521324" y="4067735"/>
                  <a:chExt cx="2267712" cy="1337983"/>
                </a:xfrm>
              </p:grpSpPr>
              <p:sp>
                <p:nvSpPr>
                  <p:cNvPr id="78" name="Rectangle: Rounded Corners 77">
                    <a:extLst>
                      <a:ext uri="{FF2B5EF4-FFF2-40B4-BE49-F238E27FC236}">
                        <a16:creationId xmlns:a16="http://schemas.microsoft.com/office/drawing/2014/main" id="{C47F32E3-863B-3FA3-5D5E-BEF36B868536}"/>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79" name="Straight Connector 78">
                    <a:extLst>
                      <a:ext uri="{FF2B5EF4-FFF2-40B4-BE49-F238E27FC236}">
                        <a16:creationId xmlns:a16="http://schemas.microsoft.com/office/drawing/2014/main" id="{13E79225-AB41-2FC1-6819-539A51CE96A9}"/>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0" name="TextBox 79">
                    <a:extLst>
                      <a:ext uri="{FF2B5EF4-FFF2-40B4-BE49-F238E27FC236}">
                        <a16:creationId xmlns:a16="http://schemas.microsoft.com/office/drawing/2014/main" id="{EA7D8FB0-1AE4-73E6-864D-12C1A92C22A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81" name="TextBox 80">
                    <a:extLst>
                      <a:ext uri="{FF2B5EF4-FFF2-40B4-BE49-F238E27FC236}">
                        <a16:creationId xmlns:a16="http://schemas.microsoft.com/office/drawing/2014/main" id="{44CF1D8A-B605-6C20-90A7-1AD1D6B3F7D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77" name="Graphic 76" descr="Cycle with people with solid fill">
                  <a:extLst>
                    <a:ext uri="{FF2B5EF4-FFF2-40B4-BE49-F238E27FC236}">
                      <a16:creationId xmlns:a16="http://schemas.microsoft.com/office/drawing/2014/main" id="{483319A8-24B3-942B-F2B5-A896B46944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72" name="TextBox 71">
              <a:extLst>
                <a:ext uri="{FF2B5EF4-FFF2-40B4-BE49-F238E27FC236}">
                  <a16:creationId xmlns:a16="http://schemas.microsoft.com/office/drawing/2014/main" id="{2B0C51F5-082C-4817-592C-26703C2006B7}"/>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EMEA Enterprise AI-Driven Network Assurance (Powered by </a:t>
              </a:r>
              <a:r>
                <a:rPr lang="en-GB" sz="800" dirty="0" err="1">
                  <a:solidFill>
                    <a:schemeClr val="accent2"/>
                  </a:solidFill>
                </a:rPr>
                <a:t>ThousandEyes</a:t>
              </a:r>
              <a:r>
                <a:rPr lang="en-GB" sz="800" dirty="0">
                  <a:solidFill>
                    <a:schemeClr val="accent2"/>
                  </a:solidFill>
                </a:rPr>
                <a:t>)</a:t>
              </a:r>
            </a:p>
            <a:p>
              <a:pPr marL="285750" indent="-285750" defTabSz="912276" fontAlgn="base">
                <a:buClr>
                  <a:schemeClr val="bg1"/>
                </a:buClr>
                <a:buSzPct val="100000"/>
                <a:buFont typeface="Arial" panose="020B0604020202020204" pitchFamily="34" charset="0"/>
                <a:buChar char="•"/>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Driving adoption of AI-powered network assurance and visibility across the EMEA market by showcasing the native integration of Thousand Eyes with Cisco networking hardware. It highlights how organizations can leverage deep, granular insights across their entire digital infrastructure to proactively isolate performance bottlenecks and drastically reduce mean time to repair (MTTR). </a:t>
              </a:r>
            </a:p>
          </p:txBody>
        </p:sp>
      </p:grpSp>
      <p:grpSp>
        <p:nvGrpSpPr>
          <p:cNvPr id="97" name="Group 96">
            <a:extLst>
              <a:ext uri="{FF2B5EF4-FFF2-40B4-BE49-F238E27FC236}">
                <a16:creationId xmlns:a16="http://schemas.microsoft.com/office/drawing/2014/main" id="{C88C50BF-C341-1D64-0818-203FA8867BEB}"/>
              </a:ext>
            </a:extLst>
          </p:cNvPr>
          <p:cNvGrpSpPr/>
          <p:nvPr/>
        </p:nvGrpSpPr>
        <p:grpSpPr>
          <a:xfrm>
            <a:off x="6423211" y="3838498"/>
            <a:ext cx="5029200" cy="2532222"/>
            <a:chOff x="2292723" y="2436466"/>
            <a:chExt cx="5029200" cy="2532222"/>
          </a:xfrm>
        </p:grpSpPr>
        <p:sp>
          <p:nvSpPr>
            <p:cNvPr id="98" name="Freeform: Shape 97">
              <a:extLst>
                <a:ext uri="{FF2B5EF4-FFF2-40B4-BE49-F238E27FC236}">
                  <a16:creationId xmlns:a16="http://schemas.microsoft.com/office/drawing/2014/main" id="{60124003-1E15-DB6F-9E15-B05F3A6FC475}"/>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99" name="Group 98">
              <a:extLst>
                <a:ext uri="{FF2B5EF4-FFF2-40B4-BE49-F238E27FC236}">
                  <a16:creationId xmlns:a16="http://schemas.microsoft.com/office/drawing/2014/main" id="{1E2366F4-CBC9-9237-7C93-17A59F0B852D}"/>
                </a:ext>
              </a:extLst>
            </p:cNvPr>
            <p:cNvGrpSpPr/>
            <p:nvPr/>
          </p:nvGrpSpPr>
          <p:grpSpPr>
            <a:xfrm>
              <a:off x="2794747" y="2436466"/>
              <a:ext cx="2675964" cy="492443"/>
              <a:chOff x="2794747" y="2436466"/>
              <a:chExt cx="2675964" cy="492443"/>
            </a:xfrm>
          </p:grpSpPr>
          <p:sp>
            <p:nvSpPr>
              <p:cNvPr id="123" name="Rectangle: Rounded Corners 122">
                <a:extLst>
                  <a:ext uri="{FF2B5EF4-FFF2-40B4-BE49-F238E27FC236}">
                    <a16:creationId xmlns:a16="http://schemas.microsoft.com/office/drawing/2014/main" id="{BC89AED4-6D8C-8B93-5D2C-4DF4D2E5676A}"/>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124" name="Graphic 123" descr="Mandala with solid fill">
                <a:extLst>
                  <a:ext uri="{FF2B5EF4-FFF2-40B4-BE49-F238E27FC236}">
                    <a16:creationId xmlns:a16="http://schemas.microsoft.com/office/drawing/2014/main" id="{C33B3D92-E3D4-F731-804A-568E34BFDB4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125" name="TextBox 124">
                <a:extLst>
                  <a:ext uri="{FF2B5EF4-FFF2-40B4-BE49-F238E27FC236}">
                    <a16:creationId xmlns:a16="http://schemas.microsoft.com/office/drawing/2014/main" id="{F776EAE2-C66F-1D9E-767F-6969D7318190}"/>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cc01102</a:t>
                </a:r>
                <a:endParaRPr lang="en-GB" sz="2400" kern="1200" dirty="0" err="1">
                  <a:solidFill>
                    <a:schemeClr val="bg1"/>
                  </a:solidFill>
                  <a:latin typeface="+mn-lt"/>
                  <a:ea typeface="ＭＳ Ｐゴシック" charset="0"/>
                </a:endParaRPr>
              </a:p>
            </p:txBody>
          </p:sp>
        </p:grpSp>
        <p:grpSp>
          <p:nvGrpSpPr>
            <p:cNvPr id="100" name="Group 99">
              <a:extLst>
                <a:ext uri="{FF2B5EF4-FFF2-40B4-BE49-F238E27FC236}">
                  <a16:creationId xmlns:a16="http://schemas.microsoft.com/office/drawing/2014/main" id="{5AA4BF58-21C0-2A1E-BEA7-145709E1A608}"/>
                </a:ext>
              </a:extLst>
            </p:cNvPr>
            <p:cNvGrpSpPr/>
            <p:nvPr/>
          </p:nvGrpSpPr>
          <p:grpSpPr>
            <a:xfrm>
              <a:off x="2605869" y="4048152"/>
              <a:ext cx="4402908" cy="805656"/>
              <a:chOff x="2582839" y="3959740"/>
              <a:chExt cx="4402908" cy="805656"/>
            </a:xfrm>
          </p:grpSpPr>
          <p:grpSp>
            <p:nvGrpSpPr>
              <p:cNvPr id="102" name="Group 101">
                <a:extLst>
                  <a:ext uri="{FF2B5EF4-FFF2-40B4-BE49-F238E27FC236}">
                    <a16:creationId xmlns:a16="http://schemas.microsoft.com/office/drawing/2014/main" id="{4E1BE113-E639-3911-8151-216203FB6E49}"/>
                  </a:ext>
                </a:extLst>
              </p:cNvPr>
              <p:cNvGrpSpPr/>
              <p:nvPr/>
            </p:nvGrpSpPr>
            <p:grpSpPr>
              <a:xfrm>
                <a:off x="4108143" y="3963630"/>
                <a:ext cx="1352299" cy="797876"/>
                <a:chOff x="5225124" y="4067734"/>
                <a:chExt cx="2267712" cy="1337983"/>
              </a:xfrm>
            </p:grpSpPr>
            <p:grpSp>
              <p:nvGrpSpPr>
                <p:cNvPr id="117" name="Group 116">
                  <a:extLst>
                    <a:ext uri="{FF2B5EF4-FFF2-40B4-BE49-F238E27FC236}">
                      <a16:creationId xmlns:a16="http://schemas.microsoft.com/office/drawing/2014/main" id="{DE5CA87C-6166-84EF-90B4-98F33545DFF7}"/>
                    </a:ext>
                  </a:extLst>
                </p:cNvPr>
                <p:cNvGrpSpPr/>
                <p:nvPr/>
              </p:nvGrpSpPr>
              <p:grpSpPr>
                <a:xfrm>
                  <a:off x="5225124" y="4067734"/>
                  <a:ext cx="2267712" cy="1337983"/>
                  <a:chOff x="2521324" y="4067735"/>
                  <a:chExt cx="2267712" cy="1337983"/>
                </a:xfrm>
              </p:grpSpPr>
              <p:sp>
                <p:nvSpPr>
                  <p:cNvPr id="119" name="Rectangle: Rounded Corners 118">
                    <a:extLst>
                      <a:ext uri="{FF2B5EF4-FFF2-40B4-BE49-F238E27FC236}">
                        <a16:creationId xmlns:a16="http://schemas.microsoft.com/office/drawing/2014/main" id="{C20D7A9C-1418-ADC4-C8CB-1B129ADE300B}"/>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20" name="Straight Connector 119">
                    <a:extLst>
                      <a:ext uri="{FF2B5EF4-FFF2-40B4-BE49-F238E27FC236}">
                        <a16:creationId xmlns:a16="http://schemas.microsoft.com/office/drawing/2014/main" id="{07565E41-E93A-4077-0707-D5A8839607F1}"/>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1" name="TextBox 120">
                    <a:extLst>
                      <a:ext uri="{FF2B5EF4-FFF2-40B4-BE49-F238E27FC236}">
                        <a16:creationId xmlns:a16="http://schemas.microsoft.com/office/drawing/2014/main" id="{071E490B-7204-9711-D70E-B123677F5E5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122" name="TextBox 121">
                    <a:extLst>
                      <a:ext uri="{FF2B5EF4-FFF2-40B4-BE49-F238E27FC236}">
                        <a16:creationId xmlns:a16="http://schemas.microsoft.com/office/drawing/2014/main" id="{27C6AB22-9AA7-9879-173E-59492AE8FCC1}"/>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err="1">
                        <a:solidFill>
                          <a:schemeClr val="bg1"/>
                        </a:solidFill>
                        <a:ea typeface="ＭＳ Ｐゴシック" charset="0"/>
                      </a:rPr>
                      <a:t>Neocloud</a:t>
                    </a:r>
                    <a:endParaRPr lang="en-GB" sz="1000" kern="1200" dirty="0" err="1">
                      <a:solidFill>
                        <a:schemeClr val="bg1"/>
                      </a:solidFill>
                      <a:latin typeface="+mn-lt"/>
                      <a:ea typeface="ＭＳ Ｐゴシック" charset="0"/>
                    </a:endParaRPr>
                  </a:p>
                </p:txBody>
              </p:sp>
            </p:grpSp>
            <p:pic>
              <p:nvPicPr>
                <p:cNvPr id="118" name="Graphic 117" descr="Processor with solid fill">
                  <a:extLst>
                    <a:ext uri="{FF2B5EF4-FFF2-40B4-BE49-F238E27FC236}">
                      <a16:creationId xmlns:a16="http://schemas.microsoft.com/office/drawing/2014/main" id="{3F024072-C624-B5FC-4CD9-EE0726A35A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103" name="Group 102">
                <a:extLst>
                  <a:ext uri="{FF2B5EF4-FFF2-40B4-BE49-F238E27FC236}">
                    <a16:creationId xmlns:a16="http://schemas.microsoft.com/office/drawing/2014/main" id="{D6C6EC3D-7EA0-C336-EF10-919B4D545A22}"/>
                  </a:ext>
                </a:extLst>
              </p:cNvPr>
              <p:cNvGrpSpPr/>
              <p:nvPr/>
            </p:nvGrpSpPr>
            <p:grpSpPr>
              <a:xfrm>
                <a:off x="5633448" y="3963630"/>
                <a:ext cx="1352299" cy="797876"/>
                <a:chOff x="7928924" y="4067733"/>
                <a:chExt cx="2267712" cy="1337983"/>
              </a:xfrm>
            </p:grpSpPr>
            <p:grpSp>
              <p:nvGrpSpPr>
                <p:cNvPr id="111" name="Group 110">
                  <a:extLst>
                    <a:ext uri="{FF2B5EF4-FFF2-40B4-BE49-F238E27FC236}">
                      <a16:creationId xmlns:a16="http://schemas.microsoft.com/office/drawing/2014/main" id="{F4D52316-83E8-475D-DEF0-0026232A7296}"/>
                    </a:ext>
                  </a:extLst>
                </p:cNvPr>
                <p:cNvGrpSpPr/>
                <p:nvPr/>
              </p:nvGrpSpPr>
              <p:grpSpPr>
                <a:xfrm>
                  <a:off x="7928924" y="4067733"/>
                  <a:ext cx="2267712" cy="1337983"/>
                  <a:chOff x="2521324" y="4067735"/>
                  <a:chExt cx="2267712" cy="1337983"/>
                </a:xfrm>
              </p:grpSpPr>
              <p:sp>
                <p:nvSpPr>
                  <p:cNvPr id="113" name="Rectangle: Rounded Corners 112">
                    <a:extLst>
                      <a:ext uri="{FF2B5EF4-FFF2-40B4-BE49-F238E27FC236}">
                        <a16:creationId xmlns:a16="http://schemas.microsoft.com/office/drawing/2014/main" id="{B6DF24D1-916B-126F-A8C6-902EA1CC5C41}"/>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14" name="Straight Connector 113">
                    <a:extLst>
                      <a:ext uri="{FF2B5EF4-FFF2-40B4-BE49-F238E27FC236}">
                        <a16:creationId xmlns:a16="http://schemas.microsoft.com/office/drawing/2014/main" id="{C4E4E11F-4C21-26B9-36C6-5F923EB7190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5" name="TextBox 114">
                    <a:extLst>
                      <a:ext uri="{FF2B5EF4-FFF2-40B4-BE49-F238E27FC236}">
                        <a16:creationId xmlns:a16="http://schemas.microsoft.com/office/drawing/2014/main" id="{DED1DF69-E6ED-2C97-07A9-15F28E1374D6}"/>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116" name="TextBox 115">
                    <a:extLst>
                      <a:ext uri="{FF2B5EF4-FFF2-40B4-BE49-F238E27FC236}">
                        <a16:creationId xmlns:a16="http://schemas.microsoft.com/office/drawing/2014/main" id="{D876C8DC-2C25-039E-D101-B13E4D492E2B}"/>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112" name="Graphic 111" descr="Circles with arrows with solid fill">
                  <a:extLst>
                    <a:ext uri="{FF2B5EF4-FFF2-40B4-BE49-F238E27FC236}">
                      <a16:creationId xmlns:a16="http://schemas.microsoft.com/office/drawing/2014/main" id="{31032AAB-5E28-D684-2450-518D9D469C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104" name="Group 103">
                <a:extLst>
                  <a:ext uri="{FF2B5EF4-FFF2-40B4-BE49-F238E27FC236}">
                    <a16:creationId xmlns:a16="http://schemas.microsoft.com/office/drawing/2014/main" id="{A3C6259E-3F53-9F46-676D-9F9D2563209F}"/>
                  </a:ext>
                </a:extLst>
              </p:cNvPr>
              <p:cNvGrpSpPr/>
              <p:nvPr/>
            </p:nvGrpSpPr>
            <p:grpSpPr>
              <a:xfrm>
                <a:off x="2582839" y="3959740"/>
                <a:ext cx="1352298" cy="805656"/>
                <a:chOff x="2521324" y="4054687"/>
                <a:chExt cx="2267712" cy="1351031"/>
              </a:xfrm>
            </p:grpSpPr>
            <p:grpSp>
              <p:nvGrpSpPr>
                <p:cNvPr id="105" name="Group 104">
                  <a:extLst>
                    <a:ext uri="{FF2B5EF4-FFF2-40B4-BE49-F238E27FC236}">
                      <a16:creationId xmlns:a16="http://schemas.microsoft.com/office/drawing/2014/main" id="{80B64C6C-2D6C-6942-7EFE-AE1E04294436}"/>
                    </a:ext>
                  </a:extLst>
                </p:cNvPr>
                <p:cNvGrpSpPr/>
                <p:nvPr/>
              </p:nvGrpSpPr>
              <p:grpSpPr>
                <a:xfrm>
                  <a:off x="2521324" y="4067735"/>
                  <a:ext cx="2267712" cy="1337983"/>
                  <a:chOff x="2521324" y="4067735"/>
                  <a:chExt cx="2267712" cy="1337983"/>
                </a:xfrm>
              </p:grpSpPr>
              <p:sp>
                <p:nvSpPr>
                  <p:cNvPr id="107" name="Rectangle: Rounded Corners 106">
                    <a:extLst>
                      <a:ext uri="{FF2B5EF4-FFF2-40B4-BE49-F238E27FC236}">
                        <a16:creationId xmlns:a16="http://schemas.microsoft.com/office/drawing/2014/main" id="{49DD9D75-5510-BD63-D0C6-B1D6744694B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08" name="Straight Connector 107">
                    <a:extLst>
                      <a:ext uri="{FF2B5EF4-FFF2-40B4-BE49-F238E27FC236}">
                        <a16:creationId xmlns:a16="http://schemas.microsoft.com/office/drawing/2014/main" id="{D28630DB-C599-3E50-E54E-8E4FA70E8EFF}"/>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09" name="TextBox 108">
                    <a:extLst>
                      <a:ext uri="{FF2B5EF4-FFF2-40B4-BE49-F238E27FC236}">
                        <a16:creationId xmlns:a16="http://schemas.microsoft.com/office/drawing/2014/main" id="{C57794E1-B6B2-0253-C438-1F3924785259}"/>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110" name="TextBox 109">
                    <a:extLst>
                      <a:ext uri="{FF2B5EF4-FFF2-40B4-BE49-F238E27FC236}">
                        <a16:creationId xmlns:a16="http://schemas.microsoft.com/office/drawing/2014/main" id="{0F6D3209-51F0-7225-526F-771EB5CC89B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AI-Ready Data Centers</a:t>
                    </a:r>
                    <a:endParaRPr lang="en-GB" sz="1000" kern="1200" dirty="0" err="1">
                      <a:solidFill>
                        <a:schemeClr val="bg1"/>
                      </a:solidFill>
                      <a:latin typeface="+mn-lt"/>
                      <a:ea typeface="ＭＳ Ｐゴシック" charset="0"/>
                    </a:endParaRPr>
                  </a:p>
                </p:txBody>
              </p:sp>
            </p:grpSp>
            <p:pic>
              <p:nvPicPr>
                <p:cNvPr id="106" name="Graphic 105" descr="Cycle with people with solid fill">
                  <a:extLst>
                    <a:ext uri="{FF2B5EF4-FFF2-40B4-BE49-F238E27FC236}">
                      <a16:creationId xmlns:a16="http://schemas.microsoft.com/office/drawing/2014/main" id="{BEFB3D15-F65F-867D-9C7E-26E04A4A1A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101" name="TextBox 100">
              <a:extLst>
                <a:ext uri="{FF2B5EF4-FFF2-40B4-BE49-F238E27FC236}">
                  <a16:creationId xmlns:a16="http://schemas.microsoft.com/office/drawing/2014/main" id="{0705130F-A228-CF64-FFD6-5530EC3B4813}"/>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Global Enterprise: Unified </a:t>
              </a:r>
              <a:r>
                <a:rPr lang="en-GB" sz="800" dirty="0" err="1">
                  <a:solidFill>
                    <a:schemeClr val="accent2"/>
                  </a:solidFill>
                </a:rPr>
                <a:t>Defense</a:t>
              </a:r>
              <a:r>
                <a:rPr lang="en-GB" sz="800" dirty="0">
                  <a:solidFill>
                    <a:schemeClr val="accent2"/>
                  </a:solidFill>
                </a:rPr>
                <a:t> Framework for </a:t>
              </a:r>
              <a:r>
                <a:rPr lang="en-GB" sz="800" dirty="0" err="1">
                  <a:solidFill>
                    <a:schemeClr val="accent2"/>
                  </a:solidFill>
                </a:rPr>
                <a:t>Neocloud</a:t>
              </a:r>
              <a:r>
                <a:rPr lang="en-GB" sz="800" dirty="0">
                  <a:solidFill>
                    <a:schemeClr val="accent2"/>
                  </a:solidFill>
                </a:rPr>
                <a:t> Security</a:t>
              </a:r>
            </a:p>
            <a:p>
              <a:pPr marL="285750" indent="-285750" defTabSz="912276" fontAlgn="base">
                <a:buClr>
                  <a:schemeClr val="bg1"/>
                </a:buClr>
                <a:buSzPct val="100000"/>
                <a:buFont typeface="Arial" panose="020B0604020202020204" pitchFamily="34" charset="0"/>
                <a:buChar char="•"/>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This campaign introduces a comprehensive, layered security framework designed to embed robust protection across the Management Plane, Perimeter, Fabric, and Workload layers of </a:t>
              </a:r>
              <a:r>
                <a:rPr lang="en-GB" sz="800" dirty="0" err="1">
                  <a:solidFill>
                    <a:schemeClr val="accent2"/>
                  </a:solidFill>
                </a:rPr>
                <a:t>Neocloud</a:t>
              </a:r>
              <a:r>
                <a:rPr lang="en-GB" sz="800" dirty="0">
                  <a:solidFill>
                    <a:schemeClr val="accent2"/>
                  </a:solidFill>
                </a:rPr>
                <a:t> environments. By highlighting the integration of Cisco Secure Firewall, the initiative showcases how enterprise organizations can achieve high-performance </a:t>
              </a:r>
              <a:r>
                <a:rPr lang="en-GB" sz="800" dirty="0" err="1">
                  <a:solidFill>
                    <a:schemeClr val="accent2"/>
                  </a:solidFill>
                </a:rPr>
                <a:t>macrosegmentation</a:t>
              </a:r>
              <a:r>
                <a:rPr lang="en-GB" sz="800" dirty="0">
                  <a:solidFill>
                    <a:schemeClr val="accent2"/>
                  </a:solidFill>
                </a:rPr>
                <a:t> and advanced threat </a:t>
              </a:r>
              <a:r>
                <a:rPr lang="en-GB" sz="800" dirty="0" err="1">
                  <a:solidFill>
                    <a:schemeClr val="accent2"/>
                  </a:solidFill>
                </a:rPr>
                <a:t>defense</a:t>
              </a:r>
              <a:r>
                <a:rPr lang="en-GB" sz="800" dirty="0">
                  <a:solidFill>
                    <a:schemeClr val="accent2"/>
                  </a:solidFill>
                </a:rPr>
                <a:t> across their entire digital ecosystem. </a:t>
              </a:r>
            </a:p>
          </p:txBody>
        </p:sp>
      </p:grpSp>
    </p:spTree>
    <p:extLst>
      <p:ext uri="{BB962C8B-B14F-4D97-AF65-F5344CB8AC3E}">
        <p14:creationId xmlns:p14="http://schemas.microsoft.com/office/powerpoint/2010/main" val="622408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70C64-0C4C-83DA-4318-B6E9E8C942FA}"/>
              </a:ext>
            </a:extLst>
          </p:cNvPr>
          <p:cNvSpPr>
            <a:spLocks noGrp="1"/>
          </p:cNvSpPr>
          <p:nvPr>
            <p:ph type="title"/>
          </p:nvPr>
        </p:nvSpPr>
        <p:spPr/>
        <p:txBody>
          <a:bodyPr/>
          <a:lstStyle/>
          <a:p>
            <a:r>
              <a:rPr lang="en-US" dirty="0"/>
              <a:t>Technology Insights Reporting</a:t>
            </a:r>
            <a:endParaRPr lang="en-GB" dirty="0"/>
          </a:p>
        </p:txBody>
      </p:sp>
      <p:pic>
        <p:nvPicPr>
          <p:cNvPr id="4" name="Picture 3">
            <a:extLst>
              <a:ext uri="{FF2B5EF4-FFF2-40B4-BE49-F238E27FC236}">
                <a16:creationId xmlns:a16="http://schemas.microsoft.com/office/drawing/2014/main" id="{5987CF30-C67A-0203-4588-FE60AA7BDC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159" y="1159276"/>
            <a:ext cx="5415441" cy="4694128"/>
          </a:xfrm>
          <a:prstGeom prst="rect">
            <a:avLst/>
          </a:prstGeom>
        </p:spPr>
      </p:pic>
      <p:cxnSp>
        <p:nvCxnSpPr>
          <p:cNvPr id="5" name="Straight Connector 4">
            <a:extLst>
              <a:ext uri="{FF2B5EF4-FFF2-40B4-BE49-F238E27FC236}">
                <a16:creationId xmlns:a16="http://schemas.microsoft.com/office/drawing/2014/main" id="{34D2ACE9-9EF9-689B-BDB4-EA94F7FCCB47}"/>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6" name="TextBox 5">
            <a:extLst>
              <a:ext uri="{FF2B5EF4-FFF2-40B4-BE49-F238E27FC236}">
                <a16:creationId xmlns:a16="http://schemas.microsoft.com/office/drawing/2014/main" id="{61F203E5-98A6-B9A0-04AE-C75854F86006}"/>
              </a:ext>
            </a:extLst>
          </p:cNvPr>
          <p:cNvSpPr txBox="1"/>
          <p:nvPr/>
        </p:nvSpPr>
        <p:spPr>
          <a:xfrm>
            <a:off x="176169" y="5899809"/>
            <a:ext cx="2139192" cy="42783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3"/>
              </a:rPr>
              <a:t>Tech Insights</a:t>
            </a:r>
            <a:endParaRPr lang="en-GB" sz="1600" kern="1200" dirty="0" err="1">
              <a:solidFill>
                <a:schemeClr val="bg1"/>
              </a:solidFill>
              <a:latin typeface="+mn-lt"/>
              <a:ea typeface="ＭＳ Ｐゴシック" charset="0"/>
            </a:endParaRPr>
          </a:p>
        </p:txBody>
      </p:sp>
      <p:grpSp>
        <p:nvGrpSpPr>
          <p:cNvPr id="45" name="Group 44">
            <a:extLst>
              <a:ext uri="{FF2B5EF4-FFF2-40B4-BE49-F238E27FC236}">
                <a16:creationId xmlns:a16="http://schemas.microsoft.com/office/drawing/2014/main" id="{B562E669-649C-2B6F-2A27-DDF3B965AE94}"/>
              </a:ext>
            </a:extLst>
          </p:cNvPr>
          <p:cNvGrpSpPr/>
          <p:nvPr/>
        </p:nvGrpSpPr>
        <p:grpSpPr>
          <a:xfrm>
            <a:off x="6688350" y="1148775"/>
            <a:ext cx="5179799" cy="529877"/>
            <a:chOff x="6688351" y="1148775"/>
            <a:chExt cx="5179799" cy="529877"/>
          </a:xfrm>
        </p:grpSpPr>
        <p:sp>
          <p:nvSpPr>
            <p:cNvPr id="12" name="Rectangle: Rounded Corners 11">
              <a:extLst>
                <a:ext uri="{FF2B5EF4-FFF2-40B4-BE49-F238E27FC236}">
                  <a16:creationId xmlns:a16="http://schemas.microsoft.com/office/drawing/2014/main" id="{B0BBD9C2-897E-6A8C-48BA-928EEDC9E970}"/>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E7EF84B2-F4BC-C1E6-89BC-15C1B2E3B136}"/>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E5B9766C-6508-615A-B02B-787787F23609}"/>
                </a:ext>
              </a:extLst>
            </p:cNvPr>
            <p:cNvSpPr txBox="1"/>
            <p:nvPr/>
          </p:nvSpPr>
          <p:spPr>
            <a:xfrm>
              <a:off x="7307028" y="132426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Framework</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4844C43A-83C0-35C3-B0D2-D768C5C80D4A}"/>
                </a:ext>
              </a:extLst>
            </p:cNvPr>
            <p:cNvSpPr txBox="1"/>
            <p:nvPr/>
          </p:nvSpPr>
          <p:spPr>
            <a:xfrm>
              <a:off x="8640918" y="1247963"/>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Data is strictly limited to campaigns aligned with the FY26 strategic framework.</a:t>
              </a:r>
            </a:p>
          </p:txBody>
        </p:sp>
        <p:sp>
          <p:nvSpPr>
            <p:cNvPr id="16" name="Oval 15">
              <a:extLst>
                <a:ext uri="{FF2B5EF4-FFF2-40B4-BE49-F238E27FC236}">
                  <a16:creationId xmlns:a16="http://schemas.microsoft.com/office/drawing/2014/main" id="{7882C140-E59C-4EAD-E5A6-4AF0AB65B487}"/>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7CF0DDCA-7E47-D6EC-1123-B740D46875CE}"/>
              </a:ext>
            </a:extLst>
          </p:cNvPr>
          <p:cNvGrpSpPr/>
          <p:nvPr/>
        </p:nvGrpSpPr>
        <p:grpSpPr>
          <a:xfrm>
            <a:off x="6688350" y="2011538"/>
            <a:ext cx="5179799" cy="529877"/>
            <a:chOff x="6688351" y="2157402"/>
            <a:chExt cx="5179799" cy="529877"/>
          </a:xfrm>
        </p:grpSpPr>
        <p:sp>
          <p:nvSpPr>
            <p:cNvPr id="18" name="Rectangle: Rounded Corners 17">
              <a:extLst>
                <a:ext uri="{FF2B5EF4-FFF2-40B4-BE49-F238E27FC236}">
                  <a16:creationId xmlns:a16="http://schemas.microsoft.com/office/drawing/2014/main" id="{86B57EDD-38A0-E790-EB2F-6B8E5E6E2398}"/>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681DB9B1-3148-9918-9D73-1F0E05D383A7}"/>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BCCC0D5A-91E3-7C1B-6D79-7741D2C39247}"/>
                </a:ext>
              </a:extLst>
            </p:cNvPr>
            <p:cNvSpPr txBox="1"/>
            <p:nvPr/>
          </p:nvSpPr>
          <p:spPr>
            <a:xfrm>
              <a:off x="7307028" y="233289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Dynamic</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51725CF3-906F-8E37-4A54-D98B26D3CA58}"/>
                </a:ext>
              </a:extLst>
            </p:cNvPr>
            <p:cNvSpPr txBox="1"/>
            <p:nvPr/>
          </p:nvSpPr>
          <p:spPr>
            <a:xfrm>
              <a:off x="8640918" y="2184782"/>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Selecting a campaign instantly updates the entire tab to show its specific performance results.</a:t>
              </a:r>
            </a:p>
          </p:txBody>
        </p:sp>
        <p:sp>
          <p:nvSpPr>
            <p:cNvPr id="22" name="Oval 21">
              <a:extLst>
                <a:ext uri="{FF2B5EF4-FFF2-40B4-BE49-F238E27FC236}">
                  <a16:creationId xmlns:a16="http://schemas.microsoft.com/office/drawing/2014/main" id="{24096A03-C055-79AF-876A-DC809BC164A3}"/>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E46BB2D2-F297-9021-2670-580B6D6589EA}"/>
              </a:ext>
            </a:extLst>
          </p:cNvPr>
          <p:cNvGrpSpPr/>
          <p:nvPr/>
        </p:nvGrpSpPr>
        <p:grpSpPr>
          <a:xfrm>
            <a:off x="6688350" y="2874301"/>
            <a:ext cx="5179799" cy="529877"/>
            <a:chOff x="6688351" y="3166029"/>
            <a:chExt cx="5179799" cy="529877"/>
          </a:xfrm>
        </p:grpSpPr>
        <p:sp>
          <p:nvSpPr>
            <p:cNvPr id="24" name="Rectangle: Rounded Corners 23">
              <a:extLst>
                <a:ext uri="{FF2B5EF4-FFF2-40B4-BE49-F238E27FC236}">
                  <a16:creationId xmlns:a16="http://schemas.microsoft.com/office/drawing/2014/main" id="{79B3E187-E745-E516-526A-96E49A8DBBB6}"/>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CD20F4DA-B434-ADAE-E008-CC4468FC3798}"/>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99548AFB-1437-9DDA-D5BD-5A22C04E8980}"/>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ID Driven</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6F95D7A1-9F88-A963-E024-B0B85A2A89BB}"/>
                </a:ext>
              </a:extLst>
            </p:cNvPr>
            <p:cNvSpPr txBox="1"/>
            <p:nvPr/>
          </p:nvSpPr>
          <p:spPr>
            <a:xfrm>
              <a:off x="8640918" y="319340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Engagement and pipeline metrics are automatically derived from tracking IDs (CCID, OID, EID) mapped via tagging metadata.</a:t>
              </a:r>
              <a:endParaRPr lang="en-GB" sz="1000" dirty="0"/>
            </a:p>
          </p:txBody>
        </p:sp>
        <p:sp>
          <p:nvSpPr>
            <p:cNvPr id="28" name="Oval 27">
              <a:extLst>
                <a:ext uri="{FF2B5EF4-FFF2-40B4-BE49-F238E27FC236}">
                  <a16:creationId xmlns:a16="http://schemas.microsoft.com/office/drawing/2014/main" id="{6FC959EC-F33C-19A5-5DE9-5C6B831D4268}"/>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42" name="Group 41">
            <a:extLst>
              <a:ext uri="{FF2B5EF4-FFF2-40B4-BE49-F238E27FC236}">
                <a16:creationId xmlns:a16="http://schemas.microsoft.com/office/drawing/2014/main" id="{878A519B-68A6-D77B-3398-456C44888592}"/>
              </a:ext>
            </a:extLst>
          </p:cNvPr>
          <p:cNvGrpSpPr/>
          <p:nvPr/>
        </p:nvGrpSpPr>
        <p:grpSpPr>
          <a:xfrm>
            <a:off x="6688350" y="3737064"/>
            <a:ext cx="5179799" cy="529877"/>
            <a:chOff x="6688351" y="4174656"/>
            <a:chExt cx="5179799" cy="529877"/>
          </a:xfrm>
        </p:grpSpPr>
        <p:sp>
          <p:nvSpPr>
            <p:cNvPr id="30" name="Rectangle: Rounded Corners 29">
              <a:extLst>
                <a:ext uri="{FF2B5EF4-FFF2-40B4-BE49-F238E27FC236}">
                  <a16:creationId xmlns:a16="http://schemas.microsoft.com/office/drawing/2014/main" id="{F65609B7-EA7B-280D-33DF-FFDFE3654229}"/>
                </a:ext>
              </a:extLst>
            </p:cNvPr>
            <p:cNvSpPr/>
            <p:nvPr/>
          </p:nvSpPr>
          <p:spPr>
            <a:xfrm>
              <a:off x="7936230" y="420203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7F1285F6-A307-DFC1-BBEB-0C323448C55B}"/>
                </a:ext>
              </a:extLst>
            </p:cNvPr>
            <p:cNvSpPr/>
            <p:nvPr/>
          </p:nvSpPr>
          <p:spPr>
            <a:xfrm>
              <a:off x="7035263" y="420203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83311C26-A1D9-A8B0-62E2-CC627EC3B913}"/>
                </a:ext>
              </a:extLst>
            </p:cNvPr>
            <p:cNvSpPr txBox="1"/>
            <p:nvPr/>
          </p:nvSpPr>
          <p:spPr>
            <a:xfrm>
              <a:off x="7307028" y="435014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Pipeline</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A7FCB788-D600-C29F-5FCA-DBE26250005D}"/>
                </a:ext>
              </a:extLst>
            </p:cNvPr>
            <p:cNvSpPr txBox="1"/>
            <p:nvPr/>
          </p:nvSpPr>
          <p:spPr>
            <a:xfrm>
              <a:off x="8640917" y="4202036"/>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Includes all pipeline impacted by campaign-linked activities, even if it falls outside the core target product mix.</a:t>
              </a:r>
              <a:endParaRPr lang="en-GB" sz="1000" dirty="0"/>
            </a:p>
          </p:txBody>
        </p:sp>
        <p:sp>
          <p:nvSpPr>
            <p:cNvPr id="34" name="Oval 33">
              <a:extLst>
                <a:ext uri="{FF2B5EF4-FFF2-40B4-BE49-F238E27FC236}">
                  <a16:creationId xmlns:a16="http://schemas.microsoft.com/office/drawing/2014/main" id="{155D265F-115B-C4D6-2EAE-F4D7D6D0A8E6}"/>
                </a:ext>
              </a:extLst>
            </p:cNvPr>
            <p:cNvSpPr/>
            <p:nvPr/>
          </p:nvSpPr>
          <p:spPr>
            <a:xfrm>
              <a:off x="6688351" y="417465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41" name="Group 40">
            <a:extLst>
              <a:ext uri="{FF2B5EF4-FFF2-40B4-BE49-F238E27FC236}">
                <a16:creationId xmlns:a16="http://schemas.microsoft.com/office/drawing/2014/main" id="{A7CE2980-BCDC-0A28-97E8-231E95BD9027}"/>
              </a:ext>
            </a:extLst>
          </p:cNvPr>
          <p:cNvGrpSpPr/>
          <p:nvPr/>
        </p:nvGrpSpPr>
        <p:grpSpPr>
          <a:xfrm>
            <a:off x="6688350" y="4599829"/>
            <a:ext cx="5179799" cy="529877"/>
            <a:chOff x="6688351" y="5183283"/>
            <a:chExt cx="5179799" cy="529877"/>
          </a:xfrm>
        </p:grpSpPr>
        <p:sp>
          <p:nvSpPr>
            <p:cNvPr id="36" name="Rectangle: Rounded Corners 35">
              <a:extLst>
                <a:ext uri="{FF2B5EF4-FFF2-40B4-BE49-F238E27FC236}">
                  <a16:creationId xmlns:a16="http://schemas.microsoft.com/office/drawing/2014/main" id="{3E684C8D-AB6D-64EC-0C3D-9F6CC8A43191}"/>
                </a:ext>
              </a:extLst>
            </p:cNvPr>
            <p:cNvSpPr/>
            <p:nvPr/>
          </p:nvSpPr>
          <p:spPr>
            <a:xfrm>
              <a:off x="7936230" y="521066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7" name="Arrow: Pentagon 36">
              <a:extLst>
                <a:ext uri="{FF2B5EF4-FFF2-40B4-BE49-F238E27FC236}">
                  <a16:creationId xmlns:a16="http://schemas.microsoft.com/office/drawing/2014/main" id="{F77692D9-90EE-F62B-FA0C-DDD69DD79692}"/>
                </a:ext>
              </a:extLst>
            </p:cNvPr>
            <p:cNvSpPr/>
            <p:nvPr/>
          </p:nvSpPr>
          <p:spPr>
            <a:xfrm>
              <a:off x="7035263" y="521066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8" name="TextBox 37">
              <a:extLst>
                <a:ext uri="{FF2B5EF4-FFF2-40B4-BE49-F238E27FC236}">
                  <a16:creationId xmlns:a16="http://schemas.microsoft.com/office/drawing/2014/main" id="{293825F6-E2A3-4FED-B45B-CE7DFBCEA581}"/>
                </a:ext>
              </a:extLst>
            </p:cNvPr>
            <p:cNvSpPr txBox="1"/>
            <p:nvPr/>
          </p:nvSpPr>
          <p:spPr>
            <a:xfrm>
              <a:off x="7307028" y="535877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Bottom Line</a:t>
              </a:r>
              <a:endParaRPr lang="en-GB" sz="1600" kern="1200" dirty="0" err="1">
                <a:solidFill>
                  <a:schemeClr val="bg1"/>
                </a:solidFill>
                <a:latin typeface="+mn-lt"/>
                <a:ea typeface="ＭＳ Ｐゴシック" charset="0"/>
              </a:endParaRPr>
            </a:p>
          </p:txBody>
        </p:sp>
        <p:sp>
          <p:nvSpPr>
            <p:cNvPr id="39" name="TextBox 38">
              <a:extLst>
                <a:ext uri="{FF2B5EF4-FFF2-40B4-BE49-F238E27FC236}">
                  <a16:creationId xmlns:a16="http://schemas.microsoft.com/office/drawing/2014/main" id="{C016B2B8-31C4-D932-A11C-DEA014DFBF98}"/>
                </a:ext>
              </a:extLst>
            </p:cNvPr>
            <p:cNvSpPr txBox="1"/>
            <p:nvPr/>
          </p:nvSpPr>
          <p:spPr>
            <a:xfrm>
              <a:off x="8640917" y="5284719"/>
              <a:ext cx="3155697" cy="32700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This view isolates the exact engagement and pipeline generated by your selected campaign's tracking tags.</a:t>
              </a:r>
              <a:endParaRPr lang="en-GB" sz="1000" dirty="0"/>
            </a:p>
          </p:txBody>
        </p:sp>
        <p:sp>
          <p:nvSpPr>
            <p:cNvPr id="40" name="Oval 39">
              <a:extLst>
                <a:ext uri="{FF2B5EF4-FFF2-40B4-BE49-F238E27FC236}">
                  <a16:creationId xmlns:a16="http://schemas.microsoft.com/office/drawing/2014/main" id="{405FB77A-5494-2DD7-F3EB-E1BEA399828F}"/>
                </a:ext>
              </a:extLst>
            </p:cNvPr>
            <p:cNvSpPr/>
            <p:nvPr/>
          </p:nvSpPr>
          <p:spPr>
            <a:xfrm>
              <a:off x="6688351" y="518328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
        <p:nvSpPr>
          <p:cNvPr id="46" name="TextBox 45">
            <a:extLst>
              <a:ext uri="{FF2B5EF4-FFF2-40B4-BE49-F238E27FC236}">
                <a16:creationId xmlns:a16="http://schemas.microsoft.com/office/drawing/2014/main" id="{3514F240-BBE5-C50C-CCF9-0AC1EA864CDA}"/>
              </a:ext>
            </a:extLst>
          </p:cNvPr>
          <p:cNvSpPr txBox="1"/>
          <p:nvPr/>
        </p:nvSpPr>
        <p:spPr>
          <a:xfrm>
            <a:off x="6688352" y="5277818"/>
            <a:ext cx="5327479" cy="992353"/>
          </a:xfrm>
          <a:prstGeom prst="rect">
            <a:avLst/>
          </a:prstGeom>
          <a:noFill/>
        </p:spPr>
        <p:txBody>
          <a:bodyPr wrap="square" lIns="0" tIns="0" rIns="0" bIns="0" rtlCol="0">
            <a:noAutofit/>
          </a:bodyPr>
          <a:lstStyle/>
          <a:p>
            <a:r>
              <a:rPr lang="en-GB" sz="1200" b="1" dirty="0">
                <a:solidFill>
                  <a:schemeClr val="bg1"/>
                </a:solidFill>
              </a:rPr>
              <a:t>Best Used to Answer:</a:t>
            </a:r>
          </a:p>
          <a:p>
            <a:pPr marL="171450" indent="-171450">
              <a:buFont typeface="Arial" panose="020B0604020202020204" pitchFamily="34" charset="0"/>
              <a:buChar char="•"/>
            </a:pPr>
            <a:r>
              <a:rPr lang="en-GB" sz="1200" i="1" dirty="0">
                <a:solidFill>
                  <a:schemeClr val="bg1"/>
                </a:solidFill>
              </a:rPr>
              <a:t>How did a specific campaign (e.g., Mid Market LDOS) perform end-to-end?</a:t>
            </a:r>
            <a:endParaRPr lang="en-GB" sz="1200" dirty="0">
              <a:solidFill>
                <a:schemeClr val="bg1"/>
              </a:solidFill>
            </a:endParaRPr>
          </a:p>
          <a:p>
            <a:pPr marL="171450" indent="-171450">
              <a:buFont typeface="Arial" panose="020B0604020202020204" pitchFamily="34" charset="0"/>
              <a:buChar char="•"/>
            </a:pPr>
            <a:r>
              <a:rPr lang="en-GB" sz="1200" i="1" dirty="0">
                <a:solidFill>
                  <a:schemeClr val="bg1"/>
                </a:solidFill>
              </a:rPr>
              <a:t>Which specific activities, offers, and events successfully drove engagement and pipeline for this campaign?</a:t>
            </a:r>
            <a:endParaRPr lang="en-GB" sz="1200" dirty="0">
              <a:solidFill>
                <a:schemeClr val="bg1"/>
              </a:solidFill>
            </a:endParaRPr>
          </a:p>
        </p:txBody>
      </p:sp>
    </p:spTree>
    <p:extLst>
      <p:ext uri="{BB962C8B-B14F-4D97-AF65-F5344CB8AC3E}">
        <p14:creationId xmlns:p14="http://schemas.microsoft.com/office/powerpoint/2010/main" val="191111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97A45-396C-A555-263C-E1243DE37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20031-4AA6-A7EC-CB5C-C13A7F1E7B2B}"/>
              </a:ext>
            </a:extLst>
          </p:cNvPr>
          <p:cNvSpPr>
            <a:spLocks noGrp="1"/>
          </p:cNvSpPr>
          <p:nvPr>
            <p:ph type="title"/>
          </p:nvPr>
        </p:nvSpPr>
        <p:spPr/>
        <p:txBody>
          <a:bodyPr/>
          <a:lstStyle/>
          <a:p>
            <a:r>
              <a:rPr lang="en-US" dirty="0"/>
              <a:t>VDC Executive Overview</a:t>
            </a:r>
            <a:endParaRPr lang="en-GB" dirty="0"/>
          </a:p>
        </p:txBody>
      </p:sp>
      <p:cxnSp>
        <p:nvCxnSpPr>
          <p:cNvPr id="5" name="Straight Connector 4">
            <a:extLst>
              <a:ext uri="{FF2B5EF4-FFF2-40B4-BE49-F238E27FC236}">
                <a16:creationId xmlns:a16="http://schemas.microsoft.com/office/drawing/2014/main" id="{E4934B5A-80C4-6FDC-B3CF-CA110F255383}"/>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3461B749-1F82-CE34-7225-66DA6D06AD6F}"/>
              </a:ext>
            </a:extLst>
          </p:cNvPr>
          <p:cNvGrpSpPr/>
          <p:nvPr/>
        </p:nvGrpSpPr>
        <p:grpSpPr>
          <a:xfrm>
            <a:off x="6688350" y="1148775"/>
            <a:ext cx="5179799" cy="529877"/>
            <a:chOff x="6688351" y="1148775"/>
            <a:chExt cx="5179799" cy="529877"/>
          </a:xfrm>
        </p:grpSpPr>
        <p:sp>
          <p:nvSpPr>
            <p:cNvPr id="12" name="Rectangle: Rounded Corners 11">
              <a:extLst>
                <a:ext uri="{FF2B5EF4-FFF2-40B4-BE49-F238E27FC236}">
                  <a16:creationId xmlns:a16="http://schemas.microsoft.com/office/drawing/2014/main" id="{7199F4AB-8902-AB37-F752-5F1E1D43ED18}"/>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2884D6E3-034D-8D52-D5C6-3EEB19489170}"/>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D8CF1565-9C85-3D1A-6E85-496A57EDAC66}"/>
                </a:ext>
              </a:extLst>
            </p:cNvPr>
            <p:cNvSpPr txBox="1"/>
            <p:nvPr/>
          </p:nvSpPr>
          <p:spPr>
            <a:xfrm>
              <a:off x="7307028" y="132426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Funnel</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37235354-0D71-E5B3-3079-B3F145A126D4}"/>
                </a:ext>
              </a:extLst>
            </p:cNvPr>
            <p:cNvSpPr txBox="1"/>
            <p:nvPr/>
          </p:nvSpPr>
          <p:spPr>
            <a:xfrm>
              <a:off x="8640918" y="1247963"/>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Tracks core marketing performance metrics across the entire lifecycle</a:t>
              </a:r>
            </a:p>
          </p:txBody>
        </p:sp>
        <p:sp>
          <p:nvSpPr>
            <p:cNvPr id="16" name="Oval 15">
              <a:extLst>
                <a:ext uri="{FF2B5EF4-FFF2-40B4-BE49-F238E27FC236}">
                  <a16:creationId xmlns:a16="http://schemas.microsoft.com/office/drawing/2014/main" id="{97D30F0C-EF7A-86E1-BD28-B598E72D246F}"/>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89E231EB-C73F-1671-4350-327C250C8505}"/>
              </a:ext>
            </a:extLst>
          </p:cNvPr>
          <p:cNvGrpSpPr/>
          <p:nvPr/>
        </p:nvGrpSpPr>
        <p:grpSpPr>
          <a:xfrm>
            <a:off x="6688350" y="2042522"/>
            <a:ext cx="5179799" cy="529877"/>
            <a:chOff x="6688351" y="2157402"/>
            <a:chExt cx="5179799" cy="529877"/>
          </a:xfrm>
        </p:grpSpPr>
        <p:sp>
          <p:nvSpPr>
            <p:cNvPr id="18" name="Rectangle: Rounded Corners 17">
              <a:extLst>
                <a:ext uri="{FF2B5EF4-FFF2-40B4-BE49-F238E27FC236}">
                  <a16:creationId xmlns:a16="http://schemas.microsoft.com/office/drawing/2014/main" id="{1A84C039-9194-20A7-8CA5-43355BBC1A39}"/>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B5536A70-5677-EEC8-7523-37B14D1B8668}"/>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E8A5B0E5-1E9E-F874-C7BD-97EF00FB8403}"/>
                </a:ext>
              </a:extLst>
            </p:cNvPr>
            <p:cNvSpPr txBox="1"/>
            <p:nvPr/>
          </p:nvSpPr>
          <p:spPr>
            <a:xfrm>
              <a:off x="7307028" y="233289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Goals</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C751B6A2-11AD-CCAC-CE8B-74A9392D4BD8}"/>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Real-time performance against quarterly goals alongside year-over-year (Y/Y), quarter-over-quarter (Q/Q), and month-over-month (M/M) growth trends.</a:t>
              </a:r>
            </a:p>
          </p:txBody>
        </p:sp>
        <p:sp>
          <p:nvSpPr>
            <p:cNvPr id="22" name="Oval 21">
              <a:extLst>
                <a:ext uri="{FF2B5EF4-FFF2-40B4-BE49-F238E27FC236}">
                  <a16:creationId xmlns:a16="http://schemas.microsoft.com/office/drawing/2014/main" id="{FB12FC21-4CDC-6DA7-C018-0674CD2AA3B1}"/>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34CB8931-5E57-E9AB-F9E2-5242F74AC430}"/>
              </a:ext>
            </a:extLst>
          </p:cNvPr>
          <p:cNvGrpSpPr/>
          <p:nvPr/>
        </p:nvGrpSpPr>
        <p:grpSpPr>
          <a:xfrm>
            <a:off x="6688350" y="2936269"/>
            <a:ext cx="5179799" cy="529877"/>
            <a:chOff x="6688351" y="3166029"/>
            <a:chExt cx="5179799" cy="529877"/>
          </a:xfrm>
        </p:grpSpPr>
        <p:sp>
          <p:nvSpPr>
            <p:cNvPr id="24" name="Rectangle: Rounded Corners 23">
              <a:extLst>
                <a:ext uri="{FF2B5EF4-FFF2-40B4-BE49-F238E27FC236}">
                  <a16:creationId xmlns:a16="http://schemas.microsoft.com/office/drawing/2014/main" id="{909E7293-0CD0-64B9-3111-DB8892AD214D}"/>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795AF49D-5D8B-D24C-A475-1CB5A5A8F8DE}"/>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E631BCB7-C768-D9D3-1251-1CC499A0B37B}"/>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Filtering</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0E03CB27-7409-B9EC-23D9-30F30C6C8439}"/>
                </a:ext>
              </a:extLst>
            </p:cNvPr>
            <p:cNvSpPr txBox="1"/>
            <p:nvPr/>
          </p:nvSpPr>
          <p:spPr>
            <a:xfrm>
              <a:off x="8640918" y="319340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The entire Funnel Summary can be sliced by specific tagging IDs, allowing teams to isolate the exact impact of specific marketing initiatives.</a:t>
              </a:r>
            </a:p>
          </p:txBody>
        </p:sp>
        <p:sp>
          <p:nvSpPr>
            <p:cNvPr id="28" name="Oval 27">
              <a:extLst>
                <a:ext uri="{FF2B5EF4-FFF2-40B4-BE49-F238E27FC236}">
                  <a16:creationId xmlns:a16="http://schemas.microsoft.com/office/drawing/2014/main" id="{CD2EBB68-95D9-C4D7-AB90-21E1401FF6F7}"/>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19B161A3-9C59-8475-A16A-414E1D122629}"/>
              </a:ext>
            </a:extLst>
          </p:cNvPr>
          <p:cNvGrpSpPr/>
          <p:nvPr/>
        </p:nvGrpSpPr>
        <p:grpSpPr>
          <a:xfrm>
            <a:off x="6688350" y="3830016"/>
            <a:ext cx="5179799" cy="529877"/>
            <a:chOff x="6688350" y="3737064"/>
            <a:chExt cx="5179799" cy="529877"/>
          </a:xfrm>
        </p:grpSpPr>
        <p:sp>
          <p:nvSpPr>
            <p:cNvPr id="30" name="Rectangle: Rounded Corners 29">
              <a:extLst>
                <a:ext uri="{FF2B5EF4-FFF2-40B4-BE49-F238E27FC236}">
                  <a16:creationId xmlns:a16="http://schemas.microsoft.com/office/drawing/2014/main" id="{C4316DF7-460D-2898-FE65-2BE520423B26}"/>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A41AAAFA-A90F-EDAA-9D0D-FDF5493502A5}"/>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C9924FA8-C4A3-2935-3C09-E5F6385270F5}"/>
                </a:ext>
              </a:extLst>
            </p:cNvPr>
            <p:cNvSpPr txBox="1"/>
            <p:nvPr/>
          </p:nvSpPr>
          <p:spPr>
            <a:xfrm>
              <a:off x="7322570" y="3838499"/>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Inbound vs Outbound</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E1F3DE44-E479-37AC-F2A3-CA495539818E}"/>
                </a:ext>
              </a:extLst>
            </p:cNvPr>
            <p:cNvSpPr txBox="1"/>
            <p:nvPr/>
          </p:nvSpPr>
          <p:spPr>
            <a:xfrm>
              <a:off x="8640916" y="3801472"/>
              <a:ext cx="3155697" cy="401061"/>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break down volume and revenue metrics by traffic type (Inbound vs. Outbound)</a:t>
              </a:r>
              <a:endParaRPr lang="en-GB" sz="1000" dirty="0"/>
            </a:p>
          </p:txBody>
        </p:sp>
        <p:sp>
          <p:nvSpPr>
            <p:cNvPr id="34" name="Oval 33">
              <a:extLst>
                <a:ext uri="{FF2B5EF4-FFF2-40B4-BE49-F238E27FC236}">
                  <a16:creationId xmlns:a16="http://schemas.microsoft.com/office/drawing/2014/main" id="{480BDC35-8618-7B58-B3EF-94857FC2F58D}"/>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46" name="TextBox 45">
            <a:extLst>
              <a:ext uri="{FF2B5EF4-FFF2-40B4-BE49-F238E27FC236}">
                <a16:creationId xmlns:a16="http://schemas.microsoft.com/office/drawing/2014/main" id="{896A3E45-3F01-9806-1A26-8AE36BF8DAF5}"/>
              </a:ext>
            </a:extLst>
          </p:cNvPr>
          <p:cNvSpPr txBox="1"/>
          <p:nvPr/>
        </p:nvSpPr>
        <p:spPr>
          <a:xfrm>
            <a:off x="6688350" y="4723761"/>
            <a:ext cx="5327479" cy="1196941"/>
          </a:xfrm>
          <a:prstGeom prst="rect">
            <a:avLst/>
          </a:prstGeom>
          <a:noFill/>
        </p:spPr>
        <p:txBody>
          <a:bodyPr wrap="square" lIns="0" tIns="0" rIns="0" bIns="0" rtlCol="0">
            <a:noAutofit/>
          </a:bodyPr>
          <a:lstStyle/>
          <a:p>
            <a:pPr lvl="0" eaLnBrk="0" fontAlgn="base" hangingPunct="0">
              <a:spcBef>
                <a:spcPct val="0"/>
              </a:spcBef>
              <a:spcAft>
                <a:spcPct val="0"/>
              </a:spcAft>
            </a:pPr>
            <a:r>
              <a:rPr lang="en-US" altLang="en-US" sz="1200" b="1" dirty="0">
                <a:solidFill>
                  <a:schemeClr val="bg1"/>
                </a:solidFill>
                <a:latin typeface="Arial" panose="020B0604020202020204" pitchFamily="34" charset="0"/>
              </a:rPr>
              <a:t>Why CCID Filtering is Possible:</a:t>
            </a:r>
            <a:r>
              <a:rPr lang="en-US" altLang="en-US" sz="1200" dirty="0">
                <a:solidFill>
                  <a:schemeClr val="bg1"/>
                </a:solidFill>
                <a:latin typeface="Arial" panose="020B0604020202020204" pitchFamily="34" charset="0"/>
              </a:rPr>
              <a:t> </a:t>
            </a:r>
          </a:p>
          <a:p>
            <a:pPr lvl="0" eaLnBrk="0" fontAlgn="base" hangingPunct="0">
              <a:spcBef>
                <a:spcPct val="0"/>
              </a:spcBef>
              <a:spcAft>
                <a:spcPct val="0"/>
              </a:spcAft>
            </a:pPr>
            <a:r>
              <a:rPr lang="en-US" altLang="en-US" sz="1200" dirty="0">
                <a:solidFill>
                  <a:schemeClr val="bg1"/>
                </a:solidFill>
                <a:latin typeface="Arial" panose="020B0604020202020204" pitchFamily="34" charset="0"/>
              </a:rPr>
              <a:t>Because the </a:t>
            </a:r>
            <a:r>
              <a:rPr lang="en-US" altLang="en-US" sz="1200" b="1" dirty="0">
                <a:solidFill>
                  <a:schemeClr val="bg1"/>
                </a:solidFill>
                <a:latin typeface="Arial" panose="020B0604020202020204" pitchFamily="34" charset="0"/>
              </a:rPr>
              <a:t>CCID</a:t>
            </a:r>
            <a:r>
              <a:rPr lang="en-US" altLang="en-US" sz="1200" dirty="0">
                <a:solidFill>
                  <a:schemeClr val="bg1"/>
                </a:solidFill>
                <a:latin typeface="Arial" panose="020B0604020202020204" pitchFamily="34" charset="0"/>
              </a:rPr>
              <a:t> (Campaign Control ID) is captured system-wide at the lead level, it embeds key campaign and program data directly into the lead record. This metadata acts as the connective tissue that allows the dashboard to instantly filter and attribute downstream revenue, bookings, and pipeline back to the originating marketing campaign.</a:t>
            </a:r>
          </a:p>
        </p:txBody>
      </p:sp>
      <p:pic>
        <p:nvPicPr>
          <p:cNvPr id="3" name="Picture 2">
            <a:extLst>
              <a:ext uri="{FF2B5EF4-FFF2-40B4-BE49-F238E27FC236}">
                <a16:creationId xmlns:a16="http://schemas.microsoft.com/office/drawing/2014/main" id="{02B35D39-F1F4-D490-0C84-4E8CD78458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322" y="1325298"/>
            <a:ext cx="5679995" cy="4207404"/>
          </a:xfrm>
          <a:prstGeom prst="rect">
            <a:avLst/>
          </a:prstGeom>
        </p:spPr>
      </p:pic>
      <p:sp>
        <p:nvSpPr>
          <p:cNvPr id="7" name="TextBox 6">
            <a:extLst>
              <a:ext uri="{FF2B5EF4-FFF2-40B4-BE49-F238E27FC236}">
                <a16:creationId xmlns:a16="http://schemas.microsoft.com/office/drawing/2014/main" id="{FB5D628D-C2C6-7716-4A21-7AA04FEBDCC6}"/>
              </a:ext>
            </a:extLst>
          </p:cNvPr>
          <p:cNvSpPr txBox="1"/>
          <p:nvPr/>
        </p:nvSpPr>
        <p:spPr>
          <a:xfrm>
            <a:off x="537029" y="5920702"/>
            <a:ext cx="2503712" cy="293417"/>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3"/>
              </a:rPr>
              <a:t>VDC Executive Overview</a:t>
            </a:r>
            <a:endParaRPr lang="en-GB" sz="1600" kern="1200" dirty="0" err="1">
              <a:solidFill>
                <a:schemeClr val="bg1"/>
              </a:solidFill>
              <a:latin typeface="+mn-lt"/>
              <a:ea typeface="ＭＳ Ｐゴシック" charset="0"/>
            </a:endParaRPr>
          </a:p>
        </p:txBody>
      </p:sp>
    </p:spTree>
    <p:extLst>
      <p:ext uri="{BB962C8B-B14F-4D97-AF65-F5344CB8AC3E}">
        <p14:creationId xmlns:p14="http://schemas.microsoft.com/office/powerpoint/2010/main" val="290032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749D6-C2AF-7EC8-9C49-0C56B4BF4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E692B-11EC-EA16-E2DB-7832DC4E406C}"/>
              </a:ext>
            </a:extLst>
          </p:cNvPr>
          <p:cNvSpPr>
            <a:spLocks noGrp="1"/>
          </p:cNvSpPr>
          <p:nvPr>
            <p:ph type="title"/>
          </p:nvPr>
        </p:nvSpPr>
        <p:spPr/>
        <p:txBody>
          <a:bodyPr/>
          <a:lstStyle/>
          <a:p>
            <a:r>
              <a:rPr lang="en-US" dirty="0"/>
              <a:t>Self Service Deep Dive</a:t>
            </a:r>
            <a:endParaRPr lang="en-GB" dirty="0"/>
          </a:p>
        </p:txBody>
      </p:sp>
      <p:cxnSp>
        <p:nvCxnSpPr>
          <p:cNvPr id="5" name="Straight Connector 4">
            <a:extLst>
              <a:ext uri="{FF2B5EF4-FFF2-40B4-BE49-F238E27FC236}">
                <a16:creationId xmlns:a16="http://schemas.microsoft.com/office/drawing/2014/main" id="{0AC88352-D081-7D6B-7145-ECF87BF0BF8A}"/>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39210E15-9220-889B-15A1-8FC848E75945}"/>
              </a:ext>
            </a:extLst>
          </p:cNvPr>
          <p:cNvGrpSpPr/>
          <p:nvPr/>
        </p:nvGrpSpPr>
        <p:grpSpPr>
          <a:xfrm>
            <a:off x="6688350" y="1148775"/>
            <a:ext cx="5179799" cy="529877"/>
            <a:chOff x="6688351" y="1148775"/>
            <a:chExt cx="5179799" cy="529877"/>
          </a:xfrm>
        </p:grpSpPr>
        <p:sp>
          <p:nvSpPr>
            <p:cNvPr id="12" name="Rectangle: Rounded Corners 11">
              <a:extLst>
                <a:ext uri="{FF2B5EF4-FFF2-40B4-BE49-F238E27FC236}">
                  <a16:creationId xmlns:a16="http://schemas.microsoft.com/office/drawing/2014/main" id="{D3032290-2889-EA66-0D18-08D058E5080A}"/>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0E4A9E2C-EC69-98C2-C4CC-D75E9ABB2258}"/>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94102D1C-84FD-CF1B-2731-0ACD969CAD52}"/>
                </a:ext>
              </a:extLst>
            </p:cNvPr>
            <p:cNvSpPr txBox="1"/>
            <p:nvPr/>
          </p:nvSpPr>
          <p:spPr>
            <a:xfrm>
              <a:off x="7307028" y="132426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Framework</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57134221-3BF3-30D3-1A06-E684A44FD031}"/>
                </a:ext>
              </a:extLst>
            </p:cNvPr>
            <p:cNvSpPr txBox="1"/>
            <p:nvPr/>
          </p:nvSpPr>
          <p:spPr>
            <a:xfrm>
              <a:off x="8640918" y="1247963"/>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US" altLang="en-US" sz="1000" dirty="0">
                  <a:latin typeface="Arial" panose="020B0604020202020204" pitchFamily="34" charset="0"/>
                </a:rPr>
                <a:t>Data is strictly limited to campaigns aligned with the FY26 strategic framework.</a:t>
              </a:r>
            </a:p>
          </p:txBody>
        </p:sp>
        <p:sp>
          <p:nvSpPr>
            <p:cNvPr id="16" name="Oval 15">
              <a:extLst>
                <a:ext uri="{FF2B5EF4-FFF2-40B4-BE49-F238E27FC236}">
                  <a16:creationId xmlns:a16="http://schemas.microsoft.com/office/drawing/2014/main" id="{70BBA2EB-75AD-9AFB-8C4F-06BDE1400D8D}"/>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F27323B4-9FA8-61C7-8153-A74A006B9F5B}"/>
              </a:ext>
            </a:extLst>
          </p:cNvPr>
          <p:cNvGrpSpPr/>
          <p:nvPr/>
        </p:nvGrpSpPr>
        <p:grpSpPr>
          <a:xfrm>
            <a:off x="6688350" y="2011538"/>
            <a:ext cx="5179799" cy="529877"/>
            <a:chOff x="6688351" y="2157402"/>
            <a:chExt cx="5179799" cy="529877"/>
          </a:xfrm>
        </p:grpSpPr>
        <p:sp>
          <p:nvSpPr>
            <p:cNvPr id="18" name="Rectangle: Rounded Corners 17">
              <a:extLst>
                <a:ext uri="{FF2B5EF4-FFF2-40B4-BE49-F238E27FC236}">
                  <a16:creationId xmlns:a16="http://schemas.microsoft.com/office/drawing/2014/main" id="{68BB89D3-EF2D-54A9-B724-C7B404AD6E80}"/>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BFE70269-8CEF-0550-A338-C020E08212F9}"/>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EA5C05E9-F681-16E7-AE8B-E35B673FD979}"/>
                </a:ext>
              </a:extLst>
            </p:cNvPr>
            <p:cNvSpPr txBox="1"/>
            <p:nvPr/>
          </p:nvSpPr>
          <p:spPr>
            <a:xfrm>
              <a:off x="7307028" y="233289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Dynamic</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59B5DDBE-8B0B-EC35-3560-F2FB63A5C4F5}"/>
                </a:ext>
              </a:extLst>
            </p:cNvPr>
            <p:cNvSpPr txBox="1"/>
            <p:nvPr/>
          </p:nvSpPr>
          <p:spPr>
            <a:xfrm>
              <a:off x="8640918" y="2184782"/>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US" altLang="en-US" sz="1000" dirty="0">
                  <a:latin typeface="Arial" panose="020B0604020202020204" pitchFamily="34" charset="0"/>
                </a:rPr>
                <a:t>Selecting a campaign instantly updates the entire tab to show its specific performance results.</a:t>
              </a:r>
            </a:p>
          </p:txBody>
        </p:sp>
        <p:sp>
          <p:nvSpPr>
            <p:cNvPr id="22" name="Oval 21">
              <a:extLst>
                <a:ext uri="{FF2B5EF4-FFF2-40B4-BE49-F238E27FC236}">
                  <a16:creationId xmlns:a16="http://schemas.microsoft.com/office/drawing/2014/main" id="{7221FAA7-4C64-AC2B-D5EA-521A5F3342BE}"/>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A229CDA5-0E86-7EFF-8F10-BD4446CFE014}"/>
              </a:ext>
            </a:extLst>
          </p:cNvPr>
          <p:cNvGrpSpPr/>
          <p:nvPr/>
        </p:nvGrpSpPr>
        <p:grpSpPr>
          <a:xfrm>
            <a:off x="6688350" y="2874301"/>
            <a:ext cx="5179799" cy="529877"/>
            <a:chOff x="6688351" y="3166029"/>
            <a:chExt cx="5179799" cy="529877"/>
          </a:xfrm>
        </p:grpSpPr>
        <p:sp>
          <p:nvSpPr>
            <p:cNvPr id="24" name="Rectangle: Rounded Corners 23">
              <a:extLst>
                <a:ext uri="{FF2B5EF4-FFF2-40B4-BE49-F238E27FC236}">
                  <a16:creationId xmlns:a16="http://schemas.microsoft.com/office/drawing/2014/main" id="{9A589FB3-6CC0-ED5F-5924-2571FF06F71F}"/>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72CCF710-102B-9369-00DC-76840754573C}"/>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DD3700D4-255A-E132-6BD9-ECED9108947B}"/>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ID Driven</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5D4BFCF9-CB9A-8223-6071-9E4AC5E91A14}"/>
                </a:ext>
              </a:extLst>
            </p:cNvPr>
            <p:cNvSpPr txBox="1"/>
            <p:nvPr/>
          </p:nvSpPr>
          <p:spPr>
            <a:xfrm>
              <a:off x="8640918" y="319340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Engagement and pipeline metrics are automatically derived from tracking IDs (CCID, OID, EID) mapped via tagging metadata.</a:t>
              </a:r>
              <a:endParaRPr lang="en-GB" sz="1000" dirty="0"/>
            </a:p>
          </p:txBody>
        </p:sp>
        <p:sp>
          <p:nvSpPr>
            <p:cNvPr id="28" name="Oval 27">
              <a:extLst>
                <a:ext uri="{FF2B5EF4-FFF2-40B4-BE49-F238E27FC236}">
                  <a16:creationId xmlns:a16="http://schemas.microsoft.com/office/drawing/2014/main" id="{C1DF5A8C-AF47-276E-7F76-279A570E9690}"/>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42" name="Group 41">
            <a:extLst>
              <a:ext uri="{FF2B5EF4-FFF2-40B4-BE49-F238E27FC236}">
                <a16:creationId xmlns:a16="http://schemas.microsoft.com/office/drawing/2014/main" id="{00BAF9C9-0558-5BF3-8DD6-EB183DE83DB7}"/>
              </a:ext>
            </a:extLst>
          </p:cNvPr>
          <p:cNvGrpSpPr/>
          <p:nvPr/>
        </p:nvGrpSpPr>
        <p:grpSpPr>
          <a:xfrm>
            <a:off x="6688350" y="3737064"/>
            <a:ext cx="5179799" cy="529877"/>
            <a:chOff x="6688351" y="4174656"/>
            <a:chExt cx="5179799" cy="529877"/>
          </a:xfrm>
        </p:grpSpPr>
        <p:sp>
          <p:nvSpPr>
            <p:cNvPr id="30" name="Rectangle: Rounded Corners 29">
              <a:extLst>
                <a:ext uri="{FF2B5EF4-FFF2-40B4-BE49-F238E27FC236}">
                  <a16:creationId xmlns:a16="http://schemas.microsoft.com/office/drawing/2014/main" id="{63063BBF-F112-46D3-0206-3DA30ADF1810}"/>
                </a:ext>
              </a:extLst>
            </p:cNvPr>
            <p:cNvSpPr/>
            <p:nvPr/>
          </p:nvSpPr>
          <p:spPr>
            <a:xfrm>
              <a:off x="7936230" y="420203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480A4E29-8BF6-35E9-1E6E-E25FC5627753}"/>
                </a:ext>
              </a:extLst>
            </p:cNvPr>
            <p:cNvSpPr/>
            <p:nvPr/>
          </p:nvSpPr>
          <p:spPr>
            <a:xfrm>
              <a:off x="7035263" y="420203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FEC0A4A4-8892-56EE-5BA3-578CF48B1AD2}"/>
                </a:ext>
              </a:extLst>
            </p:cNvPr>
            <p:cNvSpPr txBox="1"/>
            <p:nvPr/>
          </p:nvSpPr>
          <p:spPr>
            <a:xfrm>
              <a:off x="7307028" y="435014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Pipeline</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DDAB4E13-8C59-61C5-5A7E-65144427A42C}"/>
                </a:ext>
              </a:extLst>
            </p:cNvPr>
            <p:cNvSpPr txBox="1"/>
            <p:nvPr/>
          </p:nvSpPr>
          <p:spPr>
            <a:xfrm>
              <a:off x="8640917" y="4202036"/>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Includes all pipeline impacted by campaign-linked activities, even if it falls outside the core target product mix.</a:t>
              </a:r>
              <a:endParaRPr lang="en-GB" sz="1000" dirty="0"/>
            </a:p>
          </p:txBody>
        </p:sp>
        <p:sp>
          <p:nvSpPr>
            <p:cNvPr id="34" name="Oval 33">
              <a:extLst>
                <a:ext uri="{FF2B5EF4-FFF2-40B4-BE49-F238E27FC236}">
                  <a16:creationId xmlns:a16="http://schemas.microsoft.com/office/drawing/2014/main" id="{428E9226-BAC7-9B81-4EDB-6F4EFA8D247F}"/>
                </a:ext>
              </a:extLst>
            </p:cNvPr>
            <p:cNvSpPr/>
            <p:nvPr/>
          </p:nvSpPr>
          <p:spPr>
            <a:xfrm>
              <a:off x="6688351" y="417465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41" name="Group 40">
            <a:extLst>
              <a:ext uri="{FF2B5EF4-FFF2-40B4-BE49-F238E27FC236}">
                <a16:creationId xmlns:a16="http://schemas.microsoft.com/office/drawing/2014/main" id="{57FB228D-9DB0-50F7-7054-D84222657309}"/>
              </a:ext>
            </a:extLst>
          </p:cNvPr>
          <p:cNvGrpSpPr/>
          <p:nvPr/>
        </p:nvGrpSpPr>
        <p:grpSpPr>
          <a:xfrm>
            <a:off x="6688350" y="4599829"/>
            <a:ext cx="5179799" cy="529877"/>
            <a:chOff x="6688351" y="5183283"/>
            <a:chExt cx="5179799" cy="529877"/>
          </a:xfrm>
        </p:grpSpPr>
        <p:sp>
          <p:nvSpPr>
            <p:cNvPr id="36" name="Rectangle: Rounded Corners 35">
              <a:extLst>
                <a:ext uri="{FF2B5EF4-FFF2-40B4-BE49-F238E27FC236}">
                  <a16:creationId xmlns:a16="http://schemas.microsoft.com/office/drawing/2014/main" id="{3CC4ECDC-167F-694A-DFFE-E1A989BF7285}"/>
                </a:ext>
              </a:extLst>
            </p:cNvPr>
            <p:cNvSpPr/>
            <p:nvPr/>
          </p:nvSpPr>
          <p:spPr>
            <a:xfrm>
              <a:off x="7936230" y="521066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7" name="Arrow: Pentagon 36">
              <a:extLst>
                <a:ext uri="{FF2B5EF4-FFF2-40B4-BE49-F238E27FC236}">
                  <a16:creationId xmlns:a16="http://schemas.microsoft.com/office/drawing/2014/main" id="{60C52E40-F71B-38F6-16F1-AD21394057BC}"/>
                </a:ext>
              </a:extLst>
            </p:cNvPr>
            <p:cNvSpPr/>
            <p:nvPr/>
          </p:nvSpPr>
          <p:spPr>
            <a:xfrm>
              <a:off x="7035263" y="521066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8" name="TextBox 37">
              <a:extLst>
                <a:ext uri="{FF2B5EF4-FFF2-40B4-BE49-F238E27FC236}">
                  <a16:creationId xmlns:a16="http://schemas.microsoft.com/office/drawing/2014/main" id="{A9CD1EF4-23F5-9D12-4154-7D9C6F57DE1B}"/>
                </a:ext>
              </a:extLst>
            </p:cNvPr>
            <p:cNvSpPr txBox="1"/>
            <p:nvPr/>
          </p:nvSpPr>
          <p:spPr>
            <a:xfrm>
              <a:off x="7307028" y="535877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Bottom Line</a:t>
              </a:r>
              <a:endParaRPr lang="en-GB" sz="1600" kern="1200" dirty="0" err="1">
                <a:solidFill>
                  <a:schemeClr val="bg1"/>
                </a:solidFill>
                <a:latin typeface="+mn-lt"/>
                <a:ea typeface="ＭＳ Ｐゴシック" charset="0"/>
              </a:endParaRPr>
            </a:p>
          </p:txBody>
        </p:sp>
        <p:sp>
          <p:nvSpPr>
            <p:cNvPr id="39" name="TextBox 38">
              <a:extLst>
                <a:ext uri="{FF2B5EF4-FFF2-40B4-BE49-F238E27FC236}">
                  <a16:creationId xmlns:a16="http://schemas.microsoft.com/office/drawing/2014/main" id="{B6F29CA0-F958-3769-7CD4-B00C7D4D8ABB}"/>
                </a:ext>
              </a:extLst>
            </p:cNvPr>
            <p:cNvSpPr txBox="1"/>
            <p:nvPr/>
          </p:nvSpPr>
          <p:spPr>
            <a:xfrm>
              <a:off x="8640917" y="5284719"/>
              <a:ext cx="3155697" cy="32700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This view isolates the exact engagement and pipeline generated by your selected campaign's tracking tags.</a:t>
              </a:r>
              <a:endParaRPr lang="en-GB" sz="1000" dirty="0"/>
            </a:p>
          </p:txBody>
        </p:sp>
        <p:sp>
          <p:nvSpPr>
            <p:cNvPr id="40" name="Oval 39">
              <a:extLst>
                <a:ext uri="{FF2B5EF4-FFF2-40B4-BE49-F238E27FC236}">
                  <a16:creationId xmlns:a16="http://schemas.microsoft.com/office/drawing/2014/main" id="{F0EDA184-AA39-7D5D-C456-8EA08FC244CB}"/>
                </a:ext>
              </a:extLst>
            </p:cNvPr>
            <p:cNvSpPr/>
            <p:nvPr/>
          </p:nvSpPr>
          <p:spPr>
            <a:xfrm>
              <a:off x="6688351" y="518328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
        <p:nvSpPr>
          <p:cNvPr id="46" name="TextBox 45">
            <a:extLst>
              <a:ext uri="{FF2B5EF4-FFF2-40B4-BE49-F238E27FC236}">
                <a16:creationId xmlns:a16="http://schemas.microsoft.com/office/drawing/2014/main" id="{4D674691-5F5B-E36D-B152-084CE21D3433}"/>
              </a:ext>
            </a:extLst>
          </p:cNvPr>
          <p:cNvSpPr txBox="1"/>
          <p:nvPr/>
        </p:nvSpPr>
        <p:spPr>
          <a:xfrm>
            <a:off x="6688352" y="5277818"/>
            <a:ext cx="5327479" cy="992353"/>
          </a:xfrm>
          <a:prstGeom prst="rect">
            <a:avLst/>
          </a:prstGeom>
          <a:noFill/>
        </p:spPr>
        <p:txBody>
          <a:bodyPr wrap="square" lIns="0" tIns="0" rIns="0" bIns="0" rtlCol="0">
            <a:noAutofit/>
          </a:bodyPr>
          <a:lstStyle/>
          <a:p>
            <a:r>
              <a:rPr lang="en-GB" sz="1200" b="1" dirty="0">
                <a:solidFill>
                  <a:schemeClr val="bg1"/>
                </a:solidFill>
              </a:rPr>
              <a:t>Best Used to Answer:</a:t>
            </a:r>
          </a:p>
          <a:p>
            <a:pPr marL="171450" indent="-171450">
              <a:buFont typeface="Arial" panose="020B0604020202020204" pitchFamily="34" charset="0"/>
              <a:buChar char="•"/>
            </a:pPr>
            <a:r>
              <a:rPr lang="en-GB" sz="1200" i="1" dirty="0">
                <a:solidFill>
                  <a:schemeClr val="bg1"/>
                </a:solidFill>
              </a:rPr>
              <a:t>How did a specific campaign (e.g., Mid Market LDOS) perform end-to-end?</a:t>
            </a:r>
            <a:endParaRPr lang="en-GB" sz="1200" dirty="0">
              <a:solidFill>
                <a:schemeClr val="bg1"/>
              </a:solidFill>
            </a:endParaRPr>
          </a:p>
          <a:p>
            <a:pPr marL="171450" indent="-171450">
              <a:buFont typeface="Arial" panose="020B0604020202020204" pitchFamily="34" charset="0"/>
              <a:buChar char="•"/>
            </a:pPr>
            <a:r>
              <a:rPr lang="en-GB" sz="1200" i="1" dirty="0">
                <a:solidFill>
                  <a:schemeClr val="bg1"/>
                </a:solidFill>
              </a:rPr>
              <a:t>Which specific activities, offers, and events successfully drove engagement and pipeline for this campaign?</a:t>
            </a:r>
            <a:endParaRPr lang="en-GB" sz="1200" dirty="0">
              <a:solidFill>
                <a:schemeClr val="bg1"/>
              </a:solidFill>
            </a:endParaRPr>
          </a:p>
        </p:txBody>
      </p:sp>
      <p:sp>
        <p:nvSpPr>
          <p:cNvPr id="7" name="TextBox 6">
            <a:extLst>
              <a:ext uri="{FF2B5EF4-FFF2-40B4-BE49-F238E27FC236}">
                <a16:creationId xmlns:a16="http://schemas.microsoft.com/office/drawing/2014/main" id="{EFC81107-B53D-0587-1B15-928BEBA0B719}"/>
              </a:ext>
            </a:extLst>
          </p:cNvPr>
          <p:cNvSpPr txBox="1"/>
          <p:nvPr/>
        </p:nvSpPr>
        <p:spPr>
          <a:xfrm>
            <a:off x="537029" y="5920702"/>
            <a:ext cx="2503712" cy="293417"/>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hlinkClick r:id="rId2"/>
              </a:rPr>
              <a:t>Self Service Deep Dive</a:t>
            </a:r>
            <a:endParaRPr lang="en-GB" sz="1600" kern="1200" dirty="0" err="1">
              <a:solidFill>
                <a:schemeClr val="bg1"/>
              </a:solidFill>
              <a:latin typeface="+mn-lt"/>
              <a:ea typeface="ＭＳ Ｐゴシック" charset="0"/>
            </a:endParaRPr>
          </a:p>
        </p:txBody>
      </p:sp>
      <p:pic>
        <p:nvPicPr>
          <p:cNvPr id="6" name="Picture 5">
            <a:extLst>
              <a:ext uri="{FF2B5EF4-FFF2-40B4-BE49-F238E27FC236}">
                <a16:creationId xmlns:a16="http://schemas.microsoft.com/office/drawing/2014/main" id="{76739AE4-FD8F-EE15-1479-BB8E715E9A83}"/>
              </a:ext>
            </a:extLst>
          </p:cNvPr>
          <p:cNvPicPr>
            <a:picLocks noChangeAspect="1"/>
          </p:cNvPicPr>
          <p:nvPr/>
        </p:nvPicPr>
        <p:blipFill>
          <a:blip r:embed="rId3"/>
          <a:stretch>
            <a:fillRect/>
          </a:stretch>
        </p:blipFill>
        <p:spPr>
          <a:xfrm>
            <a:off x="234186" y="1503159"/>
            <a:ext cx="5884273" cy="3380567"/>
          </a:xfrm>
          <a:prstGeom prst="rect">
            <a:avLst/>
          </a:prstGeom>
        </p:spPr>
      </p:pic>
    </p:spTree>
    <p:extLst>
      <p:ext uri="{BB962C8B-B14F-4D97-AF65-F5344CB8AC3E}">
        <p14:creationId xmlns:p14="http://schemas.microsoft.com/office/powerpoint/2010/main" val="1082466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2BAE48D2-7463-2294-E224-64E79ED0F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414" y="3885908"/>
            <a:ext cx="5828060" cy="2272166"/>
          </a:xfrm>
          <a:prstGeom prst="rect">
            <a:avLst/>
          </a:prstGeom>
        </p:spPr>
      </p:pic>
      <p:sp>
        <p:nvSpPr>
          <p:cNvPr id="2" name="Title 1">
            <a:extLst>
              <a:ext uri="{FF2B5EF4-FFF2-40B4-BE49-F238E27FC236}">
                <a16:creationId xmlns:a16="http://schemas.microsoft.com/office/drawing/2014/main" id="{31C896DF-1E8B-B8B4-B8CE-62A33F6F7B37}"/>
              </a:ext>
            </a:extLst>
          </p:cNvPr>
          <p:cNvSpPr>
            <a:spLocks noGrp="1"/>
          </p:cNvSpPr>
          <p:nvPr>
            <p:ph type="title"/>
          </p:nvPr>
        </p:nvSpPr>
        <p:spPr/>
        <p:txBody>
          <a:bodyPr/>
          <a:lstStyle/>
          <a:p>
            <a:r>
              <a:rPr lang="en-US" dirty="0"/>
              <a:t>Seller Enablement</a:t>
            </a:r>
            <a:endParaRPr lang="en-GB" dirty="0"/>
          </a:p>
        </p:txBody>
      </p:sp>
      <p:pic>
        <p:nvPicPr>
          <p:cNvPr id="4" name="Picture 3">
            <a:extLst>
              <a:ext uri="{FF2B5EF4-FFF2-40B4-BE49-F238E27FC236}">
                <a16:creationId xmlns:a16="http://schemas.microsoft.com/office/drawing/2014/main" id="{D1B8C708-2C88-59A7-BB2F-3B3E35B743E0}"/>
              </a:ext>
            </a:extLst>
          </p:cNvPr>
          <p:cNvPicPr>
            <a:picLocks noChangeAspect="1"/>
          </p:cNvPicPr>
          <p:nvPr/>
        </p:nvPicPr>
        <p:blipFill>
          <a:blip r:embed="rId3"/>
          <a:stretch>
            <a:fillRect/>
          </a:stretch>
        </p:blipFill>
        <p:spPr>
          <a:xfrm>
            <a:off x="714833" y="1178632"/>
            <a:ext cx="5381167" cy="2250368"/>
          </a:xfrm>
          <a:prstGeom prst="rect">
            <a:avLst/>
          </a:prstGeom>
        </p:spPr>
      </p:pic>
      <p:cxnSp>
        <p:nvCxnSpPr>
          <p:cNvPr id="7" name="Straight Connector 6">
            <a:extLst>
              <a:ext uri="{FF2B5EF4-FFF2-40B4-BE49-F238E27FC236}">
                <a16:creationId xmlns:a16="http://schemas.microsoft.com/office/drawing/2014/main" id="{9710DE6C-BDA7-FC15-10C9-41912FA3B121}"/>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38" name="Oval 37">
            <a:extLst>
              <a:ext uri="{FF2B5EF4-FFF2-40B4-BE49-F238E27FC236}">
                <a16:creationId xmlns:a16="http://schemas.microsoft.com/office/drawing/2014/main" id="{82D8071C-6E49-D4CF-E7A5-E890A7CA9678}"/>
              </a:ext>
            </a:extLst>
          </p:cNvPr>
          <p:cNvSpPr/>
          <p:nvPr/>
        </p:nvSpPr>
        <p:spPr>
          <a:xfrm>
            <a:off x="2358927" y="1902192"/>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1</a:t>
            </a:r>
            <a:endParaRPr lang="en-GB" sz="1200" b="1" dirty="0">
              <a:solidFill>
                <a:schemeClr val="bg1"/>
              </a:solidFill>
            </a:endParaRPr>
          </a:p>
        </p:txBody>
      </p:sp>
      <p:sp>
        <p:nvSpPr>
          <p:cNvPr id="39" name="Oval 38">
            <a:extLst>
              <a:ext uri="{FF2B5EF4-FFF2-40B4-BE49-F238E27FC236}">
                <a16:creationId xmlns:a16="http://schemas.microsoft.com/office/drawing/2014/main" id="{0E1409DA-0D88-2EF3-31F4-39365115DC54}"/>
              </a:ext>
            </a:extLst>
          </p:cNvPr>
          <p:cNvSpPr/>
          <p:nvPr/>
        </p:nvSpPr>
        <p:spPr>
          <a:xfrm>
            <a:off x="4220959" y="4633627"/>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2</a:t>
            </a:r>
            <a:endParaRPr lang="en-GB" sz="1200" b="1" dirty="0">
              <a:solidFill>
                <a:schemeClr val="bg1"/>
              </a:solidFill>
            </a:endParaRPr>
          </a:p>
        </p:txBody>
      </p:sp>
      <p:sp>
        <p:nvSpPr>
          <p:cNvPr id="40" name="Oval 39">
            <a:extLst>
              <a:ext uri="{FF2B5EF4-FFF2-40B4-BE49-F238E27FC236}">
                <a16:creationId xmlns:a16="http://schemas.microsoft.com/office/drawing/2014/main" id="{00945184-E6F0-36C0-30EA-190182427DD8}"/>
              </a:ext>
            </a:extLst>
          </p:cNvPr>
          <p:cNvSpPr/>
          <p:nvPr/>
        </p:nvSpPr>
        <p:spPr>
          <a:xfrm>
            <a:off x="4494472" y="1834777"/>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2</a:t>
            </a:r>
            <a:endParaRPr lang="en-GB" sz="1200" b="1" dirty="0">
              <a:solidFill>
                <a:schemeClr val="bg1"/>
              </a:solidFill>
            </a:endParaRPr>
          </a:p>
        </p:txBody>
      </p:sp>
      <p:sp>
        <p:nvSpPr>
          <p:cNvPr id="41" name="Oval 40">
            <a:extLst>
              <a:ext uri="{FF2B5EF4-FFF2-40B4-BE49-F238E27FC236}">
                <a16:creationId xmlns:a16="http://schemas.microsoft.com/office/drawing/2014/main" id="{A7FD1C48-9E45-17B6-DFB2-EE77A6B14DC0}"/>
              </a:ext>
            </a:extLst>
          </p:cNvPr>
          <p:cNvSpPr/>
          <p:nvPr/>
        </p:nvSpPr>
        <p:spPr>
          <a:xfrm>
            <a:off x="2114916" y="4499665"/>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1</a:t>
            </a:r>
            <a:endParaRPr lang="en-GB" sz="1200" b="1" dirty="0">
              <a:solidFill>
                <a:schemeClr val="bg1"/>
              </a:solidFill>
            </a:endParaRPr>
          </a:p>
        </p:txBody>
      </p:sp>
      <p:sp>
        <p:nvSpPr>
          <p:cNvPr id="42" name="TextBox 41">
            <a:extLst>
              <a:ext uri="{FF2B5EF4-FFF2-40B4-BE49-F238E27FC236}">
                <a16:creationId xmlns:a16="http://schemas.microsoft.com/office/drawing/2014/main" id="{7A0C3EED-A217-21DE-F891-B6DD521175A7}"/>
              </a:ext>
            </a:extLst>
          </p:cNvPr>
          <p:cNvSpPr txBox="1"/>
          <p:nvPr/>
        </p:nvSpPr>
        <p:spPr>
          <a:xfrm>
            <a:off x="458723" y="3585343"/>
            <a:ext cx="2452523" cy="29363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accent2"/>
                </a:solidFill>
                <a:latin typeface="+mn-lt"/>
                <a:ea typeface="ＭＳ Ｐゴシック" charset="0"/>
              </a:rPr>
              <a:t>Good Example</a:t>
            </a:r>
            <a:endParaRPr lang="en-GB" sz="1600" kern="1200" dirty="0" err="1">
              <a:solidFill>
                <a:schemeClr val="accent2"/>
              </a:solidFill>
              <a:latin typeface="+mn-lt"/>
              <a:ea typeface="ＭＳ Ｐゴシック" charset="0"/>
            </a:endParaRPr>
          </a:p>
        </p:txBody>
      </p:sp>
      <p:sp>
        <p:nvSpPr>
          <p:cNvPr id="43" name="TextBox 42">
            <a:extLst>
              <a:ext uri="{FF2B5EF4-FFF2-40B4-BE49-F238E27FC236}">
                <a16:creationId xmlns:a16="http://schemas.microsoft.com/office/drawing/2014/main" id="{841ECE00-86B6-E4DC-6932-DA334F51E238}"/>
              </a:ext>
            </a:extLst>
          </p:cNvPr>
          <p:cNvSpPr txBox="1"/>
          <p:nvPr/>
        </p:nvSpPr>
        <p:spPr>
          <a:xfrm>
            <a:off x="458723" y="860835"/>
            <a:ext cx="2452523" cy="29363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accent2"/>
                </a:solidFill>
                <a:latin typeface="+mn-lt"/>
                <a:ea typeface="ＭＳ Ｐゴシック" charset="0"/>
              </a:rPr>
              <a:t>Bad Example</a:t>
            </a:r>
            <a:endParaRPr lang="en-GB" sz="1600" kern="1200" dirty="0" err="1">
              <a:solidFill>
                <a:schemeClr val="accent2"/>
              </a:solidFill>
              <a:latin typeface="+mn-lt"/>
              <a:ea typeface="ＭＳ Ｐゴシック" charset="0"/>
            </a:endParaRPr>
          </a:p>
        </p:txBody>
      </p:sp>
      <p:grpSp>
        <p:nvGrpSpPr>
          <p:cNvPr id="57" name="Group 56">
            <a:extLst>
              <a:ext uri="{FF2B5EF4-FFF2-40B4-BE49-F238E27FC236}">
                <a16:creationId xmlns:a16="http://schemas.microsoft.com/office/drawing/2014/main" id="{3F1D4DD8-75A7-5234-D335-7DAA20E4E596}"/>
              </a:ext>
            </a:extLst>
          </p:cNvPr>
          <p:cNvGrpSpPr/>
          <p:nvPr/>
        </p:nvGrpSpPr>
        <p:grpSpPr>
          <a:xfrm>
            <a:off x="6674925" y="2565021"/>
            <a:ext cx="5330984" cy="845505"/>
            <a:chOff x="6537166" y="2497187"/>
            <a:chExt cx="5330984" cy="845505"/>
          </a:xfrm>
        </p:grpSpPr>
        <p:sp>
          <p:nvSpPr>
            <p:cNvPr id="46" name="Rectangle: Rounded Corners 45">
              <a:extLst>
                <a:ext uri="{FF2B5EF4-FFF2-40B4-BE49-F238E27FC236}">
                  <a16:creationId xmlns:a16="http://schemas.microsoft.com/office/drawing/2014/main" id="{A1C7F766-83EE-481F-1DBB-7D72B835B4E0}"/>
                </a:ext>
              </a:extLst>
            </p:cNvPr>
            <p:cNvSpPr/>
            <p:nvPr/>
          </p:nvSpPr>
          <p:spPr>
            <a:xfrm>
              <a:off x="7936230" y="2497187"/>
              <a:ext cx="3931920" cy="822840"/>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47" name="Arrow: Pentagon 46">
              <a:extLst>
                <a:ext uri="{FF2B5EF4-FFF2-40B4-BE49-F238E27FC236}">
                  <a16:creationId xmlns:a16="http://schemas.microsoft.com/office/drawing/2014/main" id="{BB31D735-C2E1-79F6-4173-328A643E3FA0}"/>
                </a:ext>
              </a:extLst>
            </p:cNvPr>
            <p:cNvSpPr/>
            <p:nvPr/>
          </p:nvSpPr>
          <p:spPr>
            <a:xfrm>
              <a:off x="7035263" y="2501699"/>
              <a:ext cx="1737360" cy="813816"/>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48" name="TextBox 47">
              <a:extLst>
                <a:ext uri="{FF2B5EF4-FFF2-40B4-BE49-F238E27FC236}">
                  <a16:creationId xmlns:a16="http://schemas.microsoft.com/office/drawing/2014/main" id="{8F5331EB-8868-B7FD-360F-DF5329DB44D1}"/>
                </a:ext>
              </a:extLst>
            </p:cNvPr>
            <p:cNvSpPr txBox="1"/>
            <p:nvPr/>
          </p:nvSpPr>
          <p:spPr>
            <a:xfrm>
              <a:off x="7440252" y="281916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Description</a:t>
              </a:r>
              <a:endParaRPr lang="en-GB" sz="1600" kern="1200" dirty="0" err="1">
                <a:solidFill>
                  <a:schemeClr val="bg1"/>
                </a:solidFill>
                <a:latin typeface="+mn-lt"/>
                <a:ea typeface="ＭＳ Ｐゴシック" charset="0"/>
              </a:endParaRPr>
            </a:p>
          </p:txBody>
        </p:sp>
        <p:sp>
          <p:nvSpPr>
            <p:cNvPr id="49" name="TextBox 48">
              <a:extLst>
                <a:ext uri="{FF2B5EF4-FFF2-40B4-BE49-F238E27FC236}">
                  <a16:creationId xmlns:a16="http://schemas.microsoft.com/office/drawing/2014/main" id="{50BE8B77-C21B-EA06-39DB-84B63FB6127D}"/>
                </a:ext>
              </a:extLst>
            </p:cNvPr>
            <p:cNvSpPr txBox="1"/>
            <p:nvPr/>
          </p:nvSpPr>
          <p:spPr>
            <a:xfrm>
              <a:off x="8852870" y="2502460"/>
              <a:ext cx="2962656" cy="81229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GB" sz="1000" dirty="0"/>
                <a:t>Craft marketing initiative descriptions with the sales team in mind—not marketing—by explicitly including the target audience and core objective to provide sellers with actionable context for customer conversations.</a:t>
              </a:r>
              <a:endParaRPr lang="en-US" altLang="en-US" sz="1000" dirty="0">
                <a:latin typeface="Arial" panose="020B0604020202020204" pitchFamily="34" charset="0"/>
              </a:endParaRPr>
            </a:p>
          </p:txBody>
        </p:sp>
        <p:sp>
          <p:nvSpPr>
            <p:cNvPr id="50" name="Oval 49">
              <a:extLst>
                <a:ext uri="{FF2B5EF4-FFF2-40B4-BE49-F238E27FC236}">
                  <a16:creationId xmlns:a16="http://schemas.microsoft.com/office/drawing/2014/main" id="{DE26C7A9-6B1B-F06D-AC97-63BB62748858}"/>
                </a:ext>
              </a:extLst>
            </p:cNvPr>
            <p:cNvSpPr/>
            <p:nvPr/>
          </p:nvSpPr>
          <p:spPr>
            <a:xfrm>
              <a:off x="6537166" y="2501700"/>
              <a:ext cx="840992" cy="840992"/>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sp>
        <p:nvSpPr>
          <p:cNvPr id="53" name="Oval 52">
            <a:extLst>
              <a:ext uri="{FF2B5EF4-FFF2-40B4-BE49-F238E27FC236}">
                <a16:creationId xmlns:a16="http://schemas.microsoft.com/office/drawing/2014/main" id="{A6790A8A-9DDF-AFC9-B842-968D1689EE11}"/>
              </a:ext>
            </a:extLst>
          </p:cNvPr>
          <p:cNvSpPr/>
          <p:nvPr/>
        </p:nvSpPr>
        <p:spPr>
          <a:xfrm>
            <a:off x="2114916" y="5780522"/>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3</a:t>
            </a:r>
            <a:endParaRPr lang="en-GB" sz="1200" b="1" dirty="0">
              <a:solidFill>
                <a:schemeClr val="bg1"/>
              </a:solidFill>
            </a:endParaRPr>
          </a:p>
        </p:txBody>
      </p:sp>
      <p:sp>
        <p:nvSpPr>
          <p:cNvPr id="54" name="Oval 53">
            <a:extLst>
              <a:ext uri="{FF2B5EF4-FFF2-40B4-BE49-F238E27FC236}">
                <a16:creationId xmlns:a16="http://schemas.microsoft.com/office/drawing/2014/main" id="{31D33D5B-893A-DA61-B4F3-ABE8AD1902A6}"/>
              </a:ext>
            </a:extLst>
          </p:cNvPr>
          <p:cNvSpPr/>
          <p:nvPr/>
        </p:nvSpPr>
        <p:spPr>
          <a:xfrm>
            <a:off x="4220958" y="5780521"/>
            <a:ext cx="333207" cy="33320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b="1" dirty="0">
                <a:solidFill>
                  <a:schemeClr val="bg1"/>
                </a:solidFill>
              </a:rPr>
              <a:t>4</a:t>
            </a:r>
            <a:endParaRPr lang="en-GB" sz="1200" b="1" dirty="0">
              <a:solidFill>
                <a:schemeClr val="bg1"/>
              </a:solidFill>
            </a:endParaRPr>
          </a:p>
        </p:txBody>
      </p:sp>
      <p:grpSp>
        <p:nvGrpSpPr>
          <p:cNvPr id="79" name="Group 78">
            <a:extLst>
              <a:ext uri="{FF2B5EF4-FFF2-40B4-BE49-F238E27FC236}">
                <a16:creationId xmlns:a16="http://schemas.microsoft.com/office/drawing/2014/main" id="{3F6B9B36-BE5B-2BCD-7F0C-5A11751F4E10}"/>
              </a:ext>
            </a:extLst>
          </p:cNvPr>
          <p:cNvGrpSpPr/>
          <p:nvPr/>
        </p:nvGrpSpPr>
        <p:grpSpPr>
          <a:xfrm>
            <a:off x="6674925" y="3837833"/>
            <a:ext cx="5330984" cy="840992"/>
            <a:chOff x="6582392" y="3553409"/>
            <a:chExt cx="5330984" cy="840992"/>
          </a:xfrm>
        </p:grpSpPr>
        <p:sp>
          <p:nvSpPr>
            <p:cNvPr id="59" name="Rectangle: Rounded Corners 58">
              <a:extLst>
                <a:ext uri="{FF2B5EF4-FFF2-40B4-BE49-F238E27FC236}">
                  <a16:creationId xmlns:a16="http://schemas.microsoft.com/office/drawing/2014/main" id="{723F6AB9-BD99-A1D8-D249-694336F71AE9}"/>
                </a:ext>
              </a:extLst>
            </p:cNvPr>
            <p:cNvSpPr/>
            <p:nvPr/>
          </p:nvSpPr>
          <p:spPr>
            <a:xfrm>
              <a:off x="7981456" y="3562485"/>
              <a:ext cx="3931920" cy="822840"/>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0" name="Arrow: Pentagon 59">
              <a:extLst>
                <a:ext uri="{FF2B5EF4-FFF2-40B4-BE49-F238E27FC236}">
                  <a16:creationId xmlns:a16="http://schemas.microsoft.com/office/drawing/2014/main" id="{87544E82-ACF8-3D3E-BF81-1E27AC21CF33}"/>
                </a:ext>
              </a:extLst>
            </p:cNvPr>
            <p:cNvSpPr/>
            <p:nvPr/>
          </p:nvSpPr>
          <p:spPr>
            <a:xfrm>
              <a:off x="7080489" y="3566997"/>
              <a:ext cx="1737360" cy="813816"/>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1" name="TextBox 60">
              <a:extLst>
                <a:ext uri="{FF2B5EF4-FFF2-40B4-BE49-F238E27FC236}">
                  <a16:creationId xmlns:a16="http://schemas.microsoft.com/office/drawing/2014/main" id="{B14AC68C-4C37-F9DD-C9E7-F06952E1A2CC}"/>
                </a:ext>
              </a:extLst>
            </p:cNvPr>
            <p:cNvSpPr txBox="1"/>
            <p:nvPr/>
          </p:nvSpPr>
          <p:spPr>
            <a:xfrm>
              <a:off x="7485478" y="3736912"/>
              <a:ext cx="1140447" cy="473987"/>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Originating URL</a:t>
              </a:r>
              <a:endParaRPr lang="en-GB" sz="1600" kern="1200" dirty="0" err="1">
                <a:solidFill>
                  <a:schemeClr val="bg1"/>
                </a:solidFill>
                <a:latin typeface="+mn-lt"/>
                <a:ea typeface="ＭＳ Ｐゴシック" charset="0"/>
              </a:endParaRPr>
            </a:p>
          </p:txBody>
        </p:sp>
        <p:sp>
          <p:nvSpPr>
            <p:cNvPr id="62" name="TextBox 61">
              <a:extLst>
                <a:ext uri="{FF2B5EF4-FFF2-40B4-BE49-F238E27FC236}">
                  <a16:creationId xmlns:a16="http://schemas.microsoft.com/office/drawing/2014/main" id="{C0CCA7E1-B1C1-2F74-6907-1E130D5E6CAC}"/>
                </a:ext>
              </a:extLst>
            </p:cNvPr>
            <p:cNvSpPr txBox="1"/>
            <p:nvPr/>
          </p:nvSpPr>
          <p:spPr>
            <a:xfrm>
              <a:off x="8898096" y="3726108"/>
              <a:ext cx="2962656" cy="495594"/>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defTabSz="914400" eaLnBrk="0" hangingPunct="0">
                <a:spcBef>
                  <a:spcPct val="0"/>
                </a:spcBef>
                <a:spcAft>
                  <a:spcPct val="0"/>
                </a:spcAft>
                <a:buClrTx/>
                <a:buSzTx/>
                <a:buFontTx/>
                <a:buChar char="•"/>
              </a:pPr>
              <a:r>
                <a:rPr lang="en-GB" sz="1000" dirty="0"/>
                <a:t>Captures the exact webpage hosting the call-to-action (CTA) trigger that the user clicked to access a gated offer. </a:t>
              </a:r>
              <a:endParaRPr lang="en-US" altLang="en-US" sz="1000" dirty="0">
                <a:latin typeface="Arial" panose="020B0604020202020204" pitchFamily="34" charset="0"/>
              </a:endParaRPr>
            </a:p>
          </p:txBody>
        </p:sp>
        <p:sp>
          <p:nvSpPr>
            <p:cNvPr id="63" name="Oval 62">
              <a:extLst>
                <a:ext uri="{FF2B5EF4-FFF2-40B4-BE49-F238E27FC236}">
                  <a16:creationId xmlns:a16="http://schemas.microsoft.com/office/drawing/2014/main" id="{DCFEF5EF-FC93-85F2-EC32-3793A89423ED}"/>
                </a:ext>
              </a:extLst>
            </p:cNvPr>
            <p:cNvSpPr/>
            <p:nvPr/>
          </p:nvSpPr>
          <p:spPr>
            <a:xfrm>
              <a:off x="6582392" y="3553409"/>
              <a:ext cx="840992" cy="840992"/>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80" name="Group 79">
            <a:extLst>
              <a:ext uri="{FF2B5EF4-FFF2-40B4-BE49-F238E27FC236}">
                <a16:creationId xmlns:a16="http://schemas.microsoft.com/office/drawing/2014/main" id="{7BC7BF92-8A51-0919-C295-7D2FA147B202}"/>
              </a:ext>
            </a:extLst>
          </p:cNvPr>
          <p:cNvGrpSpPr/>
          <p:nvPr/>
        </p:nvGrpSpPr>
        <p:grpSpPr>
          <a:xfrm>
            <a:off x="6674925" y="5106132"/>
            <a:ext cx="5330984" cy="840992"/>
            <a:chOff x="6612543" y="5718862"/>
            <a:chExt cx="5330984" cy="840992"/>
          </a:xfrm>
        </p:grpSpPr>
        <p:sp>
          <p:nvSpPr>
            <p:cNvPr id="66" name="Rectangle: Rounded Corners 65">
              <a:extLst>
                <a:ext uri="{FF2B5EF4-FFF2-40B4-BE49-F238E27FC236}">
                  <a16:creationId xmlns:a16="http://schemas.microsoft.com/office/drawing/2014/main" id="{87D2912B-4C77-6F99-52FB-FA3D5ADCE0FD}"/>
                </a:ext>
              </a:extLst>
            </p:cNvPr>
            <p:cNvSpPr/>
            <p:nvPr/>
          </p:nvSpPr>
          <p:spPr>
            <a:xfrm>
              <a:off x="8011607" y="5727938"/>
              <a:ext cx="3931920" cy="822840"/>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7" name="Arrow: Pentagon 66">
              <a:extLst>
                <a:ext uri="{FF2B5EF4-FFF2-40B4-BE49-F238E27FC236}">
                  <a16:creationId xmlns:a16="http://schemas.microsoft.com/office/drawing/2014/main" id="{7BFC1D5D-EEAE-B4E7-7C8F-EAAE62434F7F}"/>
                </a:ext>
              </a:extLst>
            </p:cNvPr>
            <p:cNvSpPr/>
            <p:nvPr/>
          </p:nvSpPr>
          <p:spPr>
            <a:xfrm>
              <a:off x="7110640" y="5732450"/>
              <a:ext cx="1737360" cy="813816"/>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8" name="TextBox 67">
              <a:extLst>
                <a:ext uri="{FF2B5EF4-FFF2-40B4-BE49-F238E27FC236}">
                  <a16:creationId xmlns:a16="http://schemas.microsoft.com/office/drawing/2014/main" id="{BEA0DDA8-C450-CB3A-735E-3E5DA0AD9759}"/>
                </a:ext>
              </a:extLst>
            </p:cNvPr>
            <p:cNvSpPr txBox="1"/>
            <p:nvPr/>
          </p:nvSpPr>
          <p:spPr>
            <a:xfrm>
              <a:off x="7515629" y="5918497"/>
              <a:ext cx="1140447" cy="44172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Referring URL</a:t>
              </a:r>
              <a:endParaRPr lang="en-GB" sz="1600" kern="1200" dirty="0" err="1">
                <a:solidFill>
                  <a:schemeClr val="bg1"/>
                </a:solidFill>
                <a:latin typeface="+mn-lt"/>
                <a:ea typeface="ＭＳ Ｐゴシック" charset="0"/>
              </a:endParaRPr>
            </a:p>
          </p:txBody>
        </p:sp>
        <p:sp>
          <p:nvSpPr>
            <p:cNvPr id="69" name="TextBox 68">
              <a:extLst>
                <a:ext uri="{FF2B5EF4-FFF2-40B4-BE49-F238E27FC236}">
                  <a16:creationId xmlns:a16="http://schemas.microsoft.com/office/drawing/2014/main" id="{2D48307B-85A1-F748-4FCB-833035A99AF9}"/>
                </a:ext>
              </a:extLst>
            </p:cNvPr>
            <p:cNvSpPr txBox="1"/>
            <p:nvPr/>
          </p:nvSpPr>
          <p:spPr>
            <a:xfrm>
              <a:off x="8928247" y="5812006"/>
              <a:ext cx="2962656" cy="65470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sz="1000" dirty="0"/>
                <a:t>Captures the specific URL of the consumed gated offer, serving as a live hyperlink that sellers can click to view and understand the exact content the customer interacted with.</a:t>
              </a:r>
            </a:p>
          </p:txBody>
        </p:sp>
        <p:sp>
          <p:nvSpPr>
            <p:cNvPr id="70" name="Oval 69">
              <a:extLst>
                <a:ext uri="{FF2B5EF4-FFF2-40B4-BE49-F238E27FC236}">
                  <a16:creationId xmlns:a16="http://schemas.microsoft.com/office/drawing/2014/main" id="{4B507C18-27E6-3B1A-EC89-FF20CA16A2CE}"/>
                </a:ext>
              </a:extLst>
            </p:cNvPr>
            <p:cNvSpPr/>
            <p:nvPr/>
          </p:nvSpPr>
          <p:spPr>
            <a:xfrm>
              <a:off x="6612543" y="5718862"/>
              <a:ext cx="840992" cy="840992"/>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78" name="Group 77">
            <a:extLst>
              <a:ext uri="{FF2B5EF4-FFF2-40B4-BE49-F238E27FC236}">
                <a16:creationId xmlns:a16="http://schemas.microsoft.com/office/drawing/2014/main" id="{BA9F29AA-58FA-96F8-7064-B794575BFCB3}"/>
              </a:ext>
            </a:extLst>
          </p:cNvPr>
          <p:cNvGrpSpPr/>
          <p:nvPr/>
        </p:nvGrpSpPr>
        <p:grpSpPr>
          <a:xfrm>
            <a:off x="6674925" y="1296722"/>
            <a:ext cx="5330984" cy="840992"/>
            <a:chOff x="6642694" y="524860"/>
            <a:chExt cx="5330984" cy="840992"/>
          </a:xfrm>
        </p:grpSpPr>
        <p:sp>
          <p:nvSpPr>
            <p:cNvPr id="73" name="Rectangle: Rounded Corners 72">
              <a:extLst>
                <a:ext uri="{FF2B5EF4-FFF2-40B4-BE49-F238E27FC236}">
                  <a16:creationId xmlns:a16="http://schemas.microsoft.com/office/drawing/2014/main" id="{816D042B-2B01-3E38-8416-2E5B814A874E}"/>
                </a:ext>
              </a:extLst>
            </p:cNvPr>
            <p:cNvSpPr/>
            <p:nvPr/>
          </p:nvSpPr>
          <p:spPr>
            <a:xfrm>
              <a:off x="8041758" y="533936"/>
              <a:ext cx="3931920" cy="822840"/>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4" name="Arrow: Pentagon 73">
              <a:extLst>
                <a:ext uri="{FF2B5EF4-FFF2-40B4-BE49-F238E27FC236}">
                  <a16:creationId xmlns:a16="http://schemas.microsoft.com/office/drawing/2014/main" id="{8E61F2E9-C0DC-4900-65A4-3BC4F9927976}"/>
                </a:ext>
              </a:extLst>
            </p:cNvPr>
            <p:cNvSpPr/>
            <p:nvPr/>
          </p:nvSpPr>
          <p:spPr>
            <a:xfrm>
              <a:off x="7140791" y="538448"/>
              <a:ext cx="1737360" cy="813816"/>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5" name="TextBox 74">
              <a:extLst>
                <a:ext uri="{FF2B5EF4-FFF2-40B4-BE49-F238E27FC236}">
                  <a16:creationId xmlns:a16="http://schemas.microsoft.com/office/drawing/2014/main" id="{09FFE1B4-84C3-110F-F9D7-B6935E7C679D}"/>
                </a:ext>
              </a:extLst>
            </p:cNvPr>
            <p:cNvSpPr txBox="1"/>
            <p:nvPr/>
          </p:nvSpPr>
          <p:spPr>
            <a:xfrm>
              <a:off x="7545780" y="855909"/>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Names</a:t>
              </a:r>
              <a:endParaRPr lang="en-GB" sz="1600" kern="1200" dirty="0" err="1">
                <a:solidFill>
                  <a:schemeClr val="bg1"/>
                </a:solidFill>
                <a:latin typeface="+mn-lt"/>
                <a:ea typeface="ＭＳ Ｐゴシック" charset="0"/>
              </a:endParaRPr>
            </a:p>
          </p:txBody>
        </p:sp>
        <p:sp>
          <p:nvSpPr>
            <p:cNvPr id="76" name="TextBox 75">
              <a:extLst>
                <a:ext uri="{FF2B5EF4-FFF2-40B4-BE49-F238E27FC236}">
                  <a16:creationId xmlns:a16="http://schemas.microsoft.com/office/drawing/2014/main" id="{20A5F22E-0322-4C97-BA81-DCB1CDAB2885}"/>
                </a:ext>
              </a:extLst>
            </p:cNvPr>
            <p:cNvSpPr txBox="1"/>
            <p:nvPr/>
          </p:nvSpPr>
          <p:spPr>
            <a:xfrm>
              <a:off x="8958398" y="619979"/>
              <a:ext cx="2962656" cy="65075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US" altLang="en-US" sz="1000" dirty="0">
                  <a:latin typeface="Arial" panose="020B0604020202020204" pitchFamily="34" charset="0"/>
                </a:rPr>
                <a:t>Avoid acronyms they don’t translate well for the sellers and inhibits the lead conversation a name should immediately explain to the seller the marketing initiative the customer has engaged with.</a:t>
              </a:r>
            </a:p>
          </p:txBody>
        </p:sp>
        <p:sp>
          <p:nvSpPr>
            <p:cNvPr id="77" name="Oval 76">
              <a:extLst>
                <a:ext uri="{FF2B5EF4-FFF2-40B4-BE49-F238E27FC236}">
                  <a16:creationId xmlns:a16="http://schemas.microsoft.com/office/drawing/2014/main" id="{7F155344-3BF7-F109-FFCB-64EF70A6AAB7}"/>
                </a:ext>
              </a:extLst>
            </p:cNvPr>
            <p:cNvSpPr/>
            <p:nvPr/>
          </p:nvSpPr>
          <p:spPr>
            <a:xfrm>
              <a:off x="6642694" y="524860"/>
              <a:ext cx="840992" cy="840992"/>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spTree>
    <p:extLst>
      <p:ext uri="{BB962C8B-B14F-4D97-AF65-F5344CB8AC3E}">
        <p14:creationId xmlns:p14="http://schemas.microsoft.com/office/powerpoint/2010/main" val="4101537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540A6-E9B0-4BD5-4A25-00D4B279C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42457-52CF-A96B-696D-C79214F44558}"/>
              </a:ext>
            </a:extLst>
          </p:cNvPr>
          <p:cNvSpPr>
            <a:spLocks noGrp="1"/>
          </p:cNvSpPr>
          <p:nvPr>
            <p:ph type="title"/>
          </p:nvPr>
        </p:nvSpPr>
        <p:spPr/>
        <p:txBody>
          <a:bodyPr/>
          <a:lstStyle/>
          <a:p>
            <a:r>
              <a:rPr lang="en-US" dirty="0"/>
              <a:t>Module 3: Drive To &amp; Offer IDs</a:t>
            </a:r>
            <a:endParaRPr lang="en-GB" dirty="0"/>
          </a:p>
        </p:txBody>
      </p:sp>
    </p:spTree>
    <p:extLst>
      <p:ext uri="{BB962C8B-B14F-4D97-AF65-F5344CB8AC3E}">
        <p14:creationId xmlns:p14="http://schemas.microsoft.com/office/powerpoint/2010/main" val="163675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E3CB-E09C-B27F-65C3-2B4523D48B41}"/>
              </a:ext>
            </a:extLst>
          </p:cNvPr>
          <p:cNvSpPr>
            <a:spLocks noGrp="1"/>
          </p:cNvSpPr>
          <p:nvPr>
            <p:ph type="title"/>
          </p:nvPr>
        </p:nvSpPr>
        <p:spPr/>
        <p:txBody>
          <a:bodyPr/>
          <a:lstStyle/>
          <a:p>
            <a:r>
              <a:rPr lang="en-US" dirty="0"/>
              <a:t>Structure of a Drive To ID</a:t>
            </a:r>
            <a:endParaRPr lang="en-GB" dirty="0"/>
          </a:p>
        </p:txBody>
      </p:sp>
      <p:grpSp>
        <p:nvGrpSpPr>
          <p:cNvPr id="5" name="Group 4">
            <a:extLst>
              <a:ext uri="{FF2B5EF4-FFF2-40B4-BE49-F238E27FC236}">
                <a16:creationId xmlns:a16="http://schemas.microsoft.com/office/drawing/2014/main" id="{10C5BF66-3AF0-0EBF-30B8-06966F800077}"/>
              </a:ext>
            </a:extLst>
          </p:cNvPr>
          <p:cNvGrpSpPr/>
          <p:nvPr/>
        </p:nvGrpSpPr>
        <p:grpSpPr>
          <a:xfrm>
            <a:off x="6689663" y="1277027"/>
            <a:ext cx="5179799" cy="529877"/>
            <a:chOff x="6689663" y="2085046"/>
            <a:chExt cx="5179799" cy="529877"/>
          </a:xfrm>
        </p:grpSpPr>
        <p:sp>
          <p:nvSpPr>
            <p:cNvPr id="6" name="Rectangle: Rounded Corners 5">
              <a:extLst>
                <a:ext uri="{FF2B5EF4-FFF2-40B4-BE49-F238E27FC236}">
                  <a16:creationId xmlns:a16="http://schemas.microsoft.com/office/drawing/2014/main" id="{67D49691-253B-D9A6-126F-E03E660D2FCF}"/>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 name="Arrow: Pentagon 6">
              <a:extLst>
                <a:ext uri="{FF2B5EF4-FFF2-40B4-BE49-F238E27FC236}">
                  <a16:creationId xmlns:a16="http://schemas.microsoft.com/office/drawing/2014/main" id="{F4484D40-77E2-193D-0CFF-031A758E400B}"/>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8" name="TextBox 7">
              <a:extLst>
                <a:ext uri="{FF2B5EF4-FFF2-40B4-BE49-F238E27FC236}">
                  <a16:creationId xmlns:a16="http://schemas.microsoft.com/office/drawing/2014/main" id="{770DC412-2046-AFB6-F98F-A2558EEDE974}"/>
                </a:ext>
              </a:extLst>
            </p:cNvPr>
            <p:cNvSpPr txBox="1"/>
            <p:nvPr/>
          </p:nvSpPr>
          <p:spPr>
            <a:xfrm>
              <a:off x="7395424" y="226053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DTID</a:t>
              </a:r>
              <a:endParaRPr lang="en-GB" sz="1600" kern="1200" dirty="0" err="1">
                <a:solidFill>
                  <a:schemeClr val="bg1"/>
                </a:solidFill>
                <a:latin typeface="+mn-lt"/>
                <a:ea typeface="ＭＳ Ｐゴシック" charset="0"/>
              </a:endParaRPr>
            </a:p>
          </p:txBody>
        </p:sp>
        <p:sp>
          <p:nvSpPr>
            <p:cNvPr id="9" name="TextBox 8">
              <a:extLst>
                <a:ext uri="{FF2B5EF4-FFF2-40B4-BE49-F238E27FC236}">
                  <a16:creationId xmlns:a16="http://schemas.microsoft.com/office/drawing/2014/main" id="{2CFF7625-808D-0420-2C5F-F32AAC2E79E8}"/>
                </a:ext>
              </a:extLst>
            </p:cNvPr>
            <p:cNvSpPr txBox="1"/>
            <p:nvPr/>
          </p:nvSpPr>
          <p:spPr>
            <a:xfrm>
              <a:off x="8642230" y="2184234"/>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On Creation of an Drive To ID a DTID is automatically generated</a:t>
              </a:r>
            </a:p>
          </p:txBody>
        </p:sp>
        <p:sp>
          <p:nvSpPr>
            <p:cNvPr id="10" name="Oval 9">
              <a:extLst>
                <a:ext uri="{FF2B5EF4-FFF2-40B4-BE49-F238E27FC236}">
                  <a16:creationId xmlns:a16="http://schemas.microsoft.com/office/drawing/2014/main" id="{B02BFFD8-C83D-2CC6-56E0-99397113A487}"/>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1" name="Group 10">
            <a:extLst>
              <a:ext uri="{FF2B5EF4-FFF2-40B4-BE49-F238E27FC236}">
                <a16:creationId xmlns:a16="http://schemas.microsoft.com/office/drawing/2014/main" id="{2F18D1BA-E710-7D02-CCE1-485AF7B0751F}"/>
              </a:ext>
            </a:extLst>
          </p:cNvPr>
          <p:cNvGrpSpPr/>
          <p:nvPr/>
        </p:nvGrpSpPr>
        <p:grpSpPr>
          <a:xfrm>
            <a:off x="6689663" y="3361073"/>
            <a:ext cx="5323040" cy="529877"/>
            <a:chOff x="6689663" y="2850599"/>
            <a:chExt cx="5179799" cy="529877"/>
          </a:xfrm>
        </p:grpSpPr>
        <p:sp>
          <p:nvSpPr>
            <p:cNvPr id="12" name="Rectangle: Rounded Corners 11">
              <a:extLst>
                <a:ext uri="{FF2B5EF4-FFF2-40B4-BE49-F238E27FC236}">
                  <a16:creationId xmlns:a16="http://schemas.microsoft.com/office/drawing/2014/main" id="{17C437B8-EC9E-0B08-1C3F-AFE00E29020E}"/>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E7BA43C0-95FD-967E-3BCE-4A9002D8D3D3}"/>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615F8568-B097-DC0A-70E8-8E68A8CB15EA}"/>
                </a:ext>
              </a:extLst>
            </p:cNvPr>
            <p:cNvSpPr txBox="1"/>
            <p:nvPr/>
          </p:nvSpPr>
          <p:spPr>
            <a:xfrm>
              <a:off x="7395424" y="302609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Audience</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7FCF86D9-DFA2-D80D-5522-DF1D30D4966B}"/>
                </a:ext>
              </a:extLst>
            </p:cNvPr>
            <p:cNvSpPr txBox="1"/>
            <p:nvPr/>
          </p:nvSpPr>
          <p:spPr>
            <a:xfrm>
              <a:off x="8642230" y="287797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b="1" dirty="0"/>
                <a:t>Paid</a:t>
              </a:r>
              <a:r>
                <a:rPr lang="en-GB" sz="1000" dirty="0"/>
                <a:t> (sponsored), </a:t>
              </a:r>
              <a:r>
                <a:rPr lang="en-GB" sz="1000" b="1" dirty="0"/>
                <a:t>Owned</a:t>
              </a:r>
              <a:r>
                <a:rPr lang="en-GB" sz="1000" dirty="0"/>
                <a:t> (internal databases), or </a:t>
              </a:r>
              <a:r>
                <a:rPr lang="en-GB" sz="1000" b="1" dirty="0"/>
                <a:t>Earned</a:t>
              </a:r>
              <a:r>
                <a:rPr lang="en-GB" sz="1000" dirty="0"/>
                <a:t> (organic reach). Optimizing specific content delivery.</a:t>
              </a:r>
            </a:p>
          </p:txBody>
        </p:sp>
        <p:sp>
          <p:nvSpPr>
            <p:cNvPr id="16" name="Oval 15">
              <a:extLst>
                <a:ext uri="{FF2B5EF4-FFF2-40B4-BE49-F238E27FC236}">
                  <a16:creationId xmlns:a16="http://schemas.microsoft.com/office/drawing/2014/main" id="{265E6FC1-BC47-ABE1-379E-668ADA4338E9}"/>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75" name="Group 74">
            <a:extLst>
              <a:ext uri="{FF2B5EF4-FFF2-40B4-BE49-F238E27FC236}">
                <a16:creationId xmlns:a16="http://schemas.microsoft.com/office/drawing/2014/main" id="{C434FE2E-0889-2CB3-78B1-DE25BA6F82FC}"/>
              </a:ext>
            </a:extLst>
          </p:cNvPr>
          <p:cNvGrpSpPr/>
          <p:nvPr/>
        </p:nvGrpSpPr>
        <p:grpSpPr>
          <a:xfrm>
            <a:off x="6689663" y="4403096"/>
            <a:ext cx="5252623" cy="529877"/>
            <a:chOff x="6689663" y="3191442"/>
            <a:chExt cx="5252623" cy="529877"/>
          </a:xfrm>
        </p:grpSpPr>
        <p:sp>
          <p:nvSpPr>
            <p:cNvPr id="18" name="Rectangle: Rounded Corners 17">
              <a:extLst>
                <a:ext uri="{FF2B5EF4-FFF2-40B4-BE49-F238E27FC236}">
                  <a16:creationId xmlns:a16="http://schemas.microsoft.com/office/drawing/2014/main" id="{5D37DF3C-48C9-49FF-82B0-EF87094D4893}"/>
                </a:ext>
              </a:extLst>
            </p:cNvPr>
            <p:cNvSpPr/>
            <p:nvPr/>
          </p:nvSpPr>
          <p:spPr>
            <a:xfrm>
              <a:off x="7937542" y="321882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F6B508F5-7907-A787-830E-C3E46CB003AD}"/>
                </a:ext>
              </a:extLst>
            </p:cNvPr>
            <p:cNvSpPr/>
            <p:nvPr/>
          </p:nvSpPr>
          <p:spPr>
            <a:xfrm>
              <a:off x="7036575" y="321882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CAAB592A-4218-234B-EB79-AA057BB7D2E1}"/>
                </a:ext>
              </a:extLst>
            </p:cNvPr>
            <p:cNvSpPr txBox="1"/>
            <p:nvPr/>
          </p:nvSpPr>
          <p:spPr>
            <a:xfrm>
              <a:off x="7395424" y="336693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Vehicle</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098D4704-D5DA-5399-AC37-54D2ED7452F0}"/>
                </a:ext>
              </a:extLst>
            </p:cNvPr>
            <p:cNvSpPr txBox="1"/>
            <p:nvPr/>
          </p:nvSpPr>
          <p:spPr>
            <a:xfrm>
              <a:off x="8642229" y="3218822"/>
              <a:ext cx="330005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Standardizes the specific communication channel utilized (</a:t>
              </a:r>
              <a:r>
                <a:rPr lang="en-GB" sz="1000" b="1" dirty="0"/>
                <a:t>Email</a:t>
              </a:r>
              <a:r>
                <a:rPr lang="en-GB" sz="1000" dirty="0"/>
                <a:t>, </a:t>
              </a:r>
              <a:r>
                <a:rPr lang="en-GB" sz="1000" b="1" dirty="0"/>
                <a:t>Paid Social</a:t>
              </a:r>
              <a:r>
                <a:rPr lang="en-GB" sz="1000" dirty="0"/>
                <a:t>, </a:t>
              </a:r>
              <a:r>
                <a:rPr lang="en-GB" sz="1000" b="1" dirty="0"/>
                <a:t>Display</a:t>
              </a:r>
              <a:r>
                <a:rPr lang="en-GB" sz="1000" dirty="0"/>
                <a:t>). Ensuring clean normalized performance comparisons across channels.</a:t>
              </a:r>
            </a:p>
          </p:txBody>
        </p:sp>
        <p:sp>
          <p:nvSpPr>
            <p:cNvPr id="22" name="Oval 21">
              <a:extLst>
                <a:ext uri="{FF2B5EF4-FFF2-40B4-BE49-F238E27FC236}">
                  <a16:creationId xmlns:a16="http://schemas.microsoft.com/office/drawing/2014/main" id="{140EF192-3416-1BFD-09B8-E64B3643FBE0}"/>
                </a:ext>
              </a:extLst>
            </p:cNvPr>
            <p:cNvSpPr/>
            <p:nvPr/>
          </p:nvSpPr>
          <p:spPr>
            <a:xfrm>
              <a:off x="6689663" y="319144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23" name="Group 22">
            <a:extLst>
              <a:ext uri="{FF2B5EF4-FFF2-40B4-BE49-F238E27FC236}">
                <a16:creationId xmlns:a16="http://schemas.microsoft.com/office/drawing/2014/main" id="{74B0235B-DA22-D125-E398-004465FB8B6C}"/>
              </a:ext>
            </a:extLst>
          </p:cNvPr>
          <p:cNvGrpSpPr/>
          <p:nvPr/>
        </p:nvGrpSpPr>
        <p:grpSpPr>
          <a:xfrm>
            <a:off x="6689663" y="5445118"/>
            <a:ext cx="5179799" cy="529877"/>
            <a:chOff x="6775864" y="4491223"/>
            <a:chExt cx="5179799" cy="529877"/>
          </a:xfrm>
        </p:grpSpPr>
        <p:sp>
          <p:nvSpPr>
            <p:cNvPr id="24" name="Rectangle: Rounded Corners 23">
              <a:extLst>
                <a:ext uri="{FF2B5EF4-FFF2-40B4-BE49-F238E27FC236}">
                  <a16:creationId xmlns:a16="http://schemas.microsoft.com/office/drawing/2014/main" id="{0F66936E-56ED-D2EF-1407-DF314561279D}"/>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B6179DA9-A949-240C-7F00-EF32ED097BB0}"/>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F86F75BA-B0D1-80DB-9A5A-03097BED8BD8}"/>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Vendor</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E257F4E5-6E26-9E32-9280-26E4137E250C}"/>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Identifies the exact execution technology or publisher platform. This enables pinpoint tactical analysis of partner-level efficiency and ROI.</a:t>
              </a:r>
            </a:p>
          </p:txBody>
        </p:sp>
        <p:sp>
          <p:nvSpPr>
            <p:cNvPr id="28" name="Oval 27">
              <a:extLst>
                <a:ext uri="{FF2B5EF4-FFF2-40B4-BE49-F238E27FC236}">
                  <a16:creationId xmlns:a16="http://schemas.microsoft.com/office/drawing/2014/main" id="{9EE052A0-C46D-CB95-5848-4F486D4F0EC4}"/>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grpSp>
        <p:nvGrpSpPr>
          <p:cNvPr id="76" name="Group 75">
            <a:extLst>
              <a:ext uri="{FF2B5EF4-FFF2-40B4-BE49-F238E27FC236}">
                <a16:creationId xmlns:a16="http://schemas.microsoft.com/office/drawing/2014/main" id="{B76565B4-CDD6-A2A1-A889-F7A2062F61C1}"/>
              </a:ext>
            </a:extLst>
          </p:cNvPr>
          <p:cNvGrpSpPr/>
          <p:nvPr/>
        </p:nvGrpSpPr>
        <p:grpSpPr>
          <a:xfrm>
            <a:off x="6689663" y="2319050"/>
            <a:ext cx="5179799" cy="529877"/>
            <a:chOff x="6762487" y="5204194"/>
            <a:chExt cx="5179799" cy="529877"/>
          </a:xfrm>
        </p:grpSpPr>
        <p:sp>
          <p:nvSpPr>
            <p:cNvPr id="30" name="Rectangle: Rounded Corners 29">
              <a:extLst>
                <a:ext uri="{FF2B5EF4-FFF2-40B4-BE49-F238E27FC236}">
                  <a16:creationId xmlns:a16="http://schemas.microsoft.com/office/drawing/2014/main" id="{1DA2822F-9AA2-F658-953F-C6C8E02EA445}"/>
                </a:ext>
              </a:extLst>
            </p:cNvPr>
            <p:cNvSpPr/>
            <p:nvPr/>
          </p:nvSpPr>
          <p:spPr>
            <a:xfrm>
              <a:off x="8010366" y="523157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48696530-653E-F66F-E135-471F24B4EEE3}"/>
                </a:ext>
              </a:extLst>
            </p:cNvPr>
            <p:cNvSpPr/>
            <p:nvPr/>
          </p:nvSpPr>
          <p:spPr>
            <a:xfrm>
              <a:off x="7109399" y="523157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0D782197-BA4B-EB1F-9EA8-BEA579F891D0}"/>
                </a:ext>
              </a:extLst>
            </p:cNvPr>
            <p:cNvSpPr txBox="1"/>
            <p:nvPr/>
          </p:nvSpPr>
          <p:spPr>
            <a:xfrm>
              <a:off x="7468248" y="5379685"/>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Description</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D987DFBA-8868-99F0-AB89-AF6E58576196}"/>
                </a:ext>
              </a:extLst>
            </p:cNvPr>
            <p:cNvSpPr txBox="1"/>
            <p:nvPr/>
          </p:nvSpPr>
          <p:spPr>
            <a:xfrm>
              <a:off x="8715053" y="5293084"/>
              <a:ext cx="3155697" cy="35209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Standardized naming convention of Type – Vehicle – Short Name</a:t>
              </a:r>
            </a:p>
          </p:txBody>
        </p:sp>
        <p:sp>
          <p:nvSpPr>
            <p:cNvPr id="34" name="Oval 33">
              <a:extLst>
                <a:ext uri="{FF2B5EF4-FFF2-40B4-BE49-F238E27FC236}">
                  <a16:creationId xmlns:a16="http://schemas.microsoft.com/office/drawing/2014/main" id="{FB52018B-30A3-1BCF-6848-E9ACA96F08A9}"/>
                </a:ext>
              </a:extLst>
            </p:cNvPr>
            <p:cNvSpPr/>
            <p:nvPr/>
          </p:nvSpPr>
          <p:spPr>
            <a:xfrm>
              <a:off x="6762487" y="520419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cxnSp>
        <p:nvCxnSpPr>
          <p:cNvPr id="35" name="Straight Connector 34">
            <a:extLst>
              <a:ext uri="{FF2B5EF4-FFF2-40B4-BE49-F238E27FC236}">
                <a16:creationId xmlns:a16="http://schemas.microsoft.com/office/drawing/2014/main" id="{6514A0F0-E3C2-6AEA-94F9-E8F077935DA2}"/>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36" name="Group 35">
            <a:extLst>
              <a:ext uri="{FF2B5EF4-FFF2-40B4-BE49-F238E27FC236}">
                <a16:creationId xmlns:a16="http://schemas.microsoft.com/office/drawing/2014/main" id="{3B5E4026-649D-D334-88FB-1F1477B95651}"/>
              </a:ext>
            </a:extLst>
          </p:cNvPr>
          <p:cNvGrpSpPr/>
          <p:nvPr/>
        </p:nvGrpSpPr>
        <p:grpSpPr>
          <a:xfrm>
            <a:off x="958076" y="3429000"/>
            <a:ext cx="4522331" cy="2385032"/>
            <a:chOff x="323850" y="3780444"/>
            <a:chExt cx="3849972" cy="2103739"/>
          </a:xfrm>
        </p:grpSpPr>
        <p:grpSp>
          <p:nvGrpSpPr>
            <p:cNvPr id="37" name="Group 36">
              <a:extLst>
                <a:ext uri="{FF2B5EF4-FFF2-40B4-BE49-F238E27FC236}">
                  <a16:creationId xmlns:a16="http://schemas.microsoft.com/office/drawing/2014/main" id="{83E8FCCD-2D87-E514-7C6B-E8DD74B4E79A}"/>
                </a:ext>
              </a:extLst>
            </p:cNvPr>
            <p:cNvGrpSpPr/>
            <p:nvPr/>
          </p:nvGrpSpPr>
          <p:grpSpPr>
            <a:xfrm>
              <a:off x="1636579" y="5091000"/>
              <a:ext cx="1176519" cy="694163"/>
              <a:chOff x="5225124" y="4067734"/>
              <a:chExt cx="2267712" cy="1337983"/>
            </a:xfrm>
          </p:grpSpPr>
          <p:grpSp>
            <p:nvGrpSpPr>
              <p:cNvPr id="58" name="Group 57">
                <a:extLst>
                  <a:ext uri="{FF2B5EF4-FFF2-40B4-BE49-F238E27FC236}">
                    <a16:creationId xmlns:a16="http://schemas.microsoft.com/office/drawing/2014/main" id="{9FA24EC3-C1C0-E2F2-6DCD-08B9A6871FB1}"/>
                  </a:ext>
                </a:extLst>
              </p:cNvPr>
              <p:cNvGrpSpPr/>
              <p:nvPr/>
            </p:nvGrpSpPr>
            <p:grpSpPr>
              <a:xfrm>
                <a:off x="5225124" y="4067734"/>
                <a:ext cx="2267712" cy="1337983"/>
                <a:chOff x="2521324" y="4067735"/>
                <a:chExt cx="2267712" cy="1337983"/>
              </a:xfrm>
            </p:grpSpPr>
            <p:sp>
              <p:nvSpPr>
                <p:cNvPr id="60" name="Rectangle: Rounded Corners 59">
                  <a:extLst>
                    <a:ext uri="{FF2B5EF4-FFF2-40B4-BE49-F238E27FC236}">
                      <a16:creationId xmlns:a16="http://schemas.microsoft.com/office/drawing/2014/main" id="{93D338D2-5D57-4A06-E27F-F6DAB97AC3F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1" name="Straight Connector 60">
                  <a:extLst>
                    <a:ext uri="{FF2B5EF4-FFF2-40B4-BE49-F238E27FC236}">
                      <a16:creationId xmlns:a16="http://schemas.microsoft.com/office/drawing/2014/main" id="{8973D99F-3CED-9653-BD13-09DA09DBB62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2" name="TextBox 61">
                  <a:extLst>
                    <a:ext uri="{FF2B5EF4-FFF2-40B4-BE49-F238E27FC236}">
                      <a16:creationId xmlns:a16="http://schemas.microsoft.com/office/drawing/2014/main" id="{DCCB3727-FC68-AE77-0402-38DCB1F4D0F3}"/>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Vehicle</a:t>
                  </a:r>
                  <a:endParaRPr lang="en-GB" sz="1000" kern="1200" dirty="0" err="1">
                    <a:solidFill>
                      <a:schemeClr val="accent3"/>
                    </a:solidFill>
                    <a:latin typeface="+mn-lt"/>
                    <a:ea typeface="ＭＳ Ｐゴシック" charset="0"/>
                  </a:endParaRPr>
                </a:p>
              </p:txBody>
            </p:sp>
            <p:sp>
              <p:nvSpPr>
                <p:cNvPr id="63" name="TextBox 62">
                  <a:extLst>
                    <a:ext uri="{FF2B5EF4-FFF2-40B4-BE49-F238E27FC236}">
                      <a16:creationId xmlns:a16="http://schemas.microsoft.com/office/drawing/2014/main" id="{D53A60DD-DA1A-9869-C33F-098B909EB47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Email</a:t>
                  </a:r>
                  <a:endParaRPr lang="en-GB" sz="1000" kern="1200" dirty="0" err="1">
                    <a:solidFill>
                      <a:schemeClr val="bg1"/>
                    </a:solidFill>
                    <a:latin typeface="+mn-lt"/>
                    <a:ea typeface="ＭＳ Ｐゴシック" charset="0"/>
                  </a:endParaRPr>
                </a:p>
              </p:txBody>
            </p:sp>
          </p:grpSp>
          <p:pic>
            <p:nvPicPr>
              <p:cNvPr id="59" name="Graphic 58" descr="Processor with solid fill">
                <a:extLst>
                  <a:ext uri="{FF2B5EF4-FFF2-40B4-BE49-F238E27FC236}">
                    <a16:creationId xmlns:a16="http://schemas.microsoft.com/office/drawing/2014/main" id="{466C0955-4B5B-6C93-2EBB-8DC3E7F81B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38" name="Group 37">
              <a:extLst>
                <a:ext uri="{FF2B5EF4-FFF2-40B4-BE49-F238E27FC236}">
                  <a16:creationId xmlns:a16="http://schemas.microsoft.com/office/drawing/2014/main" id="{65C7EB50-0D44-5ABF-83C6-3B8F771B3410}"/>
                </a:ext>
              </a:extLst>
            </p:cNvPr>
            <p:cNvGrpSpPr/>
            <p:nvPr/>
          </p:nvGrpSpPr>
          <p:grpSpPr>
            <a:xfrm>
              <a:off x="2890285" y="5091000"/>
              <a:ext cx="1176519" cy="694163"/>
              <a:chOff x="7928924" y="4067733"/>
              <a:chExt cx="2267712" cy="1337983"/>
            </a:xfrm>
          </p:grpSpPr>
          <p:grpSp>
            <p:nvGrpSpPr>
              <p:cNvPr id="52" name="Group 51">
                <a:extLst>
                  <a:ext uri="{FF2B5EF4-FFF2-40B4-BE49-F238E27FC236}">
                    <a16:creationId xmlns:a16="http://schemas.microsoft.com/office/drawing/2014/main" id="{977EF600-9D0C-45B4-7E70-3117EFE1E0ED}"/>
                  </a:ext>
                </a:extLst>
              </p:cNvPr>
              <p:cNvGrpSpPr/>
              <p:nvPr/>
            </p:nvGrpSpPr>
            <p:grpSpPr>
              <a:xfrm>
                <a:off x="7928924" y="4067733"/>
                <a:ext cx="2267712" cy="1337983"/>
                <a:chOff x="2521324" y="4067735"/>
                <a:chExt cx="2267712" cy="1337983"/>
              </a:xfrm>
            </p:grpSpPr>
            <p:sp>
              <p:nvSpPr>
                <p:cNvPr id="54" name="Rectangle: Rounded Corners 53">
                  <a:extLst>
                    <a:ext uri="{FF2B5EF4-FFF2-40B4-BE49-F238E27FC236}">
                      <a16:creationId xmlns:a16="http://schemas.microsoft.com/office/drawing/2014/main" id="{58A10DCD-3659-551A-F2AF-24CF100046F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55" name="Straight Connector 54">
                  <a:extLst>
                    <a:ext uri="{FF2B5EF4-FFF2-40B4-BE49-F238E27FC236}">
                      <a16:creationId xmlns:a16="http://schemas.microsoft.com/office/drawing/2014/main" id="{4984D929-209E-862D-60D4-9DE6DB5F43A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6" name="TextBox 55">
                  <a:extLst>
                    <a:ext uri="{FF2B5EF4-FFF2-40B4-BE49-F238E27FC236}">
                      <a16:creationId xmlns:a16="http://schemas.microsoft.com/office/drawing/2014/main" id="{C1731E53-1C9D-A5B6-A7EA-F3CB18E27ED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Vendor</a:t>
                  </a:r>
                  <a:endParaRPr lang="en-GB" sz="1000" kern="1200" dirty="0" err="1">
                    <a:solidFill>
                      <a:schemeClr val="accent4"/>
                    </a:solidFill>
                    <a:latin typeface="+mn-lt"/>
                    <a:ea typeface="ＭＳ Ｐゴシック" charset="0"/>
                  </a:endParaRPr>
                </a:p>
              </p:txBody>
            </p:sp>
            <p:sp>
              <p:nvSpPr>
                <p:cNvPr id="57" name="TextBox 56">
                  <a:extLst>
                    <a:ext uri="{FF2B5EF4-FFF2-40B4-BE49-F238E27FC236}">
                      <a16:creationId xmlns:a16="http://schemas.microsoft.com/office/drawing/2014/main" id="{F8718BFB-052E-CA25-1DCC-4C7A4EABBC9D}"/>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Eloqua</a:t>
                  </a:r>
                  <a:endParaRPr lang="en-GB" sz="1000" kern="1200" dirty="0" err="1">
                    <a:solidFill>
                      <a:schemeClr val="bg1"/>
                    </a:solidFill>
                    <a:latin typeface="+mn-lt"/>
                    <a:ea typeface="ＭＳ Ｐゴシック" charset="0"/>
                  </a:endParaRPr>
                </a:p>
              </p:txBody>
            </p:sp>
          </p:grpSp>
          <p:pic>
            <p:nvPicPr>
              <p:cNvPr id="53" name="Graphic 52" descr="Circles with arrows with solid fill">
                <a:extLst>
                  <a:ext uri="{FF2B5EF4-FFF2-40B4-BE49-F238E27FC236}">
                    <a16:creationId xmlns:a16="http://schemas.microsoft.com/office/drawing/2014/main" id="{92BFAA90-BA61-D1CC-8514-6FFDF8C266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39" name="Group 38">
              <a:extLst>
                <a:ext uri="{FF2B5EF4-FFF2-40B4-BE49-F238E27FC236}">
                  <a16:creationId xmlns:a16="http://schemas.microsoft.com/office/drawing/2014/main" id="{5D508A39-45D8-1447-A87E-CD182AE53D2D}"/>
                </a:ext>
              </a:extLst>
            </p:cNvPr>
            <p:cNvGrpSpPr/>
            <p:nvPr/>
          </p:nvGrpSpPr>
          <p:grpSpPr>
            <a:xfrm>
              <a:off x="382874" y="5087615"/>
              <a:ext cx="1176518" cy="700932"/>
              <a:chOff x="2521324" y="4054687"/>
              <a:chExt cx="2267712" cy="1351031"/>
            </a:xfrm>
          </p:grpSpPr>
          <p:grpSp>
            <p:nvGrpSpPr>
              <p:cNvPr id="46" name="Group 45">
                <a:extLst>
                  <a:ext uri="{FF2B5EF4-FFF2-40B4-BE49-F238E27FC236}">
                    <a16:creationId xmlns:a16="http://schemas.microsoft.com/office/drawing/2014/main" id="{9284D2A7-F0DF-992E-8BB7-7667E0783A41}"/>
                  </a:ext>
                </a:extLst>
              </p:cNvPr>
              <p:cNvGrpSpPr/>
              <p:nvPr/>
            </p:nvGrpSpPr>
            <p:grpSpPr>
              <a:xfrm>
                <a:off x="2521324" y="4067735"/>
                <a:ext cx="2267712" cy="1337983"/>
                <a:chOff x="2521324" y="4067735"/>
                <a:chExt cx="2267712" cy="1337983"/>
              </a:xfrm>
            </p:grpSpPr>
            <p:sp>
              <p:nvSpPr>
                <p:cNvPr id="48" name="Rectangle: Rounded Corners 47">
                  <a:extLst>
                    <a:ext uri="{FF2B5EF4-FFF2-40B4-BE49-F238E27FC236}">
                      <a16:creationId xmlns:a16="http://schemas.microsoft.com/office/drawing/2014/main" id="{2104771A-EF03-9CB3-4C90-7A20BDB9661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9" name="Straight Connector 48">
                  <a:extLst>
                    <a:ext uri="{FF2B5EF4-FFF2-40B4-BE49-F238E27FC236}">
                      <a16:creationId xmlns:a16="http://schemas.microsoft.com/office/drawing/2014/main" id="{466EC09D-BD55-E093-7F8A-643E18F3F201}"/>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0" name="TextBox 49">
                  <a:extLst>
                    <a:ext uri="{FF2B5EF4-FFF2-40B4-BE49-F238E27FC236}">
                      <a16:creationId xmlns:a16="http://schemas.microsoft.com/office/drawing/2014/main" id="{7502F760-7260-D5D3-6EB6-41AFEB8170AB}"/>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Type</a:t>
                  </a:r>
                  <a:endParaRPr lang="en-GB" sz="1000" kern="1200" dirty="0" err="1">
                    <a:solidFill>
                      <a:schemeClr val="accent2"/>
                    </a:solidFill>
                    <a:latin typeface="+mn-lt"/>
                    <a:ea typeface="ＭＳ Ｐゴシック" charset="0"/>
                  </a:endParaRPr>
                </a:p>
              </p:txBody>
            </p:sp>
            <p:sp>
              <p:nvSpPr>
                <p:cNvPr id="51" name="TextBox 50">
                  <a:extLst>
                    <a:ext uri="{FF2B5EF4-FFF2-40B4-BE49-F238E27FC236}">
                      <a16:creationId xmlns:a16="http://schemas.microsoft.com/office/drawing/2014/main" id="{9EAF7204-B7E3-9CD8-5B57-8E7B417EF92C}"/>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Owned</a:t>
                  </a:r>
                  <a:endParaRPr lang="en-GB" sz="1000" kern="1200" dirty="0" err="1">
                    <a:solidFill>
                      <a:schemeClr val="bg1"/>
                    </a:solidFill>
                    <a:latin typeface="+mn-lt"/>
                    <a:ea typeface="ＭＳ Ｐゴシック" charset="0"/>
                  </a:endParaRPr>
                </a:p>
              </p:txBody>
            </p:sp>
          </p:grpSp>
          <p:pic>
            <p:nvPicPr>
              <p:cNvPr id="47" name="Graphic 46" descr="Cycle with people with solid fill">
                <a:extLst>
                  <a:ext uri="{FF2B5EF4-FFF2-40B4-BE49-F238E27FC236}">
                    <a16:creationId xmlns:a16="http://schemas.microsoft.com/office/drawing/2014/main" id="{3CD44783-3503-FF43-3C70-6E6302147A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sp>
          <p:nvSpPr>
            <p:cNvPr id="40" name="TextBox 39">
              <a:extLst>
                <a:ext uri="{FF2B5EF4-FFF2-40B4-BE49-F238E27FC236}">
                  <a16:creationId xmlns:a16="http://schemas.microsoft.com/office/drawing/2014/main" id="{681AB750-96B9-A2E4-6159-5BB1688DA786}"/>
                </a:ext>
              </a:extLst>
            </p:cNvPr>
            <p:cNvSpPr txBox="1"/>
            <p:nvPr/>
          </p:nvSpPr>
          <p:spPr>
            <a:xfrm>
              <a:off x="510347" y="4567321"/>
              <a:ext cx="3192786" cy="449576"/>
            </a:xfrm>
            <a:prstGeom prst="rect">
              <a:avLst/>
            </a:prstGeom>
            <a:noFill/>
          </p:spPr>
          <p:txBody>
            <a:bodyPr wrap="square" lIns="0" tIns="0" rIns="0" bIns="0" rtlCol="0">
              <a:noAutofit/>
            </a:bodyPr>
            <a:lstStyle/>
            <a:p>
              <a:pPr defTabSz="912276" fontAlgn="base">
                <a:buClr>
                  <a:schemeClr val="bg1"/>
                </a:buClr>
                <a:buSzPct val="100000"/>
              </a:pPr>
              <a:r>
                <a:rPr lang="en-GB" sz="10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US" sz="1000" dirty="0">
                  <a:solidFill>
                    <a:schemeClr val="accent2"/>
                  </a:solidFill>
                </a:rPr>
                <a:t>Owned - Email - Eloqua Campaign Emails</a:t>
              </a:r>
              <a:endParaRPr lang="en-GB" sz="1000" dirty="0">
                <a:solidFill>
                  <a:schemeClr val="accent2"/>
                </a:solidFill>
              </a:endParaRPr>
            </a:p>
          </p:txBody>
        </p:sp>
        <p:sp>
          <p:nvSpPr>
            <p:cNvPr id="41" name="Freeform: Shape 40">
              <a:extLst>
                <a:ext uri="{FF2B5EF4-FFF2-40B4-BE49-F238E27FC236}">
                  <a16:creationId xmlns:a16="http://schemas.microsoft.com/office/drawing/2014/main" id="{5A3692C7-DB5A-A3D1-4B88-B507FB35D50D}"/>
                </a:ext>
              </a:extLst>
            </p:cNvPr>
            <p:cNvSpPr/>
            <p:nvPr/>
          </p:nvSpPr>
          <p:spPr>
            <a:xfrm>
              <a:off x="323850" y="4064000"/>
              <a:ext cx="3849972" cy="1820183"/>
            </a:xfrm>
            <a:custGeom>
              <a:avLst/>
              <a:gdLst>
                <a:gd name="csX0" fmla="*/ 267512 w 3849972"/>
                <a:gd name="csY0" fmla="*/ 0 h 1820183"/>
                <a:gd name="csX1" fmla="*/ 286249 w 3849972"/>
                <a:gd name="csY1" fmla="*/ 0 h 1820183"/>
                <a:gd name="csX2" fmla="*/ 286249 w 3849972"/>
                <a:gd name="csY2" fmla="*/ 192434 h 1820183"/>
                <a:gd name="csX3" fmla="*/ 380769 w 3849972"/>
                <a:gd name="csY3" fmla="*/ 286954 h 1820183"/>
                <a:gd name="csX4" fmla="*/ 2647559 w 3849972"/>
                <a:gd name="csY4" fmla="*/ 286954 h 1820183"/>
                <a:gd name="csX5" fmla="*/ 2742079 w 3849972"/>
                <a:gd name="csY5" fmla="*/ 192434 h 1820183"/>
                <a:gd name="csX6" fmla="*/ 2742079 w 3849972"/>
                <a:gd name="csY6" fmla="*/ 0 h 1820183"/>
                <a:gd name="csX7" fmla="*/ 3582460 w 3849972"/>
                <a:gd name="csY7" fmla="*/ 0 h 1820183"/>
                <a:gd name="csX8" fmla="*/ 3849972 w 3849972"/>
                <a:gd name="csY8" fmla="*/ 267512 h 1820183"/>
                <a:gd name="csX9" fmla="*/ 3849972 w 3849972"/>
                <a:gd name="csY9" fmla="*/ 1552671 h 1820183"/>
                <a:gd name="csX10" fmla="*/ 3582460 w 3849972"/>
                <a:gd name="csY10" fmla="*/ 1820183 h 1820183"/>
                <a:gd name="csX11" fmla="*/ 267512 w 3849972"/>
                <a:gd name="csY11" fmla="*/ 1820183 h 1820183"/>
                <a:gd name="csX12" fmla="*/ 0 w 3849972"/>
                <a:gd name="csY12" fmla="*/ 1552671 h 1820183"/>
                <a:gd name="csX13" fmla="*/ 0 w 3849972"/>
                <a:gd name="csY13" fmla="*/ 267512 h 1820183"/>
                <a:gd name="csX14" fmla="*/ 267512 w 3849972"/>
                <a:gd name="csY14" fmla="*/ 0 h 1820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49972" h="1820183">
                  <a:moveTo>
                    <a:pt x="267512" y="0"/>
                  </a:moveTo>
                  <a:lnTo>
                    <a:pt x="286249" y="0"/>
                  </a:lnTo>
                  <a:lnTo>
                    <a:pt x="286249" y="192434"/>
                  </a:lnTo>
                  <a:cubicBezTo>
                    <a:pt x="286249" y="244636"/>
                    <a:pt x="328567" y="286954"/>
                    <a:pt x="380769" y="286954"/>
                  </a:cubicBezTo>
                  <a:lnTo>
                    <a:pt x="2647559" y="286954"/>
                  </a:lnTo>
                  <a:cubicBezTo>
                    <a:pt x="2699761" y="286954"/>
                    <a:pt x="2742079" y="244636"/>
                    <a:pt x="2742079" y="192434"/>
                  </a:cubicBezTo>
                  <a:lnTo>
                    <a:pt x="2742079" y="0"/>
                  </a:lnTo>
                  <a:lnTo>
                    <a:pt x="3582460" y="0"/>
                  </a:lnTo>
                  <a:cubicBezTo>
                    <a:pt x="3730203" y="0"/>
                    <a:pt x="3849972" y="119769"/>
                    <a:pt x="3849972" y="267512"/>
                  </a:cubicBezTo>
                  <a:lnTo>
                    <a:pt x="3849972" y="1552671"/>
                  </a:lnTo>
                  <a:cubicBezTo>
                    <a:pt x="3849972" y="1700414"/>
                    <a:pt x="3730203" y="1820183"/>
                    <a:pt x="3582460" y="1820183"/>
                  </a:cubicBezTo>
                  <a:lnTo>
                    <a:pt x="267512" y="1820183"/>
                  </a:lnTo>
                  <a:cubicBezTo>
                    <a:pt x="119769" y="1820183"/>
                    <a:pt x="0" y="1700414"/>
                    <a:pt x="0" y="1552671"/>
                  </a:cubicBezTo>
                  <a:lnTo>
                    <a:pt x="0" y="267512"/>
                  </a:lnTo>
                  <a:cubicBezTo>
                    <a:pt x="0" y="119769"/>
                    <a:pt x="119769" y="0"/>
                    <a:pt x="267512"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42" name="Group 41">
              <a:extLst>
                <a:ext uri="{FF2B5EF4-FFF2-40B4-BE49-F238E27FC236}">
                  <a16:creationId xmlns:a16="http://schemas.microsoft.com/office/drawing/2014/main" id="{83BC954A-91CB-5DB5-F730-52781199221F}"/>
                </a:ext>
              </a:extLst>
            </p:cNvPr>
            <p:cNvGrpSpPr/>
            <p:nvPr/>
          </p:nvGrpSpPr>
          <p:grpSpPr>
            <a:xfrm>
              <a:off x="610099" y="3780444"/>
              <a:ext cx="2455830" cy="567111"/>
              <a:chOff x="610099" y="3780444"/>
              <a:chExt cx="2455830" cy="567111"/>
            </a:xfrm>
          </p:grpSpPr>
          <p:sp>
            <p:nvSpPr>
              <p:cNvPr id="43" name="Rectangle: Rounded Corners 42">
                <a:extLst>
                  <a:ext uri="{FF2B5EF4-FFF2-40B4-BE49-F238E27FC236}">
                    <a16:creationId xmlns:a16="http://schemas.microsoft.com/office/drawing/2014/main" id="{4B420BD3-E729-17C5-9160-C3C7E74F0E04}"/>
                  </a:ext>
                </a:extLst>
              </p:cNvPr>
              <p:cNvSpPr/>
              <p:nvPr/>
            </p:nvSpPr>
            <p:spPr>
              <a:xfrm>
                <a:off x="610099" y="3780444"/>
                <a:ext cx="2455830" cy="56711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44" name="TextBox 43">
                <a:extLst>
                  <a:ext uri="{FF2B5EF4-FFF2-40B4-BE49-F238E27FC236}">
                    <a16:creationId xmlns:a16="http://schemas.microsoft.com/office/drawing/2014/main" id="{E04816A6-F86D-5674-6026-32D56374EE2D}"/>
                  </a:ext>
                </a:extLst>
              </p:cNvPr>
              <p:cNvSpPr txBox="1"/>
              <p:nvPr/>
            </p:nvSpPr>
            <p:spPr>
              <a:xfrm>
                <a:off x="1187998" y="3877989"/>
                <a:ext cx="1616557" cy="372021"/>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dirty="0">
                    <a:solidFill>
                      <a:schemeClr val="bg1"/>
                    </a:solidFill>
                  </a:rPr>
                  <a:t>oemels001119</a:t>
                </a:r>
                <a:endParaRPr lang="en-GB" sz="2400" kern="1200" dirty="0">
                  <a:solidFill>
                    <a:schemeClr val="bg1"/>
                  </a:solidFill>
                  <a:latin typeface="+mn-lt"/>
                  <a:ea typeface="ＭＳ Ｐゴシック" charset="0"/>
                </a:endParaRPr>
              </a:p>
            </p:txBody>
          </p:sp>
          <p:pic>
            <p:nvPicPr>
              <p:cNvPr id="45" name="dark2" descr="Steering Wheel with solid fill">
                <a:extLst>
                  <a:ext uri="{FF2B5EF4-FFF2-40B4-BE49-F238E27FC236}">
                    <a16:creationId xmlns:a16="http://schemas.microsoft.com/office/drawing/2014/main" id="{ABA36556-E4DF-1295-559C-03A829824A5C}"/>
                  </a:ext>
                </a:extLst>
              </p:cNvPr>
              <p:cNvPicPr>
                <a:picLocks noChangeAspect="1"/>
              </p:cNvPicPr>
              <p:nvPr>
                <p:custDataLst>
                  <p:tags r:id="rId1"/>
                </p:custDataLst>
              </p:nvPr>
            </p:nvPicPr>
            <p:blipFill>
              <a:blip>
                <a:extLst>
                  <a:ext uri="{96DAC541-7B7A-43D3-8B79-37D633B846F1}">
                    <asvg:svgBlip xmlns:asvg="http://schemas.microsoft.com/office/drawing/2016/SVG/main" r:embed="rId6"/>
                  </a:ext>
                </a:extLst>
              </a:blip>
              <a:srcRect/>
              <a:stretch/>
            </p:blipFill>
            <p:spPr>
              <a:xfrm>
                <a:off x="638202" y="3835399"/>
                <a:ext cx="457200" cy="457200"/>
              </a:xfrm>
              <a:prstGeom prst="rect">
                <a:avLst/>
              </a:prstGeom>
            </p:spPr>
          </p:pic>
        </p:grpSp>
      </p:grpSp>
      <p:sp>
        <p:nvSpPr>
          <p:cNvPr id="64" name="Oval 63">
            <a:extLst>
              <a:ext uri="{FF2B5EF4-FFF2-40B4-BE49-F238E27FC236}">
                <a16:creationId xmlns:a16="http://schemas.microsoft.com/office/drawing/2014/main" id="{AAF247B8-3DE7-CFBB-DFF4-53E6121D72F6}"/>
              </a:ext>
            </a:extLst>
          </p:cNvPr>
          <p:cNvSpPr/>
          <p:nvPr/>
        </p:nvSpPr>
        <p:spPr>
          <a:xfrm>
            <a:off x="3744312" y="3547674"/>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65" name="Oval 64">
            <a:extLst>
              <a:ext uri="{FF2B5EF4-FFF2-40B4-BE49-F238E27FC236}">
                <a16:creationId xmlns:a16="http://schemas.microsoft.com/office/drawing/2014/main" id="{795EF0FB-72E1-8B7F-5ACF-0B698A71A269}"/>
              </a:ext>
            </a:extLst>
          </p:cNvPr>
          <p:cNvSpPr/>
          <p:nvPr/>
        </p:nvSpPr>
        <p:spPr>
          <a:xfrm>
            <a:off x="567384" y="434123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66" name="Oval 65">
            <a:extLst>
              <a:ext uri="{FF2B5EF4-FFF2-40B4-BE49-F238E27FC236}">
                <a16:creationId xmlns:a16="http://schemas.microsoft.com/office/drawing/2014/main" id="{D5E32485-91FF-9DB7-E7D0-C2228E4B007B}"/>
              </a:ext>
            </a:extLst>
          </p:cNvPr>
          <p:cNvSpPr/>
          <p:nvPr/>
        </p:nvSpPr>
        <p:spPr>
          <a:xfrm>
            <a:off x="1458689"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67" name="Oval 66">
            <a:extLst>
              <a:ext uri="{FF2B5EF4-FFF2-40B4-BE49-F238E27FC236}">
                <a16:creationId xmlns:a16="http://schemas.microsoft.com/office/drawing/2014/main" id="{E56A91B0-3CA9-502A-CEC3-4294BE8D446D}"/>
              </a:ext>
            </a:extLst>
          </p:cNvPr>
          <p:cNvSpPr/>
          <p:nvPr/>
        </p:nvSpPr>
        <p:spPr>
          <a:xfrm>
            <a:off x="2944921"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68" name="Oval 67">
            <a:extLst>
              <a:ext uri="{FF2B5EF4-FFF2-40B4-BE49-F238E27FC236}">
                <a16:creationId xmlns:a16="http://schemas.microsoft.com/office/drawing/2014/main" id="{4A8323A3-F709-942F-19D5-835EAFF482B0}"/>
              </a:ext>
            </a:extLst>
          </p:cNvPr>
          <p:cNvSpPr/>
          <p:nvPr/>
        </p:nvSpPr>
        <p:spPr>
          <a:xfrm>
            <a:off x="4526546"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sp>
        <p:nvSpPr>
          <p:cNvPr id="69" name="TextBox 68">
            <a:extLst>
              <a:ext uri="{FF2B5EF4-FFF2-40B4-BE49-F238E27FC236}">
                <a16:creationId xmlns:a16="http://schemas.microsoft.com/office/drawing/2014/main" id="{4A2BB300-977B-2B63-09E6-2E76B02A4F8A}"/>
              </a:ext>
            </a:extLst>
          </p:cNvPr>
          <p:cNvSpPr txBox="1"/>
          <p:nvPr/>
        </p:nvSpPr>
        <p:spPr>
          <a:xfrm>
            <a:off x="738708" y="1108518"/>
            <a:ext cx="4834841" cy="2135834"/>
          </a:xfrm>
          <a:prstGeom prst="rect">
            <a:avLst/>
          </a:prstGeom>
          <a:noFill/>
        </p:spPr>
        <p:txBody>
          <a:bodyPr wrap="square" lIns="0" tIns="0" rIns="0" bIns="0" rtlCol="0" anchor="ctr">
            <a:noAutofit/>
          </a:bodyPr>
          <a:lstStyle/>
          <a:p>
            <a:pPr algn="ctr"/>
            <a:r>
              <a:rPr lang="en-GB" sz="1600" b="1" cap="all" dirty="0">
                <a:solidFill>
                  <a:schemeClr val="bg1"/>
                </a:solidFill>
              </a:rPr>
              <a:t>The Traffic blueprint</a:t>
            </a:r>
          </a:p>
          <a:p>
            <a:pPr algn="ctr"/>
            <a:endParaRPr lang="en-GB" sz="1400" b="1" cap="all" dirty="0">
              <a:solidFill>
                <a:schemeClr val="bg1"/>
              </a:solidFill>
            </a:endParaRPr>
          </a:p>
          <a:p>
            <a:pPr algn="ctr"/>
            <a:r>
              <a:rPr lang="en-GB" sz="1400" dirty="0">
                <a:solidFill>
                  <a:schemeClr val="bg1"/>
                </a:solidFill>
              </a:rPr>
              <a:t>The </a:t>
            </a:r>
            <a:r>
              <a:rPr lang="en-GB" sz="1400" b="1" dirty="0">
                <a:solidFill>
                  <a:schemeClr val="bg1"/>
                </a:solidFill>
              </a:rPr>
              <a:t>Drive To ID</a:t>
            </a:r>
            <a:r>
              <a:rPr lang="en-GB" sz="1400" dirty="0">
                <a:solidFill>
                  <a:schemeClr val="bg1"/>
                </a:solidFill>
              </a:rPr>
              <a:t> serves as a standard, reusable taxonomy blueprint that explicitly defines the target audience, messaging, and execution channel. By providing the foundational data required for channel-level operational reporting, it optimizes marketing spend for maximum ROI while powering both the HVE and MSP reporting frameworks to accurately credit the digital entry points driving customer action.</a:t>
            </a:r>
          </a:p>
        </p:txBody>
      </p:sp>
    </p:spTree>
    <p:extLst>
      <p:ext uri="{BB962C8B-B14F-4D97-AF65-F5344CB8AC3E}">
        <p14:creationId xmlns:p14="http://schemas.microsoft.com/office/powerpoint/2010/main" val="4003378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F29A0-730A-4B57-B46F-AAA0988D46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B7154-9499-0ED4-EC46-A76106156CB8}"/>
              </a:ext>
            </a:extLst>
          </p:cNvPr>
          <p:cNvSpPr>
            <a:spLocks noGrp="1"/>
          </p:cNvSpPr>
          <p:nvPr>
            <p:ph type="title"/>
          </p:nvPr>
        </p:nvSpPr>
        <p:spPr/>
        <p:txBody>
          <a:bodyPr/>
          <a:lstStyle/>
          <a:p>
            <a:r>
              <a:rPr lang="en-US" dirty="0"/>
              <a:t>Structure of an Offer ID</a:t>
            </a:r>
            <a:endParaRPr lang="en-GB" dirty="0"/>
          </a:p>
        </p:txBody>
      </p:sp>
      <p:grpSp>
        <p:nvGrpSpPr>
          <p:cNvPr id="5" name="Group 4">
            <a:extLst>
              <a:ext uri="{FF2B5EF4-FFF2-40B4-BE49-F238E27FC236}">
                <a16:creationId xmlns:a16="http://schemas.microsoft.com/office/drawing/2014/main" id="{ACCDE123-2432-DAD5-6518-2BCDB86165F2}"/>
              </a:ext>
            </a:extLst>
          </p:cNvPr>
          <p:cNvGrpSpPr/>
          <p:nvPr/>
        </p:nvGrpSpPr>
        <p:grpSpPr>
          <a:xfrm>
            <a:off x="6689663" y="1277027"/>
            <a:ext cx="5179799" cy="529877"/>
            <a:chOff x="6689663" y="2085046"/>
            <a:chExt cx="5179799" cy="529877"/>
          </a:xfrm>
        </p:grpSpPr>
        <p:sp>
          <p:nvSpPr>
            <p:cNvPr id="6" name="Rectangle: Rounded Corners 5">
              <a:extLst>
                <a:ext uri="{FF2B5EF4-FFF2-40B4-BE49-F238E27FC236}">
                  <a16:creationId xmlns:a16="http://schemas.microsoft.com/office/drawing/2014/main" id="{7CDA11B7-5690-1A47-1285-767E8B029F9D}"/>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 name="Arrow: Pentagon 6">
              <a:extLst>
                <a:ext uri="{FF2B5EF4-FFF2-40B4-BE49-F238E27FC236}">
                  <a16:creationId xmlns:a16="http://schemas.microsoft.com/office/drawing/2014/main" id="{4FFE9F76-7371-7438-7F63-566BD7783F35}"/>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8" name="TextBox 7">
              <a:extLst>
                <a:ext uri="{FF2B5EF4-FFF2-40B4-BE49-F238E27FC236}">
                  <a16:creationId xmlns:a16="http://schemas.microsoft.com/office/drawing/2014/main" id="{DDD4122A-025D-25C2-9221-7DD41CD10E59}"/>
                </a:ext>
              </a:extLst>
            </p:cNvPr>
            <p:cNvSpPr txBox="1"/>
            <p:nvPr/>
          </p:nvSpPr>
          <p:spPr>
            <a:xfrm>
              <a:off x="7395424" y="226053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OID</a:t>
              </a:r>
              <a:endParaRPr lang="en-GB" sz="1600" kern="1200" dirty="0" err="1">
                <a:solidFill>
                  <a:schemeClr val="bg1"/>
                </a:solidFill>
                <a:latin typeface="+mn-lt"/>
                <a:ea typeface="ＭＳ Ｐゴシック" charset="0"/>
              </a:endParaRPr>
            </a:p>
          </p:txBody>
        </p:sp>
        <p:sp>
          <p:nvSpPr>
            <p:cNvPr id="9" name="TextBox 8">
              <a:extLst>
                <a:ext uri="{FF2B5EF4-FFF2-40B4-BE49-F238E27FC236}">
                  <a16:creationId xmlns:a16="http://schemas.microsoft.com/office/drawing/2014/main" id="{3BE14B0D-2CC4-7BD9-ADA1-7408E5060FF8}"/>
                </a:ext>
              </a:extLst>
            </p:cNvPr>
            <p:cNvSpPr txBox="1"/>
            <p:nvPr/>
          </p:nvSpPr>
          <p:spPr>
            <a:xfrm>
              <a:off x="8642230" y="2184234"/>
              <a:ext cx="3155696" cy="313848"/>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Automatically generated code that uniquely tracks this asset across all digital systems.</a:t>
              </a:r>
            </a:p>
          </p:txBody>
        </p:sp>
        <p:sp>
          <p:nvSpPr>
            <p:cNvPr id="10" name="Oval 9">
              <a:extLst>
                <a:ext uri="{FF2B5EF4-FFF2-40B4-BE49-F238E27FC236}">
                  <a16:creationId xmlns:a16="http://schemas.microsoft.com/office/drawing/2014/main" id="{EC11D1D7-1164-E6E5-2549-1F8C4BB6856E}"/>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1" name="Group 10">
            <a:extLst>
              <a:ext uri="{FF2B5EF4-FFF2-40B4-BE49-F238E27FC236}">
                <a16:creationId xmlns:a16="http://schemas.microsoft.com/office/drawing/2014/main" id="{8921FCE3-8447-39FA-1413-74ADEE493544}"/>
              </a:ext>
            </a:extLst>
          </p:cNvPr>
          <p:cNvGrpSpPr/>
          <p:nvPr/>
        </p:nvGrpSpPr>
        <p:grpSpPr>
          <a:xfrm>
            <a:off x="6689663" y="3361073"/>
            <a:ext cx="5323040" cy="529877"/>
            <a:chOff x="6689663" y="2850599"/>
            <a:chExt cx="5179799" cy="529877"/>
          </a:xfrm>
        </p:grpSpPr>
        <p:sp>
          <p:nvSpPr>
            <p:cNvPr id="12" name="Rectangle: Rounded Corners 11">
              <a:extLst>
                <a:ext uri="{FF2B5EF4-FFF2-40B4-BE49-F238E27FC236}">
                  <a16:creationId xmlns:a16="http://schemas.microsoft.com/office/drawing/2014/main" id="{F10241C8-DB2B-C27B-AC84-2FAD8C5CAB1B}"/>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2893C2BD-402E-568A-1EEE-590BDDD151FB}"/>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6B7FE96B-2E59-392C-2B49-5D27A3B5B186}"/>
                </a:ext>
              </a:extLst>
            </p:cNvPr>
            <p:cNvSpPr txBox="1"/>
            <p:nvPr/>
          </p:nvSpPr>
          <p:spPr>
            <a:xfrm>
              <a:off x="7395424" y="302609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Type</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BE49222B-2DA1-FC8D-B621-1686A36776D0}"/>
                </a:ext>
              </a:extLst>
            </p:cNvPr>
            <p:cNvSpPr txBox="1"/>
            <p:nvPr/>
          </p:nvSpPr>
          <p:spPr>
            <a:xfrm>
              <a:off x="8642230" y="287797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Categorizes the delivery format of the asset—such as a Demo, or Webinar—allowing marketing teams to analyse which types of gated experiences convert best.</a:t>
              </a:r>
            </a:p>
          </p:txBody>
        </p:sp>
        <p:sp>
          <p:nvSpPr>
            <p:cNvPr id="16" name="Oval 15">
              <a:extLst>
                <a:ext uri="{FF2B5EF4-FFF2-40B4-BE49-F238E27FC236}">
                  <a16:creationId xmlns:a16="http://schemas.microsoft.com/office/drawing/2014/main" id="{1D49E52C-D03D-BC60-37A6-4AF22A1F3844}"/>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36" name="Group 35">
            <a:extLst>
              <a:ext uri="{FF2B5EF4-FFF2-40B4-BE49-F238E27FC236}">
                <a16:creationId xmlns:a16="http://schemas.microsoft.com/office/drawing/2014/main" id="{8E5FB1EA-B594-C58C-3E22-FAC027B8E31E}"/>
              </a:ext>
            </a:extLst>
          </p:cNvPr>
          <p:cNvGrpSpPr/>
          <p:nvPr/>
        </p:nvGrpSpPr>
        <p:grpSpPr>
          <a:xfrm>
            <a:off x="6689663" y="4403096"/>
            <a:ext cx="5252623" cy="529877"/>
            <a:chOff x="6689663" y="4403096"/>
            <a:chExt cx="5252623" cy="529877"/>
          </a:xfrm>
        </p:grpSpPr>
        <p:sp>
          <p:nvSpPr>
            <p:cNvPr id="18" name="Rectangle: Rounded Corners 17">
              <a:extLst>
                <a:ext uri="{FF2B5EF4-FFF2-40B4-BE49-F238E27FC236}">
                  <a16:creationId xmlns:a16="http://schemas.microsoft.com/office/drawing/2014/main" id="{210F694A-1C76-8F3E-096A-185261C96F78}"/>
                </a:ext>
              </a:extLst>
            </p:cNvPr>
            <p:cNvSpPr/>
            <p:nvPr/>
          </p:nvSpPr>
          <p:spPr>
            <a:xfrm>
              <a:off x="7937542" y="443047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1BF83BDA-DE27-8BDB-BCF9-6F202C5B79DD}"/>
                </a:ext>
              </a:extLst>
            </p:cNvPr>
            <p:cNvSpPr/>
            <p:nvPr/>
          </p:nvSpPr>
          <p:spPr>
            <a:xfrm>
              <a:off x="7036575" y="443047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322D12E2-C06B-4AAA-9C85-6B20C2EFA8F1}"/>
                </a:ext>
              </a:extLst>
            </p:cNvPr>
            <p:cNvSpPr txBox="1"/>
            <p:nvPr/>
          </p:nvSpPr>
          <p:spPr>
            <a:xfrm>
              <a:off x="7395424" y="457858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Language</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59C383F5-D226-7C2B-DF2A-EF02B66E3549}"/>
                </a:ext>
              </a:extLst>
            </p:cNvPr>
            <p:cNvSpPr txBox="1"/>
            <p:nvPr/>
          </p:nvSpPr>
          <p:spPr>
            <a:xfrm>
              <a:off x="8642229" y="4504532"/>
              <a:ext cx="3300057" cy="327005"/>
            </a:xfrm>
            <a:prstGeom prst="rect">
              <a:avLst/>
            </a:prstGeom>
            <a:noFill/>
          </p:spPr>
          <p:txBody>
            <a:bodyPr wrap="square" lIns="0" tIns="0" rIns="0" bIns="0" rtlCol="0">
              <a:noAutofit/>
            </a:bodyPr>
            <a:lstStyle>
              <a:defPPr>
                <a:defRPr lang="en-US"/>
              </a:defPPr>
              <a:lvl1pPr indent="0" defTabSz="912276" fontAlgn="base">
                <a:spcAft>
                  <a:spcPts val="1000"/>
                </a:spcAft>
                <a:buClr>
                  <a:schemeClr val="bg1"/>
                </a:buClr>
                <a:buSzPct val="100000"/>
                <a:buFont typeface="Arial" panose="020B0604020202020204" pitchFamily="34" charset="0"/>
                <a:buNone/>
                <a:defRPr sz="1000">
                  <a:solidFill>
                    <a:schemeClr val="bg1"/>
                  </a:solidFill>
                </a:defRPr>
              </a:lvl1pPr>
            </a:lstStyle>
            <a:p>
              <a:r>
                <a:rPr lang="en-US" altLang="en-US" dirty="0"/>
                <a:t>Denotes the localized language version of the asset, ensuring accurate global reporting</a:t>
              </a:r>
              <a:r>
                <a:rPr lang="en-GB" dirty="0"/>
                <a:t>.</a:t>
              </a:r>
            </a:p>
          </p:txBody>
        </p:sp>
        <p:sp>
          <p:nvSpPr>
            <p:cNvPr id="22" name="Oval 21">
              <a:extLst>
                <a:ext uri="{FF2B5EF4-FFF2-40B4-BE49-F238E27FC236}">
                  <a16:creationId xmlns:a16="http://schemas.microsoft.com/office/drawing/2014/main" id="{09D3956B-3810-45C6-53CD-1C2D84979B7E}"/>
                </a:ext>
              </a:extLst>
            </p:cNvPr>
            <p:cNvSpPr/>
            <p:nvPr/>
          </p:nvSpPr>
          <p:spPr>
            <a:xfrm>
              <a:off x="6689663" y="440309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23" name="Group 22">
            <a:extLst>
              <a:ext uri="{FF2B5EF4-FFF2-40B4-BE49-F238E27FC236}">
                <a16:creationId xmlns:a16="http://schemas.microsoft.com/office/drawing/2014/main" id="{3869386C-B962-D28F-C468-0E94B080DDA8}"/>
              </a:ext>
            </a:extLst>
          </p:cNvPr>
          <p:cNvGrpSpPr/>
          <p:nvPr/>
        </p:nvGrpSpPr>
        <p:grpSpPr>
          <a:xfrm>
            <a:off x="6689663" y="5445118"/>
            <a:ext cx="5179799" cy="529877"/>
            <a:chOff x="6775864" y="4491223"/>
            <a:chExt cx="5179799" cy="529877"/>
          </a:xfrm>
        </p:grpSpPr>
        <p:sp>
          <p:nvSpPr>
            <p:cNvPr id="24" name="Rectangle: Rounded Corners 23">
              <a:extLst>
                <a:ext uri="{FF2B5EF4-FFF2-40B4-BE49-F238E27FC236}">
                  <a16:creationId xmlns:a16="http://schemas.microsoft.com/office/drawing/2014/main" id="{F33490DA-899E-4E06-239F-0F5BC01641CA}"/>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685ECC23-4A18-BE08-FC3C-58CE2A8C1F61}"/>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C41544FF-1F56-D8B6-5C31-CE0658192ACF}"/>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Activity ID</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E66D531B-3793-31B7-3565-A69084551CDD}"/>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The Activity ID that links this specific offer back to its parent marketing program ensuring lead generation and pipeline metrics are credited correctly</a:t>
              </a:r>
            </a:p>
          </p:txBody>
        </p:sp>
        <p:sp>
          <p:nvSpPr>
            <p:cNvPr id="28" name="Oval 27">
              <a:extLst>
                <a:ext uri="{FF2B5EF4-FFF2-40B4-BE49-F238E27FC236}">
                  <a16:creationId xmlns:a16="http://schemas.microsoft.com/office/drawing/2014/main" id="{95B2EEFD-6ABE-2B6E-6734-5487D9D3CA73}"/>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grpSp>
        <p:nvGrpSpPr>
          <p:cNvPr id="76" name="Group 75">
            <a:extLst>
              <a:ext uri="{FF2B5EF4-FFF2-40B4-BE49-F238E27FC236}">
                <a16:creationId xmlns:a16="http://schemas.microsoft.com/office/drawing/2014/main" id="{2E232310-186E-D278-56E6-9AB39D90DB23}"/>
              </a:ext>
            </a:extLst>
          </p:cNvPr>
          <p:cNvGrpSpPr/>
          <p:nvPr/>
        </p:nvGrpSpPr>
        <p:grpSpPr>
          <a:xfrm>
            <a:off x="6689663" y="2319050"/>
            <a:ext cx="5179799" cy="529877"/>
            <a:chOff x="6762487" y="5204194"/>
            <a:chExt cx="5179799" cy="529877"/>
          </a:xfrm>
        </p:grpSpPr>
        <p:sp>
          <p:nvSpPr>
            <p:cNvPr id="30" name="Rectangle: Rounded Corners 29">
              <a:extLst>
                <a:ext uri="{FF2B5EF4-FFF2-40B4-BE49-F238E27FC236}">
                  <a16:creationId xmlns:a16="http://schemas.microsoft.com/office/drawing/2014/main" id="{252AABA4-3AE1-50E4-9E86-EE66DB9D7173}"/>
                </a:ext>
              </a:extLst>
            </p:cNvPr>
            <p:cNvSpPr/>
            <p:nvPr/>
          </p:nvSpPr>
          <p:spPr>
            <a:xfrm>
              <a:off x="8010366" y="523157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8C405C9B-2518-F7D2-8D31-131E82E2505A}"/>
                </a:ext>
              </a:extLst>
            </p:cNvPr>
            <p:cNvSpPr/>
            <p:nvPr/>
          </p:nvSpPr>
          <p:spPr>
            <a:xfrm>
              <a:off x="7109399" y="523157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6F19DA85-F53C-7F88-BB93-384A51115ED1}"/>
                </a:ext>
              </a:extLst>
            </p:cNvPr>
            <p:cNvSpPr txBox="1"/>
            <p:nvPr/>
          </p:nvSpPr>
          <p:spPr>
            <a:xfrm>
              <a:off x="7468248" y="5379685"/>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Description</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BD217EC7-830D-CA2F-BE13-42FBBFE31D8F}"/>
                </a:ext>
              </a:extLst>
            </p:cNvPr>
            <p:cNvSpPr txBox="1"/>
            <p:nvPr/>
          </p:nvSpPr>
          <p:spPr>
            <a:xfrm>
              <a:off x="8715053" y="5293084"/>
              <a:ext cx="3155697" cy="35209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Breaks down the specific features or solutions covered to provide the seller with actionable context.</a:t>
              </a:r>
            </a:p>
          </p:txBody>
        </p:sp>
        <p:sp>
          <p:nvSpPr>
            <p:cNvPr id="34" name="Oval 33">
              <a:extLst>
                <a:ext uri="{FF2B5EF4-FFF2-40B4-BE49-F238E27FC236}">
                  <a16:creationId xmlns:a16="http://schemas.microsoft.com/office/drawing/2014/main" id="{A9AF3D52-A88D-D6A5-DCA4-B3C3A990E3A8}"/>
                </a:ext>
              </a:extLst>
            </p:cNvPr>
            <p:cNvSpPr/>
            <p:nvPr/>
          </p:nvSpPr>
          <p:spPr>
            <a:xfrm>
              <a:off x="6762487" y="520419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cxnSp>
        <p:nvCxnSpPr>
          <p:cNvPr id="35" name="Straight Connector 34">
            <a:extLst>
              <a:ext uri="{FF2B5EF4-FFF2-40B4-BE49-F238E27FC236}">
                <a16:creationId xmlns:a16="http://schemas.microsoft.com/office/drawing/2014/main" id="{AD3F6634-510E-21AA-AF14-6028FDDF1AE7}"/>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37" name="Group 36">
            <a:extLst>
              <a:ext uri="{FF2B5EF4-FFF2-40B4-BE49-F238E27FC236}">
                <a16:creationId xmlns:a16="http://schemas.microsoft.com/office/drawing/2014/main" id="{B286D532-0460-6D18-1139-55F4D2D98275}"/>
              </a:ext>
            </a:extLst>
          </p:cNvPr>
          <p:cNvGrpSpPr/>
          <p:nvPr/>
        </p:nvGrpSpPr>
        <p:grpSpPr>
          <a:xfrm>
            <a:off x="2500060" y="4914792"/>
            <a:ext cx="1381986" cy="786980"/>
            <a:chOff x="5225124" y="4067734"/>
            <a:chExt cx="2267712" cy="1337983"/>
          </a:xfrm>
        </p:grpSpPr>
        <p:grpSp>
          <p:nvGrpSpPr>
            <p:cNvPr id="58" name="Group 57">
              <a:extLst>
                <a:ext uri="{FF2B5EF4-FFF2-40B4-BE49-F238E27FC236}">
                  <a16:creationId xmlns:a16="http://schemas.microsoft.com/office/drawing/2014/main" id="{4513E736-8847-B6AC-DCF0-CAFDC1E0B13A}"/>
                </a:ext>
              </a:extLst>
            </p:cNvPr>
            <p:cNvGrpSpPr/>
            <p:nvPr/>
          </p:nvGrpSpPr>
          <p:grpSpPr>
            <a:xfrm>
              <a:off x="5225124" y="4067734"/>
              <a:ext cx="2267712" cy="1337983"/>
              <a:chOff x="2521324" y="4067735"/>
              <a:chExt cx="2267712" cy="1337983"/>
            </a:xfrm>
          </p:grpSpPr>
          <p:sp>
            <p:nvSpPr>
              <p:cNvPr id="60" name="Rectangle: Rounded Corners 59">
                <a:extLst>
                  <a:ext uri="{FF2B5EF4-FFF2-40B4-BE49-F238E27FC236}">
                    <a16:creationId xmlns:a16="http://schemas.microsoft.com/office/drawing/2014/main" id="{EB2B33AA-8880-81B6-D724-9C4626AC1BD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1" name="Straight Connector 60">
                <a:extLst>
                  <a:ext uri="{FF2B5EF4-FFF2-40B4-BE49-F238E27FC236}">
                    <a16:creationId xmlns:a16="http://schemas.microsoft.com/office/drawing/2014/main" id="{3AEED593-DBC6-A483-7BD2-E9A7AD980DEA}"/>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2" name="TextBox 61">
                <a:extLst>
                  <a:ext uri="{FF2B5EF4-FFF2-40B4-BE49-F238E27FC236}">
                    <a16:creationId xmlns:a16="http://schemas.microsoft.com/office/drawing/2014/main" id="{8C5F19C5-D5D1-F32D-096B-6607F9B7DD66}"/>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Language</a:t>
                </a:r>
                <a:endParaRPr lang="en-GB" sz="1000" kern="1200" dirty="0" err="1">
                  <a:solidFill>
                    <a:schemeClr val="accent3"/>
                  </a:solidFill>
                  <a:latin typeface="+mn-lt"/>
                  <a:ea typeface="ＭＳ Ｐゴシック" charset="0"/>
                </a:endParaRPr>
              </a:p>
            </p:txBody>
          </p:sp>
          <p:sp>
            <p:nvSpPr>
              <p:cNvPr id="63" name="TextBox 62">
                <a:extLst>
                  <a:ext uri="{FF2B5EF4-FFF2-40B4-BE49-F238E27FC236}">
                    <a16:creationId xmlns:a16="http://schemas.microsoft.com/office/drawing/2014/main" id="{CBF0F6EE-B203-C20D-C19E-618F9A35A077}"/>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English</a:t>
                </a:r>
                <a:endParaRPr lang="en-GB" sz="1000" kern="1200" dirty="0" err="1">
                  <a:solidFill>
                    <a:schemeClr val="bg1"/>
                  </a:solidFill>
                  <a:latin typeface="+mn-lt"/>
                  <a:ea typeface="ＭＳ Ｐゴシック" charset="0"/>
                </a:endParaRPr>
              </a:p>
            </p:txBody>
          </p:sp>
        </p:grpSp>
        <p:pic>
          <p:nvPicPr>
            <p:cNvPr id="59" name="Graphic 58" descr="Sign language with solid fill">
              <a:extLst>
                <a:ext uri="{FF2B5EF4-FFF2-40B4-BE49-F238E27FC236}">
                  <a16:creationId xmlns:a16="http://schemas.microsoft.com/office/drawing/2014/main" id="{DAEDF695-5AC3-EA3F-8A9B-3916A0356D5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378326" y="4079929"/>
              <a:ext cx="386168" cy="400110"/>
            </a:xfrm>
            <a:prstGeom prst="rect">
              <a:avLst/>
            </a:prstGeom>
          </p:spPr>
        </p:pic>
      </p:grpSp>
      <p:grpSp>
        <p:nvGrpSpPr>
          <p:cNvPr id="38" name="Group 37">
            <a:extLst>
              <a:ext uri="{FF2B5EF4-FFF2-40B4-BE49-F238E27FC236}">
                <a16:creationId xmlns:a16="http://schemas.microsoft.com/office/drawing/2014/main" id="{A601725A-27F2-3390-8AAA-BE3DAEFEC8E1}"/>
              </a:ext>
            </a:extLst>
          </p:cNvPr>
          <p:cNvGrpSpPr/>
          <p:nvPr/>
        </p:nvGrpSpPr>
        <p:grpSpPr>
          <a:xfrm>
            <a:off x="3972713" y="4914792"/>
            <a:ext cx="1381986" cy="786980"/>
            <a:chOff x="7928924" y="4067733"/>
            <a:chExt cx="2267712" cy="1337983"/>
          </a:xfrm>
        </p:grpSpPr>
        <p:grpSp>
          <p:nvGrpSpPr>
            <p:cNvPr id="52" name="Group 51">
              <a:extLst>
                <a:ext uri="{FF2B5EF4-FFF2-40B4-BE49-F238E27FC236}">
                  <a16:creationId xmlns:a16="http://schemas.microsoft.com/office/drawing/2014/main" id="{18085D8B-E048-3CAA-16D4-9CF65824B6D8}"/>
                </a:ext>
              </a:extLst>
            </p:cNvPr>
            <p:cNvGrpSpPr/>
            <p:nvPr/>
          </p:nvGrpSpPr>
          <p:grpSpPr>
            <a:xfrm>
              <a:off x="7928924" y="4067733"/>
              <a:ext cx="2267712" cy="1337983"/>
              <a:chOff x="2521324" y="4067735"/>
              <a:chExt cx="2267712" cy="1337983"/>
            </a:xfrm>
          </p:grpSpPr>
          <p:sp>
            <p:nvSpPr>
              <p:cNvPr id="54" name="Rectangle: Rounded Corners 53">
                <a:extLst>
                  <a:ext uri="{FF2B5EF4-FFF2-40B4-BE49-F238E27FC236}">
                    <a16:creationId xmlns:a16="http://schemas.microsoft.com/office/drawing/2014/main" id="{9F2DD42B-3FEE-D879-2A0F-E835EF2725DD}"/>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55" name="Straight Connector 54">
                <a:extLst>
                  <a:ext uri="{FF2B5EF4-FFF2-40B4-BE49-F238E27FC236}">
                    <a16:creationId xmlns:a16="http://schemas.microsoft.com/office/drawing/2014/main" id="{D04B17B7-8F56-C9BC-9ABF-26B44105A81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6" name="TextBox 55">
                <a:extLst>
                  <a:ext uri="{FF2B5EF4-FFF2-40B4-BE49-F238E27FC236}">
                    <a16:creationId xmlns:a16="http://schemas.microsoft.com/office/drawing/2014/main" id="{B02180E9-EF5A-6C26-3080-13BA90884DB4}"/>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4"/>
                    </a:solidFill>
                    <a:ea typeface="ＭＳ Ｐゴシック" charset="0"/>
                  </a:rPr>
                  <a:t>Activity ID</a:t>
                </a:r>
                <a:endParaRPr lang="en-GB" sz="1000" kern="1200" dirty="0" err="1">
                  <a:solidFill>
                    <a:schemeClr val="accent4"/>
                  </a:solidFill>
                  <a:latin typeface="+mn-lt"/>
                  <a:ea typeface="ＭＳ Ｐゴシック" charset="0"/>
                </a:endParaRPr>
              </a:p>
            </p:txBody>
          </p:sp>
          <p:sp>
            <p:nvSpPr>
              <p:cNvPr id="57" name="TextBox 56">
                <a:extLst>
                  <a:ext uri="{FF2B5EF4-FFF2-40B4-BE49-F238E27FC236}">
                    <a16:creationId xmlns:a16="http://schemas.microsoft.com/office/drawing/2014/main" id="{C9A5C8FE-F5B8-A506-13C1-36064D9CA3F8}"/>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cc009328</a:t>
                </a:r>
                <a:endParaRPr lang="en-GB" sz="1000" kern="1200" dirty="0" err="1">
                  <a:solidFill>
                    <a:schemeClr val="bg1"/>
                  </a:solidFill>
                  <a:latin typeface="+mn-lt"/>
                  <a:ea typeface="ＭＳ Ｐゴシック" charset="0"/>
                </a:endParaRPr>
              </a:p>
            </p:txBody>
          </p:sp>
        </p:grpSp>
        <p:pic>
          <p:nvPicPr>
            <p:cNvPr id="53" name="Graphic 52" descr="Mandala with solid fill">
              <a:extLst>
                <a:ext uri="{FF2B5EF4-FFF2-40B4-BE49-F238E27FC236}">
                  <a16:creationId xmlns:a16="http://schemas.microsoft.com/office/drawing/2014/main" id="{F5B80E38-8146-7D36-E4B6-C3D054C1449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007926" y="4079928"/>
              <a:ext cx="386168" cy="400110"/>
            </a:xfrm>
            <a:prstGeom prst="rect">
              <a:avLst/>
            </a:prstGeom>
          </p:spPr>
        </p:pic>
      </p:grpSp>
      <p:grpSp>
        <p:nvGrpSpPr>
          <p:cNvPr id="39" name="Group 38">
            <a:extLst>
              <a:ext uri="{FF2B5EF4-FFF2-40B4-BE49-F238E27FC236}">
                <a16:creationId xmlns:a16="http://schemas.microsoft.com/office/drawing/2014/main" id="{DF7EE767-5B68-16CB-2211-941001871FC4}"/>
              </a:ext>
            </a:extLst>
          </p:cNvPr>
          <p:cNvGrpSpPr/>
          <p:nvPr/>
        </p:nvGrpSpPr>
        <p:grpSpPr>
          <a:xfrm>
            <a:off x="1027408" y="4910954"/>
            <a:ext cx="1381985" cy="794654"/>
            <a:chOff x="2521324" y="4054687"/>
            <a:chExt cx="2267712" cy="1351031"/>
          </a:xfrm>
        </p:grpSpPr>
        <p:grpSp>
          <p:nvGrpSpPr>
            <p:cNvPr id="46" name="Group 45">
              <a:extLst>
                <a:ext uri="{FF2B5EF4-FFF2-40B4-BE49-F238E27FC236}">
                  <a16:creationId xmlns:a16="http://schemas.microsoft.com/office/drawing/2014/main" id="{19B1FB21-8034-C5F8-8384-D02C269824F5}"/>
                </a:ext>
              </a:extLst>
            </p:cNvPr>
            <p:cNvGrpSpPr/>
            <p:nvPr/>
          </p:nvGrpSpPr>
          <p:grpSpPr>
            <a:xfrm>
              <a:off x="2521324" y="4067735"/>
              <a:ext cx="2267712" cy="1337983"/>
              <a:chOff x="2521324" y="4067735"/>
              <a:chExt cx="2267712" cy="1337983"/>
            </a:xfrm>
          </p:grpSpPr>
          <p:sp>
            <p:nvSpPr>
              <p:cNvPr id="48" name="Rectangle: Rounded Corners 47">
                <a:extLst>
                  <a:ext uri="{FF2B5EF4-FFF2-40B4-BE49-F238E27FC236}">
                    <a16:creationId xmlns:a16="http://schemas.microsoft.com/office/drawing/2014/main" id="{F4C5813D-9815-9BE6-4E21-33450B261631}"/>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9" name="Straight Connector 48">
                <a:extLst>
                  <a:ext uri="{FF2B5EF4-FFF2-40B4-BE49-F238E27FC236}">
                    <a16:creationId xmlns:a16="http://schemas.microsoft.com/office/drawing/2014/main" id="{844F9802-06BF-81F2-901A-35A4C9F86DB7}"/>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0" name="TextBox 49">
                <a:extLst>
                  <a:ext uri="{FF2B5EF4-FFF2-40B4-BE49-F238E27FC236}">
                    <a16:creationId xmlns:a16="http://schemas.microsoft.com/office/drawing/2014/main" id="{0E7893BB-625A-7300-ABCC-B3D39F9E0B17}"/>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Type</a:t>
                </a:r>
                <a:endParaRPr lang="en-GB" sz="1000" kern="1200" dirty="0" err="1">
                  <a:solidFill>
                    <a:schemeClr val="accent2"/>
                  </a:solidFill>
                  <a:latin typeface="+mn-lt"/>
                  <a:ea typeface="ＭＳ Ｐゴシック" charset="0"/>
                </a:endParaRPr>
              </a:p>
            </p:txBody>
          </p:sp>
          <p:sp>
            <p:nvSpPr>
              <p:cNvPr id="51" name="TextBox 50">
                <a:extLst>
                  <a:ext uri="{FF2B5EF4-FFF2-40B4-BE49-F238E27FC236}">
                    <a16:creationId xmlns:a16="http://schemas.microsoft.com/office/drawing/2014/main" id="{90836A6F-33A0-F0D5-6CC3-EF4B111ACEEC}"/>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Demo</a:t>
                </a:r>
                <a:endParaRPr lang="en-GB" sz="1000" kern="1200" dirty="0" err="1">
                  <a:solidFill>
                    <a:schemeClr val="bg1"/>
                  </a:solidFill>
                  <a:latin typeface="+mn-lt"/>
                  <a:ea typeface="ＭＳ Ｐゴシック" charset="0"/>
                </a:endParaRPr>
              </a:p>
            </p:txBody>
          </p:sp>
        </p:grpSp>
        <p:pic>
          <p:nvPicPr>
            <p:cNvPr id="47" name="Graphic 46" descr="Cycle with people with solid fill">
              <a:extLst>
                <a:ext uri="{FF2B5EF4-FFF2-40B4-BE49-F238E27FC236}">
                  <a16:creationId xmlns:a16="http://schemas.microsoft.com/office/drawing/2014/main" id="{F0D7DCF7-C905-2F06-93A1-EEE9FC8AB8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46830" y="4054687"/>
              <a:ext cx="400110" cy="400110"/>
            </a:xfrm>
            <a:prstGeom prst="rect">
              <a:avLst/>
            </a:prstGeom>
          </p:spPr>
        </p:pic>
      </p:grpSp>
      <p:sp>
        <p:nvSpPr>
          <p:cNvPr id="40" name="TextBox 39">
            <a:extLst>
              <a:ext uri="{FF2B5EF4-FFF2-40B4-BE49-F238E27FC236}">
                <a16:creationId xmlns:a16="http://schemas.microsoft.com/office/drawing/2014/main" id="{A2921AE9-0BD3-3CBE-8435-74CD81EA8DC4}"/>
              </a:ext>
            </a:extLst>
          </p:cNvPr>
          <p:cNvSpPr txBox="1"/>
          <p:nvPr/>
        </p:nvSpPr>
        <p:spPr>
          <a:xfrm>
            <a:off x="1188616" y="4112825"/>
            <a:ext cx="4176982" cy="758042"/>
          </a:xfrm>
          <a:prstGeom prst="rect">
            <a:avLst/>
          </a:prstGeom>
          <a:noFill/>
        </p:spPr>
        <p:txBody>
          <a:bodyPr wrap="square" lIns="0" tIns="0" rIns="0" bIns="0" rtlCol="0">
            <a:noAutofit/>
          </a:bodyPr>
          <a:lstStyle/>
          <a:p>
            <a:pPr defTabSz="912276" fontAlgn="base">
              <a:buClr>
                <a:schemeClr val="bg1"/>
              </a:buClr>
              <a:buSzPct val="100000"/>
            </a:pPr>
            <a:r>
              <a:rPr lang="en-GB" sz="1000" b="1" dirty="0">
                <a:solidFill>
                  <a:schemeClr val="bg1"/>
                </a:solidFill>
                <a:ea typeface="ＭＳ Ｐゴシック" charset="0"/>
              </a:rPr>
              <a:t>Name:</a:t>
            </a:r>
          </a:p>
          <a:p>
            <a:pPr marL="171450" indent="-171450" defTabSz="912276" fontAlgn="base">
              <a:buClr>
                <a:schemeClr val="bg1"/>
              </a:buClr>
              <a:buSzPct val="100000"/>
              <a:buFont typeface="Arial" panose="020B0604020202020204" pitchFamily="34" charset="0"/>
              <a:buChar char="•"/>
            </a:pPr>
            <a:r>
              <a:rPr lang="en-GB" sz="1000" dirty="0">
                <a:solidFill>
                  <a:schemeClr val="accent2"/>
                </a:solidFill>
              </a:rPr>
              <a:t>Cisco AI Capabilities Demo</a:t>
            </a:r>
          </a:p>
          <a:p>
            <a:pPr defTabSz="912276" fontAlgn="base">
              <a:buClr>
                <a:schemeClr val="bg1"/>
              </a:buClr>
              <a:buSzPct val="100000"/>
            </a:pPr>
            <a:r>
              <a:rPr lang="en-GB" sz="1000" b="1" dirty="0">
                <a:solidFill>
                  <a:schemeClr val="bg1"/>
                </a:solidFill>
                <a:ea typeface="ＭＳ Ｐゴシック" charset="0"/>
              </a:rPr>
              <a:t>Description: </a:t>
            </a:r>
          </a:p>
          <a:p>
            <a:pPr marL="171450" indent="-171450" defTabSz="912276" fontAlgn="base">
              <a:buClr>
                <a:schemeClr val="bg1"/>
              </a:buClr>
              <a:buSzPct val="100000"/>
              <a:buFont typeface="Arial" panose="020B0604020202020204" pitchFamily="34" charset="0"/>
              <a:buChar char="•"/>
            </a:pPr>
            <a:r>
              <a:rPr lang="en-US" sz="1000" dirty="0">
                <a:solidFill>
                  <a:schemeClr val="accent2"/>
                </a:solidFill>
              </a:rPr>
              <a:t>Primarily: AI Canvas, AI Assistant, and Agentic Ops as an overall concept/solution</a:t>
            </a:r>
            <a:endParaRPr lang="en-GB" sz="1000" dirty="0">
              <a:solidFill>
                <a:schemeClr val="accent2"/>
              </a:solidFill>
            </a:endParaRPr>
          </a:p>
        </p:txBody>
      </p:sp>
      <p:sp>
        <p:nvSpPr>
          <p:cNvPr id="41" name="Freeform: Shape 40">
            <a:extLst>
              <a:ext uri="{FF2B5EF4-FFF2-40B4-BE49-F238E27FC236}">
                <a16:creationId xmlns:a16="http://schemas.microsoft.com/office/drawing/2014/main" id="{944F8958-8EE2-BF3B-28C4-CAAC7F1D5402}"/>
              </a:ext>
            </a:extLst>
          </p:cNvPr>
          <p:cNvSpPr/>
          <p:nvPr/>
        </p:nvSpPr>
        <p:spPr>
          <a:xfrm>
            <a:off x="958076" y="3750471"/>
            <a:ext cx="4522331" cy="2063561"/>
          </a:xfrm>
          <a:custGeom>
            <a:avLst/>
            <a:gdLst>
              <a:gd name="csX0" fmla="*/ 267512 w 3849972"/>
              <a:gd name="csY0" fmla="*/ 0 h 1820183"/>
              <a:gd name="csX1" fmla="*/ 286249 w 3849972"/>
              <a:gd name="csY1" fmla="*/ 0 h 1820183"/>
              <a:gd name="csX2" fmla="*/ 286249 w 3849972"/>
              <a:gd name="csY2" fmla="*/ 192434 h 1820183"/>
              <a:gd name="csX3" fmla="*/ 380769 w 3849972"/>
              <a:gd name="csY3" fmla="*/ 286954 h 1820183"/>
              <a:gd name="csX4" fmla="*/ 2647559 w 3849972"/>
              <a:gd name="csY4" fmla="*/ 286954 h 1820183"/>
              <a:gd name="csX5" fmla="*/ 2742079 w 3849972"/>
              <a:gd name="csY5" fmla="*/ 192434 h 1820183"/>
              <a:gd name="csX6" fmla="*/ 2742079 w 3849972"/>
              <a:gd name="csY6" fmla="*/ 0 h 1820183"/>
              <a:gd name="csX7" fmla="*/ 3582460 w 3849972"/>
              <a:gd name="csY7" fmla="*/ 0 h 1820183"/>
              <a:gd name="csX8" fmla="*/ 3849972 w 3849972"/>
              <a:gd name="csY8" fmla="*/ 267512 h 1820183"/>
              <a:gd name="csX9" fmla="*/ 3849972 w 3849972"/>
              <a:gd name="csY9" fmla="*/ 1552671 h 1820183"/>
              <a:gd name="csX10" fmla="*/ 3582460 w 3849972"/>
              <a:gd name="csY10" fmla="*/ 1820183 h 1820183"/>
              <a:gd name="csX11" fmla="*/ 267512 w 3849972"/>
              <a:gd name="csY11" fmla="*/ 1820183 h 1820183"/>
              <a:gd name="csX12" fmla="*/ 0 w 3849972"/>
              <a:gd name="csY12" fmla="*/ 1552671 h 1820183"/>
              <a:gd name="csX13" fmla="*/ 0 w 3849972"/>
              <a:gd name="csY13" fmla="*/ 267512 h 1820183"/>
              <a:gd name="csX14" fmla="*/ 267512 w 3849972"/>
              <a:gd name="csY14" fmla="*/ 0 h 1820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49972" h="1820183">
                <a:moveTo>
                  <a:pt x="267512" y="0"/>
                </a:moveTo>
                <a:lnTo>
                  <a:pt x="286249" y="0"/>
                </a:lnTo>
                <a:lnTo>
                  <a:pt x="286249" y="192434"/>
                </a:lnTo>
                <a:cubicBezTo>
                  <a:pt x="286249" y="244636"/>
                  <a:pt x="328567" y="286954"/>
                  <a:pt x="380769" y="286954"/>
                </a:cubicBezTo>
                <a:lnTo>
                  <a:pt x="2647559" y="286954"/>
                </a:lnTo>
                <a:cubicBezTo>
                  <a:pt x="2699761" y="286954"/>
                  <a:pt x="2742079" y="244636"/>
                  <a:pt x="2742079" y="192434"/>
                </a:cubicBezTo>
                <a:lnTo>
                  <a:pt x="2742079" y="0"/>
                </a:lnTo>
                <a:lnTo>
                  <a:pt x="3582460" y="0"/>
                </a:lnTo>
                <a:cubicBezTo>
                  <a:pt x="3730203" y="0"/>
                  <a:pt x="3849972" y="119769"/>
                  <a:pt x="3849972" y="267512"/>
                </a:cubicBezTo>
                <a:lnTo>
                  <a:pt x="3849972" y="1552671"/>
                </a:lnTo>
                <a:cubicBezTo>
                  <a:pt x="3849972" y="1700414"/>
                  <a:pt x="3730203" y="1820183"/>
                  <a:pt x="3582460" y="1820183"/>
                </a:cubicBezTo>
                <a:lnTo>
                  <a:pt x="267512" y="1820183"/>
                </a:lnTo>
                <a:cubicBezTo>
                  <a:pt x="119769" y="1820183"/>
                  <a:pt x="0" y="1700414"/>
                  <a:pt x="0" y="1552671"/>
                </a:cubicBezTo>
                <a:lnTo>
                  <a:pt x="0" y="267512"/>
                </a:lnTo>
                <a:cubicBezTo>
                  <a:pt x="0" y="119769"/>
                  <a:pt x="119769" y="0"/>
                  <a:pt x="267512"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42" name="Group 41">
            <a:extLst>
              <a:ext uri="{FF2B5EF4-FFF2-40B4-BE49-F238E27FC236}">
                <a16:creationId xmlns:a16="http://schemas.microsoft.com/office/drawing/2014/main" id="{8D669738-3B1F-563D-8B72-BA231CBDDDB8}"/>
              </a:ext>
            </a:extLst>
          </p:cNvPr>
          <p:cNvGrpSpPr/>
          <p:nvPr/>
        </p:nvGrpSpPr>
        <p:grpSpPr>
          <a:xfrm>
            <a:off x="1294316" y="3429000"/>
            <a:ext cx="2884716" cy="642940"/>
            <a:chOff x="610099" y="3780444"/>
            <a:chExt cx="2455830" cy="567111"/>
          </a:xfrm>
        </p:grpSpPr>
        <p:sp>
          <p:nvSpPr>
            <p:cNvPr id="43" name="Rectangle: Rounded Corners 42">
              <a:extLst>
                <a:ext uri="{FF2B5EF4-FFF2-40B4-BE49-F238E27FC236}">
                  <a16:creationId xmlns:a16="http://schemas.microsoft.com/office/drawing/2014/main" id="{9699BC49-39B4-B8EE-A7DA-69555AC3DC4C}"/>
                </a:ext>
              </a:extLst>
            </p:cNvPr>
            <p:cNvSpPr/>
            <p:nvPr/>
          </p:nvSpPr>
          <p:spPr>
            <a:xfrm>
              <a:off x="610099" y="3780444"/>
              <a:ext cx="2455830" cy="56711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44" name="TextBox 43">
              <a:extLst>
                <a:ext uri="{FF2B5EF4-FFF2-40B4-BE49-F238E27FC236}">
                  <a16:creationId xmlns:a16="http://schemas.microsoft.com/office/drawing/2014/main" id="{F90A3626-1690-BEEC-9D60-296832E0EAA0}"/>
                </a:ext>
              </a:extLst>
            </p:cNvPr>
            <p:cNvSpPr txBox="1"/>
            <p:nvPr/>
          </p:nvSpPr>
          <p:spPr>
            <a:xfrm>
              <a:off x="1187998" y="3877989"/>
              <a:ext cx="1616557" cy="372021"/>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dirty="0">
                  <a:solidFill>
                    <a:schemeClr val="bg1"/>
                  </a:solidFill>
                </a:rPr>
                <a:t>dmomrk033343</a:t>
              </a:r>
              <a:endParaRPr lang="en-GB" sz="2400" kern="1200" dirty="0">
                <a:solidFill>
                  <a:schemeClr val="bg1"/>
                </a:solidFill>
                <a:latin typeface="+mn-lt"/>
                <a:ea typeface="ＭＳ Ｐゴシック" charset="0"/>
              </a:endParaRPr>
            </a:p>
          </p:txBody>
        </p:sp>
        <p:pic>
          <p:nvPicPr>
            <p:cNvPr id="45" name="dark2" descr="Shield Tick with solid fill">
              <a:extLst>
                <a:ext uri="{FF2B5EF4-FFF2-40B4-BE49-F238E27FC236}">
                  <a16:creationId xmlns:a16="http://schemas.microsoft.com/office/drawing/2014/main" id="{2F4C06C7-8F9B-FE14-E680-F22570DE1C06}"/>
                </a:ext>
              </a:extLst>
            </p:cNvPr>
            <p:cNvPicPr>
              <a:picLocks noChangeAspect="1"/>
            </p:cNvPicPr>
            <p:nvPr>
              <p:custDataLst>
                <p:tags r:id="rId1"/>
              </p:custDataLst>
            </p:nvPr>
          </p:nvPicPr>
          <p:blipFill>
            <a:blip>
              <a:extLst>
                <a:ext uri="{96DAC541-7B7A-43D3-8B79-37D633B846F1}">
                  <asvg:svgBlip xmlns:asvg="http://schemas.microsoft.com/office/drawing/2016/SVG/main" r:embed="rId7"/>
                </a:ext>
              </a:extLst>
            </a:blip>
            <a:srcRect/>
            <a:stretch/>
          </p:blipFill>
          <p:spPr>
            <a:xfrm>
              <a:off x="646167" y="3835399"/>
              <a:ext cx="441270" cy="457200"/>
            </a:xfrm>
            <a:prstGeom prst="rect">
              <a:avLst/>
            </a:prstGeom>
          </p:spPr>
        </p:pic>
      </p:grpSp>
      <p:sp>
        <p:nvSpPr>
          <p:cNvPr id="64" name="Oval 63">
            <a:extLst>
              <a:ext uri="{FF2B5EF4-FFF2-40B4-BE49-F238E27FC236}">
                <a16:creationId xmlns:a16="http://schemas.microsoft.com/office/drawing/2014/main" id="{A3DF03F1-403A-AC07-2AA9-D83A7EE5962F}"/>
              </a:ext>
            </a:extLst>
          </p:cNvPr>
          <p:cNvSpPr/>
          <p:nvPr/>
        </p:nvSpPr>
        <p:spPr>
          <a:xfrm>
            <a:off x="3744312" y="3547674"/>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65" name="Oval 64">
            <a:extLst>
              <a:ext uri="{FF2B5EF4-FFF2-40B4-BE49-F238E27FC236}">
                <a16:creationId xmlns:a16="http://schemas.microsoft.com/office/drawing/2014/main" id="{332CFB46-D93F-E3D9-3A01-98E7A58523DD}"/>
              </a:ext>
            </a:extLst>
          </p:cNvPr>
          <p:cNvSpPr/>
          <p:nvPr/>
        </p:nvSpPr>
        <p:spPr>
          <a:xfrm>
            <a:off x="567384" y="434123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66" name="Oval 65">
            <a:extLst>
              <a:ext uri="{FF2B5EF4-FFF2-40B4-BE49-F238E27FC236}">
                <a16:creationId xmlns:a16="http://schemas.microsoft.com/office/drawing/2014/main" id="{F899EA8E-9BA9-9CF4-2D54-7EF5D63BE9A0}"/>
              </a:ext>
            </a:extLst>
          </p:cNvPr>
          <p:cNvSpPr/>
          <p:nvPr/>
        </p:nvSpPr>
        <p:spPr>
          <a:xfrm>
            <a:off x="1458689"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67" name="Oval 66">
            <a:extLst>
              <a:ext uri="{FF2B5EF4-FFF2-40B4-BE49-F238E27FC236}">
                <a16:creationId xmlns:a16="http://schemas.microsoft.com/office/drawing/2014/main" id="{4ADD7229-B47F-7511-5149-AA7784CA2335}"/>
              </a:ext>
            </a:extLst>
          </p:cNvPr>
          <p:cNvSpPr/>
          <p:nvPr/>
        </p:nvSpPr>
        <p:spPr>
          <a:xfrm>
            <a:off x="2944921"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68" name="Oval 67">
            <a:extLst>
              <a:ext uri="{FF2B5EF4-FFF2-40B4-BE49-F238E27FC236}">
                <a16:creationId xmlns:a16="http://schemas.microsoft.com/office/drawing/2014/main" id="{4668EF07-24D0-AF18-B16A-54B690FCA614}"/>
              </a:ext>
            </a:extLst>
          </p:cNvPr>
          <p:cNvSpPr/>
          <p:nvPr/>
        </p:nvSpPr>
        <p:spPr>
          <a:xfrm>
            <a:off x="4526546"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sp>
        <p:nvSpPr>
          <p:cNvPr id="69" name="TextBox 68">
            <a:extLst>
              <a:ext uri="{FF2B5EF4-FFF2-40B4-BE49-F238E27FC236}">
                <a16:creationId xmlns:a16="http://schemas.microsoft.com/office/drawing/2014/main" id="{44225430-E5F3-384D-B734-38EC403695F1}"/>
              </a:ext>
            </a:extLst>
          </p:cNvPr>
          <p:cNvSpPr txBox="1"/>
          <p:nvPr/>
        </p:nvSpPr>
        <p:spPr>
          <a:xfrm>
            <a:off x="731838" y="815122"/>
            <a:ext cx="4848581" cy="2439156"/>
          </a:xfrm>
          <a:prstGeom prst="rect">
            <a:avLst/>
          </a:prstGeom>
          <a:noFill/>
        </p:spPr>
        <p:txBody>
          <a:bodyPr wrap="square" lIns="0" tIns="0" rIns="0" bIns="0" rtlCol="0" anchor="ctr">
            <a:noAutofit/>
          </a:bodyPr>
          <a:lstStyle/>
          <a:p>
            <a:pPr algn="ctr"/>
            <a:r>
              <a:rPr lang="en-GB" sz="1600" b="1" cap="all" dirty="0">
                <a:solidFill>
                  <a:schemeClr val="bg1"/>
                </a:solidFill>
              </a:rPr>
              <a:t>The Asset blueprint</a:t>
            </a:r>
          </a:p>
          <a:p>
            <a:pPr algn="ctr"/>
            <a:endParaRPr lang="en-GB" sz="1400" b="1" cap="all" dirty="0">
              <a:solidFill>
                <a:schemeClr val="bg1"/>
              </a:solidFill>
            </a:endParaRPr>
          </a:p>
          <a:p>
            <a:pPr algn="ctr"/>
            <a:r>
              <a:rPr lang="en-GB" sz="1400" dirty="0">
                <a:solidFill>
                  <a:schemeClr val="bg1"/>
                </a:solidFill>
              </a:rPr>
              <a:t>The </a:t>
            </a:r>
            <a:r>
              <a:rPr lang="en-GB" sz="1400" b="1" dirty="0">
                <a:solidFill>
                  <a:schemeClr val="bg1"/>
                </a:solidFill>
              </a:rPr>
              <a:t>Offer ID </a:t>
            </a:r>
            <a:r>
              <a:rPr lang="en-GB" sz="1400" dirty="0">
                <a:solidFill>
                  <a:schemeClr val="bg1"/>
                </a:solidFill>
              </a:rPr>
              <a:t>serves as a standard, asset-specific taxonomy blueprint that explicitly defines the high-value gated content, experiences, and incentives consumed by our customers. By embedding rich, descriptive context directly into the lead record, it arms sales teams with the immediate intelligence needed to initiate highly targeted conversations while </a:t>
            </a:r>
            <a:r>
              <a:rPr lang="en-GB" sz="1400" dirty="0" err="1">
                <a:solidFill>
                  <a:schemeClr val="bg1"/>
                </a:solidFill>
              </a:rPr>
              <a:t>fueling</a:t>
            </a:r>
            <a:r>
              <a:rPr lang="en-GB" sz="1400" dirty="0">
                <a:solidFill>
                  <a:schemeClr val="bg1"/>
                </a:solidFill>
              </a:rPr>
              <a:t> downstream product marketing analytics to isolate and scale our highest-converting digital assets.</a:t>
            </a:r>
          </a:p>
        </p:txBody>
      </p:sp>
    </p:spTree>
    <p:extLst>
      <p:ext uri="{BB962C8B-B14F-4D97-AF65-F5344CB8AC3E}">
        <p14:creationId xmlns:p14="http://schemas.microsoft.com/office/powerpoint/2010/main" val="301062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D1F07-23DD-2793-986A-272AE43F8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0B601-F87D-AF19-99EC-EC80ECAD37C5}"/>
              </a:ext>
            </a:extLst>
          </p:cNvPr>
          <p:cNvSpPr>
            <a:spLocks noGrp="1"/>
          </p:cNvSpPr>
          <p:nvPr>
            <p:ph type="title"/>
          </p:nvPr>
        </p:nvSpPr>
        <p:spPr/>
        <p:txBody>
          <a:bodyPr/>
          <a:lstStyle/>
          <a:p>
            <a:r>
              <a:rPr lang="en-US" dirty="0"/>
              <a:t>Anatomy of a Deal</a:t>
            </a:r>
            <a:endParaRPr lang="en-GB" dirty="0"/>
          </a:p>
        </p:txBody>
      </p:sp>
      <p:cxnSp>
        <p:nvCxnSpPr>
          <p:cNvPr id="5" name="Straight Connector 4">
            <a:extLst>
              <a:ext uri="{FF2B5EF4-FFF2-40B4-BE49-F238E27FC236}">
                <a16:creationId xmlns:a16="http://schemas.microsoft.com/office/drawing/2014/main" id="{EBF45213-9D52-2D43-56E5-A784F602977C}"/>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4FA862C9-A3F6-81A8-DF99-86257C9F5EF4}"/>
              </a:ext>
            </a:extLst>
          </p:cNvPr>
          <p:cNvGrpSpPr/>
          <p:nvPr/>
        </p:nvGrpSpPr>
        <p:grpSpPr>
          <a:xfrm>
            <a:off x="6713574" y="1402507"/>
            <a:ext cx="5179799" cy="529877"/>
            <a:chOff x="6688351" y="1148775"/>
            <a:chExt cx="5179799" cy="529877"/>
          </a:xfrm>
        </p:grpSpPr>
        <p:sp>
          <p:nvSpPr>
            <p:cNvPr id="12" name="Rectangle: Rounded Corners 11">
              <a:extLst>
                <a:ext uri="{FF2B5EF4-FFF2-40B4-BE49-F238E27FC236}">
                  <a16:creationId xmlns:a16="http://schemas.microsoft.com/office/drawing/2014/main" id="{9A321B0C-8168-1F2C-59E0-CD2DEF732B0E}"/>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559E30BA-8C83-0D5F-927D-394ADADEA408}"/>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4F382676-8F4F-C677-2888-94291C87C179}"/>
                </a:ext>
              </a:extLst>
            </p:cNvPr>
            <p:cNvSpPr txBox="1"/>
            <p:nvPr/>
          </p:nvSpPr>
          <p:spPr>
            <a:xfrm>
              <a:off x="7306063" y="1212059"/>
              <a:ext cx="1260333" cy="40330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dirty="0">
                  <a:solidFill>
                    <a:schemeClr val="bg1"/>
                  </a:solidFill>
                  <a:ea typeface="ＭＳ Ｐゴシック" charset="0"/>
                </a:rPr>
                <a:t>Channel Performance</a:t>
              </a:r>
              <a:endParaRPr lang="en-GB" sz="14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FFD74087-46DE-8058-351F-F8D57EA08B94}"/>
                </a:ext>
              </a:extLst>
            </p:cNvPr>
            <p:cNvSpPr txBox="1"/>
            <p:nvPr/>
          </p:nvSpPr>
          <p:spPr>
            <a:xfrm>
              <a:off x="8640917" y="1197872"/>
              <a:ext cx="3057097" cy="453399"/>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A single deal can contain multiple touchpoints, correct Drive To IDs ensure that every interaction is accurately bucketed into its specific channel vehicle</a:t>
              </a:r>
              <a:endParaRPr lang="en-US" altLang="en-US" dirty="0"/>
            </a:p>
          </p:txBody>
        </p:sp>
        <p:sp>
          <p:nvSpPr>
            <p:cNvPr id="16" name="Oval 15">
              <a:extLst>
                <a:ext uri="{FF2B5EF4-FFF2-40B4-BE49-F238E27FC236}">
                  <a16:creationId xmlns:a16="http://schemas.microsoft.com/office/drawing/2014/main" id="{9C8C1588-5B21-006B-1C15-B32242A01269}"/>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0DD825D5-A677-1702-F717-AC9CB5462F9E}"/>
              </a:ext>
            </a:extLst>
          </p:cNvPr>
          <p:cNvGrpSpPr/>
          <p:nvPr/>
        </p:nvGrpSpPr>
        <p:grpSpPr>
          <a:xfrm>
            <a:off x="6713574" y="2371216"/>
            <a:ext cx="5179799" cy="502497"/>
            <a:chOff x="6688351" y="2157402"/>
            <a:chExt cx="5179799" cy="529877"/>
          </a:xfrm>
        </p:grpSpPr>
        <p:sp>
          <p:nvSpPr>
            <p:cNvPr id="18" name="Rectangle: Rounded Corners 17">
              <a:extLst>
                <a:ext uri="{FF2B5EF4-FFF2-40B4-BE49-F238E27FC236}">
                  <a16:creationId xmlns:a16="http://schemas.microsoft.com/office/drawing/2014/main" id="{2DFB257E-383B-2CE3-C417-94598BCD9D2A}"/>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83F45001-3F09-89EF-39A1-5F9C685781AA}"/>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FF288F9A-E87E-0734-4946-2393E69A55BD}"/>
                </a:ext>
              </a:extLst>
            </p:cNvPr>
            <p:cNvSpPr txBox="1"/>
            <p:nvPr/>
          </p:nvSpPr>
          <p:spPr>
            <a:xfrm>
              <a:off x="7307028" y="2233111"/>
              <a:ext cx="1140447" cy="38414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kern="1200" dirty="0">
                  <a:solidFill>
                    <a:schemeClr val="bg1"/>
                  </a:solidFill>
                  <a:latin typeface="+mn-lt"/>
                  <a:ea typeface="ＭＳ Ｐゴシック" charset="0"/>
                </a:rPr>
                <a:t>Asset Attribution</a:t>
              </a:r>
              <a:endParaRPr lang="en-GB" sz="14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849E85F6-015E-AF9A-E8EC-33A45880C05A}"/>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Capture the assets driving the deal &amp;maps the specific marketing asset to the touchpoint, showing what content types are influencing the pipeline and yielding return.</a:t>
              </a:r>
              <a:endParaRPr lang="en-US" altLang="en-US" dirty="0"/>
            </a:p>
          </p:txBody>
        </p:sp>
        <p:sp>
          <p:nvSpPr>
            <p:cNvPr id="22" name="Oval 21">
              <a:extLst>
                <a:ext uri="{FF2B5EF4-FFF2-40B4-BE49-F238E27FC236}">
                  <a16:creationId xmlns:a16="http://schemas.microsoft.com/office/drawing/2014/main" id="{E60A00E2-DE63-3102-21CB-59F658319B36}"/>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1B828408-36C8-CCE4-D4FD-4B18A6935A51}"/>
              </a:ext>
            </a:extLst>
          </p:cNvPr>
          <p:cNvGrpSpPr/>
          <p:nvPr/>
        </p:nvGrpSpPr>
        <p:grpSpPr>
          <a:xfrm>
            <a:off x="6713574" y="3312545"/>
            <a:ext cx="5179799" cy="529877"/>
            <a:chOff x="6688351" y="3166029"/>
            <a:chExt cx="5179799" cy="529877"/>
          </a:xfrm>
        </p:grpSpPr>
        <p:sp>
          <p:nvSpPr>
            <p:cNvPr id="24" name="Rectangle: Rounded Corners 23">
              <a:extLst>
                <a:ext uri="{FF2B5EF4-FFF2-40B4-BE49-F238E27FC236}">
                  <a16:creationId xmlns:a16="http://schemas.microsoft.com/office/drawing/2014/main" id="{BC381175-E903-57C2-7DEB-B448134C276E}"/>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53CD8DA6-77FA-6F63-DD90-774CD08F090C}"/>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A360154A-406B-E029-7E68-8C21C16D40FB}"/>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HVE</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C6329310-4F41-7AE8-AEC4-3108C710BF1E}"/>
                </a:ext>
              </a:extLst>
            </p:cNvPr>
            <p:cNvSpPr txBox="1"/>
            <p:nvPr/>
          </p:nvSpPr>
          <p:spPr>
            <a:xfrm>
              <a:off x="8640918" y="3267465"/>
              <a:ext cx="3211254" cy="327005"/>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Touchpoint data for the HVE dataset aligns to Offer &amp; Drive To IDs </a:t>
              </a:r>
            </a:p>
          </p:txBody>
        </p:sp>
        <p:sp>
          <p:nvSpPr>
            <p:cNvPr id="28" name="Oval 27">
              <a:extLst>
                <a:ext uri="{FF2B5EF4-FFF2-40B4-BE49-F238E27FC236}">
                  <a16:creationId xmlns:a16="http://schemas.microsoft.com/office/drawing/2014/main" id="{00027D43-DAB5-CB35-BA75-AAA022974886}"/>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559503A4-BA06-4646-B62A-7EE1DBB4212B}"/>
              </a:ext>
            </a:extLst>
          </p:cNvPr>
          <p:cNvGrpSpPr/>
          <p:nvPr/>
        </p:nvGrpSpPr>
        <p:grpSpPr>
          <a:xfrm>
            <a:off x="6713574" y="4281254"/>
            <a:ext cx="5179799" cy="529877"/>
            <a:chOff x="6688350" y="3737064"/>
            <a:chExt cx="5179799" cy="529877"/>
          </a:xfrm>
        </p:grpSpPr>
        <p:sp>
          <p:nvSpPr>
            <p:cNvPr id="30" name="Rectangle: Rounded Corners 29">
              <a:extLst>
                <a:ext uri="{FF2B5EF4-FFF2-40B4-BE49-F238E27FC236}">
                  <a16:creationId xmlns:a16="http://schemas.microsoft.com/office/drawing/2014/main" id="{AFDDC9D5-B167-F568-75EB-B5E55EC56A56}"/>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D40AFDC1-2C87-0548-AD43-1FA6EF92F6A7}"/>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F1CA5E8B-A3AF-C7D9-3E64-68A9C2EC6273}"/>
                </a:ext>
              </a:extLst>
            </p:cNvPr>
            <p:cNvSpPr txBox="1"/>
            <p:nvPr/>
          </p:nvSpPr>
          <p:spPr>
            <a:xfrm>
              <a:off x="7322570" y="3838499"/>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MSP</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F072B336-E52C-5D00-2216-B90498B795D9}"/>
                </a:ext>
              </a:extLst>
            </p:cNvPr>
            <p:cNvSpPr txBox="1"/>
            <p:nvPr/>
          </p:nvSpPr>
          <p:spPr>
            <a:xfrm>
              <a:off x="8640916" y="3842941"/>
              <a:ext cx="3155697" cy="318122"/>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Ties touchpoints to an actual dollar value, clean data mapping demonstrates impact on revenue.</a:t>
              </a:r>
            </a:p>
          </p:txBody>
        </p:sp>
        <p:sp>
          <p:nvSpPr>
            <p:cNvPr id="34" name="Oval 33">
              <a:extLst>
                <a:ext uri="{FF2B5EF4-FFF2-40B4-BE49-F238E27FC236}">
                  <a16:creationId xmlns:a16="http://schemas.microsoft.com/office/drawing/2014/main" id="{3F15B00E-660D-9D01-0E14-04C6D229388A}"/>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7" name="TextBox 6">
            <a:extLst>
              <a:ext uri="{FF2B5EF4-FFF2-40B4-BE49-F238E27FC236}">
                <a16:creationId xmlns:a16="http://schemas.microsoft.com/office/drawing/2014/main" id="{3B078C3B-9F42-B6EE-C1C4-EF8714527619}"/>
              </a:ext>
            </a:extLst>
          </p:cNvPr>
          <p:cNvSpPr txBox="1"/>
          <p:nvPr/>
        </p:nvSpPr>
        <p:spPr>
          <a:xfrm>
            <a:off x="537029" y="5920702"/>
            <a:ext cx="2503712" cy="293417"/>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2"/>
              </a:rPr>
              <a:t>Anatomy of a Deal</a:t>
            </a:r>
            <a:endParaRPr lang="en-GB" sz="1600" kern="1200" dirty="0" err="1">
              <a:solidFill>
                <a:schemeClr val="bg1"/>
              </a:solidFill>
              <a:latin typeface="+mn-lt"/>
              <a:ea typeface="ＭＳ Ｐゴシック" charset="0"/>
            </a:endParaRPr>
          </a:p>
        </p:txBody>
      </p:sp>
      <p:pic>
        <p:nvPicPr>
          <p:cNvPr id="6" name="Picture 5">
            <a:extLst>
              <a:ext uri="{FF2B5EF4-FFF2-40B4-BE49-F238E27FC236}">
                <a16:creationId xmlns:a16="http://schemas.microsoft.com/office/drawing/2014/main" id="{5A6C78D6-BFD3-7491-45E8-F6F846DFC7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266" y="1247963"/>
            <a:ext cx="5266615" cy="3830016"/>
          </a:xfrm>
          <a:prstGeom prst="rect">
            <a:avLst/>
          </a:prstGeom>
        </p:spPr>
      </p:pic>
      <p:grpSp>
        <p:nvGrpSpPr>
          <p:cNvPr id="8" name="Group 7">
            <a:extLst>
              <a:ext uri="{FF2B5EF4-FFF2-40B4-BE49-F238E27FC236}">
                <a16:creationId xmlns:a16="http://schemas.microsoft.com/office/drawing/2014/main" id="{23A967B9-AC39-344A-802B-03DE68613744}"/>
              </a:ext>
            </a:extLst>
          </p:cNvPr>
          <p:cNvGrpSpPr/>
          <p:nvPr/>
        </p:nvGrpSpPr>
        <p:grpSpPr>
          <a:xfrm>
            <a:off x="6713574" y="5249964"/>
            <a:ext cx="5179799" cy="529877"/>
            <a:chOff x="6688350" y="3737064"/>
            <a:chExt cx="5179799" cy="529877"/>
          </a:xfrm>
        </p:grpSpPr>
        <p:sp>
          <p:nvSpPr>
            <p:cNvPr id="9" name="Rectangle: Rounded Corners 8">
              <a:extLst>
                <a:ext uri="{FF2B5EF4-FFF2-40B4-BE49-F238E27FC236}">
                  <a16:creationId xmlns:a16="http://schemas.microsoft.com/office/drawing/2014/main" id="{D74E6CA0-D287-5391-09A7-5A7EC2667304}"/>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 name="Arrow: Pentagon 10">
              <a:extLst>
                <a:ext uri="{FF2B5EF4-FFF2-40B4-BE49-F238E27FC236}">
                  <a16:creationId xmlns:a16="http://schemas.microsoft.com/office/drawing/2014/main" id="{2B8A1DE8-358F-2457-E4C2-3E3A71E62834}"/>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TextBox 16">
              <a:extLst>
                <a:ext uri="{FF2B5EF4-FFF2-40B4-BE49-F238E27FC236}">
                  <a16:creationId xmlns:a16="http://schemas.microsoft.com/office/drawing/2014/main" id="{5B0EBC0A-34B9-4C9A-8AD8-F430CADD6049}"/>
                </a:ext>
              </a:extLst>
            </p:cNvPr>
            <p:cNvSpPr txBox="1"/>
            <p:nvPr/>
          </p:nvSpPr>
          <p:spPr>
            <a:xfrm>
              <a:off x="7322570" y="3845410"/>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Budget</a:t>
              </a:r>
              <a:endParaRPr lang="en-GB" sz="1600" kern="1200" dirty="0" err="1">
                <a:solidFill>
                  <a:schemeClr val="bg1"/>
                </a:solidFill>
                <a:latin typeface="+mn-lt"/>
                <a:ea typeface="ＭＳ Ｐゴシック" charset="0"/>
              </a:endParaRPr>
            </a:p>
          </p:txBody>
        </p:sp>
        <p:sp>
          <p:nvSpPr>
            <p:cNvPr id="23" name="TextBox 22">
              <a:extLst>
                <a:ext uri="{FF2B5EF4-FFF2-40B4-BE49-F238E27FC236}">
                  <a16:creationId xmlns:a16="http://schemas.microsoft.com/office/drawing/2014/main" id="{776927CB-AACE-1D21-AE96-BDEA5AC3D0F4}"/>
                </a:ext>
              </a:extLst>
            </p:cNvPr>
            <p:cNvSpPr txBox="1"/>
            <p:nvPr/>
          </p:nvSpPr>
          <p:spPr>
            <a:xfrm>
              <a:off x="8640916" y="3771354"/>
              <a:ext cx="3155697"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Anatomy of a deal show us which combinations of vehicles &amp; content deliver the most cost-effective path to conversion</a:t>
              </a:r>
            </a:p>
          </p:txBody>
        </p:sp>
        <p:sp>
          <p:nvSpPr>
            <p:cNvPr id="29" name="Oval 28">
              <a:extLst>
                <a:ext uri="{FF2B5EF4-FFF2-40B4-BE49-F238E27FC236}">
                  <a16:creationId xmlns:a16="http://schemas.microsoft.com/office/drawing/2014/main" id="{6A3EBAB7-4AB7-C780-2E39-CD70120A534F}"/>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Tree>
    <p:extLst>
      <p:ext uri="{BB962C8B-B14F-4D97-AF65-F5344CB8AC3E}">
        <p14:creationId xmlns:p14="http://schemas.microsoft.com/office/powerpoint/2010/main" val="3976763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DE4A-1FE9-E852-F045-423179D09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5799A-9FC4-E426-CA4F-A6991A9BE27E}"/>
              </a:ext>
            </a:extLst>
          </p:cNvPr>
          <p:cNvSpPr>
            <a:spLocks noGrp="1"/>
          </p:cNvSpPr>
          <p:nvPr>
            <p:ph type="title"/>
          </p:nvPr>
        </p:nvSpPr>
        <p:spPr/>
        <p:txBody>
          <a:bodyPr/>
          <a:lstStyle/>
          <a:p>
            <a:r>
              <a:rPr lang="en-US" dirty="0"/>
              <a:t>Vehicle Demand Performance</a:t>
            </a:r>
            <a:endParaRPr lang="en-GB" dirty="0"/>
          </a:p>
        </p:txBody>
      </p:sp>
      <p:cxnSp>
        <p:nvCxnSpPr>
          <p:cNvPr id="5" name="Straight Connector 4">
            <a:extLst>
              <a:ext uri="{FF2B5EF4-FFF2-40B4-BE49-F238E27FC236}">
                <a16:creationId xmlns:a16="http://schemas.microsoft.com/office/drawing/2014/main" id="{498479BC-DE02-CE6A-9E31-CB76238855A8}"/>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29F1ED0A-C466-59AE-9ABE-EEC5FDBB558E}"/>
              </a:ext>
            </a:extLst>
          </p:cNvPr>
          <p:cNvGrpSpPr/>
          <p:nvPr/>
        </p:nvGrpSpPr>
        <p:grpSpPr>
          <a:xfrm>
            <a:off x="6713574" y="1402507"/>
            <a:ext cx="5179799" cy="529877"/>
            <a:chOff x="6688351" y="1148775"/>
            <a:chExt cx="5179799" cy="529877"/>
          </a:xfrm>
        </p:grpSpPr>
        <p:sp>
          <p:nvSpPr>
            <p:cNvPr id="12" name="Rectangle: Rounded Corners 11">
              <a:extLst>
                <a:ext uri="{FF2B5EF4-FFF2-40B4-BE49-F238E27FC236}">
                  <a16:creationId xmlns:a16="http://schemas.microsoft.com/office/drawing/2014/main" id="{E2240AC0-DDCA-D973-26CE-A223B384D8C1}"/>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A6951B1D-C327-C557-97EC-9000B272E6AE}"/>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84AB1653-1D8E-9412-4211-910E1B1C44DD}"/>
                </a:ext>
              </a:extLst>
            </p:cNvPr>
            <p:cNvSpPr txBox="1"/>
            <p:nvPr/>
          </p:nvSpPr>
          <p:spPr>
            <a:xfrm>
              <a:off x="7306063" y="1212059"/>
              <a:ext cx="1260333" cy="40330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dirty="0">
                  <a:solidFill>
                    <a:schemeClr val="bg1"/>
                  </a:solidFill>
                  <a:ea typeface="ＭＳ Ｐゴシック" charset="0"/>
                </a:rPr>
                <a:t>Fair Credit</a:t>
              </a:r>
              <a:endParaRPr lang="en-GB" sz="14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866BEB8E-5DE5-41F4-C1BE-996E66D16D6D}"/>
                </a:ext>
              </a:extLst>
            </p:cNvPr>
            <p:cNvSpPr txBox="1"/>
            <p:nvPr/>
          </p:nvSpPr>
          <p:spPr>
            <a:xfrm>
              <a:off x="8640917" y="1197872"/>
              <a:ext cx="3057097" cy="453399"/>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Correct setup and use of DTID ensures teams receive accurate, proportional credit for every engagement and dollar of pipeline</a:t>
              </a:r>
              <a:endParaRPr lang="en-US" altLang="en-US" dirty="0"/>
            </a:p>
          </p:txBody>
        </p:sp>
        <p:sp>
          <p:nvSpPr>
            <p:cNvPr id="16" name="Oval 15">
              <a:extLst>
                <a:ext uri="{FF2B5EF4-FFF2-40B4-BE49-F238E27FC236}">
                  <a16:creationId xmlns:a16="http://schemas.microsoft.com/office/drawing/2014/main" id="{EE87AE78-AD12-2D72-D359-DE4E87A3C790}"/>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4823CC26-40D9-C482-7C55-5BC3C92F3EBA}"/>
              </a:ext>
            </a:extLst>
          </p:cNvPr>
          <p:cNvGrpSpPr/>
          <p:nvPr/>
        </p:nvGrpSpPr>
        <p:grpSpPr>
          <a:xfrm>
            <a:off x="6713574" y="2371216"/>
            <a:ext cx="5179799" cy="502497"/>
            <a:chOff x="6688351" y="2157402"/>
            <a:chExt cx="5179799" cy="529877"/>
          </a:xfrm>
        </p:grpSpPr>
        <p:sp>
          <p:nvSpPr>
            <p:cNvPr id="18" name="Rectangle: Rounded Corners 17">
              <a:extLst>
                <a:ext uri="{FF2B5EF4-FFF2-40B4-BE49-F238E27FC236}">
                  <a16:creationId xmlns:a16="http://schemas.microsoft.com/office/drawing/2014/main" id="{1DD25D47-691F-B69A-0FAF-E572A92B88A8}"/>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2C9AE3AB-92B3-808C-DBB3-A80CDD0476F0}"/>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B6103EAA-B70F-4E1A-985B-BCAA5FC831B9}"/>
                </a:ext>
              </a:extLst>
            </p:cNvPr>
            <p:cNvSpPr txBox="1"/>
            <p:nvPr/>
          </p:nvSpPr>
          <p:spPr>
            <a:xfrm>
              <a:off x="7307028" y="2233111"/>
              <a:ext cx="1140447" cy="38414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kern="1200" dirty="0">
                  <a:solidFill>
                    <a:schemeClr val="bg1"/>
                  </a:solidFill>
                  <a:latin typeface="+mn-lt"/>
                  <a:ea typeface="ＭＳ Ｐゴシック" charset="0"/>
                </a:rPr>
                <a:t>Account Penetration</a:t>
              </a:r>
              <a:endParaRPr lang="en-GB" sz="14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BF1E5626-B2D4-30D5-03C9-7C8FF016F607}"/>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Provides feedback on how effectively targeted plays are penetrating high value Tier 1, 2  &amp; 3 accounts showing the success of ABM, ABX strategies </a:t>
              </a:r>
              <a:endParaRPr lang="en-US" altLang="en-US" dirty="0"/>
            </a:p>
          </p:txBody>
        </p:sp>
        <p:sp>
          <p:nvSpPr>
            <p:cNvPr id="22" name="Oval 21">
              <a:extLst>
                <a:ext uri="{FF2B5EF4-FFF2-40B4-BE49-F238E27FC236}">
                  <a16:creationId xmlns:a16="http://schemas.microsoft.com/office/drawing/2014/main" id="{98C33282-3E8D-7549-1A7D-36F6EA067005}"/>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C2D40C8C-D21F-5952-78E7-8BA2E2EF9D80}"/>
              </a:ext>
            </a:extLst>
          </p:cNvPr>
          <p:cNvGrpSpPr/>
          <p:nvPr/>
        </p:nvGrpSpPr>
        <p:grpSpPr>
          <a:xfrm>
            <a:off x="6713574" y="3312545"/>
            <a:ext cx="5179799" cy="529877"/>
            <a:chOff x="6688351" y="3166029"/>
            <a:chExt cx="5179799" cy="529877"/>
          </a:xfrm>
        </p:grpSpPr>
        <p:sp>
          <p:nvSpPr>
            <p:cNvPr id="24" name="Rectangle: Rounded Corners 23">
              <a:extLst>
                <a:ext uri="{FF2B5EF4-FFF2-40B4-BE49-F238E27FC236}">
                  <a16:creationId xmlns:a16="http://schemas.microsoft.com/office/drawing/2014/main" id="{72FB9053-7A29-D4B5-40F4-DCDFBB6A5B61}"/>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B89207F1-C667-22B0-C7D1-2D12634F72AA}"/>
                </a:ext>
              </a:extLst>
            </p:cNvPr>
            <p:cNvSpPr/>
            <p:nvPr/>
          </p:nvSpPr>
          <p:spPr>
            <a:xfrm>
              <a:off x="7035263" y="31820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09E6A9A1-5EA3-F016-22DD-E35B47C56EBF}"/>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Budget Waste</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A9B0D19D-3B3F-6B4F-5D88-03AE45E86463}"/>
                </a:ext>
              </a:extLst>
            </p:cNvPr>
            <p:cNvSpPr txBox="1"/>
            <p:nvPr/>
          </p:nvSpPr>
          <p:spPr>
            <a:xfrm>
              <a:off x="8640918" y="3182025"/>
              <a:ext cx="3211254"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pPr lvl="0"/>
              <a:r>
                <a:rPr lang="en-GB" dirty="0"/>
                <a:t>Shows the percentage of the channel traffic coming from high-priority accounts vs. anonymous web traffic, to drive more defined targeting parameters.</a:t>
              </a:r>
            </a:p>
          </p:txBody>
        </p:sp>
        <p:sp>
          <p:nvSpPr>
            <p:cNvPr id="28" name="Oval 27">
              <a:extLst>
                <a:ext uri="{FF2B5EF4-FFF2-40B4-BE49-F238E27FC236}">
                  <a16:creationId xmlns:a16="http://schemas.microsoft.com/office/drawing/2014/main" id="{F63E6A00-AA45-9F8E-AB4B-C53C1E3077B3}"/>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3E91749F-B439-3E77-D585-BD537B8865F9}"/>
              </a:ext>
            </a:extLst>
          </p:cNvPr>
          <p:cNvGrpSpPr/>
          <p:nvPr/>
        </p:nvGrpSpPr>
        <p:grpSpPr>
          <a:xfrm>
            <a:off x="6713574" y="4281254"/>
            <a:ext cx="5179799" cy="529877"/>
            <a:chOff x="6688350" y="3737064"/>
            <a:chExt cx="5179799" cy="529877"/>
          </a:xfrm>
        </p:grpSpPr>
        <p:sp>
          <p:nvSpPr>
            <p:cNvPr id="30" name="Rectangle: Rounded Corners 29">
              <a:extLst>
                <a:ext uri="{FF2B5EF4-FFF2-40B4-BE49-F238E27FC236}">
                  <a16:creationId xmlns:a16="http://schemas.microsoft.com/office/drawing/2014/main" id="{1BD4AA61-78C2-FB6A-CAFA-AB2110499D4F}"/>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7FA94AE9-7834-BC71-3E9A-C019D7E94DB6}"/>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C2EF980C-B648-4127-F2B2-04B02F1E1BCF}"/>
                </a:ext>
              </a:extLst>
            </p:cNvPr>
            <p:cNvSpPr txBox="1"/>
            <p:nvPr/>
          </p:nvSpPr>
          <p:spPr>
            <a:xfrm>
              <a:off x="7322570" y="3844849"/>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Growth</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AF87B303-9BE4-AFA0-4BA6-ED468FE034F1}"/>
                </a:ext>
              </a:extLst>
            </p:cNvPr>
            <p:cNvSpPr txBox="1"/>
            <p:nvPr/>
          </p:nvSpPr>
          <p:spPr>
            <a:xfrm>
              <a:off x="8640916" y="3770793"/>
              <a:ext cx="3155697"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Q/Q &amp; Y/Y reporting in relation to vehicles allows us to track upward growth trends to justify scaling successful programs</a:t>
              </a:r>
            </a:p>
          </p:txBody>
        </p:sp>
        <p:sp>
          <p:nvSpPr>
            <p:cNvPr id="34" name="Oval 33">
              <a:extLst>
                <a:ext uri="{FF2B5EF4-FFF2-40B4-BE49-F238E27FC236}">
                  <a16:creationId xmlns:a16="http://schemas.microsoft.com/office/drawing/2014/main" id="{2A16C0C3-1276-5AC9-58C8-45562B4D54F1}"/>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7" name="TextBox 6">
            <a:extLst>
              <a:ext uri="{FF2B5EF4-FFF2-40B4-BE49-F238E27FC236}">
                <a16:creationId xmlns:a16="http://schemas.microsoft.com/office/drawing/2014/main" id="{28E6F031-F251-88AF-90E6-D3D7021826EE}"/>
              </a:ext>
            </a:extLst>
          </p:cNvPr>
          <p:cNvSpPr txBox="1"/>
          <p:nvPr/>
        </p:nvSpPr>
        <p:spPr>
          <a:xfrm>
            <a:off x="537028" y="5920702"/>
            <a:ext cx="3398029" cy="328749"/>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2"/>
              </a:rPr>
              <a:t>Vehicle Demand Performance</a:t>
            </a:r>
            <a:endParaRPr lang="en-GB" sz="1600" kern="1200" dirty="0" err="1">
              <a:solidFill>
                <a:schemeClr val="bg1"/>
              </a:solidFill>
              <a:latin typeface="+mn-lt"/>
              <a:ea typeface="ＭＳ Ｐゴシック" charset="0"/>
            </a:endParaRPr>
          </a:p>
        </p:txBody>
      </p:sp>
      <p:grpSp>
        <p:nvGrpSpPr>
          <p:cNvPr id="8" name="Group 7">
            <a:extLst>
              <a:ext uri="{FF2B5EF4-FFF2-40B4-BE49-F238E27FC236}">
                <a16:creationId xmlns:a16="http://schemas.microsoft.com/office/drawing/2014/main" id="{B49B86DF-25F5-B6F4-FB39-C6905A6C3B64}"/>
              </a:ext>
            </a:extLst>
          </p:cNvPr>
          <p:cNvGrpSpPr/>
          <p:nvPr/>
        </p:nvGrpSpPr>
        <p:grpSpPr>
          <a:xfrm>
            <a:off x="6713574" y="5249964"/>
            <a:ext cx="5179799" cy="529877"/>
            <a:chOff x="6688350" y="3737064"/>
            <a:chExt cx="5179799" cy="529877"/>
          </a:xfrm>
        </p:grpSpPr>
        <p:sp>
          <p:nvSpPr>
            <p:cNvPr id="9" name="Rectangle: Rounded Corners 8">
              <a:extLst>
                <a:ext uri="{FF2B5EF4-FFF2-40B4-BE49-F238E27FC236}">
                  <a16:creationId xmlns:a16="http://schemas.microsoft.com/office/drawing/2014/main" id="{2222766D-2415-E62D-97DF-5BC796BDF802}"/>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 name="Arrow: Pentagon 10">
              <a:extLst>
                <a:ext uri="{FF2B5EF4-FFF2-40B4-BE49-F238E27FC236}">
                  <a16:creationId xmlns:a16="http://schemas.microsoft.com/office/drawing/2014/main" id="{56C02C94-E25E-E7A1-9925-17C84BF31F1C}"/>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TextBox 16">
              <a:extLst>
                <a:ext uri="{FF2B5EF4-FFF2-40B4-BE49-F238E27FC236}">
                  <a16:creationId xmlns:a16="http://schemas.microsoft.com/office/drawing/2014/main" id="{AE95BB98-4F93-6A35-B0EF-423D8B3067EE}"/>
                </a:ext>
              </a:extLst>
            </p:cNvPr>
            <p:cNvSpPr txBox="1"/>
            <p:nvPr/>
          </p:nvSpPr>
          <p:spPr>
            <a:xfrm>
              <a:off x="7307027" y="3758093"/>
              <a:ext cx="1140447" cy="47511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buClr>
                  <a:schemeClr val="bg1"/>
                </a:buClr>
                <a:buSzPct val="100000"/>
              </a:pPr>
              <a:r>
                <a:rPr lang="en-US" sz="1600" dirty="0">
                  <a:solidFill>
                    <a:schemeClr val="bg1"/>
                  </a:solidFill>
                  <a:ea typeface="ＭＳ Ｐゴシック" charset="0"/>
                </a:rPr>
                <a:t>Defend</a:t>
              </a:r>
            </a:p>
            <a:p>
              <a:pPr defTabSz="912276" rtl="0" eaLnBrk="1" fontAlgn="base" hangingPunct="1">
                <a:lnSpc>
                  <a:spcPct val="100000"/>
                </a:lnSpc>
                <a:spcBef>
                  <a:spcPts val="0"/>
                </a:spcBef>
                <a:buClr>
                  <a:schemeClr val="bg1"/>
                </a:buClr>
                <a:buSzPct val="100000"/>
              </a:pPr>
              <a:r>
                <a:rPr lang="en-US" sz="1600" dirty="0">
                  <a:solidFill>
                    <a:schemeClr val="bg1"/>
                  </a:solidFill>
                  <a:ea typeface="ＭＳ Ｐゴシック" charset="0"/>
                </a:rPr>
                <a:t>Budget</a:t>
              </a:r>
              <a:endParaRPr lang="en-GB" sz="1600" kern="1200" dirty="0" err="1">
                <a:solidFill>
                  <a:schemeClr val="bg1"/>
                </a:solidFill>
                <a:latin typeface="+mn-lt"/>
                <a:ea typeface="ＭＳ Ｐゴシック" charset="0"/>
              </a:endParaRPr>
            </a:p>
          </p:txBody>
        </p:sp>
        <p:sp>
          <p:nvSpPr>
            <p:cNvPr id="23" name="TextBox 22">
              <a:extLst>
                <a:ext uri="{FF2B5EF4-FFF2-40B4-BE49-F238E27FC236}">
                  <a16:creationId xmlns:a16="http://schemas.microsoft.com/office/drawing/2014/main" id="{D46766E2-2D84-8972-ED5A-CC977F814867}"/>
                </a:ext>
              </a:extLst>
            </p:cNvPr>
            <p:cNvSpPr txBox="1"/>
            <p:nvPr/>
          </p:nvSpPr>
          <p:spPr>
            <a:xfrm>
              <a:off x="8640916" y="3830631"/>
              <a:ext cx="3155697" cy="314783"/>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Provides the accurate data to defend budget and secure funding for future initiatives</a:t>
              </a:r>
            </a:p>
          </p:txBody>
        </p:sp>
        <p:sp>
          <p:nvSpPr>
            <p:cNvPr id="29" name="Oval 28">
              <a:extLst>
                <a:ext uri="{FF2B5EF4-FFF2-40B4-BE49-F238E27FC236}">
                  <a16:creationId xmlns:a16="http://schemas.microsoft.com/office/drawing/2014/main" id="{155513CA-E9BD-31C5-687D-5F9084A9DAAC}"/>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pic>
        <p:nvPicPr>
          <p:cNvPr id="4" name="Picture 3">
            <a:extLst>
              <a:ext uri="{FF2B5EF4-FFF2-40B4-BE49-F238E27FC236}">
                <a16:creationId xmlns:a16="http://schemas.microsoft.com/office/drawing/2014/main" id="{36BA8CAC-0B5B-FBBC-45E5-1AD6D9E4B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729" y="1112253"/>
            <a:ext cx="4470702" cy="4486784"/>
          </a:xfrm>
          <a:prstGeom prst="rect">
            <a:avLst/>
          </a:prstGeom>
        </p:spPr>
      </p:pic>
    </p:spTree>
    <p:extLst>
      <p:ext uri="{BB962C8B-B14F-4D97-AF65-F5344CB8AC3E}">
        <p14:creationId xmlns:p14="http://schemas.microsoft.com/office/powerpoint/2010/main" val="212858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6944C-D67B-AA34-4217-7AB4B8041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141D1-E912-6F3D-4069-FDA1501A0F7C}"/>
              </a:ext>
            </a:extLst>
          </p:cNvPr>
          <p:cNvSpPr>
            <a:spLocks noGrp="1"/>
          </p:cNvSpPr>
          <p:nvPr>
            <p:ph type="title"/>
          </p:nvPr>
        </p:nvSpPr>
        <p:spPr/>
        <p:txBody>
          <a:bodyPr/>
          <a:lstStyle/>
          <a:p>
            <a:r>
              <a:rPr lang="en-US" dirty="0"/>
              <a:t>Content Impact Scorecard</a:t>
            </a:r>
            <a:endParaRPr lang="en-GB" dirty="0"/>
          </a:p>
        </p:txBody>
      </p:sp>
      <p:cxnSp>
        <p:nvCxnSpPr>
          <p:cNvPr id="5" name="Straight Connector 4">
            <a:extLst>
              <a:ext uri="{FF2B5EF4-FFF2-40B4-BE49-F238E27FC236}">
                <a16:creationId xmlns:a16="http://schemas.microsoft.com/office/drawing/2014/main" id="{E346DFC4-231C-9E7C-14D2-47310D876D73}"/>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5A2E9423-5BAD-4B8A-83F8-5278B77CEC5E}"/>
              </a:ext>
            </a:extLst>
          </p:cNvPr>
          <p:cNvGrpSpPr/>
          <p:nvPr/>
        </p:nvGrpSpPr>
        <p:grpSpPr>
          <a:xfrm>
            <a:off x="6745847" y="1590766"/>
            <a:ext cx="5179799" cy="529877"/>
            <a:chOff x="6688351" y="1148775"/>
            <a:chExt cx="5179799" cy="529877"/>
          </a:xfrm>
        </p:grpSpPr>
        <p:sp>
          <p:nvSpPr>
            <p:cNvPr id="12" name="Rectangle: Rounded Corners 11">
              <a:extLst>
                <a:ext uri="{FF2B5EF4-FFF2-40B4-BE49-F238E27FC236}">
                  <a16:creationId xmlns:a16="http://schemas.microsoft.com/office/drawing/2014/main" id="{330D5F0A-DC3E-C6F3-DFE6-BA0C85E63F85}"/>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04C19AA0-24B6-3EE0-F3C5-5A861D5DE6D8}"/>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52980D08-E637-77A3-5421-F9BB0E3419C4}"/>
                </a:ext>
              </a:extLst>
            </p:cNvPr>
            <p:cNvSpPr txBox="1"/>
            <p:nvPr/>
          </p:nvSpPr>
          <p:spPr>
            <a:xfrm>
              <a:off x="7306063" y="1212059"/>
              <a:ext cx="1260333" cy="40330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dirty="0">
                  <a:solidFill>
                    <a:schemeClr val="bg1"/>
                  </a:solidFill>
                  <a:ea typeface="ＭＳ Ｐゴシック" charset="0"/>
                </a:rPr>
                <a:t>Optimize</a:t>
              </a:r>
              <a:endParaRPr lang="en-GB" sz="14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8EB52614-1DB5-3EC6-0FC7-2A53A0429402}"/>
                </a:ext>
              </a:extLst>
            </p:cNvPr>
            <p:cNvSpPr txBox="1"/>
            <p:nvPr/>
          </p:nvSpPr>
          <p:spPr>
            <a:xfrm>
              <a:off x="8640917" y="1197872"/>
              <a:ext cx="3057097" cy="453399"/>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Mapping content by pipeline vs engagement we get a roadmap as to what to do such as  amplify opportunity for low-engagement/high pipeline content etc.</a:t>
              </a:r>
            </a:p>
          </p:txBody>
        </p:sp>
        <p:sp>
          <p:nvSpPr>
            <p:cNvPr id="16" name="Oval 15">
              <a:extLst>
                <a:ext uri="{FF2B5EF4-FFF2-40B4-BE49-F238E27FC236}">
                  <a16:creationId xmlns:a16="http://schemas.microsoft.com/office/drawing/2014/main" id="{8B01233F-CEF8-404E-7BC9-09E070D6435F}"/>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7423B1A7-36C9-0A5A-3224-221CC6EAB53C}"/>
              </a:ext>
            </a:extLst>
          </p:cNvPr>
          <p:cNvGrpSpPr/>
          <p:nvPr/>
        </p:nvGrpSpPr>
        <p:grpSpPr>
          <a:xfrm>
            <a:off x="6745847" y="2559475"/>
            <a:ext cx="5179799" cy="502497"/>
            <a:chOff x="6688351" y="2157402"/>
            <a:chExt cx="5179799" cy="529877"/>
          </a:xfrm>
        </p:grpSpPr>
        <p:sp>
          <p:nvSpPr>
            <p:cNvPr id="18" name="Rectangle: Rounded Corners 17">
              <a:extLst>
                <a:ext uri="{FF2B5EF4-FFF2-40B4-BE49-F238E27FC236}">
                  <a16:creationId xmlns:a16="http://schemas.microsoft.com/office/drawing/2014/main" id="{5EE0B439-395C-8716-3F3C-FDFDD622295B}"/>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05B1C425-CE75-44B0-F154-2C2EF778E7AF}"/>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4098BCCF-C67B-7BB5-945A-665AA4AF7D88}"/>
                </a:ext>
              </a:extLst>
            </p:cNvPr>
            <p:cNvSpPr txBox="1"/>
            <p:nvPr/>
          </p:nvSpPr>
          <p:spPr>
            <a:xfrm>
              <a:off x="7307028" y="2233111"/>
              <a:ext cx="1140447" cy="38414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kern="1200" dirty="0">
                  <a:solidFill>
                    <a:schemeClr val="bg1"/>
                  </a:solidFill>
                  <a:latin typeface="+mn-lt"/>
                  <a:ea typeface="ＭＳ Ｐゴシック" charset="0"/>
                </a:rPr>
                <a:t>Funnel Stage</a:t>
              </a:r>
              <a:endParaRPr lang="en-GB" sz="14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FFE8ED26-284E-C6C8-26E6-CA1C35DEE6A3}"/>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Teams benefit from a scoring system that understands the user journey where we can monitor traffic by awareness, consideration and evaluation</a:t>
              </a:r>
              <a:endParaRPr lang="en-US" altLang="en-US" dirty="0"/>
            </a:p>
          </p:txBody>
        </p:sp>
        <p:sp>
          <p:nvSpPr>
            <p:cNvPr id="22" name="Oval 21">
              <a:extLst>
                <a:ext uri="{FF2B5EF4-FFF2-40B4-BE49-F238E27FC236}">
                  <a16:creationId xmlns:a16="http://schemas.microsoft.com/office/drawing/2014/main" id="{85A67FDD-75A0-658E-08A0-1D5C1FB80617}"/>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43436E0F-B4F6-0BB6-6A99-EB8DE8E82D05}"/>
              </a:ext>
            </a:extLst>
          </p:cNvPr>
          <p:cNvGrpSpPr/>
          <p:nvPr/>
        </p:nvGrpSpPr>
        <p:grpSpPr>
          <a:xfrm>
            <a:off x="6745847" y="3500804"/>
            <a:ext cx="5179799" cy="529877"/>
            <a:chOff x="6688351" y="3166029"/>
            <a:chExt cx="5179799" cy="529877"/>
          </a:xfrm>
        </p:grpSpPr>
        <p:sp>
          <p:nvSpPr>
            <p:cNvPr id="24" name="Rectangle: Rounded Corners 23">
              <a:extLst>
                <a:ext uri="{FF2B5EF4-FFF2-40B4-BE49-F238E27FC236}">
                  <a16:creationId xmlns:a16="http://schemas.microsoft.com/office/drawing/2014/main" id="{69087106-936D-C7B9-5858-8BC6ECC4E21D}"/>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04812969-4EC3-F684-2312-A660E3B7B407}"/>
                </a:ext>
              </a:extLst>
            </p:cNvPr>
            <p:cNvSpPr/>
            <p:nvPr/>
          </p:nvSpPr>
          <p:spPr>
            <a:xfrm>
              <a:off x="7035263" y="31820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B7EF0B53-1240-8454-1F79-FE7BDEEEBF58}"/>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Revenue</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69F2EE41-3F5C-593B-B152-68053E539E05}"/>
                </a:ext>
              </a:extLst>
            </p:cNvPr>
            <p:cNvSpPr txBox="1"/>
            <p:nvPr/>
          </p:nvSpPr>
          <p:spPr>
            <a:xfrm>
              <a:off x="8640918" y="3182025"/>
              <a:ext cx="3211254"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Shows how content contributes to the bottom line by measuring “Conversion Breadth” and “Revenue Depth” to see what collateral is closing deals</a:t>
              </a:r>
            </a:p>
          </p:txBody>
        </p:sp>
        <p:sp>
          <p:nvSpPr>
            <p:cNvPr id="28" name="Oval 27">
              <a:extLst>
                <a:ext uri="{FF2B5EF4-FFF2-40B4-BE49-F238E27FC236}">
                  <a16:creationId xmlns:a16="http://schemas.microsoft.com/office/drawing/2014/main" id="{88D9EAC7-BCEC-1BDA-0423-3A01D33F34EC}"/>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9CD9B13F-88E0-7C55-76CA-7DC32109279B}"/>
              </a:ext>
            </a:extLst>
          </p:cNvPr>
          <p:cNvGrpSpPr/>
          <p:nvPr/>
        </p:nvGrpSpPr>
        <p:grpSpPr>
          <a:xfrm>
            <a:off x="6745847" y="4469513"/>
            <a:ext cx="5179799" cy="529877"/>
            <a:chOff x="6688350" y="3737064"/>
            <a:chExt cx="5179799" cy="529877"/>
          </a:xfrm>
        </p:grpSpPr>
        <p:sp>
          <p:nvSpPr>
            <p:cNvPr id="30" name="Rectangle: Rounded Corners 29">
              <a:extLst>
                <a:ext uri="{FF2B5EF4-FFF2-40B4-BE49-F238E27FC236}">
                  <a16:creationId xmlns:a16="http://schemas.microsoft.com/office/drawing/2014/main" id="{E2E51895-B8C1-0E22-D942-874B7BAD9695}"/>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ABA078A5-2351-CC73-53C3-DAECB22BC371}"/>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CD92D157-0782-F098-A7C4-82445E5E1721}"/>
                </a:ext>
              </a:extLst>
            </p:cNvPr>
            <p:cNvSpPr txBox="1"/>
            <p:nvPr/>
          </p:nvSpPr>
          <p:spPr>
            <a:xfrm>
              <a:off x="7322570" y="3844849"/>
              <a:ext cx="1243825"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Retirement</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E6C3DADE-D8D2-68B5-E896-07053B44DE5C}"/>
                </a:ext>
              </a:extLst>
            </p:cNvPr>
            <p:cNvSpPr txBox="1"/>
            <p:nvPr/>
          </p:nvSpPr>
          <p:spPr>
            <a:xfrm>
              <a:off x="8640916" y="3770793"/>
              <a:ext cx="3155697"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pPr lvl="0"/>
              <a:r>
                <a:rPr lang="en-GB" dirty="0"/>
                <a:t>Shows underperforming assets into a red bucket Signalling outdated web pages and content that should be decommissioned</a:t>
              </a:r>
            </a:p>
          </p:txBody>
        </p:sp>
        <p:sp>
          <p:nvSpPr>
            <p:cNvPr id="34" name="Oval 33">
              <a:extLst>
                <a:ext uri="{FF2B5EF4-FFF2-40B4-BE49-F238E27FC236}">
                  <a16:creationId xmlns:a16="http://schemas.microsoft.com/office/drawing/2014/main" id="{EE32AF85-059E-5947-9F21-520A8F638A83}"/>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7" name="TextBox 6">
            <a:extLst>
              <a:ext uri="{FF2B5EF4-FFF2-40B4-BE49-F238E27FC236}">
                <a16:creationId xmlns:a16="http://schemas.microsoft.com/office/drawing/2014/main" id="{505839AE-7E6E-B32A-AF13-4AF38DE45B76}"/>
              </a:ext>
            </a:extLst>
          </p:cNvPr>
          <p:cNvSpPr txBox="1"/>
          <p:nvPr/>
        </p:nvSpPr>
        <p:spPr>
          <a:xfrm>
            <a:off x="537028" y="5920702"/>
            <a:ext cx="3398029" cy="328749"/>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2"/>
              </a:rPr>
              <a:t>Content Impact Scorecard</a:t>
            </a:r>
            <a:endParaRPr lang="en-GB" sz="1600" kern="1200" dirty="0" err="1">
              <a:solidFill>
                <a:schemeClr val="bg1"/>
              </a:solidFill>
              <a:latin typeface="+mn-lt"/>
              <a:ea typeface="ＭＳ Ｐゴシック" charset="0"/>
            </a:endParaRPr>
          </a:p>
        </p:txBody>
      </p:sp>
      <p:pic>
        <p:nvPicPr>
          <p:cNvPr id="6" name="Picture 5">
            <a:extLst>
              <a:ext uri="{FF2B5EF4-FFF2-40B4-BE49-F238E27FC236}">
                <a16:creationId xmlns:a16="http://schemas.microsoft.com/office/drawing/2014/main" id="{825AB6BB-536B-5399-881D-51C7C5C83A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42" y="1168831"/>
            <a:ext cx="5643987" cy="4168588"/>
          </a:xfrm>
          <a:prstGeom prst="rect">
            <a:avLst/>
          </a:prstGeom>
        </p:spPr>
      </p:pic>
    </p:spTree>
    <p:extLst>
      <p:ext uri="{BB962C8B-B14F-4D97-AF65-F5344CB8AC3E}">
        <p14:creationId xmlns:p14="http://schemas.microsoft.com/office/powerpoint/2010/main" val="393339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78DF5-7C54-85F7-D015-2EDE625ACB02}"/>
              </a:ext>
            </a:extLst>
          </p:cNvPr>
          <p:cNvSpPr>
            <a:spLocks noGrp="1"/>
          </p:cNvSpPr>
          <p:nvPr>
            <p:ph type="title"/>
          </p:nvPr>
        </p:nvSpPr>
        <p:spPr/>
        <p:txBody>
          <a:bodyPr/>
          <a:lstStyle/>
          <a:p>
            <a:r>
              <a:rPr lang="en-US" dirty="0"/>
              <a:t>ID Relationships</a:t>
            </a:r>
            <a:endParaRPr lang="en-GB" dirty="0"/>
          </a:p>
        </p:txBody>
      </p:sp>
      <p:grpSp>
        <p:nvGrpSpPr>
          <p:cNvPr id="145" name="Group 144">
            <a:extLst>
              <a:ext uri="{FF2B5EF4-FFF2-40B4-BE49-F238E27FC236}">
                <a16:creationId xmlns:a16="http://schemas.microsoft.com/office/drawing/2014/main" id="{8EEDC3EE-6441-CEA9-1C36-56E3798085BA}"/>
              </a:ext>
            </a:extLst>
          </p:cNvPr>
          <p:cNvGrpSpPr/>
          <p:nvPr/>
        </p:nvGrpSpPr>
        <p:grpSpPr>
          <a:xfrm>
            <a:off x="4185169" y="1085385"/>
            <a:ext cx="1381985" cy="794654"/>
            <a:chOff x="3396896" y="1309013"/>
            <a:chExt cx="1381985" cy="794654"/>
          </a:xfrm>
        </p:grpSpPr>
        <p:grpSp>
          <p:nvGrpSpPr>
            <p:cNvPr id="4" name="Group 3">
              <a:extLst>
                <a:ext uri="{FF2B5EF4-FFF2-40B4-BE49-F238E27FC236}">
                  <a16:creationId xmlns:a16="http://schemas.microsoft.com/office/drawing/2014/main" id="{BE7C42F8-533A-E781-B3EF-2053BC84D1BB}"/>
                </a:ext>
              </a:extLst>
            </p:cNvPr>
            <p:cNvGrpSpPr/>
            <p:nvPr/>
          </p:nvGrpSpPr>
          <p:grpSpPr>
            <a:xfrm>
              <a:off x="3396896" y="1316688"/>
              <a:ext cx="1381985" cy="786979"/>
              <a:chOff x="2521324" y="4067735"/>
              <a:chExt cx="2267712" cy="1337983"/>
            </a:xfrm>
          </p:grpSpPr>
          <p:sp>
            <p:nvSpPr>
              <p:cNvPr id="6" name="Rectangle: Rounded Corners 5">
                <a:extLst>
                  <a:ext uri="{FF2B5EF4-FFF2-40B4-BE49-F238E27FC236}">
                    <a16:creationId xmlns:a16="http://schemas.microsoft.com/office/drawing/2014/main" id="{D162684F-A589-7A92-0809-A6D13BE53279}"/>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7" name="Straight Connector 6">
                <a:extLst>
                  <a:ext uri="{FF2B5EF4-FFF2-40B4-BE49-F238E27FC236}">
                    <a16:creationId xmlns:a16="http://schemas.microsoft.com/office/drawing/2014/main" id="{8F437CE7-1E99-0B26-B459-137C45967CC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 name="TextBox 7">
                <a:extLst>
                  <a:ext uri="{FF2B5EF4-FFF2-40B4-BE49-F238E27FC236}">
                    <a16:creationId xmlns:a16="http://schemas.microsoft.com/office/drawing/2014/main" id="{CAB263BF-005E-3348-FD79-4F54B02243DB}"/>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Activity ID</a:t>
                </a:r>
                <a:endParaRPr lang="en-GB" sz="1000" kern="1200" dirty="0" err="1">
                  <a:solidFill>
                    <a:schemeClr val="accent2"/>
                  </a:solidFill>
                  <a:latin typeface="+mn-lt"/>
                  <a:ea typeface="ＭＳ Ｐゴシック" charset="0"/>
                </a:endParaRPr>
              </a:p>
            </p:txBody>
          </p:sp>
          <p:sp>
            <p:nvSpPr>
              <p:cNvPr id="9" name="TextBox 8">
                <a:extLst>
                  <a:ext uri="{FF2B5EF4-FFF2-40B4-BE49-F238E27FC236}">
                    <a16:creationId xmlns:a16="http://schemas.microsoft.com/office/drawing/2014/main" id="{E96C8281-496A-C4F2-293D-98BEF3E6B2F1}"/>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cc010898</a:t>
                </a:r>
                <a:endParaRPr lang="en-GB" sz="1000" dirty="0" err="1">
                  <a:solidFill>
                    <a:schemeClr val="bg1"/>
                  </a:solidFill>
                  <a:ea typeface="ＭＳ Ｐゴシック" charset="0"/>
                </a:endParaRPr>
              </a:p>
            </p:txBody>
          </p:sp>
        </p:grpSp>
        <p:pic>
          <p:nvPicPr>
            <p:cNvPr id="5" name="Graphic 4" descr="Mandala with solid fill">
              <a:extLst>
                <a:ext uri="{FF2B5EF4-FFF2-40B4-BE49-F238E27FC236}">
                  <a16:creationId xmlns:a16="http://schemas.microsoft.com/office/drawing/2014/main" id="{3F252100-1A3C-0A06-CC2F-0155BF963B2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477630" y="1309013"/>
              <a:ext cx="235338" cy="235338"/>
            </a:xfrm>
            <a:prstGeom prst="rect">
              <a:avLst/>
            </a:prstGeom>
          </p:spPr>
        </p:pic>
      </p:grpSp>
      <p:grpSp>
        <p:nvGrpSpPr>
          <p:cNvPr id="144" name="Group 143">
            <a:extLst>
              <a:ext uri="{FF2B5EF4-FFF2-40B4-BE49-F238E27FC236}">
                <a16:creationId xmlns:a16="http://schemas.microsoft.com/office/drawing/2014/main" id="{276B44EB-36CD-BAA5-ED6E-97BC3C76E65F}"/>
              </a:ext>
            </a:extLst>
          </p:cNvPr>
          <p:cNvGrpSpPr/>
          <p:nvPr/>
        </p:nvGrpSpPr>
        <p:grpSpPr>
          <a:xfrm>
            <a:off x="6802990" y="1089223"/>
            <a:ext cx="1381985" cy="786979"/>
            <a:chOff x="5649487" y="1316688"/>
            <a:chExt cx="1381985" cy="786979"/>
          </a:xfrm>
        </p:grpSpPr>
        <p:grpSp>
          <p:nvGrpSpPr>
            <p:cNvPr id="126" name="Group 125">
              <a:extLst>
                <a:ext uri="{FF2B5EF4-FFF2-40B4-BE49-F238E27FC236}">
                  <a16:creationId xmlns:a16="http://schemas.microsoft.com/office/drawing/2014/main" id="{4526B714-A57F-FF92-F1AA-F4AB5F999230}"/>
                </a:ext>
              </a:extLst>
            </p:cNvPr>
            <p:cNvGrpSpPr/>
            <p:nvPr/>
          </p:nvGrpSpPr>
          <p:grpSpPr>
            <a:xfrm>
              <a:off x="5649487" y="1316688"/>
              <a:ext cx="1381985" cy="786979"/>
              <a:chOff x="2521324" y="4067735"/>
              <a:chExt cx="2267712" cy="1337983"/>
            </a:xfrm>
          </p:grpSpPr>
          <p:sp>
            <p:nvSpPr>
              <p:cNvPr id="127" name="Rectangle: Rounded Corners 126">
                <a:extLst>
                  <a:ext uri="{FF2B5EF4-FFF2-40B4-BE49-F238E27FC236}">
                    <a16:creationId xmlns:a16="http://schemas.microsoft.com/office/drawing/2014/main" id="{F7CDDBCF-C8E2-B555-FB3C-DE18B23618E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28" name="Straight Connector 127">
                <a:extLst>
                  <a:ext uri="{FF2B5EF4-FFF2-40B4-BE49-F238E27FC236}">
                    <a16:creationId xmlns:a16="http://schemas.microsoft.com/office/drawing/2014/main" id="{313E706F-AB3B-D3B5-B68F-4DF2E09DE8A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9" name="TextBox 128">
                <a:extLst>
                  <a:ext uri="{FF2B5EF4-FFF2-40B4-BE49-F238E27FC236}">
                    <a16:creationId xmlns:a16="http://schemas.microsoft.com/office/drawing/2014/main" id="{FE5D1FE1-6C43-7A5A-F867-41305FED25F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Activity ID</a:t>
                </a:r>
                <a:endParaRPr lang="en-GB" sz="1000" kern="1200" dirty="0" err="1">
                  <a:solidFill>
                    <a:schemeClr val="accent2"/>
                  </a:solidFill>
                  <a:latin typeface="+mn-lt"/>
                  <a:ea typeface="ＭＳ Ｐゴシック" charset="0"/>
                </a:endParaRPr>
              </a:p>
            </p:txBody>
          </p:sp>
          <p:sp>
            <p:nvSpPr>
              <p:cNvPr id="130" name="TextBox 129">
                <a:extLst>
                  <a:ext uri="{FF2B5EF4-FFF2-40B4-BE49-F238E27FC236}">
                    <a16:creationId xmlns:a16="http://schemas.microsoft.com/office/drawing/2014/main" id="{0E6EA18F-E937-F5DD-D559-A01830CCDCB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cc010912</a:t>
                </a:r>
                <a:endParaRPr lang="en-GB" sz="1000" dirty="0" err="1">
                  <a:solidFill>
                    <a:schemeClr val="bg1"/>
                  </a:solidFill>
                  <a:ea typeface="ＭＳ Ｐゴシック" charset="0"/>
                </a:endParaRPr>
              </a:p>
            </p:txBody>
          </p:sp>
        </p:grpSp>
        <p:pic>
          <p:nvPicPr>
            <p:cNvPr id="141" name="Graphic 140" descr="Mandala with solid fill">
              <a:extLst>
                <a:ext uri="{FF2B5EF4-FFF2-40B4-BE49-F238E27FC236}">
                  <a16:creationId xmlns:a16="http://schemas.microsoft.com/office/drawing/2014/main" id="{96E6B3C1-1965-D5BD-36B3-2B14AD2378C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80770" y="1323861"/>
              <a:ext cx="235338" cy="235338"/>
            </a:xfrm>
            <a:prstGeom prst="rect">
              <a:avLst/>
            </a:prstGeom>
          </p:spPr>
        </p:pic>
      </p:grpSp>
      <p:grpSp>
        <p:nvGrpSpPr>
          <p:cNvPr id="143" name="Group 142">
            <a:extLst>
              <a:ext uri="{FF2B5EF4-FFF2-40B4-BE49-F238E27FC236}">
                <a16:creationId xmlns:a16="http://schemas.microsoft.com/office/drawing/2014/main" id="{52A4B841-2327-8B02-D81D-BF780C48159C}"/>
              </a:ext>
            </a:extLst>
          </p:cNvPr>
          <p:cNvGrpSpPr/>
          <p:nvPr/>
        </p:nvGrpSpPr>
        <p:grpSpPr>
          <a:xfrm>
            <a:off x="9420813" y="1089223"/>
            <a:ext cx="1381985" cy="786979"/>
            <a:chOff x="7829469" y="1316688"/>
            <a:chExt cx="1381985" cy="786979"/>
          </a:xfrm>
        </p:grpSpPr>
        <p:grpSp>
          <p:nvGrpSpPr>
            <p:cNvPr id="131" name="Group 130">
              <a:extLst>
                <a:ext uri="{FF2B5EF4-FFF2-40B4-BE49-F238E27FC236}">
                  <a16:creationId xmlns:a16="http://schemas.microsoft.com/office/drawing/2014/main" id="{718E22A7-7C1C-EADE-B3B1-3F1A4C2C686A}"/>
                </a:ext>
              </a:extLst>
            </p:cNvPr>
            <p:cNvGrpSpPr/>
            <p:nvPr/>
          </p:nvGrpSpPr>
          <p:grpSpPr>
            <a:xfrm>
              <a:off x="7829469" y="1316688"/>
              <a:ext cx="1381985" cy="786979"/>
              <a:chOff x="2521324" y="4067735"/>
              <a:chExt cx="2267712" cy="1337983"/>
            </a:xfrm>
          </p:grpSpPr>
          <p:sp>
            <p:nvSpPr>
              <p:cNvPr id="132" name="Rectangle: Rounded Corners 131">
                <a:extLst>
                  <a:ext uri="{FF2B5EF4-FFF2-40B4-BE49-F238E27FC236}">
                    <a16:creationId xmlns:a16="http://schemas.microsoft.com/office/drawing/2014/main" id="{FC5BCAE8-CE64-1955-346C-8CA3A3560D17}"/>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33" name="Straight Connector 132">
                <a:extLst>
                  <a:ext uri="{FF2B5EF4-FFF2-40B4-BE49-F238E27FC236}">
                    <a16:creationId xmlns:a16="http://schemas.microsoft.com/office/drawing/2014/main" id="{94B8781A-93F9-8BA5-D7EF-BEF85C03B49B}"/>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34" name="TextBox 133">
                <a:extLst>
                  <a:ext uri="{FF2B5EF4-FFF2-40B4-BE49-F238E27FC236}">
                    <a16:creationId xmlns:a16="http://schemas.microsoft.com/office/drawing/2014/main" id="{36BF81AD-0F76-97D2-0B8B-51D12FB2D45A}"/>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Activity ID</a:t>
                </a:r>
                <a:endParaRPr lang="en-GB" sz="1000" kern="1200" dirty="0" err="1">
                  <a:solidFill>
                    <a:schemeClr val="accent2"/>
                  </a:solidFill>
                  <a:latin typeface="+mn-lt"/>
                  <a:ea typeface="ＭＳ Ｐゴシック" charset="0"/>
                </a:endParaRPr>
              </a:p>
            </p:txBody>
          </p:sp>
          <p:sp>
            <p:nvSpPr>
              <p:cNvPr id="135" name="TextBox 134">
                <a:extLst>
                  <a:ext uri="{FF2B5EF4-FFF2-40B4-BE49-F238E27FC236}">
                    <a16:creationId xmlns:a16="http://schemas.microsoft.com/office/drawing/2014/main" id="{2AE9D172-7E46-470A-348C-2760C7582EA7}"/>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cc011102</a:t>
                </a:r>
                <a:endParaRPr lang="en-GB" sz="1000" dirty="0" err="1">
                  <a:solidFill>
                    <a:schemeClr val="bg1"/>
                  </a:solidFill>
                  <a:ea typeface="ＭＳ Ｐゴシック" charset="0"/>
                </a:endParaRPr>
              </a:p>
            </p:txBody>
          </p:sp>
        </p:grpSp>
        <p:pic>
          <p:nvPicPr>
            <p:cNvPr id="142" name="Graphic 141" descr="Mandala with solid fill">
              <a:extLst>
                <a:ext uri="{FF2B5EF4-FFF2-40B4-BE49-F238E27FC236}">
                  <a16:creationId xmlns:a16="http://schemas.microsoft.com/office/drawing/2014/main" id="{410895DD-06F7-9273-6C01-9688C37FB2A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883910" y="1338709"/>
              <a:ext cx="235338" cy="235338"/>
            </a:xfrm>
            <a:prstGeom prst="rect">
              <a:avLst/>
            </a:prstGeom>
          </p:spPr>
        </p:pic>
      </p:grpSp>
      <p:cxnSp>
        <p:nvCxnSpPr>
          <p:cNvPr id="216" name="Straight Connector 215">
            <a:extLst>
              <a:ext uri="{FF2B5EF4-FFF2-40B4-BE49-F238E27FC236}">
                <a16:creationId xmlns:a16="http://schemas.microsoft.com/office/drawing/2014/main" id="{C95E87B8-CEE2-5521-0035-53B8EC9B4EA4}"/>
              </a:ext>
            </a:extLst>
          </p:cNvPr>
          <p:cNvCxnSpPr>
            <a:cxnSpLocks/>
          </p:cNvCxnSpPr>
          <p:nvPr/>
        </p:nvCxnSpPr>
        <p:spPr>
          <a:xfrm rot="16200000">
            <a:off x="7519369" y="-1142059"/>
            <a:ext cx="0" cy="6675120"/>
          </a:xfrm>
          <a:prstGeom prst="line">
            <a:avLst/>
          </a:prstGeom>
          <a:noFill/>
          <a:ln w="44450">
            <a:solidFill>
              <a:schemeClr val="tx2">
                <a:lumMod val="20000"/>
                <a:lumOff val="8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cxnSp>
      <p:cxnSp>
        <p:nvCxnSpPr>
          <p:cNvPr id="14" name="Connector: Elbow 13">
            <a:extLst>
              <a:ext uri="{FF2B5EF4-FFF2-40B4-BE49-F238E27FC236}">
                <a16:creationId xmlns:a16="http://schemas.microsoft.com/office/drawing/2014/main" id="{E5A9F9FC-6BFC-50E3-4405-61275B3A36D8}"/>
              </a:ext>
            </a:extLst>
          </p:cNvPr>
          <p:cNvCxnSpPr>
            <a:cxnSpLocks/>
            <a:stCxn id="27" idx="4"/>
            <a:endCxn id="12" idx="0"/>
          </p:cNvCxnSpPr>
          <p:nvPr/>
        </p:nvCxnSpPr>
        <p:spPr>
          <a:xfrm rot="5400000">
            <a:off x="4113948" y="2288820"/>
            <a:ext cx="958178" cy="147910"/>
          </a:xfrm>
          <a:prstGeom prst="bentConnector3">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9FC13E5D-CDBB-772A-9B61-1AD26D1D634C}"/>
              </a:ext>
            </a:extLst>
          </p:cNvPr>
          <p:cNvGrpSpPr/>
          <p:nvPr/>
        </p:nvGrpSpPr>
        <p:grpSpPr>
          <a:xfrm>
            <a:off x="4184579" y="2818884"/>
            <a:ext cx="1382573" cy="1201157"/>
            <a:chOff x="4184579" y="2818884"/>
            <a:chExt cx="1382573" cy="1201157"/>
          </a:xfrm>
        </p:grpSpPr>
        <p:pic>
          <p:nvPicPr>
            <p:cNvPr id="146" name="Graphic 145" descr="Steering Wheel with solid fill">
              <a:extLst>
                <a:ext uri="{FF2B5EF4-FFF2-40B4-BE49-F238E27FC236}">
                  <a16:creationId xmlns:a16="http://schemas.microsoft.com/office/drawing/2014/main" id="{B1772BBA-0109-A93E-6C52-E0931292C1C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265903" y="2818884"/>
              <a:ext cx="235338" cy="235338"/>
            </a:xfrm>
            <a:prstGeom prst="rect">
              <a:avLst/>
            </a:prstGeom>
          </p:spPr>
        </p:pic>
        <p:grpSp>
          <p:nvGrpSpPr>
            <p:cNvPr id="194" name="Group 193">
              <a:extLst>
                <a:ext uri="{FF2B5EF4-FFF2-40B4-BE49-F238E27FC236}">
                  <a16:creationId xmlns:a16="http://schemas.microsoft.com/office/drawing/2014/main" id="{5A6BCB42-7F67-5FDB-29BC-C037E7F0DBA4}"/>
                </a:ext>
              </a:extLst>
            </p:cNvPr>
            <p:cNvGrpSpPr/>
            <p:nvPr/>
          </p:nvGrpSpPr>
          <p:grpSpPr>
            <a:xfrm>
              <a:off x="4185168" y="2834722"/>
              <a:ext cx="1381984" cy="1185319"/>
              <a:chOff x="3396894" y="3315118"/>
              <a:chExt cx="1381984" cy="1185319"/>
            </a:xfrm>
          </p:grpSpPr>
          <p:sp>
            <p:nvSpPr>
              <p:cNvPr id="137" name="Rectangle: Rounded Corners 136">
                <a:extLst>
                  <a:ext uri="{FF2B5EF4-FFF2-40B4-BE49-F238E27FC236}">
                    <a16:creationId xmlns:a16="http://schemas.microsoft.com/office/drawing/2014/main" id="{5A93B6C8-D20B-6B9D-6E5D-AF507E304F64}"/>
                  </a:ext>
                </a:extLst>
              </p:cNvPr>
              <p:cNvSpPr/>
              <p:nvPr/>
            </p:nvSpPr>
            <p:spPr>
              <a:xfrm>
                <a:off x="3397468" y="3315118"/>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38" name="Straight Connector 137">
                <a:extLst>
                  <a:ext uri="{FF2B5EF4-FFF2-40B4-BE49-F238E27FC236}">
                    <a16:creationId xmlns:a16="http://schemas.microsoft.com/office/drawing/2014/main" id="{A21C0515-7092-A1BE-1C01-D7DBF1F067A3}"/>
                  </a:ext>
                </a:extLst>
              </p:cNvPr>
              <p:cNvCxnSpPr>
                <a:cxnSpLocks/>
              </p:cNvCxnSpPr>
              <p:nvPr/>
            </p:nvCxnSpPr>
            <p:spPr>
              <a:xfrm>
                <a:off x="3396894" y="3564802"/>
                <a:ext cx="13819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39" name="TextBox 138">
                <a:extLst>
                  <a:ext uri="{FF2B5EF4-FFF2-40B4-BE49-F238E27FC236}">
                    <a16:creationId xmlns:a16="http://schemas.microsoft.com/office/drawing/2014/main" id="{CF6CEDB6-F199-F840-4D58-D3CCE98A793F}"/>
                  </a:ext>
                </a:extLst>
              </p:cNvPr>
              <p:cNvSpPr txBox="1"/>
              <p:nvPr/>
            </p:nvSpPr>
            <p:spPr>
              <a:xfrm>
                <a:off x="3663801" y="3315118"/>
                <a:ext cx="848170" cy="20564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3"/>
                    </a:solidFill>
                    <a:ea typeface="ＭＳ Ｐゴシック" charset="0"/>
                  </a:rPr>
                  <a:t>Drive To ID</a:t>
                </a:r>
                <a:endParaRPr lang="en-GB" sz="1000" kern="1200" dirty="0" err="1">
                  <a:solidFill>
                    <a:schemeClr val="accent3"/>
                  </a:solidFill>
                  <a:latin typeface="+mn-lt"/>
                  <a:ea typeface="ＭＳ Ｐゴシック" charset="0"/>
                </a:endParaRPr>
              </a:p>
            </p:txBody>
          </p:sp>
          <p:sp>
            <p:nvSpPr>
              <p:cNvPr id="140" name="TextBox 139">
                <a:extLst>
                  <a:ext uri="{FF2B5EF4-FFF2-40B4-BE49-F238E27FC236}">
                    <a16:creationId xmlns:a16="http://schemas.microsoft.com/office/drawing/2014/main" id="{6EDAA90F-76EC-3CC3-CAEA-481065AC4DDC}"/>
                  </a:ext>
                </a:extLst>
              </p:cNvPr>
              <p:cNvSpPr txBox="1"/>
              <p:nvPr/>
            </p:nvSpPr>
            <p:spPr>
              <a:xfrm>
                <a:off x="3546629" y="3581402"/>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oemels001119</a:t>
                </a:r>
                <a:endParaRPr lang="en-GB" sz="1000" dirty="0">
                  <a:solidFill>
                    <a:schemeClr val="bg1"/>
                  </a:solidFill>
                  <a:ea typeface="ＭＳ Ｐゴシック" charset="0"/>
                </a:endParaRPr>
              </a:p>
            </p:txBody>
          </p:sp>
          <p:sp>
            <p:nvSpPr>
              <p:cNvPr id="169" name="TextBox 168">
                <a:extLst>
                  <a:ext uri="{FF2B5EF4-FFF2-40B4-BE49-F238E27FC236}">
                    <a16:creationId xmlns:a16="http://schemas.microsoft.com/office/drawing/2014/main" id="{F574CBD3-926A-5E57-A0DB-CA76FD0C67C3}"/>
                  </a:ext>
                </a:extLst>
              </p:cNvPr>
              <p:cNvSpPr txBox="1"/>
              <p:nvPr/>
            </p:nvSpPr>
            <p:spPr>
              <a:xfrm>
                <a:off x="3546629" y="3800138"/>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Eloqua Email</a:t>
                </a:r>
                <a:endParaRPr lang="en-GB" sz="1000" dirty="0">
                  <a:solidFill>
                    <a:schemeClr val="bg1"/>
                  </a:solidFill>
                  <a:ea typeface="ＭＳ Ｐゴシック" charset="0"/>
                </a:endParaRPr>
              </a:p>
            </p:txBody>
          </p:sp>
          <p:pic>
            <p:nvPicPr>
              <p:cNvPr id="193" name="Graphic 192" descr="Email with solid fill">
                <a:extLst>
                  <a:ext uri="{FF2B5EF4-FFF2-40B4-BE49-F238E27FC236}">
                    <a16:creationId xmlns:a16="http://schemas.microsoft.com/office/drawing/2014/main" id="{8C59B188-419A-4AFF-21C2-1F0792DA7D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10434" y="4051439"/>
                <a:ext cx="354905" cy="354905"/>
              </a:xfrm>
              <a:prstGeom prst="rect">
                <a:avLst/>
              </a:prstGeom>
            </p:spPr>
          </p:pic>
        </p:grpSp>
        <p:grpSp>
          <p:nvGrpSpPr>
            <p:cNvPr id="29" name="Group 28">
              <a:extLst>
                <a:ext uri="{FF2B5EF4-FFF2-40B4-BE49-F238E27FC236}">
                  <a16:creationId xmlns:a16="http://schemas.microsoft.com/office/drawing/2014/main" id="{A94CEDFC-26C7-A6C8-C20D-7C474953DE94}"/>
                </a:ext>
              </a:extLst>
            </p:cNvPr>
            <p:cNvGrpSpPr/>
            <p:nvPr/>
          </p:nvGrpSpPr>
          <p:grpSpPr>
            <a:xfrm>
              <a:off x="4184579" y="2834722"/>
              <a:ext cx="1380836" cy="1185319"/>
              <a:chOff x="3378463" y="4617597"/>
              <a:chExt cx="1380836" cy="1185319"/>
            </a:xfrm>
          </p:grpSpPr>
          <p:sp>
            <p:nvSpPr>
              <p:cNvPr id="11" name="Rectangle: Rounded Corners 10">
                <a:extLst>
                  <a:ext uri="{FF2B5EF4-FFF2-40B4-BE49-F238E27FC236}">
                    <a16:creationId xmlns:a16="http://schemas.microsoft.com/office/drawing/2014/main" id="{4B69443A-72FB-F1E9-DB26-C0C554DA7FF5}"/>
                  </a:ext>
                </a:extLst>
              </p:cNvPr>
              <p:cNvSpPr/>
              <p:nvPr/>
            </p:nvSpPr>
            <p:spPr>
              <a:xfrm>
                <a:off x="3378463" y="4617597"/>
                <a:ext cx="1380836" cy="1185319"/>
              </a:xfrm>
              <a:prstGeom prst="round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 name="Oval 11">
                <a:extLst>
                  <a:ext uri="{FF2B5EF4-FFF2-40B4-BE49-F238E27FC236}">
                    <a16:creationId xmlns:a16="http://schemas.microsoft.com/office/drawing/2014/main" id="{A8F8FD77-07F5-AE02-EA54-603159768EAB}"/>
                  </a:ext>
                </a:extLst>
              </p:cNvPr>
              <p:cNvSpPr/>
              <p:nvPr/>
            </p:nvSpPr>
            <p:spPr>
              <a:xfrm>
                <a:off x="3614232" y="4624739"/>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5" name="Oval 14">
                <a:extLst>
                  <a:ext uri="{FF2B5EF4-FFF2-40B4-BE49-F238E27FC236}">
                    <a16:creationId xmlns:a16="http://schemas.microsoft.com/office/drawing/2014/main" id="{8BA9355E-0AB8-26C7-AB5A-0A7B2C1E66F9}"/>
                  </a:ext>
                </a:extLst>
              </p:cNvPr>
              <p:cNvSpPr/>
              <p:nvPr/>
            </p:nvSpPr>
            <p:spPr>
              <a:xfrm>
                <a:off x="4288605" y="4617597"/>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cxnSp>
        <p:nvCxnSpPr>
          <p:cNvPr id="19" name="Connector: Elbow 18">
            <a:extLst>
              <a:ext uri="{FF2B5EF4-FFF2-40B4-BE49-F238E27FC236}">
                <a16:creationId xmlns:a16="http://schemas.microsoft.com/office/drawing/2014/main" id="{34E211B2-A09A-C64E-4A56-19B9E31AD39C}"/>
              </a:ext>
            </a:extLst>
          </p:cNvPr>
          <p:cNvCxnSpPr>
            <a:stCxn id="6" idx="2"/>
            <a:endCxn id="17" idx="0"/>
          </p:cNvCxnSpPr>
          <p:nvPr/>
        </p:nvCxnSpPr>
        <p:spPr>
          <a:xfrm rot="16200000" flipH="1">
            <a:off x="5556349" y="1199852"/>
            <a:ext cx="957205" cy="2317578"/>
          </a:xfrm>
          <a:prstGeom prst="bentConnector3">
            <a:avLst>
              <a:gd name="adj1" fmla="val 50000"/>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95D4A5FF-7E1F-CC84-C192-93D04A85E14D}"/>
              </a:ext>
            </a:extLst>
          </p:cNvPr>
          <p:cNvGrpSpPr/>
          <p:nvPr/>
        </p:nvGrpSpPr>
        <p:grpSpPr>
          <a:xfrm>
            <a:off x="9414299" y="2818884"/>
            <a:ext cx="1388498" cy="1202544"/>
            <a:chOff x="9414299" y="2818884"/>
            <a:chExt cx="1388498" cy="1202544"/>
          </a:xfrm>
        </p:grpSpPr>
        <p:grpSp>
          <p:nvGrpSpPr>
            <p:cNvPr id="209" name="Group 208">
              <a:extLst>
                <a:ext uri="{FF2B5EF4-FFF2-40B4-BE49-F238E27FC236}">
                  <a16:creationId xmlns:a16="http://schemas.microsoft.com/office/drawing/2014/main" id="{F4FF3B93-B5E6-12C9-EAEF-E1E1723519C3}"/>
                </a:ext>
              </a:extLst>
            </p:cNvPr>
            <p:cNvGrpSpPr/>
            <p:nvPr/>
          </p:nvGrpSpPr>
          <p:grpSpPr>
            <a:xfrm>
              <a:off x="9420813" y="2834722"/>
              <a:ext cx="1381984" cy="1185319"/>
              <a:chOff x="3396894" y="3315118"/>
              <a:chExt cx="1381984" cy="1185319"/>
            </a:xfrm>
          </p:grpSpPr>
          <p:sp>
            <p:nvSpPr>
              <p:cNvPr id="210" name="Rectangle: Rounded Corners 209">
                <a:extLst>
                  <a:ext uri="{FF2B5EF4-FFF2-40B4-BE49-F238E27FC236}">
                    <a16:creationId xmlns:a16="http://schemas.microsoft.com/office/drawing/2014/main" id="{50948E15-403E-2E55-7FBE-11EB2563D101}"/>
                  </a:ext>
                </a:extLst>
              </p:cNvPr>
              <p:cNvSpPr/>
              <p:nvPr/>
            </p:nvSpPr>
            <p:spPr>
              <a:xfrm>
                <a:off x="3397468" y="3315118"/>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11" name="Straight Connector 210">
                <a:extLst>
                  <a:ext uri="{FF2B5EF4-FFF2-40B4-BE49-F238E27FC236}">
                    <a16:creationId xmlns:a16="http://schemas.microsoft.com/office/drawing/2014/main" id="{ECFC88AF-BC66-E2FB-3D6D-A172560EAA1D}"/>
                  </a:ext>
                </a:extLst>
              </p:cNvPr>
              <p:cNvCxnSpPr>
                <a:cxnSpLocks/>
              </p:cNvCxnSpPr>
              <p:nvPr/>
            </p:nvCxnSpPr>
            <p:spPr>
              <a:xfrm>
                <a:off x="3396894" y="3564802"/>
                <a:ext cx="13819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12" name="TextBox 211">
                <a:extLst>
                  <a:ext uri="{FF2B5EF4-FFF2-40B4-BE49-F238E27FC236}">
                    <a16:creationId xmlns:a16="http://schemas.microsoft.com/office/drawing/2014/main" id="{E271D6E2-EFEF-BF6E-F8BD-D5C94658DB47}"/>
                  </a:ext>
                </a:extLst>
              </p:cNvPr>
              <p:cNvSpPr txBox="1"/>
              <p:nvPr/>
            </p:nvSpPr>
            <p:spPr>
              <a:xfrm>
                <a:off x="3663801" y="3315118"/>
                <a:ext cx="848170" cy="20564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3"/>
                    </a:solidFill>
                    <a:ea typeface="ＭＳ Ｐゴシック" charset="0"/>
                  </a:rPr>
                  <a:t>Drive To ID</a:t>
                </a:r>
                <a:endParaRPr lang="en-GB" sz="1000" kern="1200" dirty="0" err="1">
                  <a:solidFill>
                    <a:schemeClr val="accent3"/>
                  </a:solidFill>
                  <a:latin typeface="+mn-lt"/>
                  <a:ea typeface="ＭＳ Ｐゴシック" charset="0"/>
                </a:endParaRPr>
              </a:p>
            </p:txBody>
          </p:sp>
          <p:sp>
            <p:nvSpPr>
              <p:cNvPr id="213" name="TextBox 212">
                <a:extLst>
                  <a:ext uri="{FF2B5EF4-FFF2-40B4-BE49-F238E27FC236}">
                    <a16:creationId xmlns:a16="http://schemas.microsoft.com/office/drawing/2014/main" id="{3A95137C-CAB7-432D-DAB0-B056DBC422A3}"/>
                  </a:ext>
                </a:extLst>
              </p:cNvPr>
              <p:cNvSpPr txBox="1"/>
              <p:nvPr/>
            </p:nvSpPr>
            <p:spPr>
              <a:xfrm>
                <a:off x="3546629" y="3581402"/>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psoins001233</a:t>
                </a:r>
                <a:endParaRPr lang="en-GB" sz="1000" dirty="0">
                  <a:solidFill>
                    <a:schemeClr val="bg1"/>
                  </a:solidFill>
                  <a:ea typeface="ＭＳ Ｐゴシック" charset="0"/>
                </a:endParaRPr>
              </a:p>
            </p:txBody>
          </p:sp>
          <p:sp>
            <p:nvSpPr>
              <p:cNvPr id="214" name="TextBox 213">
                <a:extLst>
                  <a:ext uri="{FF2B5EF4-FFF2-40B4-BE49-F238E27FC236}">
                    <a16:creationId xmlns:a16="http://schemas.microsoft.com/office/drawing/2014/main" id="{CEF1E726-9B45-AEB2-CD28-338F01CC3A9C}"/>
                  </a:ext>
                </a:extLst>
              </p:cNvPr>
              <p:cNvSpPr txBox="1"/>
              <p:nvPr/>
            </p:nvSpPr>
            <p:spPr>
              <a:xfrm>
                <a:off x="3546629" y="3800138"/>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Insta Paid Social</a:t>
                </a:r>
                <a:endParaRPr lang="en-GB" sz="1000" dirty="0">
                  <a:solidFill>
                    <a:schemeClr val="bg1"/>
                  </a:solidFill>
                  <a:ea typeface="ＭＳ Ｐゴシック" charset="0"/>
                </a:endParaRPr>
              </a:p>
            </p:txBody>
          </p:sp>
          <p:pic>
            <p:nvPicPr>
              <p:cNvPr id="215" name="Graphic 214" descr="Connections with solid fill">
                <a:extLst>
                  <a:ext uri="{FF2B5EF4-FFF2-40B4-BE49-F238E27FC236}">
                    <a16:creationId xmlns:a16="http://schemas.microsoft.com/office/drawing/2014/main" id="{B015F70D-DE6F-F13C-2CAE-C84C8934D41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910434" y="4051439"/>
                <a:ext cx="354905" cy="354905"/>
              </a:xfrm>
              <a:prstGeom prst="rect">
                <a:avLst/>
              </a:prstGeom>
            </p:spPr>
          </p:pic>
        </p:grpSp>
        <p:pic>
          <p:nvPicPr>
            <p:cNvPr id="10" name="Graphic 9" descr="Steering Wheel with solid fill">
              <a:extLst>
                <a:ext uri="{FF2B5EF4-FFF2-40B4-BE49-F238E27FC236}">
                  <a16:creationId xmlns:a16="http://schemas.microsoft.com/office/drawing/2014/main" id="{0B4418E2-AADC-AC81-6388-DF93CD445BD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477209" y="2818884"/>
              <a:ext cx="235338" cy="235338"/>
            </a:xfrm>
            <a:prstGeom prst="rect">
              <a:avLst/>
            </a:prstGeom>
          </p:spPr>
        </p:pic>
        <p:grpSp>
          <p:nvGrpSpPr>
            <p:cNvPr id="31" name="Group 30">
              <a:extLst>
                <a:ext uri="{FF2B5EF4-FFF2-40B4-BE49-F238E27FC236}">
                  <a16:creationId xmlns:a16="http://schemas.microsoft.com/office/drawing/2014/main" id="{F270A1C5-8E98-CBD4-E0FB-13C60BE990ED}"/>
                </a:ext>
              </a:extLst>
            </p:cNvPr>
            <p:cNvGrpSpPr/>
            <p:nvPr/>
          </p:nvGrpSpPr>
          <p:grpSpPr>
            <a:xfrm>
              <a:off x="9414299" y="2833335"/>
              <a:ext cx="1380836" cy="1188093"/>
              <a:chOff x="8633112" y="4652850"/>
              <a:chExt cx="1380836" cy="1188093"/>
            </a:xfrm>
          </p:grpSpPr>
          <p:sp>
            <p:nvSpPr>
              <p:cNvPr id="20" name="Rectangle: Rounded Corners 19">
                <a:extLst>
                  <a:ext uri="{FF2B5EF4-FFF2-40B4-BE49-F238E27FC236}">
                    <a16:creationId xmlns:a16="http://schemas.microsoft.com/office/drawing/2014/main" id="{078469BC-B9C3-4E08-3EAB-567F202752E3}"/>
                  </a:ext>
                </a:extLst>
              </p:cNvPr>
              <p:cNvSpPr/>
              <p:nvPr/>
            </p:nvSpPr>
            <p:spPr>
              <a:xfrm>
                <a:off x="8633112" y="4655624"/>
                <a:ext cx="1380836" cy="1185319"/>
              </a:xfrm>
              <a:prstGeom prst="round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 name="Oval 20">
                <a:extLst>
                  <a:ext uri="{FF2B5EF4-FFF2-40B4-BE49-F238E27FC236}">
                    <a16:creationId xmlns:a16="http://schemas.microsoft.com/office/drawing/2014/main" id="{CFE0D742-3D73-3459-4887-8C7B8D122D09}"/>
                  </a:ext>
                </a:extLst>
              </p:cNvPr>
              <p:cNvSpPr/>
              <p:nvPr/>
            </p:nvSpPr>
            <p:spPr>
              <a:xfrm>
                <a:off x="8922317" y="4652850"/>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cxnSp>
        <p:nvCxnSpPr>
          <p:cNvPr id="23" name="Connector: Elbow 22">
            <a:extLst>
              <a:ext uri="{FF2B5EF4-FFF2-40B4-BE49-F238E27FC236}">
                <a16:creationId xmlns:a16="http://schemas.microsoft.com/office/drawing/2014/main" id="{27D7353D-CC27-F429-32B8-AFFE8196E7ED}"/>
              </a:ext>
            </a:extLst>
          </p:cNvPr>
          <p:cNvCxnSpPr>
            <a:cxnSpLocks/>
            <a:stCxn id="127" idx="2"/>
            <a:endCxn id="15" idx="0"/>
          </p:cNvCxnSpPr>
          <p:nvPr/>
        </p:nvCxnSpPr>
        <p:spPr>
          <a:xfrm rot="5400000">
            <a:off x="5864459" y="1205198"/>
            <a:ext cx="958520" cy="2300528"/>
          </a:xfrm>
          <a:prstGeom prst="bentConnector3">
            <a:avLst>
              <a:gd name="adj1" fmla="val 66835"/>
            </a:avLst>
          </a:prstGeom>
          <a:ln w="2222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35B5A40-8C33-BC3E-7749-B6822DD20540}"/>
              </a:ext>
            </a:extLst>
          </p:cNvPr>
          <p:cNvCxnSpPr>
            <a:cxnSpLocks/>
            <a:stCxn id="33" idx="4"/>
            <a:endCxn id="21" idx="0"/>
          </p:cNvCxnSpPr>
          <p:nvPr/>
        </p:nvCxnSpPr>
        <p:spPr>
          <a:xfrm rot="16200000" flipH="1">
            <a:off x="8327809" y="1358905"/>
            <a:ext cx="963127" cy="1985731"/>
          </a:xfrm>
          <a:prstGeom prst="bentConnector3">
            <a:avLst/>
          </a:prstGeom>
          <a:ln w="2222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340F080C-F9CC-68E1-FE43-5771EEC5949B}"/>
              </a:ext>
            </a:extLst>
          </p:cNvPr>
          <p:cNvGrpSpPr/>
          <p:nvPr/>
        </p:nvGrpSpPr>
        <p:grpSpPr>
          <a:xfrm>
            <a:off x="6802990" y="2818884"/>
            <a:ext cx="1387924" cy="1203679"/>
            <a:chOff x="6802990" y="2818884"/>
            <a:chExt cx="1387924" cy="1203679"/>
          </a:xfrm>
        </p:grpSpPr>
        <p:grpSp>
          <p:nvGrpSpPr>
            <p:cNvPr id="202" name="Group 201">
              <a:extLst>
                <a:ext uri="{FF2B5EF4-FFF2-40B4-BE49-F238E27FC236}">
                  <a16:creationId xmlns:a16="http://schemas.microsoft.com/office/drawing/2014/main" id="{18296FC0-AFDC-D9B3-F4D5-DCA749FBF2E4}"/>
                </a:ext>
              </a:extLst>
            </p:cNvPr>
            <p:cNvGrpSpPr/>
            <p:nvPr/>
          </p:nvGrpSpPr>
          <p:grpSpPr>
            <a:xfrm>
              <a:off x="6802990" y="2834722"/>
              <a:ext cx="1381984" cy="1185319"/>
              <a:chOff x="3396894" y="3315118"/>
              <a:chExt cx="1381984" cy="1185319"/>
            </a:xfrm>
          </p:grpSpPr>
          <p:sp>
            <p:nvSpPr>
              <p:cNvPr id="203" name="Rectangle: Rounded Corners 202">
                <a:extLst>
                  <a:ext uri="{FF2B5EF4-FFF2-40B4-BE49-F238E27FC236}">
                    <a16:creationId xmlns:a16="http://schemas.microsoft.com/office/drawing/2014/main" id="{9937708C-80D0-E6EF-BDA9-8A045E1A8774}"/>
                  </a:ext>
                </a:extLst>
              </p:cNvPr>
              <p:cNvSpPr/>
              <p:nvPr/>
            </p:nvSpPr>
            <p:spPr>
              <a:xfrm>
                <a:off x="3397468" y="3315118"/>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04" name="Straight Connector 203">
                <a:extLst>
                  <a:ext uri="{FF2B5EF4-FFF2-40B4-BE49-F238E27FC236}">
                    <a16:creationId xmlns:a16="http://schemas.microsoft.com/office/drawing/2014/main" id="{8CD2A290-362D-A354-7D78-8580CA131839}"/>
                  </a:ext>
                </a:extLst>
              </p:cNvPr>
              <p:cNvCxnSpPr>
                <a:cxnSpLocks/>
              </p:cNvCxnSpPr>
              <p:nvPr/>
            </p:nvCxnSpPr>
            <p:spPr>
              <a:xfrm>
                <a:off x="3396894" y="3564802"/>
                <a:ext cx="13819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05" name="TextBox 204">
                <a:extLst>
                  <a:ext uri="{FF2B5EF4-FFF2-40B4-BE49-F238E27FC236}">
                    <a16:creationId xmlns:a16="http://schemas.microsoft.com/office/drawing/2014/main" id="{8AE4B923-A592-9C15-2556-698BE6F00B51}"/>
                  </a:ext>
                </a:extLst>
              </p:cNvPr>
              <p:cNvSpPr txBox="1"/>
              <p:nvPr/>
            </p:nvSpPr>
            <p:spPr>
              <a:xfrm>
                <a:off x="3663801" y="3315118"/>
                <a:ext cx="848170" cy="20564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3"/>
                    </a:solidFill>
                    <a:ea typeface="ＭＳ Ｐゴシック" charset="0"/>
                  </a:rPr>
                  <a:t>Drive To ID</a:t>
                </a:r>
                <a:endParaRPr lang="en-GB" sz="1000" kern="1200" dirty="0" err="1">
                  <a:solidFill>
                    <a:schemeClr val="accent3"/>
                  </a:solidFill>
                  <a:latin typeface="+mn-lt"/>
                  <a:ea typeface="ＭＳ Ｐゴシック" charset="0"/>
                </a:endParaRPr>
              </a:p>
            </p:txBody>
          </p:sp>
          <p:sp>
            <p:nvSpPr>
              <p:cNvPr id="206" name="TextBox 205">
                <a:extLst>
                  <a:ext uri="{FF2B5EF4-FFF2-40B4-BE49-F238E27FC236}">
                    <a16:creationId xmlns:a16="http://schemas.microsoft.com/office/drawing/2014/main" id="{AEF27BCF-0878-4BC2-00EA-3A461354AB50}"/>
                  </a:ext>
                </a:extLst>
              </p:cNvPr>
              <p:cNvSpPr txBox="1"/>
              <p:nvPr/>
            </p:nvSpPr>
            <p:spPr>
              <a:xfrm>
                <a:off x="3546629" y="3581402"/>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psexsp001647</a:t>
                </a:r>
                <a:endParaRPr lang="en-GB" sz="1000" dirty="0">
                  <a:solidFill>
                    <a:schemeClr val="bg1"/>
                  </a:solidFill>
                  <a:ea typeface="ＭＳ Ｐゴシック" charset="0"/>
                </a:endParaRPr>
              </a:p>
            </p:txBody>
          </p:sp>
          <p:sp>
            <p:nvSpPr>
              <p:cNvPr id="207" name="TextBox 206">
                <a:extLst>
                  <a:ext uri="{FF2B5EF4-FFF2-40B4-BE49-F238E27FC236}">
                    <a16:creationId xmlns:a16="http://schemas.microsoft.com/office/drawing/2014/main" id="{DA06C0BE-D81F-D683-D06A-510C7FD98699}"/>
                  </a:ext>
                </a:extLst>
              </p:cNvPr>
              <p:cNvSpPr txBox="1"/>
              <p:nvPr/>
            </p:nvSpPr>
            <p:spPr>
              <a:xfrm>
                <a:off x="3397468" y="3828764"/>
                <a:ext cx="1380836" cy="29076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Google Paid Search</a:t>
                </a:r>
                <a:endParaRPr lang="en-GB" sz="1000" dirty="0">
                  <a:solidFill>
                    <a:schemeClr val="bg1"/>
                  </a:solidFill>
                  <a:ea typeface="ＭＳ Ｐゴシック" charset="0"/>
                </a:endParaRPr>
              </a:p>
            </p:txBody>
          </p:sp>
          <p:pic>
            <p:nvPicPr>
              <p:cNvPr id="208" name="Graphic 207" descr="Cloud Computing with solid fill">
                <a:extLst>
                  <a:ext uri="{FF2B5EF4-FFF2-40B4-BE49-F238E27FC236}">
                    <a16:creationId xmlns:a16="http://schemas.microsoft.com/office/drawing/2014/main" id="{4A31CE7A-4903-8BAC-DEC0-0AB7BC2DD23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3910434" y="4051439"/>
                <a:ext cx="354905" cy="354905"/>
              </a:xfrm>
              <a:prstGeom prst="rect">
                <a:avLst/>
              </a:prstGeom>
            </p:spPr>
          </p:pic>
        </p:grpSp>
        <p:pic>
          <p:nvPicPr>
            <p:cNvPr id="3" name="Graphic 2" descr="Steering Wheel with solid fill">
              <a:extLst>
                <a:ext uri="{FF2B5EF4-FFF2-40B4-BE49-F238E27FC236}">
                  <a16:creationId xmlns:a16="http://schemas.microsoft.com/office/drawing/2014/main" id="{419BB20F-10BD-0910-C556-AB11EC5220C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871556" y="2818884"/>
              <a:ext cx="235338" cy="235338"/>
            </a:xfrm>
            <a:prstGeom prst="rect">
              <a:avLst/>
            </a:prstGeom>
          </p:spPr>
        </p:pic>
        <p:grpSp>
          <p:nvGrpSpPr>
            <p:cNvPr id="30" name="Group 29">
              <a:extLst>
                <a:ext uri="{FF2B5EF4-FFF2-40B4-BE49-F238E27FC236}">
                  <a16:creationId xmlns:a16="http://schemas.microsoft.com/office/drawing/2014/main" id="{76430097-8AC7-8D89-3B9F-F2EE34EFC018}"/>
                </a:ext>
              </a:extLst>
            </p:cNvPr>
            <p:cNvGrpSpPr/>
            <p:nvPr/>
          </p:nvGrpSpPr>
          <p:grpSpPr>
            <a:xfrm>
              <a:off x="6810078" y="2832199"/>
              <a:ext cx="1380836" cy="1190364"/>
              <a:chOff x="5965059" y="4686251"/>
              <a:chExt cx="1380836" cy="1190364"/>
            </a:xfrm>
          </p:grpSpPr>
          <p:sp>
            <p:nvSpPr>
              <p:cNvPr id="16" name="Rectangle: Rounded Corners 15">
                <a:extLst>
                  <a:ext uri="{FF2B5EF4-FFF2-40B4-BE49-F238E27FC236}">
                    <a16:creationId xmlns:a16="http://schemas.microsoft.com/office/drawing/2014/main" id="{EF041918-7615-2FAC-A462-8F28EDD111B1}"/>
                  </a:ext>
                </a:extLst>
              </p:cNvPr>
              <p:cNvSpPr/>
              <p:nvPr/>
            </p:nvSpPr>
            <p:spPr>
              <a:xfrm>
                <a:off x="5965059" y="4691296"/>
                <a:ext cx="1380836" cy="1185319"/>
              </a:xfrm>
              <a:prstGeom prst="round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Oval 16">
                <a:extLst>
                  <a:ext uri="{FF2B5EF4-FFF2-40B4-BE49-F238E27FC236}">
                    <a16:creationId xmlns:a16="http://schemas.microsoft.com/office/drawing/2014/main" id="{0C6720D3-B850-AD61-5CAC-87BE590944A6}"/>
                  </a:ext>
                </a:extLst>
              </p:cNvPr>
              <p:cNvSpPr/>
              <p:nvPr/>
            </p:nvSpPr>
            <p:spPr>
              <a:xfrm>
                <a:off x="6249987" y="4691296"/>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Oval 25">
                <a:extLst>
                  <a:ext uri="{FF2B5EF4-FFF2-40B4-BE49-F238E27FC236}">
                    <a16:creationId xmlns:a16="http://schemas.microsoft.com/office/drawing/2014/main" id="{2335D029-036F-6249-F9CC-ECBA7E1C2689}"/>
                  </a:ext>
                </a:extLst>
              </p:cNvPr>
              <p:cNvSpPr/>
              <p:nvPr/>
            </p:nvSpPr>
            <p:spPr>
              <a:xfrm>
                <a:off x="6780352" y="4686251"/>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cxnSp>
        <p:nvCxnSpPr>
          <p:cNvPr id="28" name="Connector: Elbow 27">
            <a:extLst>
              <a:ext uri="{FF2B5EF4-FFF2-40B4-BE49-F238E27FC236}">
                <a16:creationId xmlns:a16="http://schemas.microsoft.com/office/drawing/2014/main" id="{23B56B28-105F-C763-F7DB-011E05603243}"/>
              </a:ext>
            </a:extLst>
          </p:cNvPr>
          <p:cNvCxnSpPr>
            <a:stCxn id="132" idx="2"/>
            <a:endCxn id="26" idx="0"/>
          </p:cNvCxnSpPr>
          <p:nvPr/>
        </p:nvCxnSpPr>
        <p:spPr>
          <a:xfrm rot="5400000">
            <a:off x="8439958" y="1160350"/>
            <a:ext cx="955997" cy="2387701"/>
          </a:xfrm>
          <a:prstGeom prst="bentConnector3">
            <a:avLst>
              <a:gd name="adj1" fmla="val 71099"/>
            </a:avLst>
          </a:prstGeom>
          <a:ln w="222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57A8C453-7CD0-1F28-D5BF-FC03A8301186}"/>
              </a:ext>
            </a:extLst>
          </p:cNvPr>
          <p:cNvSpPr/>
          <p:nvPr/>
        </p:nvSpPr>
        <p:spPr>
          <a:xfrm>
            <a:off x="4568258" y="1700806"/>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3" name="Oval 32">
            <a:extLst>
              <a:ext uri="{FF2B5EF4-FFF2-40B4-BE49-F238E27FC236}">
                <a16:creationId xmlns:a16="http://schemas.microsoft.com/office/drawing/2014/main" id="{8586437B-416E-33F9-AA38-F1512D5568DC}"/>
              </a:ext>
            </a:extLst>
          </p:cNvPr>
          <p:cNvSpPr/>
          <p:nvPr/>
        </p:nvSpPr>
        <p:spPr>
          <a:xfrm>
            <a:off x="7717773" y="1687328"/>
            <a:ext cx="197467" cy="182880"/>
          </a:xfrm>
          <a:prstGeom prst="ellipse">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7" name="Straight Connector 36">
            <a:extLst>
              <a:ext uri="{FF2B5EF4-FFF2-40B4-BE49-F238E27FC236}">
                <a16:creationId xmlns:a16="http://schemas.microsoft.com/office/drawing/2014/main" id="{F8736F2A-E6F6-D1D5-B1A5-D0D4393E9502}"/>
              </a:ext>
            </a:extLst>
          </p:cNvPr>
          <p:cNvCxnSpPr>
            <a:cxnSpLocks/>
          </p:cNvCxnSpPr>
          <p:nvPr/>
        </p:nvCxnSpPr>
        <p:spPr>
          <a:xfrm rot="16200000">
            <a:off x="7603463" y="1051330"/>
            <a:ext cx="0" cy="6675120"/>
          </a:xfrm>
          <a:prstGeom prst="line">
            <a:avLst/>
          </a:prstGeom>
          <a:noFill/>
          <a:ln w="44450">
            <a:solidFill>
              <a:schemeClr val="tx2">
                <a:lumMod val="20000"/>
                <a:lumOff val="8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38" name="TextBox 37">
            <a:extLst>
              <a:ext uri="{FF2B5EF4-FFF2-40B4-BE49-F238E27FC236}">
                <a16:creationId xmlns:a16="http://schemas.microsoft.com/office/drawing/2014/main" id="{CC9856E8-0E84-374E-4DBE-979EC8BF8F8A}"/>
              </a:ext>
            </a:extLst>
          </p:cNvPr>
          <p:cNvSpPr txBox="1"/>
          <p:nvPr/>
        </p:nvSpPr>
        <p:spPr>
          <a:xfrm>
            <a:off x="1064491" y="1111913"/>
            <a:ext cx="2678467" cy="741598"/>
          </a:xfrm>
          <a:prstGeom prst="rect">
            <a:avLst/>
          </a:prstGeom>
          <a:noFill/>
        </p:spPr>
        <p:txBody>
          <a:bodyPr wrap="square" lIns="0" tIns="0" rIns="0" bIns="0" rtlCol="0" anchor="ctr">
            <a:noAutofit/>
          </a:bodyPr>
          <a:lstStyle>
            <a:defPPr>
              <a:defRPr lang="en-US"/>
            </a:defPPr>
            <a:lvl1pPr defTabSz="912276" fontAlgn="base">
              <a:lnSpc>
                <a:spcPct val="100000"/>
              </a:lnSpc>
              <a:spcBef>
                <a:spcPts val="0"/>
              </a:spcBef>
              <a:spcAft>
                <a:spcPts val="600"/>
              </a:spcAft>
              <a:buClr>
                <a:schemeClr val="bg1"/>
              </a:buClr>
              <a:buSzPct val="100000"/>
              <a:defRPr sz="1600">
                <a:solidFill>
                  <a:schemeClr val="bg1"/>
                </a:solidFill>
                <a:ea typeface="ＭＳ Ｐゴシック" charset="0"/>
              </a:defRPr>
            </a:lvl1pPr>
          </a:lstStyle>
          <a:p>
            <a:r>
              <a:rPr lang="en-US" b="1" dirty="0"/>
              <a:t>Activity ID </a:t>
            </a:r>
          </a:p>
          <a:p>
            <a:r>
              <a:rPr lang="en-US" sz="1400" i="1" dirty="0"/>
              <a:t>(What Marketing Initiative am I promoting)</a:t>
            </a:r>
            <a:endParaRPr lang="en-GB" sz="1400" i="1" dirty="0" err="1"/>
          </a:p>
        </p:txBody>
      </p:sp>
      <p:sp>
        <p:nvSpPr>
          <p:cNvPr id="39" name="TextBox 38">
            <a:extLst>
              <a:ext uri="{FF2B5EF4-FFF2-40B4-BE49-F238E27FC236}">
                <a16:creationId xmlns:a16="http://schemas.microsoft.com/office/drawing/2014/main" id="{A19DA282-356D-534D-6015-426FD7EA04AE}"/>
              </a:ext>
            </a:extLst>
          </p:cNvPr>
          <p:cNvSpPr txBox="1"/>
          <p:nvPr/>
        </p:nvSpPr>
        <p:spPr>
          <a:xfrm>
            <a:off x="1064491" y="2911200"/>
            <a:ext cx="2799693" cy="1032362"/>
          </a:xfrm>
          <a:prstGeom prst="rect">
            <a:avLst/>
          </a:prstGeom>
          <a:noFill/>
        </p:spPr>
        <p:txBody>
          <a:bodyPr wrap="square" lIns="0" tIns="0" rIns="0" bIns="0" rtlCol="0" anchor="ctr">
            <a:noAutofit/>
          </a:bodyPr>
          <a:lstStyle/>
          <a:p>
            <a:pPr algn="l" defTabSz="912276" rtl="0" eaLnBrk="1" fontAlgn="base" hangingPunct="1">
              <a:lnSpc>
                <a:spcPct val="100000"/>
              </a:lnSpc>
              <a:spcBef>
                <a:spcPts val="0"/>
              </a:spcBef>
              <a:spcAft>
                <a:spcPts val="600"/>
              </a:spcAft>
              <a:buClr>
                <a:schemeClr val="bg1"/>
              </a:buClr>
              <a:buSzPct val="100000"/>
            </a:pPr>
            <a:r>
              <a:rPr lang="en-US" sz="1600" b="1" dirty="0">
                <a:solidFill>
                  <a:schemeClr val="bg1"/>
                </a:solidFill>
                <a:ea typeface="ＭＳ Ｐゴシック" charset="0"/>
              </a:rPr>
              <a:t>Drive To ID </a:t>
            </a:r>
          </a:p>
          <a:p>
            <a:pPr defTabSz="912276" rtl="0" eaLnBrk="1" fontAlgn="base" hangingPunct="1">
              <a:lnSpc>
                <a:spcPct val="100000"/>
              </a:lnSpc>
              <a:spcBef>
                <a:spcPts val="0"/>
              </a:spcBef>
              <a:spcAft>
                <a:spcPts val="600"/>
              </a:spcAft>
              <a:buClr>
                <a:schemeClr val="bg1"/>
              </a:buClr>
              <a:buSzPct val="100000"/>
            </a:pPr>
            <a:r>
              <a:rPr lang="en-US" sz="1400" i="1" dirty="0">
                <a:solidFill>
                  <a:schemeClr val="bg1"/>
                </a:solidFill>
                <a:ea typeface="ＭＳ Ｐゴシック" charset="0"/>
              </a:rPr>
              <a:t>(How am I getting the message to my customer)</a:t>
            </a:r>
            <a:endParaRPr lang="en-GB" sz="1400" i="1" kern="1200" dirty="0" err="1">
              <a:solidFill>
                <a:schemeClr val="bg1"/>
              </a:solidFill>
              <a:latin typeface="+mn-lt"/>
              <a:ea typeface="ＭＳ Ｐゴシック" charset="0"/>
            </a:endParaRPr>
          </a:p>
        </p:txBody>
      </p:sp>
      <p:sp>
        <p:nvSpPr>
          <p:cNvPr id="40" name="TextBox 39">
            <a:extLst>
              <a:ext uri="{FF2B5EF4-FFF2-40B4-BE49-F238E27FC236}">
                <a16:creationId xmlns:a16="http://schemas.microsoft.com/office/drawing/2014/main" id="{A1989453-6A71-9E23-876F-78DA9A5C587A}"/>
              </a:ext>
            </a:extLst>
          </p:cNvPr>
          <p:cNvSpPr txBox="1"/>
          <p:nvPr/>
        </p:nvSpPr>
        <p:spPr>
          <a:xfrm>
            <a:off x="1064491" y="4876530"/>
            <a:ext cx="2799693" cy="1241247"/>
          </a:xfrm>
          <a:prstGeom prst="rect">
            <a:avLst/>
          </a:prstGeom>
          <a:noFill/>
        </p:spPr>
        <p:txBody>
          <a:bodyPr wrap="square" lIns="0" tIns="0" rIns="0" bIns="0" rtlCol="0">
            <a:noAutofit/>
          </a:bodyPr>
          <a:lstStyle>
            <a:defPPr>
              <a:defRPr lang="en-US"/>
            </a:defPPr>
            <a:lvl1pPr defTabSz="912276" fontAlgn="base">
              <a:lnSpc>
                <a:spcPct val="100000"/>
              </a:lnSpc>
              <a:spcBef>
                <a:spcPts val="0"/>
              </a:spcBef>
              <a:spcAft>
                <a:spcPts val="600"/>
              </a:spcAft>
              <a:buClr>
                <a:schemeClr val="bg1"/>
              </a:buClr>
              <a:buSzPct val="100000"/>
              <a:defRPr sz="1600">
                <a:solidFill>
                  <a:schemeClr val="bg1"/>
                </a:solidFill>
                <a:ea typeface="ＭＳ Ｐゴシック" charset="0"/>
              </a:defRPr>
            </a:lvl1pPr>
          </a:lstStyle>
          <a:p>
            <a:r>
              <a:rPr lang="en-US" b="1" dirty="0"/>
              <a:t>Offer ID </a:t>
            </a:r>
          </a:p>
          <a:p>
            <a:r>
              <a:rPr lang="en-US" sz="1400" i="1" dirty="0"/>
              <a:t>(What am I giving my customer in return for a sales follow up and their contact details</a:t>
            </a:r>
            <a:endParaRPr lang="en-GB" sz="1400" i="1" dirty="0" err="1"/>
          </a:p>
        </p:txBody>
      </p:sp>
      <p:pic>
        <p:nvPicPr>
          <p:cNvPr id="56" name="Graphic 55" descr="Mandala with solid fill">
            <a:extLst>
              <a:ext uri="{FF2B5EF4-FFF2-40B4-BE49-F238E27FC236}">
                <a16:creationId xmlns:a16="http://schemas.microsoft.com/office/drawing/2014/main" id="{156B4B96-9B1D-A88E-303F-978D11BB1E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473" y="1126067"/>
            <a:ext cx="713290" cy="713290"/>
          </a:xfrm>
          <a:prstGeom prst="rect">
            <a:avLst/>
          </a:prstGeom>
        </p:spPr>
      </p:pic>
      <p:pic>
        <p:nvPicPr>
          <p:cNvPr id="58" name="Graphic 57" descr="Steering Wheel with solid fill">
            <a:extLst>
              <a:ext uri="{FF2B5EF4-FFF2-40B4-BE49-F238E27FC236}">
                <a16:creationId xmlns:a16="http://schemas.microsoft.com/office/drawing/2014/main" id="{C73B5E2A-2E2D-0775-C488-0E44906035B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4473" y="3070736"/>
            <a:ext cx="713290" cy="713290"/>
          </a:xfrm>
          <a:prstGeom prst="rect">
            <a:avLst/>
          </a:prstGeom>
        </p:spPr>
      </p:pic>
      <p:pic>
        <p:nvPicPr>
          <p:cNvPr id="60" name="Graphic 59" descr="Shield Tick with solid fill">
            <a:extLst>
              <a:ext uri="{FF2B5EF4-FFF2-40B4-BE49-F238E27FC236}">
                <a16:creationId xmlns:a16="http://schemas.microsoft.com/office/drawing/2014/main" id="{8D680322-5BC3-D9C7-30CF-813C0BEC66A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4473" y="5140508"/>
            <a:ext cx="713290" cy="713290"/>
          </a:xfrm>
          <a:prstGeom prst="rect">
            <a:avLst/>
          </a:prstGeom>
        </p:spPr>
      </p:pic>
      <p:grpSp>
        <p:nvGrpSpPr>
          <p:cNvPr id="69" name="Group 68">
            <a:extLst>
              <a:ext uri="{FF2B5EF4-FFF2-40B4-BE49-F238E27FC236}">
                <a16:creationId xmlns:a16="http://schemas.microsoft.com/office/drawing/2014/main" id="{11FC1A33-EDEE-F23C-41D4-5921C5CDD907}"/>
              </a:ext>
            </a:extLst>
          </p:cNvPr>
          <p:cNvGrpSpPr/>
          <p:nvPr/>
        </p:nvGrpSpPr>
        <p:grpSpPr>
          <a:xfrm>
            <a:off x="5902618" y="4698427"/>
            <a:ext cx="1380836" cy="1597452"/>
            <a:chOff x="6210330" y="4685135"/>
            <a:chExt cx="1380836" cy="1597452"/>
          </a:xfrm>
        </p:grpSpPr>
        <p:grpSp>
          <p:nvGrpSpPr>
            <p:cNvPr id="44" name="Group 43">
              <a:extLst>
                <a:ext uri="{FF2B5EF4-FFF2-40B4-BE49-F238E27FC236}">
                  <a16:creationId xmlns:a16="http://schemas.microsoft.com/office/drawing/2014/main" id="{26D3F852-843E-2FD6-9672-0611BD7AFB41}"/>
                </a:ext>
              </a:extLst>
            </p:cNvPr>
            <p:cNvGrpSpPr/>
            <p:nvPr/>
          </p:nvGrpSpPr>
          <p:grpSpPr>
            <a:xfrm>
              <a:off x="6252676" y="4739463"/>
              <a:ext cx="1296144" cy="1488796"/>
              <a:chOff x="6004012" y="4869300"/>
              <a:chExt cx="1296144" cy="1488796"/>
            </a:xfrm>
          </p:grpSpPr>
          <p:sp>
            <p:nvSpPr>
              <p:cNvPr id="45" name="TextBox 44">
                <a:extLst>
                  <a:ext uri="{FF2B5EF4-FFF2-40B4-BE49-F238E27FC236}">
                    <a16:creationId xmlns:a16="http://schemas.microsoft.com/office/drawing/2014/main" id="{67097A42-A575-62C0-8297-34EC078A6A94}"/>
                  </a:ext>
                </a:extLst>
              </p:cNvPr>
              <p:cNvSpPr txBox="1"/>
              <p:nvPr/>
            </p:nvSpPr>
            <p:spPr>
              <a:xfrm>
                <a:off x="6004012" y="6111875"/>
                <a:ext cx="1296144" cy="246221"/>
              </a:xfrm>
              <a:prstGeom prst="rect">
                <a:avLst/>
              </a:prstGeom>
              <a:noFill/>
            </p:spPr>
            <p:txBody>
              <a:bodyPr wrap="square" rtlCol="0">
                <a:spAutoFit/>
              </a:bodyPr>
              <a:lstStyle/>
              <a:p>
                <a:pPr algn="ctr"/>
                <a:r>
                  <a:rPr lang="en-GB" sz="1000" dirty="0">
                    <a:solidFill>
                      <a:srgbClr val="1A1AA6"/>
                    </a:solidFill>
                    <a:latin typeface="CiscoSansTT Medium" panose="020B0903020201020303" pitchFamily="34" charset="0"/>
                    <a:cs typeface="CiscoSansTT Medium" panose="020B0903020201020303" pitchFamily="34" charset="0"/>
                  </a:rPr>
                  <a:t>podmrk031943</a:t>
                </a:r>
              </a:p>
            </p:txBody>
          </p:sp>
          <p:pic>
            <p:nvPicPr>
              <p:cNvPr id="46" name="Picture 45">
                <a:extLst>
                  <a:ext uri="{FF2B5EF4-FFF2-40B4-BE49-F238E27FC236}">
                    <a16:creationId xmlns:a16="http://schemas.microsoft.com/office/drawing/2014/main" id="{9523449D-D9B6-80D7-0C83-1D7A41A60D78}"/>
                  </a:ext>
                </a:extLst>
              </p:cNvPr>
              <p:cNvPicPr>
                <a:picLocks noChangeAspect="1"/>
              </p:cNvPicPr>
              <p:nvPr/>
            </p:nvPicPr>
            <p:blipFill>
              <a:blip r:embed="rId10"/>
              <a:stretch>
                <a:fillRect/>
              </a:stretch>
            </p:blipFill>
            <p:spPr>
              <a:xfrm>
                <a:off x="6158128" y="4869300"/>
                <a:ext cx="987912" cy="1144108"/>
              </a:xfrm>
              <a:prstGeom prst="rect">
                <a:avLst/>
              </a:prstGeom>
            </p:spPr>
          </p:pic>
        </p:grpSp>
        <p:sp>
          <p:nvSpPr>
            <p:cNvPr id="65" name="Rectangle: Rounded Corners 64">
              <a:extLst>
                <a:ext uri="{FF2B5EF4-FFF2-40B4-BE49-F238E27FC236}">
                  <a16:creationId xmlns:a16="http://schemas.microsoft.com/office/drawing/2014/main" id="{8701649B-679A-7363-AED8-971D74B976C6}"/>
                </a:ext>
              </a:extLst>
            </p:cNvPr>
            <p:cNvSpPr/>
            <p:nvPr/>
          </p:nvSpPr>
          <p:spPr>
            <a:xfrm>
              <a:off x="6210330" y="4685135"/>
              <a:ext cx="1380836" cy="1597452"/>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nvGrpSpPr>
          <p:cNvPr id="70" name="Group 69">
            <a:extLst>
              <a:ext uri="{FF2B5EF4-FFF2-40B4-BE49-F238E27FC236}">
                <a16:creationId xmlns:a16="http://schemas.microsoft.com/office/drawing/2014/main" id="{3A9965FD-0E35-747E-9291-4F1776A0FE58}"/>
              </a:ext>
            </a:extLst>
          </p:cNvPr>
          <p:cNvGrpSpPr/>
          <p:nvPr/>
        </p:nvGrpSpPr>
        <p:grpSpPr>
          <a:xfrm>
            <a:off x="7549298" y="4698427"/>
            <a:ext cx="1656184" cy="1597452"/>
            <a:chOff x="8070241" y="4698427"/>
            <a:chExt cx="1656184" cy="1597452"/>
          </a:xfrm>
        </p:grpSpPr>
        <p:grpSp>
          <p:nvGrpSpPr>
            <p:cNvPr id="47" name="Group 46">
              <a:extLst>
                <a:ext uri="{FF2B5EF4-FFF2-40B4-BE49-F238E27FC236}">
                  <a16:creationId xmlns:a16="http://schemas.microsoft.com/office/drawing/2014/main" id="{492FDF97-6BF5-D361-7EFD-A6549D4718C0}"/>
                </a:ext>
              </a:extLst>
            </p:cNvPr>
            <p:cNvGrpSpPr/>
            <p:nvPr/>
          </p:nvGrpSpPr>
          <p:grpSpPr>
            <a:xfrm>
              <a:off x="8070241" y="4725722"/>
              <a:ext cx="1656184" cy="1542862"/>
              <a:chOff x="7392144" y="4815234"/>
              <a:chExt cx="1656184" cy="1542862"/>
            </a:xfrm>
          </p:grpSpPr>
          <p:sp>
            <p:nvSpPr>
              <p:cNvPr id="48" name="TextBox 47">
                <a:extLst>
                  <a:ext uri="{FF2B5EF4-FFF2-40B4-BE49-F238E27FC236}">
                    <a16:creationId xmlns:a16="http://schemas.microsoft.com/office/drawing/2014/main" id="{A0481D8D-581B-D0C4-D1C4-99C16BADFF94}"/>
                  </a:ext>
                </a:extLst>
              </p:cNvPr>
              <p:cNvSpPr txBox="1"/>
              <p:nvPr/>
            </p:nvSpPr>
            <p:spPr>
              <a:xfrm>
                <a:off x="7392144" y="6111875"/>
                <a:ext cx="1656184" cy="246221"/>
              </a:xfrm>
              <a:prstGeom prst="rect">
                <a:avLst/>
              </a:prstGeom>
              <a:noFill/>
            </p:spPr>
            <p:txBody>
              <a:bodyPr wrap="square" rtlCol="0">
                <a:spAutoFit/>
              </a:bodyPr>
              <a:lstStyle/>
              <a:p>
                <a:pPr algn="ctr"/>
                <a:r>
                  <a:rPr lang="en-GB" sz="1000" dirty="0">
                    <a:solidFill>
                      <a:srgbClr val="1A1AA6"/>
                    </a:solidFill>
                    <a:latin typeface="CiscoSansTT Medium" panose="020B0903020201020303" pitchFamily="34" charset="0"/>
                    <a:cs typeface="CiscoSansTT Medium" panose="020B0903020201020303" pitchFamily="34" charset="0"/>
                  </a:rPr>
                  <a:t>otren015026</a:t>
                </a:r>
              </a:p>
            </p:txBody>
          </p:sp>
          <p:pic>
            <p:nvPicPr>
              <p:cNvPr id="49" name="Picture 48">
                <a:extLst>
                  <a:ext uri="{FF2B5EF4-FFF2-40B4-BE49-F238E27FC236}">
                    <a16:creationId xmlns:a16="http://schemas.microsoft.com/office/drawing/2014/main" id="{2EC7F20D-3847-B0F5-74FC-581D2E743B41}"/>
                  </a:ext>
                </a:extLst>
              </p:cNvPr>
              <p:cNvPicPr>
                <a:picLocks noChangeAspect="1"/>
              </p:cNvPicPr>
              <p:nvPr/>
            </p:nvPicPr>
            <p:blipFill>
              <a:blip r:embed="rId11"/>
              <a:stretch>
                <a:fillRect/>
              </a:stretch>
            </p:blipFill>
            <p:spPr>
              <a:xfrm>
                <a:off x="7663935" y="4815234"/>
                <a:ext cx="1112602" cy="1252240"/>
              </a:xfrm>
              <a:prstGeom prst="rect">
                <a:avLst/>
              </a:prstGeom>
            </p:spPr>
          </p:pic>
        </p:grpSp>
        <p:sp>
          <p:nvSpPr>
            <p:cNvPr id="66" name="Rectangle: Rounded Corners 65">
              <a:extLst>
                <a:ext uri="{FF2B5EF4-FFF2-40B4-BE49-F238E27FC236}">
                  <a16:creationId xmlns:a16="http://schemas.microsoft.com/office/drawing/2014/main" id="{EC5D1A18-7779-E7E9-FA06-7E3530FC2A4E}"/>
                </a:ext>
              </a:extLst>
            </p:cNvPr>
            <p:cNvSpPr/>
            <p:nvPr/>
          </p:nvSpPr>
          <p:spPr>
            <a:xfrm>
              <a:off x="8207915" y="4698427"/>
              <a:ext cx="1380836" cy="1597452"/>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nvGrpSpPr>
          <p:cNvPr id="72" name="Group 71">
            <a:extLst>
              <a:ext uri="{FF2B5EF4-FFF2-40B4-BE49-F238E27FC236}">
                <a16:creationId xmlns:a16="http://schemas.microsoft.com/office/drawing/2014/main" id="{6326E7C7-EFB4-D97F-F921-14A17507EFCB}"/>
              </a:ext>
            </a:extLst>
          </p:cNvPr>
          <p:cNvGrpSpPr/>
          <p:nvPr/>
        </p:nvGrpSpPr>
        <p:grpSpPr>
          <a:xfrm>
            <a:off x="9471325" y="4664513"/>
            <a:ext cx="1656184" cy="1597452"/>
            <a:chOff x="9962206" y="4685135"/>
            <a:chExt cx="1656184" cy="1597452"/>
          </a:xfrm>
        </p:grpSpPr>
        <p:grpSp>
          <p:nvGrpSpPr>
            <p:cNvPr id="50" name="Group 49">
              <a:extLst>
                <a:ext uri="{FF2B5EF4-FFF2-40B4-BE49-F238E27FC236}">
                  <a16:creationId xmlns:a16="http://schemas.microsoft.com/office/drawing/2014/main" id="{BFEA4C83-5847-DA98-35FD-622108F974D3}"/>
                </a:ext>
              </a:extLst>
            </p:cNvPr>
            <p:cNvGrpSpPr/>
            <p:nvPr/>
          </p:nvGrpSpPr>
          <p:grpSpPr>
            <a:xfrm>
              <a:off x="9962206" y="4762306"/>
              <a:ext cx="1656184" cy="1443110"/>
              <a:chOff x="8753223" y="4914986"/>
              <a:chExt cx="1656184" cy="1443110"/>
            </a:xfrm>
          </p:grpSpPr>
          <p:sp>
            <p:nvSpPr>
              <p:cNvPr id="51" name="TextBox 50">
                <a:extLst>
                  <a:ext uri="{FF2B5EF4-FFF2-40B4-BE49-F238E27FC236}">
                    <a16:creationId xmlns:a16="http://schemas.microsoft.com/office/drawing/2014/main" id="{13EF6553-3BB5-6715-A639-E7F902446508}"/>
                  </a:ext>
                </a:extLst>
              </p:cNvPr>
              <p:cNvSpPr txBox="1"/>
              <p:nvPr/>
            </p:nvSpPr>
            <p:spPr>
              <a:xfrm>
                <a:off x="8753223" y="6111875"/>
                <a:ext cx="1656184" cy="246221"/>
              </a:xfrm>
              <a:prstGeom prst="rect">
                <a:avLst/>
              </a:prstGeom>
              <a:noFill/>
            </p:spPr>
            <p:txBody>
              <a:bodyPr wrap="square" rtlCol="0">
                <a:spAutoFit/>
              </a:bodyPr>
              <a:lstStyle/>
              <a:p>
                <a:pPr algn="ctr"/>
                <a:r>
                  <a:rPr lang="en-GB" sz="1000" dirty="0">
                    <a:solidFill>
                      <a:srgbClr val="1A1AA6"/>
                    </a:solidFill>
                    <a:latin typeface="CiscoSansTT Medium" panose="020B0903020201020303" pitchFamily="34" charset="0"/>
                    <a:cs typeface="CiscoSansTT Medium" panose="020B0903020201020303" pitchFamily="34" charset="0"/>
                  </a:rPr>
                  <a:t>wbrsas031944</a:t>
                </a:r>
              </a:p>
            </p:txBody>
          </p:sp>
          <p:pic>
            <p:nvPicPr>
              <p:cNvPr id="52" name="Picture 51">
                <a:extLst>
                  <a:ext uri="{FF2B5EF4-FFF2-40B4-BE49-F238E27FC236}">
                    <a16:creationId xmlns:a16="http://schemas.microsoft.com/office/drawing/2014/main" id="{846E22B5-B00C-B67D-A3C2-40A2100C705D}"/>
                  </a:ext>
                </a:extLst>
              </p:cNvPr>
              <p:cNvPicPr>
                <a:picLocks noChangeAspect="1"/>
              </p:cNvPicPr>
              <p:nvPr/>
            </p:nvPicPr>
            <p:blipFill>
              <a:blip r:embed="rId12"/>
              <a:stretch>
                <a:fillRect/>
              </a:stretch>
            </p:blipFill>
            <p:spPr>
              <a:xfrm>
                <a:off x="9300356" y="4914986"/>
                <a:ext cx="561918" cy="1052736"/>
              </a:xfrm>
              <a:prstGeom prst="rect">
                <a:avLst/>
              </a:prstGeom>
            </p:spPr>
          </p:pic>
        </p:grpSp>
        <p:sp>
          <p:nvSpPr>
            <p:cNvPr id="67" name="Rectangle: Rounded Corners 66">
              <a:extLst>
                <a:ext uri="{FF2B5EF4-FFF2-40B4-BE49-F238E27FC236}">
                  <a16:creationId xmlns:a16="http://schemas.microsoft.com/office/drawing/2014/main" id="{10524AF1-7D65-06AB-DEBD-3B6F022B7FBA}"/>
                </a:ext>
              </a:extLst>
            </p:cNvPr>
            <p:cNvSpPr/>
            <p:nvPr/>
          </p:nvSpPr>
          <p:spPr>
            <a:xfrm>
              <a:off x="10099880" y="4685135"/>
              <a:ext cx="1380836" cy="1597452"/>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nvGrpSpPr>
          <p:cNvPr id="71" name="Group 70">
            <a:extLst>
              <a:ext uri="{FF2B5EF4-FFF2-40B4-BE49-F238E27FC236}">
                <a16:creationId xmlns:a16="http://schemas.microsoft.com/office/drawing/2014/main" id="{FA1EAE07-8843-68B8-C19A-1F5851F43FA7}"/>
              </a:ext>
            </a:extLst>
          </p:cNvPr>
          <p:cNvGrpSpPr/>
          <p:nvPr/>
        </p:nvGrpSpPr>
        <p:grpSpPr>
          <a:xfrm>
            <a:off x="4255938" y="4698427"/>
            <a:ext cx="1380836" cy="1597452"/>
            <a:chOff x="4047506" y="4711719"/>
            <a:chExt cx="1380836" cy="1597452"/>
          </a:xfrm>
        </p:grpSpPr>
        <p:grpSp>
          <p:nvGrpSpPr>
            <p:cNvPr id="41" name="Group 40">
              <a:extLst>
                <a:ext uri="{FF2B5EF4-FFF2-40B4-BE49-F238E27FC236}">
                  <a16:creationId xmlns:a16="http://schemas.microsoft.com/office/drawing/2014/main" id="{038FFB15-A782-2005-89A3-605AB02F479C}"/>
                </a:ext>
              </a:extLst>
            </p:cNvPr>
            <p:cNvGrpSpPr/>
            <p:nvPr/>
          </p:nvGrpSpPr>
          <p:grpSpPr>
            <a:xfrm>
              <a:off x="4125856" y="4824314"/>
              <a:ext cx="1224136" cy="1372262"/>
              <a:chOff x="4439816" y="4985834"/>
              <a:chExt cx="1224136" cy="1372262"/>
            </a:xfrm>
          </p:grpSpPr>
          <p:sp>
            <p:nvSpPr>
              <p:cNvPr id="42" name="TextBox 41">
                <a:extLst>
                  <a:ext uri="{FF2B5EF4-FFF2-40B4-BE49-F238E27FC236}">
                    <a16:creationId xmlns:a16="http://schemas.microsoft.com/office/drawing/2014/main" id="{359EDB03-627A-A56B-A0C0-BEBA841FEE21}"/>
                  </a:ext>
                </a:extLst>
              </p:cNvPr>
              <p:cNvSpPr txBox="1"/>
              <p:nvPr/>
            </p:nvSpPr>
            <p:spPr>
              <a:xfrm>
                <a:off x="4439816" y="6111875"/>
                <a:ext cx="1224136" cy="246221"/>
              </a:xfrm>
              <a:prstGeom prst="rect">
                <a:avLst/>
              </a:prstGeom>
              <a:noFill/>
            </p:spPr>
            <p:txBody>
              <a:bodyPr wrap="square" rtlCol="0">
                <a:spAutoFit/>
              </a:bodyPr>
              <a:lstStyle/>
              <a:p>
                <a:pPr algn="ctr"/>
                <a:r>
                  <a:rPr lang="en-GB" sz="1000" b="0" i="0" dirty="0">
                    <a:solidFill>
                      <a:srgbClr val="1A1AA6"/>
                    </a:solidFill>
                    <a:effectLst/>
                    <a:latin typeface="CiscoSansTT Medium" panose="020B0903020201020303" pitchFamily="34" charset="0"/>
                    <a:cs typeface="CiscoSansTT Medium" panose="020B0903020201020303" pitchFamily="34" charset="0"/>
                  </a:rPr>
                  <a:t>dmoit029445</a:t>
                </a:r>
                <a:endParaRPr lang="en-GB" sz="1000" dirty="0">
                  <a:latin typeface="CiscoSansTT Medium" panose="020B0903020201020303" pitchFamily="34" charset="0"/>
                  <a:cs typeface="CiscoSansTT Medium" panose="020B0903020201020303" pitchFamily="34" charset="0"/>
                </a:endParaRPr>
              </a:p>
            </p:txBody>
          </p:sp>
          <p:pic>
            <p:nvPicPr>
              <p:cNvPr id="43" name="Picture 42">
                <a:extLst>
                  <a:ext uri="{FF2B5EF4-FFF2-40B4-BE49-F238E27FC236}">
                    <a16:creationId xmlns:a16="http://schemas.microsoft.com/office/drawing/2014/main" id="{AB6512C3-8EF0-9B01-AA17-E2CD4C400DA7}"/>
                  </a:ext>
                </a:extLst>
              </p:cNvPr>
              <p:cNvPicPr>
                <a:picLocks noChangeAspect="1"/>
              </p:cNvPicPr>
              <p:nvPr/>
            </p:nvPicPr>
            <p:blipFill>
              <a:blip r:embed="rId13"/>
              <a:stretch>
                <a:fillRect/>
              </a:stretch>
            </p:blipFill>
            <p:spPr>
              <a:xfrm>
                <a:off x="4555292" y="4985834"/>
                <a:ext cx="993184" cy="911041"/>
              </a:xfrm>
              <a:prstGeom prst="rect">
                <a:avLst/>
              </a:prstGeom>
            </p:spPr>
          </p:pic>
        </p:grpSp>
        <p:sp>
          <p:nvSpPr>
            <p:cNvPr id="68" name="Rectangle: Rounded Corners 67">
              <a:extLst>
                <a:ext uri="{FF2B5EF4-FFF2-40B4-BE49-F238E27FC236}">
                  <a16:creationId xmlns:a16="http://schemas.microsoft.com/office/drawing/2014/main" id="{847BEEBA-6F80-0954-C782-8BF0D0B3A113}"/>
                </a:ext>
              </a:extLst>
            </p:cNvPr>
            <p:cNvSpPr/>
            <p:nvPr/>
          </p:nvSpPr>
          <p:spPr>
            <a:xfrm>
              <a:off x="4047506" y="4711719"/>
              <a:ext cx="1380836" cy="1597452"/>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spTree>
    <p:extLst>
      <p:ext uri="{BB962C8B-B14F-4D97-AF65-F5344CB8AC3E}">
        <p14:creationId xmlns:p14="http://schemas.microsoft.com/office/powerpoint/2010/main" val="4159220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6C50D-3C04-97F0-A61F-C2AC89E15E33}"/>
              </a:ext>
            </a:extLst>
          </p:cNvPr>
          <p:cNvSpPr>
            <a:spLocks noGrp="1"/>
          </p:cNvSpPr>
          <p:nvPr>
            <p:ph type="title"/>
          </p:nvPr>
        </p:nvSpPr>
        <p:spPr/>
        <p:txBody>
          <a:bodyPr/>
          <a:lstStyle/>
          <a:p>
            <a:r>
              <a:rPr lang="en-US" dirty="0"/>
              <a:t>Why Legacy Tracking is No Longer Enough</a:t>
            </a:r>
            <a:endParaRPr lang="en-GB" dirty="0"/>
          </a:p>
        </p:txBody>
      </p:sp>
      <p:sp>
        <p:nvSpPr>
          <p:cNvPr id="3" name="TextBox 2">
            <a:extLst>
              <a:ext uri="{FF2B5EF4-FFF2-40B4-BE49-F238E27FC236}">
                <a16:creationId xmlns:a16="http://schemas.microsoft.com/office/drawing/2014/main" id="{D2900C8C-AF2A-F5C7-2066-4A3CE98F02B7}"/>
              </a:ext>
            </a:extLst>
          </p:cNvPr>
          <p:cNvSpPr txBox="1"/>
          <p:nvPr/>
        </p:nvSpPr>
        <p:spPr>
          <a:xfrm>
            <a:off x="722087" y="975042"/>
            <a:ext cx="10167257" cy="907143"/>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1600" b="1" i="1" dirty="0">
                <a:solidFill>
                  <a:schemeClr val="bg1"/>
                </a:solidFill>
              </a:rPr>
              <a:t>The Core Dilemma: </a:t>
            </a:r>
          </a:p>
          <a:p>
            <a:pPr defTabSz="912276" fontAlgn="base">
              <a:spcAft>
                <a:spcPts val="1000"/>
              </a:spcAft>
              <a:buClr>
                <a:schemeClr val="bg1"/>
              </a:buClr>
              <a:buSzPct val="100000"/>
            </a:pPr>
            <a:r>
              <a:rPr lang="en-GB" sz="1600" i="1" dirty="0">
                <a:solidFill>
                  <a:schemeClr val="bg1"/>
                </a:solidFill>
              </a:rPr>
              <a:t>The CCID was designed for a single job—capturing the marketing initiative. Forcing it to handle lead scoring, events, and as a primary identifier for lead generation breaks data trust.</a:t>
            </a:r>
            <a:endParaRPr lang="en-GB" sz="1600" kern="1200" dirty="0">
              <a:solidFill>
                <a:schemeClr val="bg1"/>
              </a:solidFill>
              <a:latin typeface="+mn-lt"/>
              <a:ea typeface="ＭＳ Ｐゴシック" charset="0"/>
            </a:endParaRPr>
          </a:p>
        </p:txBody>
      </p:sp>
      <p:grpSp>
        <p:nvGrpSpPr>
          <p:cNvPr id="4" name="Group 3">
            <a:extLst>
              <a:ext uri="{FF2B5EF4-FFF2-40B4-BE49-F238E27FC236}">
                <a16:creationId xmlns:a16="http://schemas.microsoft.com/office/drawing/2014/main" id="{2F8CFE0C-EC4A-CCEF-EE51-0EF3E75927D7}"/>
              </a:ext>
            </a:extLst>
          </p:cNvPr>
          <p:cNvGrpSpPr/>
          <p:nvPr/>
        </p:nvGrpSpPr>
        <p:grpSpPr>
          <a:xfrm>
            <a:off x="452319" y="2001570"/>
            <a:ext cx="3520966" cy="4691818"/>
            <a:chOff x="403465" y="1268598"/>
            <a:chExt cx="3520966" cy="4691818"/>
          </a:xfrm>
        </p:grpSpPr>
        <p:sp>
          <p:nvSpPr>
            <p:cNvPr id="5" name="Rectangle: Rounded Corners 4">
              <a:extLst>
                <a:ext uri="{FF2B5EF4-FFF2-40B4-BE49-F238E27FC236}">
                  <a16:creationId xmlns:a16="http://schemas.microsoft.com/office/drawing/2014/main" id="{9834E71E-8A6E-5689-216A-2F446BCF106A}"/>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 name="Straight Connector 5">
              <a:extLst>
                <a:ext uri="{FF2B5EF4-FFF2-40B4-BE49-F238E27FC236}">
                  <a16:creationId xmlns:a16="http://schemas.microsoft.com/office/drawing/2014/main" id="{705D1628-E062-A902-9A3B-990AA8B6840B}"/>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7" name="TextBox 6">
              <a:extLst>
                <a:ext uri="{FF2B5EF4-FFF2-40B4-BE49-F238E27FC236}">
                  <a16:creationId xmlns:a16="http://schemas.microsoft.com/office/drawing/2014/main" id="{669B4D4F-5C6C-488F-27CC-6923D025BD7A}"/>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Data Ambiguity</a:t>
              </a:r>
              <a:endParaRPr lang="en-GB" sz="2000" kern="1200" dirty="0" err="1">
                <a:solidFill>
                  <a:schemeClr val="bg1"/>
                </a:solidFill>
                <a:latin typeface="+mn-lt"/>
                <a:ea typeface="ＭＳ Ｐゴシック" charset="0"/>
              </a:endParaRPr>
            </a:p>
          </p:txBody>
        </p:sp>
        <p:sp>
          <p:nvSpPr>
            <p:cNvPr id="8" name="TextBox 7">
              <a:extLst>
                <a:ext uri="{FF2B5EF4-FFF2-40B4-BE49-F238E27FC236}">
                  <a16:creationId xmlns:a16="http://schemas.microsoft.com/office/drawing/2014/main" id="{656F9A2E-B35C-A7DA-5938-290F29649488}"/>
                </a:ext>
              </a:extLst>
            </p:cNvPr>
            <p:cNvSpPr txBox="1"/>
            <p:nvPr/>
          </p:nvSpPr>
          <p:spPr>
            <a:xfrm>
              <a:off x="577937" y="2336194"/>
              <a:ext cx="3172023" cy="2427889"/>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Mixed ID usage creates untrustworthy reporting rows</a:t>
              </a:r>
            </a:p>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Forcing a single identifier to fulfil multiple operational roles makes it impossible to verify whether an ID was deployed correctly or what specific customer action it represents. </a:t>
              </a:r>
              <a:endParaRPr lang="en-GB" kern="1200" dirty="0">
                <a:solidFill>
                  <a:schemeClr val="bg1"/>
                </a:solidFill>
                <a:latin typeface="+mn-lt"/>
                <a:ea typeface="ＭＳ Ｐゴシック" charset="0"/>
              </a:endParaRPr>
            </a:p>
          </p:txBody>
        </p:sp>
      </p:grpSp>
      <p:grpSp>
        <p:nvGrpSpPr>
          <p:cNvPr id="9" name="Group 8">
            <a:extLst>
              <a:ext uri="{FF2B5EF4-FFF2-40B4-BE49-F238E27FC236}">
                <a16:creationId xmlns:a16="http://schemas.microsoft.com/office/drawing/2014/main" id="{7CE2024D-7654-03F6-7611-9F902DF5AA02}"/>
              </a:ext>
            </a:extLst>
          </p:cNvPr>
          <p:cNvGrpSpPr/>
          <p:nvPr/>
        </p:nvGrpSpPr>
        <p:grpSpPr>
          <a:xfrm>
            <a:off x="4402651" y="2001570"/>
            <a:ext cx="3520966" cy="4691818"/>
            <a:chOff x="403465" y="1268598"/>
            <a:chExt cx="3520966" cy="4691818"/>
          </a:xfrm>
        </p:grpSpPr>
        <p:sp>
          <p:nvSpPr>
            <p:cNvPr id="10" name="Rectangle: Rounded Corners 9">
              <a:extLst>
                <a:ext uri="{FF2B5EF4-FFF2-40B4-BE49-F238E27FC236}">
                  <a16:creationId xmlns:a16="http://schemas.microsoft.com/office/drawing/2014/main" id="{402EBB24-FE18-869F-41AD-3C0CED73FCE0}"/>
                </a:ext>
              </a:extLst>
            </p:cNvPr>
            <p:cNvSpPr/>
            <p:nvPr/>
          </p:nvSpPr>
          <p:spPr>
            <a:xfrm>
              <a:off x="403465"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1" name="Straight Connector 10">
              <a:extLst>
                <a:ext uri="{FF2B5EF4-FFF2-40B4-BE49-F238E27FC236}">
                  <a16:creationId xmlns:a16="http://schemas.microsoft.com/office/drawing/2014/main" id="{D8F979AD-9A88-9931-614D-EEFBB6EAB500}"/>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B6F3CCBB-8226-4204-F89C-04DA3D9CFA58}"/>
                </a:ext>
              </a:extLst>
            </p:cNvPr>
            <p:cNvSpPr txBox="1"/>
            <p:nvPr/>
          </p:nvSpPr>
          <p:spPr>
            <a:xfrm>
              <a:off x="1110811" y="1365741"/>
              <a:ext cx="21062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Attribution Skew</a:t>
              </a:r>
              <a:endParaRPr lang="en-GB" sz="20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4F1CE7FA-92B6-F89C-7246-3D51407EB432}"/>
                </a:ext>
              </a:extLst>
            </p:cNvPr>
            <p:cNvSpPr txBox="1"/>
            <p:nvPr/>
          </p:nvSpPr>
          <p:spPr>
            <a:xfrm>
              <a:off x="577937" y="2336194"/>
              <a:ext cx="3172023" cy="2897957"/>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Double-duty keys distort revenue and touchpoint models.</a:t>
              </a:r>
            </a:p>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Using one ID across disparate channels and campaign types skews engagement counts, inflates touchpoints, and distorts top-of-funnel campaign performance metrics. </a:t>
              </a:r>
              <a:endParaRPr lang="en-GB" sz="1600" kern="1200" dirty="0">
                <a:solidFill>
                  <a:schemeClr val="bg1"/>
                </a:solidFill>
                <a:latin typeface="+mn-lt"/>
                <a:ea typeface="ＭＳ Ｐゴシック" charset="0"/>
              </a:endParaRPr>
            </a:p>
          </p:txBody>
        </p:sp>
      </p:grpSp>
      <p:grpSp>
        <p:nvGrpSpPr>
          <p:cNvPr id="14" name="Group 13">
            <a:extLst>
              <a:ext uri="{FF2B5EF4-FFF2-40B4-BE49-F238E27FC236}">
                <a16:creationId xmlns:a16="http://schemas.microsoft.com/office/drawing/2014/main" id="{D73916AA-76AD-1AD1-C096-197A544D6025}"/>
              </a:ext>
            </a:extLst>
          </p:cNvPr>
          <p:cNvGrpSpPr/>
          <p:nvPr/>
        </p:nvGrpSpPr>
        <p:grpSpPr>
          <a:xfrm>
            <a:off x="8402100" y="2001570"/>
            <a:ext cx="3608130" cy="4691818"/>
            <a:chOff x="403728" y="1268598"/>
            <a:chExt cx="3608130" cy="4691818"/>
          </a:xfrm>
        </p:grpSpPr>
        <p:sp>
          <p:nvSpPr>
            <p:cNvPr id="15" name="Rectangle: Rounded Corners 14">
              <a:extLst>
                <a:ext uri="{FF2B5EF4-FFF2-40B4-BE49-F238E27FC236}">
                  <a16:creationId xmlns:a16="http://schemas.microsoft.com/office/drawing/2014/main" id="{4BA531EA-815D-CB8F-6EEA-A896D50FF685}"/>
                </a:ext>
              </a:extLst>
            </p:cNvPr>
            <p:cNvSpPr/>
            <p:nvPr/>
          </p:nvSpPr>
          <p:spPr>
            <a:xfrm>
              <a:off x="490892" y="1268598"/>
              <a:ext cx="3520966" cy="4691818"/>
            </a:xfrm>
            <a:prstGeom prst="roundRect">
              <a:avLst>
                <a:gd name="adj" fmla="val 6816"/>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6" name="Straight Connector 15">
              <a:extLst>
                <a:ext uri="{FF2B5EF4-FFF2-40B4-BE49-F238E27FC236}">
                  <a16:creationId xmlns:a16="http://schemas.microsoft.com/office/drawing/2014/main" id="{B32DB76D-B514-D268-0796-48EEEEF0682B}"/>
                </a:ext>
              </a:extLst>
            </p:cNvPr>
            <p:cNvCxnSpPr>
              <a:cxnSpLocks/>
            </p:cNvCxnSpPr>
            <p:nvPr/>
          </p:nvCxnSpPr>
          <p:spPr>
            <a:xfrm>
              <a:off x="403728" y="1942716"/>
              <a:ext cx="352044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7" name="TextBox 16">
              <a:extLst>
                <a:ext uri="{FF2B5EF4-FFF2-40B4-BE49-F238E27FC236}">
                  <a16:creationId xmlns:a16="http://schemas.microsoft.com/office/drawing/2014/main" id="{3D539966-C46A-27FA-7C73-0206E545CF21}"/>
                </a:ext>
              </a:extLst>
            </p:cNvPr>
            <p:cNvSpPr txBox="1"/>
            <p:nvPr/>
          </p:nvSpPr>
          <p:spPr>
            <a:xfrm>
              <a:off x="757138" y="1365741"/>
              <a:ext cx="2988474" cy="49244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Platform Incompatibility</a:t>
              </a:r>
              <a:endParaRPr lang="en-GB" sz="2000" kern="1200" dirty="0" err="1">
                <a:solidFill>
                  <a:schemeClr val="bg1"/>
                </a:solidFill>
                <a:latin typeface="+mn-lt"/>
                <a:ea typeface="ＭＳ Ｐゴシック" charset="0"/>
              </a:endParaRPr>
            </a:p>
          </p:txBody>
        </p:sp>
        <p:sp>
          <p:nvSpPr>
            <p:cNvPr id="18" name="TextBox 17">
              <a:extLst>
                <a:ext uri="{FF2B5EF4-FFF2-40B4-BE49-F238E27FC236}">
                  <a16:creationId xmlns:a16="http://schemas.microsoft.com/office/drawing/2014/main" id="{3CAB6E27-9BE8-074C-3F45-9B40C01E6F43}"/>
                </a:ext>
              </a:extLst>
            </p:cNvPr>
            <p:cNvSpPr txBox="1"/>
            <p:nvPr/>
          </p:nvSpPr>
          <p:spPr>
            <a:xfrm>
              <a:off x="577937" y="2336194"/>
              <a:ext cx="3172023" cy="2427889"/>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dirty="0">
                  <a:solidFill>
                    <a:schemeClr val="bg1"/>
                  </a:solidFill>
                </a:rPr>
                <a:t> </a:t>
              </a:r>
              <a:r>
                <a:rPr lang="en-GB" dirty="0">
                  <a:solidFill>
                    <a:schemeClr val="bg1"/>
                  </a:solidFill>
                </a:rPr>
                <a:t>Legacy keys fail to connect natively with Adobe North Star platforms. </a:t>
              </a:r>
              <a:r>
                <a:rPr lang="en-US" dirty="0">
                  <a:solidFill>
                    <a:schemeClr val="bg1"/>
                  </a:solidFill>
                </a:rPr>
                <a:t> </a:t>
              </a:r>
            </a:p>
            <a:p>
              <a:pPr marL="182880" indent="-182880" defTabSz="912276" fontAlgn="base">
                <a:spcAft>
                  <a:spcPts val="1000"/>
                </a:spcAft>
                <a:buClr>
                  <a:schemeClr val="bg1"/>
                </a:buClr>
                <a:buSzPct val="100000"/>
                <a:buFont typeface="Arial" panose="020B0604020202020204" pitchFamily="34" charset="0"/>
                <a:buChar char="•"/>
              </a:pPr>
              <a:r>
                <a:rPr lang="en-GB" dirty="0">
                  <a:solidFill>
                    <a:schemeClr val="bg1"/>
                  </a:solidFill>
                </a:rPr>
                <a:t>External media partners and agencies must be specially trained on internal Cisco code rules rather than using industry-standard tracking protocols.</a:t>
              </a:r>
              <a:endParaRPr lang="en-GB" sz="1600" kern="1200" dirty="0">
                <a:solidFill>
                  <a:schemeClr val="bg1"/>
                </a:solidFill>
                <a:latin typeface="+mn-lt"/>
                <a:ea typeface="ＭＳ Ｐゴシック" charset="0"/>
              </a:endParaRPr>
            </a:p>
          </p:txBody>
        </p:sp>
      </p:grpSp>
    </p:spTree>
    <p:extLst>
      <p:ext uri="{BB962C8B-B14F-4D97-AF65-F5344CB8AC3E}">
        <p14:creationId xmlns:p14="http://schemas.microsoft.com/office/powerpoint/2010/main" val="1388288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7497E-1D5F-5CFF-BEA0-32BAC4A5C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4E6ED-0564-ED2C-27DF-C599CE325C02}"/>
              </a:ext>
            </a:extLst>
          </p:cNvPr>
          <p:cNvSpPr>
            <a:spLocks noGrp="1"/>
          </p:cNvSpPr>
          <p:nvPr>
            <p:ph type="title"/>
          </p:nvPr>
        </p:nvSpPr>
        <p:spPr/>
        <p:txBody>
          <a:bodyPr/>
          <a:lstStyle/>
          <a:p>
            <a:r>
              <a:rPr lang="en-US" dirty="0"/>
              <a:t>Module 4: UTM Tagging</a:t>
            </a:r>
            <a:endParaRPr lang="en-GB" dirty="0"/>
          </a:p>
        </p:txBody>
      </p:sp>
    </p:spTree>
    <p:extLst>
      <p:ext uri="{BB962C8B-B14F-4D97-AF65-F5344CB8AC3E}">
        <p14:creationId xmlns:p14="http://schemas.microsoft.com/office/powerpoint/2010/main" val="392114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9D6E-EF99-7896-E94E-66883EA60D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DFEB29-7F99-4FA3-16E4-AE795C6F6DEF}"/>
              </a:ext>
            </a:extLst>
          </p:cNvPr>
          <p:cNvSpPr>
            <a:spLocks noGrp="1"/>
          </p:cNvSpPr>
          <p:nvPr>
            <p:ph type="title"/>
          </p:nvPr>
        </p:nvSpPr>
        <p:spPr/>
        <p:txBody>
          <a:bodyPr/>
          <a:lstStyle/>
          <a:p>
            <a:r>
              <a:rPr lang="en-US" dirty="0"/>
              <a:t>Strategic Value of UTM Tracking</a:t>
            </a:r>
            <a:endParaRPr lang="en-GB" dirty="0"/>
          </a:p>
        </p:txBody>
      </p:sp>
      <p:sp>
        <p:nvSpPr>
          <p:cNvPr id="4" name="TextBox 3">
            <a:extLst>
              <a:ext uri="{FF2B5EF4-FFF2-40B4-BE49-F238E27FC236}">
                <a16:creationId xmlns:a16="http://schemas.microsoft.com/office/drawing/2014/main" id="{EA1250BD-00A4-986D-9516-D1FCFF55F618}"/>
              </a:ext>
            </a:extLst>
          </p:cNvPr>
          <p:cNvSpPr txBox="1"/>
          <p:nvPr/>
        </p:nvSpPr>
        <p:spPr>
          <a:xfrm>
            <a:off x="438733" y="1023598"/>
            <a:ext cx="11098635" cy="984375"/>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b="1" dirty="0">
                <a:solidFill>
                  <a:schemeClr val="bg1"/>
                </a:solidFill>
              </a:rPr>
              <a:t>Why We Track:</a:t>
            </a:r>
            <a:r>
              <a:rPr lang="en-GB" dirty="0">
                <a:solidFill>
                  <a:schemeClr val="bg1"/>
                </a:solidFill>
              </a:rPr>
              <a:t> We want to modernise our digital marketing tracking through strict data standardization and automation of tracking parameters to be able to derive data-driven insights for performance understanding</a:t>
            </a:r>
            <a:endParaRPr lang="en-GB" sz="1600" kern="1200" dirty="0">
              <a:solidFill>
                <a:schemeClr val="bg1"/>
              </a:solidFill>
              <a:latin typeface="+mn-lt"/>
              <a:ea typeface="ＭＳ Ｐゴシック" charset="0"/>
            </a:endParaRPr>
          </a:p>
        </p:txBody>
      </p:sp>
      <p:sp>
        <p:nvSpPr>
          <p:cNvPr id="6" name="TextBox 5">
            <a:extLst>
              <a:ext uri="{FF2B5EF4-FFF2-40B4-BE49-F238E27FC236}">
                <a16:creationId xmlns:a16="http://schemas.microsoft.com/office/drawing/2014/main" id="{9B576B29-3539-CBA8-8898-7B9520FA3464}"/>
              </a:ext>
            </a:extLst>
          </p:cNvPr>
          <p:cNvSpPr txBox="1"/>
          <p:nvPr/>
        </p:nvSpPr>
        <p:spPr>
          <a:xfrm>
            <a:off x="4865532" y="3149964"/>
            <a:ext cx="2560320" cy="2743200"/>
          </a:xfrm>
          <a:prstGeom prst="rect">
            <a:avLst/>
          </a:prstGeom>
          <a:noFill/>
        </p:spPr>
        <p:txBody>
          <a:bodyPr wrap="square" lIns="0" tIns="0" rIns="0" bIns="0" rtlCol="0">
            <a:noAutofit/>
          </a:bodyPr>
          <a:lstStyle/>
          <a:p>
            <a:pPr algn="ctr"/>
            <a:endParaRPr lang="en-GB" sz="16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23CDFC26-7175-B138-1726-AC051997233D}"/>
              </a:ext>
            </a:extLst>
          </p:cNvPr>
          <p:cNvSpPr txBox="1"/>
          <p:nvPr/>
        </p:nvSpPr>
        <p:spPr>
          <a:xfrm>
            <a:off x="8486375" y="3159011"/>
            <a:ext cx="331012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285750" indent="-285750" eaLnBrk="0" fontAlgn="base" hangingPunct="0">
              <a:spcBef>
                <a:spcPct val="0"/>
              </a:spcBef>
              <a:spcAft>
                <a:spcPct val="0"/>
              </a:spcAft>
              <a:buFont typeface="Arial" panose="020B0604020202020204" pitchFamily="34" charset="0"/>
              <a:buChar char="•"/>
              <a:defRPr sz="1400">
                <a:solidFill>
                  <a:schemeClr val="bg1"/>
                </a:solidFill>
              </a:defRPr>
            </a:lvl1pPr>
          </a:lstStyle>
          <a:p>
            <a:r>
              <a:rPr lang="en-GB" dirty="0"/>
              <a:t>Analysts can instantly build reports using standard dimensions like </a:t>
            </a:r>
            <a:r>
              <a:rPr lang="en-GB" dirty="0" err="1"/>
              <a:t>utm_source</a:t>
            </a:r>
            <a:r>
              <a:rPr lang="en-GB" dirty="0"/>
              <a:t> or </a:t>
            </a:r>
            <a:r>
              <a:rPr lang="en-GB" dirty="0" err="1"/>
              <a:t>utm_medium</a:t>
            </a:r>
            <a:r>
              <a:rPr lang="en-GB" dirty="0"/>
              <a:t> across web platforms, without needing complex SQL joins or specialized internal tools to look up what a custom ID means.</a:t>
            </a:r>
          </a:p>
        </p:txBody>
      </p:sp>
      <p:grpSp>
        <p:nvGrpSpPr>
          <p:cNvPr id="15" name="Group 14">
            <a:extLst>
              <a:ext uri="{FF2B5EF4-FFF2-40B4-BE49-F238E27FC236}">
                <a16:creationId xmlns:a16="http://schemas.microsoft.com/office/drawing/2014/main" id="{525B77D7-B7CC-89A8-A419-5E5CF963F1E6}"/>
              </a:ext>
            </a:extLst>
          </p:cNvPr>
          <p:cNvGrpSpPr/>
          <p:nvPr/>
        </p:nvGrpSpPr>
        <p:grpSpPr>
          <a:xfrm>
            <a:off x="8414729" y="2384567"/>
            <a:ext cx="3453421" cy="3749040"/>
            <a:chOff x="771331" y="2157451"/>
            <a:chExt cx="2929812" cy="3447138"/>
          </a:xfrm>
        </p:grpSpPr>
        <p:sp>
          <p:nvSpPr>
            <p:cNvPr id="16" name="Freeform: Shape 15">
              <a:extLst>
                <a:ext uri="{FF2B5EF4-FFF2-40B4-BE49-F238E27FC236}">
                  <a16:creationId xmlns:a16="http://schemas.microsoft.com/office/drawing/2014/main" id="{7ABB6B54-A570-6763-DBA9-ADAB7260F10F}"/>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Rectangle: Rounded Corners 16">
              <a:extLst>
                <a:ext uri="{FF2B5EF4-FFF2-40B4-BE49-F238E27FC236}">
                  <a16:creationId xmlns:a16="http://schemas.microsoft.com/office/drawing/2014/main" id="{C522A1FE-D543-7ECB-9F90-394D3FE2597C}"/>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Self Service Query</a:t>
              </a:r>
              <a:endParaRPr lang="en-GB" sz="1600" b="1" dirty="0">
                <a:solidFill>
                  <a:schemeClr val="bg1"/>
                </a:solidFill>
              </a:endParaRPr>
            </a:p>
          </p:txBody>
        </p:sp>
      </p:grpSp>
      <p:grpSp>
        <p:nvGrpSpPr>
          <p:cNvPr id="18" name="Group 17">
            <a:extLst>
              <a:ext uri="{FF2B5EF4-FFF2-40B4-BE49-F238E27FC236}">
                <a16:creationId xmlns:a16="http://schemas.microsoft.com/office/drawing/2014/main" id="{998B331B-3D28-9074-AB0A-690970489F4E}"/>
              </a:ext>
            </a:extLst>
          </p:cNvPr>
          <p:cNvGrpSpPr/>
          <p:nvPr/>
        </p:nvGrpSpPr>
        <p:grpSpPr>
          <a:xfrm>
            <a:off x="423234" y="2384567"/>
            <a:ext cx="3453421" cy="3749040"/>
            <a:chOff x="771331" y="2157451"/>
            <a:chExt cx="2929812" cy="3447138"/>
          </a:xfrm>
        </p:grpSpPr>
        <p:sp>
          <p:nvSpPr>
            <p:cNvPr id="19" name="Freeform: Shape 18">
              <a:extLst>
                <a:ext uri="{FF2B5EF4-FFF2-40B4-BE49-F238E27FC236}">
                  <a16:creationId xmlns:a16="http://schemas.microsoft.com/office/drawing/2014/main" id="{464E1704-1569-7EB2-310E-F010F3590DDC}"/>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Rectangle: Rounded Corners 19">
              <a:extLst>
                <a:ext uri="{FF2B5EF4-FFF2-40B4-BE49-F238E27FC236}">
                  <a16:creationId xmlns:a16="http://schemas.microsoft.com/office/drawing/2014/main" id="{DDA9B520-854E-59FA-8805-AB4401473D39}"/>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Tool Integration</a:t>
              </a:r>
              <a:endParaRPr lang="en-GB" sz="1600" b="1" dirty="0">
                <a:solidFill>
                  <a:schemeClr val="bg1"/>
                </a:solidFill>
              </a:endParaRPr>
            </a:p>
          </p:txBody>
        </p:sp>
      </p:grpSp>
      <p:grpSp>
        <p:nvGrpSpPr>
          <p:cNvPr id="21" name="Group 20">
            <a:extLst>
              <a:ext uri="{FF2B5EF4-FFF2-40B4-BE49-F238E27FC236}">
                <a16:creationId xmlns:a16="http://schemas.microsoft.com/office/drawing/2014/main" id="{6D64912A-EEC1-8A18-64D7-4C631DB203DA}"/>
              </a:ext>
            </a:extLst>
          </p:cNvPr>
          <p:cNvGrpSpPr/>
          <p:nvPr/>
        </p:nvGrpSpPr>
        <p:grpSpPr>
          <a:xfrm>
            <a:off x="4418982" y="2384566"/>
            <a:ext cx="3453421" cy="3751313"/>
            <a:chOff x="771331" y="2157451"/>
            <a:chExt cx="2929812" cy="3447138"/>
          </a:xfrm>
        </p:grpSpPr>
        <p:sp>
          <p:nvSpPr>
            <p:cNvPr id="22" name="Freeform: Shape 21">
              <a:extLst>
                <a:ext uri="{FF2B5EF4-FFF2-40B4-BE49-F238E27FC236}">
                  <a16:creationId xmlns:a16="http://schemas.microsoft.com/office/drawing/2014/main" id="{3ADAE549-5051-440E-9DAE-A47865BDA67A}"/>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3" name="Rectangle: Rounded Corners 22">
              <a:extLst>
                <a:ext uri="{FF2B5EF4-FFF2-40B4-BE49-F238E27FC236}">
                  <a16:creationId xmlns:a16="http://schemas.microsoft.com/office/drawing/2014/main" id="{D68EF670-86E2-A33B-F780-6E4D43110CFE}"/>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Scalability</a:t>
              </a:r>
              <a:endParaRPr lang="en-GB" sz="1600" b="1" dirty="0">
                <a:solidFill>
                  <a:schemeClr val="bg1"/>
                </a:solidFill>
              </a:endParaRPr>
            </a:p>
          </p:txBody>
        </p:sp>
      </p:grpSp>
      <p:sp>
        <p:nvSpPr>
          <p:cNvPr id="2" name="Rectangle 1">
            <a:extLst>
              <a:ext uri="{FF2B5EF4-FFF2-40B4-BE49-F238E27FC236}">
                <a16:creationId xmlns:a16="http://schemas.microsoft.com/office/drawing/2014/main" id="{53287DB4-0481-8BEC-30C1-84B19E21FDC9}"/>
              </a:ext>
            </a:extLst>
          </p:cNvPr>
          <p:cNvSpPr>
            <a:spLocks noChangeArrowheads="1"/>
          </p:cNvSpPr>
          <p:nvPr/>
        </p:nvSpPr>
        <p:spPr bwMode="auto">
          <a:xfrm>
            <a:off x="4491218" y="3159011"/>
            <a:ext cx="3308949"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US" altLang="en-US" sz="1400" dirty="0">
                <a:solidFill>
                  <a:schemeClr val="bg1"/>
                </a:solidFill>
              </a:rPr>
              <a:t>UTMs are the universal language of web analytics, any future software we add to our marketing technology stack will instantly understand our historical traffic data.</a:t>
            </a:r>
          </a:p>
          <a:p>
            <a:pPr marL="285750" indent="-285750" eaLnBrk="0" fontAlgn="base" hangingPunct="0">
              <a:spcBef>
                <a:spcPct val="0"/>
              </a:spcBef>
              <a:spcAft>
                <a:spcPct val="0"/>
              </a:spcAft>
              <a:buFont typeface="Arial" panose="020B0604020202020204" pitchFamily="34" charset="0"/>
              <a:buChar char="•"/>
            </a:pPr>
            <a:endParaRPr lang="en-US" altLang="en-US" sz="1400" dirty="0">
              <a:solidFill>
                <a:schemeClr val="bg1"/>
              </a:solidFill>
            </a:endParaRPr>
          </a:p>
          <a:p>
            <a:pPr marL="285750" indent="-285750" eaLnBrk="0" fontAlgn="base" hangingPunct="0">
              <a:spcBef>
                <a:spcPct val="0"/>
              </a:spcBef>
              <a:spcAft>
                <a:spcPct val="0"/>
              </a:spcAft>
              <a:buFont typeface="Arial" panose="020B0604020202020204" pitchFamily="34" charset="0"/>
              <a:buChar char="•"/>
            </a:pPr>
            <a:r>
              <a:rPr lang="en-US" altLang="en-US" sz="1400" dirty="0">
                <a:solidFill>
                  <a:schemeClr val="bg1"/>
                </a:solidFill>
              </a:rPr>
              <a:t>Allows external media partners, agencies, and global teams to seamlessly deliver standardized tracking URLs without needing custom training on Cisco-exclusive code frameworks.</a:t>
            </a:r>
          </a:p>
        </p:txBody>
      </p:sp>
      <p:sp>
        <p:nvSpPr>
          <p:cNvPr id="8" name="Rectangle 2">
            <a:extLst>
              <a:ext uri="{FF2B5EF4-FFF2-40B4-BE49-F238E27FC236}">
                <a16:creationId xmlns:a16="http://schemas.microsoft.com/office/drawing/2014/main" id="{48AA3757-AC73-F0D0-E8AA-D6B2CEE06DA1}"/>
              </a:ext>
            </a:extLst>
          </p:cNvPr>
          <p:cNvSpPr>
            <a:spLocks noChangeArrowheads="1"/>
          </p:cNvSpPr>
          <p:nvPr/>
        </p:nvSpPr>
        <p:spPr bwMode="auto">
          <a:xfrm>
            <a:off x="495469" y="3159011"/>
            <a:ext cx="330895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US" altLang="en-US" sz="1400" dirty="0">
                <a:solidFill>
                  <a:schemeClr val="bg1"/>
                </a:solidFill>
              </a:rPr>
              <a:t>Major analytics platform engines (like Adobe Analytics and Google Analytics) natively recognize UTM parameters without custom backend programming or data mapping scripts.</a:t>
            </a:r>
          </a:p>
          <a:p>
            <a:pPr marL="285750" indent="-285750" eaLnBrk="0" fontAlgn="base" hangingPunct="0">
              <a:spcBef>
                <a:spcPct val="0"/>
              </a:spcBef>
              <a:spcAft>
                <a:spcPct val="0"/>
              </a:spcAft>
              <a:buFont typeface="Arial" panose="020B0604020202020204" pitchFamily="34" charset="0"/>
              <a:buChar char="•"/>
            </a:pPr>
            <a:endParaRPr lang="en-US" altLang="en-US" sz="1400" dirty="0">
              <a:solidFill>
                <a:schemeClr val="bg1"/>
              </a:solidFill>
            </a:endParaRPr>
          </a:p>
          <a:p>
            <a:pPr marL="285750" indent="-285750" eaLnBrk="0" fontAlgn="base" hangingPunct="0">
              <a:spcBef>
                <a:spcPct val="0"/>
              </a:spcBef>
              <a:spcAft>
                <a:spcPct val="0"/>
              </a:spcAft>
              <a:buFont typeface="Arial" panose="020B0604020202020204" pitchFamily="34" charset="0"/>
              <a:buChar char="•"/>
            </a:pPr>
            <a:r>
              <a:rPr lang="en-US" altLang="en-US" sz="1400" dirty="0">
                <a:solidFill>
                  <a:schemeClr val="bg1"/>
                </a:solidFill>
              </a:rPr>
              <a:t>External ad networks, marketing automation platforms, and programmatic software easily pass and digest UTM strings natively, eliminating data drop-offs between our platforms.</a:t>
            </a:r>
          </a:p>
        </p:txBody>
      </p:sp>
    </p:spTree>
    <p:extLst>
      <p:ext uri="{BB962C8B-B14F-4D97-AF65-F5344CB8AC3E}">
        <p14:creationId xmlns:p14="http://schemas.microsoft.com/office/powerpoint/2010/main" val="310077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1269-44DF-12CC-65B7-156E8037E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26D28-5D27-27FB-FF8A-393B189CC61F}"/>
              </a:ext>
            </a:extLst>
          </p:cNvPr>
          <p:cNvSpPr>
            <a:spLocks noGrp="1"/>
          </p:cNvSpPr>
          <p:nvPr>
            <p:ph type="title"/>
          </p:nvPr>
        </p:nvSpPr>
        <p:spPr/>
        <p:txBody>
          <a:bodyPr/>
          <a:lstStyle/>
          <a:p>
            <a:r>
              <a:rPr lang="en-US" dirty="0"/>
              <a:t>UTM Tracking ID Types</a:t>
            </a:r>
            <a:endParaRPr lang="en-GB" dirty="0"/>
          </a:p>
        </p:txBody>
      </p:sp>
      <p:cxnSp>
        <p:nvCxnSpPr>
          <p:cNvPr id="3" name="Straight Connector 2">
            <a:extLst>
              <a:ext uri="{FF2B5EF4-FFF2-40B4-BE49-F238E27FC236}">
                <a16:creationId xmlns:a16="http://schemas.microsoft.com/office/drawing/2014/main" id="{05CE855F-BE36-E424-2B31-E30F20BF446F}"/>
              </a:ext>
            </a:extLst>
          </p:cNvPr>
          <p:cNvCxnSpPr>
            <a:cxnSpLocks/>
          </p:cNvCxnSpPr>
          <p:nvPr/>
        </p:nvCxnSpPr>
        <p:spPr>
          <a:xfrm>
            <a:off x="12608" y="1694919"/>
            <a:ext cx="12192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B11A783E-D3EA-AF19-E41F-9D4FC9228614}"/>
              </a:ext>
            </a:extLst>
          </p:cNvPr>
          <p:cNvCxnSpPr>
            <a:cxnSpLocks/>
          </p:cNvCxnSpPr>
          <p:nvPr/>
        </p:nvCxnSpPr>
        <p:spPr>
          <a:xfrm>
            <a:off x="1652924" y="3141394"/>
            <a:ext cx="969264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BB6EFF29-6742-1498-1253-A439D76E30CB}"/>
              </a:ext>
            </a:extLst>
          </p:cNvPr>
          <p:cNvCxnSpPr>
            <a:cxnSpLocks/>
          </p:cNvCxnSpPr>
          <p:nvPr/>
        </p:nvCxnSpPr>
        <p:spPr>
          <a:xfrm>
            <a:off x="1652924" y="3974480"/>
            <a:ext cx="969264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0" name="TextBox 29">
            <a:extLst>
              <a:ext uri="{FF2B5EF4-FFF2-40B4-BE49-F238E27FC236}">
                <a16:creationId xmlns:a16="http://schemas.microsoft.com/office/drawing/2014/main" id="{7E5E03CC-5196-75F8-E956-50C2EC1E130A}"/>
              </a:ext>
            </a:extLst>
          </p:cNvPr>
          <p:cNvSpPr txBox="1"/>
          <p:nvPr/>
        </p:nvSpPr>
        <p:spPr>
          <a:xfrm>
            <a:off x="317539" y="3406658"/>
            <a:ext cx="1280160" cy="30255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What it Does</a:t>
            </a:r>
            <a:endParaRPr lang="en-GB" sz="1600" kern="1200" dirty="0" err="1">
              <a:solidFill>
                <a:schemeClr val="bg1"/>
              </a:solidFill>
              <a:latin typeface="+mn-lt"/>
              <a:ea typeface="ＭＳ Ｐゴシック" charset="0"/>
            </a:endParaRPr>
          </a:p>
        </p:txBody>
      </p:sp>
      <p:sp>
        <p:nvSpPr>
          <p:cNvPr id="31" name="TextBox 30">
            <a:extLst>
              <a:ext uri="{FF2B5EF4-FFF2-40B4-BE49-F238E27FC236}">
                <a16:creationId xmlns:a16="http://schemas.microsoft.com/office/drawing/2014/main" id="{CF3A756C-EB5A-2819-441C-4AD66E9317A2}"/>
              </a:ext>
            </a:extLst>
          </p:cNvPr>
          <p:cNvSpPr txBox="1"/>
          <p:nvPr/>
        </p:nvSpPr>
        <p:spPr>
          <a:xfrm>
            <a:off x="317539" y="4754620"/>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Key Rules</a:t>
            </a:r>
            <a:endParaRPr lang="en-GB" sz="1600" kern="1200" dirty="0" err="1">
              <a:solidFill>
                <a:schemeClr val="bg1"/>
              </a:solidFill>
              <a:latin typeface="+mn-lt"/>
              <a:ea typeface="ＭＳ Ｐゴシック" charset="0"/>
            </a:endParaRPr>
          </a:p>
        </p:txBody>
      </p:sp>
      <p:sp>
        <p:nvSpPr>
          <p:cNvPr id="32" name="TextBox 31">
            <a:extLst>
              <a:ext uri="{FF2B5EF4-FFF2-40B4-BE49-F238E27FC236}">
                <a16:creationId xmlns:a16="http://schemas.microsoft.com/office/drawing/2014/main" id="{B704B4F7-C95A-8EAD-33AB-4F1E5D3FD8E8}"/>
              </a:ext>
            </a:extLst>
          </p:cNvPr>
          <p:cNvSpPr txBox="1"/>
          <p:nvPr/>
        </p:nvSpPr>
        <p:spPr>
          <a:xfrm>
            <a:off x="317539" y="5918709"/>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Example</a:t>
            </a:r>
            <a:endParaRPr lang="en-GB" sz="1600" kern="1200" dirty="0" err="1">
              <a:solidFill>
                <a:schemeClr val="bg1"/>
              </a:solidFill>
              <a:latin typeface="+mn-lt"/>
              <a:ea typeface="ＭＳ Ｐゴシック" charset="0"/>
            </a:endParaRPr>
          </a:p>
        </p:txBody>
      </p:sp>
      <p:cxnSp>
        <p:nvCxnSpPr>
          <p:cNvPr id="34" name="Straight Connector 33">
            <a:extLst>
              <a:ext uri="{FF2B5EF4-FFF2-40B4-BE49-F238E27FC236}">
                <a16:creationId xmlns:a16="http://schemas.microsoft.com/office/drawing/2014/main" id="{8A880D09-A89E-588B-EE28-F9A24DDD0793}"/>
              </a:ext>
            </a:extLst>
          </p:cNvPr>
          <p:cNvCxnSpPr>
            <a:cxnSpLocks/>
          </p:cNvCxnSpPr>
          <p:nvPr/>
        </p:nvCxnSpPr>
        <p:spPr>
          <a:xfrm>
            <a:off x="1652924" y="5793006"/>
            <a:ext cx="969264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nvGrpSpPr>
          <p:cNvPr id="58" name="Group 57">
            <a:extLst>
              <a:ext uri="{FF2B5EF4-FFF2-40B4-BE49-F238E27FC236}">
                <a16:creationId xmlns:a16="http://schemas.microsoft.com/office/drawing/2014/main" id="{68A63F69-A6B6-DC92-726C-6DC704F6FF50}"/>
              </a:ext>
            </a:extLst>
          </p:cNvPr>
          <p:cNvGrpSpPr/>
          <p:nvPr/>
        </p:nvGrpSpPr>
        <p:grpSpPr>
          <a:xfrm>
            <a:off x="1797200" y="859000"/>
            <a:ext cx="2539848" cy="5333696"/>
            <a:chOff x="1797200" y="859000"/>
            <a:chExt cx="2539848" cy="5333696"/>
          </a:xfrm>
        </p:grpSpPr>
        <p:sp>
          <p:nvSpPr>
            <p:cNvPr id="6" name="TextBox 5">
              <a:extLst>
                <a:ext uri="{FF2B5EF4-FFF2-40B4-BE49-F238E27FC236}">
                  <a16:creationId xmlns:a16="http://schemas.microsoft.com/office/drawing/2014/main" id="{26084EF1-6AFB-5923-9E32-C751EB484835}"/>
                </a:ext>
              </a:extLst>
            </p:cNvPr>
            <p:cNvSpPr txBox="1"/>
            <p:nvPr>
              <p:custDataLst>
                <p:tags r:id="rId16"/>
              </p:custDataLst>
            </p:nvPr>
          </p:nvSpPr>
          <p:spPr>
            <a:xfrm>
              <a:off x="1797200"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UTM ID</a:t>
              </a:r>
            </a:p>
          </p:txBody>
        </p:sp>
        <p:grpSp>
          <p:nvGrpSpPr>
            <p:cNvPr id="22" name="Group 21">
              <a:extLst>
                <a:ext uri="{FF2B5EF4-FFF2-40B4-BE49-F238E27FC236}">
                  <a16:creationId xmlns:a16="http://schemas.microsoft.com/office/drawing/2014/main" id="{1DAFD86F-3A38-7E01-D993-91ABC9D4787B}"/>
                </a:ext>
              </a:extLst>
            </p:cNvPr>
            <p:cNvGrpSpPr/>
            <p:nvPr/>
          </p:nvGrpSpPr>
          <p:grpSpPr>
            <a:xfrm>
              <a:off x="2673958" y="1301754"/>
              <a:ext cx="786332" cy="786331"/>
              <a:chOff x="2401016" y="1237421"/>
              <a:chExt cx="786332" cy="786331"/>
            </a:xfrm>
          </p:grpSpPr>
          <p:sp>
            <p:nvSpPr>
              <p:cNvPr id="5" name="Shape1_20250523_195849">
                <a:extLst>
                  <a:ext uri="{FF2B5EF4-FFF2-40B4-BE49-F238E27FC236}">
                    <a16:creationId xmlns:a16="http://schemas.microsoft.com/office/drawing/2014/main" id="{F80B2C56-02DD-C8FC-C7EB-67537E9D901D}"/>
                  </a:ext>
                </a:extLst>
              </p:cNvPr>
              <p:cNvSpPr txBox="1">
                <a:spLocks noChangeAspect="1"/>
              </p:cNvSpPr>
              <p:nvPr>
                <p:custDataLst>
                  <p:tags r:id="rId19"/>
                </p:custDataLst>
              </p:nvPr>
            </p:nvSpPr>
            <p:spPr>
              <a:xfrm>
                <a:off x="2401016" y="123742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8" name="dark1" descr="New with solid fill">
                <a:extLst>
                  <a:ext uri="{FF2B5EF4-FFF2-40B4-BE49-F238E27FC236}">
                    <a16:creationId xmlns:a16="http://schemas.microsoft.com/office/drawing/2014/main" id="{F30E639A-423B-5BAA-10C9-FD6B8CEBFF5A}"/>
                  </a:ext>
                </a:extLst>
              </p:cNvPr>
              <p:cNvPicPr>
                <a:picLocks noChangeAspect="1"/>
              </p:cNvPicPr>
              <p:nvPr>
                <p:custDataLst>
                  <p:tags r:id="rId20"/>
                </p:custDataLst>
              </p:nvPr>
            </p:nvPicPr>
            <p:blipFill>
              <a:blip>
                <a:extLst>
                  <a:ext uri="{96DAC541-7B7A-43D3-8B79-37D633B846F1}">
                    <asvg:svgBlip xmlns:asvg="http://schemas.microsoft.com/office/drawing/2016/SVG/main" r:embed="rId23"/>
                  </a:ext>
                </a:extLst>
              </a:blip>
              <a:srcRect/>
              <a:stretch/>
            </p:blipFill>
            <p:spPr>
              <a:xfrm>
                <a:off x="2517484" y="1353888"/>
                <a:ext cx="553396" cy="553396"/>
              </a:xfrm>
              <a:prstGeom prst="rect">
                <a:avLst/>
              </a:prstGeom>
            </p:spPr>
          </p:pic>
        </p:grpSp>
        <p:sp>
          <p:nvSpPr>
            <p:cNvPr id="7" name="TextBox 6">
              <a:extLst>
                <a:ext uri="{FF2B5EF4-FFF2-40B4-BE49-F238E27FC236}">
                  <a16:creationId xmlns:a16="http://schemas.microsoft.com/office/drawing/2014/main" id="{D1AEC349-1BDC-9000-D77A-D0E138153BDB}"/>
                </a:ext>
              </a:extLst>
            </p:cNvPr>
            <p:cNvSpPr txBox="1"/>
            <p:nvPr>
              <p:custDataLst>
                <p:tags r:id="rId17"/>
              </p:custDataLst>
            </p:nvPr>
          </p:nvSpPr>
          <p:spPr>
            <a:xfrm>
              <a:off x="2007383" y="2164437"/>
              <a:ext cx="2119483" cy="698476"/>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err="1"/>
                <a:t>utm_id</a:t>
              </a:r>
              <a:r>
                <a:rPr lang="en-GB" b="1" dirty="0"/>
                <a:t> </a:t>
              </a:r>
              <a:r>
                <a:rPr lang="en-GB" dirty="0"/>
                <a:t>captures a universal identification key that carries pertinent data attributes into reporting tools. </a:t>
              </a:r>
              <a:endParaRPr lang="en-IN" dirty="0">
                <a:sym typeface="Wingdings"/>
              </a:endParaRPr>
            </a:p>
          </p:txBody>
        </p:sp>
        <p:sp>
          <p:nvSpPr>
            <p:cNvPr id="19" name="TextBox 18">
              <a:extLst>
                <a:ext uri="{FF2B5EF4-FFF2-40B4-BE49-F238E27FC236}">
                  <a16:creationId xmlns:a16="http://schemas.microsoft.com/office/drawing/2014/main" id="{C172B410-3C42-4365-B331-E7A0AF89E9E2}"/>
                </a:ext>
              </a:extLst>
            </p:cNvPr>
            <p:cNvSpPr txBox="1"/>
            <p:nvPr>
              <p:custDataLst>
                <p:tags r:id="rId18"/>
              </p:custDataLst>
            </p:nvPr>
          </p:nvSpPr>
          <p:spPr>
            <a:xfrm>
              <a:off x="2006420" y="3192177"/>
              <a:ext cx="212140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Passes the unique tracking string into the analytics platform to bridge digital traffic data with campaign attribution systems. </a:t>
              </a:r>
              <a:endParaRPr lang="en-IN" sz="1000" dirty="0">
                <a:sym typeface="Wingdings"/>
              </a:endParaRPr>
            </a:p>
          </p:txBody>
        </p:sp>
        <p:sp>
          <p:nvSpPr>
            <p:cNvPr id="39" name="Rectangle 3">
              <a:extLst>
                <a:ext uri="{FF2B5EF4-FFF2-40B4-BE49-F238E27FC236}">
                  <a16:creationId xmlns:a16="http://schemas.microsoft.com/office/drawing/2014/main" id="{2C5BF3AB-CC21-BB40-EAD4-A97A166B4C56}"/>
                </a:ext>
              </a:extLst>
            </p:cNvPr>
            <p:cNvSpPr>
              <a:spLocks noChangeArrowheads="1"/>
            </p:cNvSpPr>
            <p:nvPr/>
          </p:nvSpPr>
          <p:spPr bwMode="auto">
            <a:xfrm>
              <a:off x="2006420" y="4002087"/>
              <a:ext cx="2121408" cy="147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System Alignment: </a:t>
              </a:r>
              <a:r>
                <a:rPr lang="en-GB" sz="1000" dirty="0">
                  <a:solidFill>
                    <a:schemeClr val="bg1"/>
                  </a:solidFill>
                </a:rPr>
                <a:t>Must equal the </a:t>
              </a:r>
              <a:r>
                <a:rPr lang="en-GB" sz="1000" dirty="0" err="1">
                  <a:solidFill>
                    <a:schemeClr val="bg1"/>
                  </a:solidFill>
                </a:rPr>
                <a:t>ccid</a:t>
              </a:r>
              <a:r>
                <a:rPr lang="en-GB" sz="1000" dirty="0">
                  <a:solidFill>
                    <a:schemeClr val="bg1"/>
                  </a:solidFill>
                </a:rPr>
                <a:t> value exactly—they are the same underlying identifier passed in two separate ways on the URL string.</a:t>
              </a:r>
            </a:p>
            <a:p>
              <a:pPr eaLnBrk="0" fontAlgn="base" hangingPunct="0">
                <a:spcBef>
                  <a:spcPct val="0"/>
                </a:spcBef>
                <a:spcAft>
                  <a:spcPct val="0"/>
                </a:spcAft>
              </a:pPr>
              <a:r>
                <a:rPr lang="en-GB" sz="1000" b="1" dirty="0">
                  <a:solidFill>
                    <a:schemeClr val="bg1"/>
                  </a:solidFill>
                </a:rPr>
                <a:t>Global Formatting: </a:t>
              </a:r>
              <a:r>
                <a:rPr lang="en-GB" sz="1000" dirty="0">
                  <a:solidFill>
                    <a:schemeClr val="bg1"/>
                  </a:solidFill>
                </a:rPr>
                <a:t>Must always be lowercase and use hyphens instead of spaces if any text elements are ever included.</a:t>
              </a:r>
              <a:endParaRPr lang="en-US" altLang="en-US" sz="1000" dirty="0">
                <a:solidFill>
                  <a:schemeClr val="bg1"/>
                </a:solidFill>
              </a:endParaRPr>
            </a:p>
          </p:txBody>
        </p:sp>
        <p:sp>
          <p:nvSpPr>
            <p:cNvPr id="44" name="TextBox 43">
              <a:extLst>
                <a:ext uri="{FF2B5EF4-FFF2-40B4-BE49-F238E27FC236}">
                  <a16:creationId xmlns:a16="http://schemas.microsoft.com/office/drawing/2014/main" id="{6CFD4144-029C-9CC1-37F1-286537EEB263}"/>
                </a:ext>
              </a:extLst>
            </p:cNvPr>
            <p:cNvSpPr txBox="1"/>
            <p:nvPr/>
          </p:nvSpPr>
          <p:spPr>
            <a:xfrm>
              <a:off x="2006420" y="5946475"/>
              <a:ext cx="212140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dirty="0" err="1"/>
                <a:t>utm_id</a:t>
              </a:r>
              <a:r>
                <a:rPr lang="en-GB" dirty="0"/>
                <a:t>=cc008317 (where </a:t>
              </a:r>
              <a:r>
                <a:rPr lang="en-GB" dirty="0" err="1"/>
                <a:t>ccid</a:t>
              </a:r>
              <a:r>
                <a:rPr lang="en-GB" dirty="0"/>
                <a:t>=cc008317)</a:t>
              </a:r>
            </a:p>
          </p:txBody>
        </p:sp>
      </p:grpSp>
      <p:grpSp>
        <p:nvGrpSpPr>
          <p:cNvPr id="57" name="Group 56">
            <a:extLst>
              <a:ext uri="{FF2B5EF4-FFF2-40B4-BE49-F238E27FC236}">
                <a16:creationId xmlns:a16="http://schemas.microsoft.com/office/drawing/2014/main" id="{C636A43D-CB57-3369-10CB-274608AA662F}"/>
              </a:ext>
            </a:extLst>
          </p:cNvPr>
          <p:cNvGrpSpPr/>
          <p:nvPr/>
        </p:nvGrpSpPr>
        <p:grpSpPr>
          <a:xfrm>
            <a:off x="4273331" y="859000"/>
            <a:ext cx="2539848" cy="5333696"/>
            <a:chOff x="4273332" y="859000"/>
            <a:chExt cx="2539848" cy="5333696"/>
          </a:xfrm>
        </p:grpSpPr>
        <p:sp>
          <p:nvSpPr>
            <p:cNvPr id="11" name="TextBox 10">
              <a:extLst>
                <a:ext uri="{FF2B5EF4-FFF2-40B4-BE49-F238E27FC236}">
                  <a16:creationId xmlns:a16="http://schemas.microsoft.com/office/drawing/2014/main" id="{2A7B1D9F-FADC-9EDD-1DAB-3FBBE1E570AF}"/>
                </a:ext>
              </a:extLst>
            </p:cNvPr>
            <p:cNvSpPr txBox="1"/>
            <p:nvPr>
              <p:custDataLst>
                <p:tags r:id="rId11"/>
              </p:custDataLst>
            </p:nvPr>
          </p:nvSpPr>
          <p:spPr>
            <a:xfrm>
              <a:off x="4273332"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UTM_MEDIUM</a:t>
              </a:r>
            </a:p>
          </p:txBody>
        </p:sp>
        <p:grpSp>
          <p:nvGrpSpPr>
            <p:cNvPr id="23" name="Group 22">
              <a:extLst>
                <a:ext uri="{FF2B5EF4-FFF2-40B4-BE49-F238E27FC236}">
                  <a16:creationId xmlns:a16="http://schemas.microsoft.com/office/drawing/2014/main" id="{0A6EBAEB-D096-1B43-86D5-C25F8D78ED21}"/>
                </a:ext>
              </a:extLst>
            </p:cNvPr>
            <p:cNvGrpSpPr/>
            <p:nvPr/>
          </p:nvGrpSpPr>
          <p:grpSpPr>
            <a:xfrm>
              <a:off x="5150090" y="1301754"/>
              <a:ext cx="786332" cy="786331"/>
              <a:chOff x="4981422" y="1366087"/>
              <a:chExt cx="786332" cy="786331"/>
            </a:xfrm>
          </p:grpSpPr>
          <p:sp>
            <p:nvSpPr>
              <p:cNvPr id="10" name="Shape2_20250523_195849">
                <a:extLst>
                  <a:ext uri="{FF2B5EF4-FFF2-40B4-BE49-F238E27FC236}">
                    <a16:creationId xmlns:a16="http://schemas.microsoft.com/office/drawing/2014/main" id="{98298C46-93AF-8B9C-9DC0-D3D2EDC6621F}"/>
                  </a:ext>
                </a:extLst>
              </p:cNvPr>
              <p:cNvSpPr txBox="1">
                <a:spLocks noChangeAspect="1"/>
              </p:cNvSpPr>
              <p:nvPr>
                <p:custDataLst>
                  <p:tags r:id="rId14"/>
                </p:custDataLst>
              </p:nvPr>
            </p:nvSpPr>
            <p:spPr>
              <a:xfrm>
                <a:off x="4981422" y="136608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a:sym typeface="Arial"/>
                  </a:rPr>
                  <a:t> </a:t>
                </a:r>
                <a:endParaRPr>
                  <a:sym typeface="Arial"/>
                </a:endParaRPr>
              </a:p>
            </p:txBody>
          </p:sp>
          <p:pic>
            <p:nvPicPr>
              <p:cNvPr id="13" name="dark2" descr="Blockchain with solid fill">
                <a:extLst>
                  <a:ext uri="{FF2B5EF4-FFF2-40B4-BE49-F238E27FC236}">
                    <a16:creationId xmlns:a16="http://schemas.microsoft.com/office/drawing/2014/main" id="{2E65C67F-75B7-D4A9-AAB4-934746D1C7C7}"/>
                  </a:ext>
                </a:extLst>
              </p:cNvPr>
              <p:cNvPicPr>
                <a:picLocks noChangeAspect="1"/>
              </p:cNvPicPr>
              <p:nvPr>
                <p:custDataLst>
                  <p:tags r:id="rId15"/>
                </p:custDataLst>
              </p:nvPr>
            </p:nvPicPr>
            <p:blipFill>
              <a:blip>
                <a:extLst>
                  <a:ext uri="{96DAC541-7B7A-43D3-8B79-37D633B846F1}">
                    <asvg:svgBlip xmlns:asvg="http://schemas.microsoft.com/office/drawing/2016/SVG/main" r:embed="rId24"/>
                  </a:ext>
                </a:extLst>
              </a:blip>
              <a:srcRect/>
              <a:stretch/>
            </p:blipFill>
            <p:spPr>
              <a:xfrm>
                <a:off x="5102911" y="1487575"/>
                <a:ext cx="543355" cy="543355"/>
              </a:xfrm>
              <a:prstGeom prst="rect">
                <a:avLst/>
              </a:prstGeom>
            </p:spPr>
          </p:pic>
        </p:grpSp>
        <p:sp>
          <p:nvSpPr>
            <p:cNvPr id="12" name="TextBox 11">
              <a:extLst>
                <a:ext uri="{FF2B5EF4-FFF2-40B4-BE49-F238E27FC236}">
                  <a16:creationId xmlns:a16="http://schemas.microsoft.com/office/drawing/2014/main" id="{9EB0F2B9-0D2E-D4A9-1221-ABE93BC5D379}"/>
                </a:ext>
              </a:extLst>
            </p:cNvPr>
            <p:cNvSpPr txBox="1"/>
            <p:nvPr>
              <p:custDataLst>
                <p:tags r:id="rId12"/>
              </p:custDataLst>
            </p:nvPr>
          </p:nvSpPr>
          <p:spPr>
            <a:xfrm>
              <a:off x="4483515" y="2164437"/>
              <a:ext cx="2119483" cy="698476"/>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err="1"/>
                <a:t>utm_medium</a:t>
              </a:r>
              <a:r>
                <a:rPr lang="en-GB" dirty="0"/>
                <a:t> denotes the overarching high-level marketing vehicle or channel method used to distribute the message.</a:t>
              </a:r>
              <a:endParaRPr lang="en-IN" dirty="0">
                <a:sym typeface="Wingdings"/>
              </a:endParaRPr>
            </a:p>
          </p:txBody>
        </p:sp>
        <p:sp>
          <p:nvSpPr>
            <p:cNvPr id="20" name="TextBox 19">
              <a:extLst>
                <a:ext uri="{FF2B5EF4-FFF2-40B4-BE49-F238E27FC236}">
                  <a16:creationId xmlns:a16="http://schemas.microsoft.com/office/drawing/2014/main" id="{C9646896-ADA9-94E9-306B-8DC41CADD9E1}"/>
                </a:ext>
              </a:extLst>
            </p:cNvPr>
            <p:cNvSpPr txBox="1"/>
            <p:nvPr>
              <p:custDataLst>
                <p:tags r:id="rId13"/>
              </p:custDataLst>
            </p:nvPr>
          </p:nvSpPr>
          <p:spPr>
            <a:xfrm>
              <a:off x="4482552" y="3192177"/>
              <a:ext cx="2121408" cy="731520"/>
            </a:xfrm>
            <a:prstGeom prst="rect">
              <a:avLst/>
            </a:prstGeom>
            <a:noFill/>
          </p:spPr>
          <p:txBody>
            <a:bodyPr vert="horz" wrap="square" lIns="18288" tIns="18288" rIns="18288" bIns="18288" rtlCol="0" anchor="ctr">
              <a:normAutofit lnSpcReduction="10000"/>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Drives the core channel classification layer in reporting, allowing marketers to evaluate the comparative performance of broad deployment methods. </a:t>
              </a:r>
              <a:endParaRPr lang="en-IN" sz="1000" dirty="0">
                <a:sym typeface="Wingdings"/>
              </a:endParaRPr>
            </a:p>
          </p:txBody>
        </p:sp>
        <p:sp>
          <p:nvSpPr>
            <p:cNvPr id="41" name="Rectangle 4">
              <a:extLst>
                <a:ext uri="{FF2B5EF4-FFF2-40B4-BE49-F238E27FC236}">
                  <a16:creationId xmlns:a16="http://schemas.microsoft.com/office/drawing/2014/main" id="{AF81D9B5-B6E3-D62C-12FC-2620C77DC139}"/>
                </a:ext>
              </a:extLst>
            </p:cNvPr>
            <p:cNvSpPr>
              <a:spLocks noChangeArrowheads="1"/>
            </p:cNvSpPr>
            <p:nvPr/>
          </p:nvSpPr>
          <p:spPr bwMode="auto">
            <a:xfrm>
              <a:off x="4482552" y="4002087"/>
              <a:ext cx="212140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Highest-Priority Field: </a:t>
              </a:r>
              <a:r>
                <a:rPr lang="en-GB" sz="1000" dirty="0">
                  <a:solidFill>
                    <a:schemeClr val="bg1"/>
                  </a:solidFill>
                </a:rPr>
                <a:t>This is the highest-priority taxonomy input for macro channel classification across reporting dashboards.</a:t>
              </a:r>
            </a:p>
            <a:p>
              <a:pPr eaLnBrk="0" fontAlgn="base" hangingPunct="0">
                <a:spcBef>
                  <a:spcPct val="0"/>
                </a:spcBef>
                <a:spcAft>
                  <a:spcPct val="0"/>
                </a:spcAft>
              </a:pPr>
              <a:r>
                <a:rPr lang="en-GB" sz="1000" b="1" dirty="0">
                  <a:solidFill>
                    <a:schemeClr val="bg1"/>
                  </a:solidFill>
                </a:rPr>
                <a:t>Standardized Values Only: </a:t>
              </a:r>
              <a:r>
                <a:rPr lang="en-GB" sz="1000" dirty="0">
                  <a:solidFill>
                    <a:schemeClr val="bg1"/>
                  </a:solidFill>
                </a:rPr>
                <a:t>Users must strictly select from the pre-approved list of lowercase, hyphenated values (e.g., paid-social, </a:t>
              </a:r>
              <a:r>
                <a:rPr lang="en-GB" sz="1000" dirty="0" err="1">
                  <a:solidFill>
                    <a:schemeClr val="bg1"/>
                  </a:solidFill>
                </a:rPr>
                <a:t>cpc</a:t>
              </a:r>
              <a:r>
                <a:rPr lang="en-GB" sz="1000" dirty="0">
                  <a:solidFill>
                    <a:schemeClr val="bg1"/>
                  </a:solidFill>
                </a:rPr>
                <a:t>, email).</a:t>
              </a:r>
              <a:endParaRPr lang="en-US" altLang="en-US" sz="1000" dirty="0">
                <a:solidFill>
                  <a:schemeClr val="bg1"/>
                </a:solidFill>
              </a:endParaRPr>
            </a:p>
          </p:txBody>
        </p:sp>
        <p:sp>
          <p:nvSpPr>
            <p:cNvPr id="45" name="TextBox 44">
              <a:extLst>
                <a:ext uri="{FF2B5EF4-FFF2-40B4-BE49-F238E27FC236}">
                  <a16:creationId xmlns:a16="http://schemas.microsoft.com/office/drawing/2014/main" id="{687D0EE8-6554-0C89-5409-55D2188C3D80}"/>
                </a:ext>
              </a:extLst>
            </p:cNvPr>
            <p:cNvSpPr txBox="1"/>
            <p:nvPr/>
          </p:nvSpPr>
          <p:spPr>
            <a:xfrm>
              <a:off x="4482552" y="5946475"/>
              <a:ext cx="212140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800" b="1">
                  <a:solidFill>
                    <a:schemeClr val="accent2"/>
                  </a:solidFill>
                </a:defRPr>
              </a:lvl1pPr>
            </a:lstStyle>
            <a:p>
              <a:r>
                <a:rPr lang="en-GB" sz="1000" dirty="0" err="1"/>
                <a:t>utm_medium</a:t>
              </a:r>
              <a:r>
                <a:rPr lang="en-GB" sz="1000" dirty="0"/>
                <a:t>=paid-social</a:t>
              </a:r>
              <a:endParaRPr lang="en-GB" dirty="0"/>
            </a:p>
          </p:txBody>
        </p:sp>
      </p:grpSp>
      <p:grpSp>
        <p:nvGrpSpPr>
          <p:cNvPr id="56" name="Group 55">
            <a:extLst>
              <a:ext uri="{FF2B5EF4-FFF2-40B4-BE49-F238E27FC236}">
                <a16:creationId xmlns:a16="http://schemas.microsoft.com/office/drawing/2014/main" id="{A472A9E8-735E-8019-DB16-518F96A838F2}"/>
              </a:ext>
            </a:extLst>
          </p:cNvPr>
          <p:cNvGrpSpPr/>
          <p:nvPr/>
        </p:nvGrpSpPr>
        <p:grpSpPr>
          <a:xfrm>
            <a:off x="6749462" y="859000"/>
            <a:ext cx="2539848" cy="5333696"/>
            <a:chOff x="6749462" y="859000"/>
            <a:chExt cx="2539848" cy="5333696"/>
          </a:xfrm>
        </p:grpSpPr>
        <p:sp>
          <p:nvSpPr>
            <p:cNvPr id="16" name="TextBox 15">
              <a:extLst>
                <a:ext uri="{FF2B5EF4-FFF2-40B4-BE49-F238E27FC236}">
                  <a16:creationId xmlns:a16="http://schemas.microsoft.com/office/drawing/2014/main" id="{F3FCBB11-88EF-30BD-29B4-E557F27F1B6D}"/>
                </a:ext>
              </a:extLst>
            </p:cNvPr>
            <p:cNvSpPr txBox="1"/>
            <p:nvPr>
              <p:custDataLst>
                <p:tags r:id="rId6"/>
              </p:custDataLst>
            </p:nvPr>
          </p:nvSpPr>
          <p:spPr>
            <a:xfrm>
              <a:off x="6749462"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UTM_SOURCE</a:t>
              </a:r>
              <a:endPar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endParaRPr>
            </a:p>
          </p:txBody>
        </p:sp>
        <p:sp>
          <p:nvSpPr>
            <p:cNvPr id="17" name="TextBox 16">
              <a:extLst>
                <a:ext uri="{FF2B5EF4-FFF2-40B4-BE49-F238E27FC236}">
                  <a16:creationId xmlns:a16="http://schemas.microsoft.com/office/drawing/2014/main" id="{9BDC964D-4637-D6E4-0AEA-CBC5D4B9E902}"/>
                </a:ext>
              </a:extLst>
            </p:cNvPr>
            <p:cNvSpPr txBox="1"/>
            <p:nvPr>
              <p:custDataLst>
                <p:tags r:id="rId7"/>
              </p:custDataLst>
            </p:nvPr>
          </p:nvSpPr>
          <p:spPr>
            <a:xfrm>
              <a:off x="6959645" y="2164436"/>
              <a:ext cx="2119483" cy="970313"/>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err="1"/>
                <a:t>utm_source</a:t>
              </a:r>
              <a:r>
                <a:rPr lang="en-GB" dirty="0"/>
                <a:t> identifies the specific tactical platform, sub-vehicle, web property, or vendor that sent traffic to the campaign destination.</a:t>
              </a:r>
              <a:endParaRPr lang="en-IN" dirty="0">
                <a:sym typeface="Wingdings"/>
              </a:endParaRPr>
            </a:p>
          </p:txBody>
        </p:sp>
        <p:grpSp>
          <p:nvGrpSpPr>
            <p:cNvPr id="24" name="Group 23">
              <a:extLst>
                <a:ext uri="{FF2B5EF4-FFF2-40B4-BE49-F238E27FC236}">
                  <a16:creationId xmlns:a16="http://schemas.microsoft.com/office/drawing/2014/main" id="{031565A2-FAE4-95C0-A322-BB70933174A5}"/>
                </a:ext>
              </a:extLst>
            </p:cNvPr>
            <p:cNvGrpSpPr/>
            <p:nvPr/>
          </p:nvGrpSpPr>
          <p:grpSpPr>
            <a:xfrm>
              <a:off x="7626220" y="1301754"/>
              <a:ext cx="786332" cy="786331"/>
              <a:chOff x="9431957" y="1247111"/>
              <a:chExt cx="786332" cy="786331"/>
            </a:xfrm>
          </p:grpSpPr>
          <p:sp>
            <p:nvSpPr>
              <p:cNvPr id="15" name="Shape3_20250523_195849">
                <a:extLst>
                  <a:ext uri="{FF2B5EF4-FFF2-40B4-BE49-F238E27FC236}">
                    <a16:creationId xmlns:a16="http://schemas.microsoft.com/office/drawing/2014/main" id="{B756C344-706D-7A32-1576-2BA7D11EF05D}"/>
                  </a:ext>
                </a:extLst>
              </p:cNvPr>
              <p:cNvSpPr txBox="1">
                <a:spLocks noChangeAspect="1"/>
              </p:cNvSpPr>
              <p:nvPr>
                <p:custDataLst>
                  <p:tags r:id="rId9"/>
                </p:custDataLst>
              </p:nvPr>
            </p:nvSpPr>
            <p:spPr>
              <a:xfrm>
                <a:off x="9431957" y="124711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18" name="dark3" descr="Meeting with solid fill">
                <a:extLst>
                  <a:ext uri="{FF2B5EF4-FFF2-40B4-BE49-F238E27FC236}">
                    <a16:creationId xmlns:a16="http://schemas.microsoft.com/office/drawing/2014/main" id="{3B02805E-FA6D-830A-E783-BB50B03DF6A2}"/>
                  </a:ext>
                </a:extLst>
              </p:cNvPr>
              <p:cNvPicPr>
                <a:picLocks noChangeAspect="1"/>
              </p:cNvPicPr>
              <p:nvPr>
                <p:custDataLst>
                  <p:tags r:id="rId10"/>
                </p:custDataLst>
              </p:nvPr>
            </p:nvPicPr>
            <p:blipFill>
              <a:blip>
                <a:extLst>
                  <a:ext uri="{96DAC541-7B7A-43D3-8B79-37D633B846F1}">
                    <asvg:svgBlip xmlns:asvg="http://schemas.microsoft.com/office/drawing/2016/SVG/main" r:embed="rId25"/>
                  </a:ext>
                </a:extLst>
              </a:blip>
              <a:srcRect/>
              <a:stretch/>
            </p:blipFill>
            <p:spPr>
              <a:xfrm>
                <a:off x="9548425" y="1363578"/>
                <a:ext cx="553396" cy="553396"/>
              </a:xfrm>
              <a:prstGeom prst="rect">
                <a:avLst/>
              </a:prstGeom>
            </p:spPr>
          </p:pic>
        </p:grpSp>
        <p:sp>
          <p:nvSpPr>
            <p:cNvPr id="21" name="TextBox 20">
              <a:extLst>
                <a:ext uri="{FF2B5EF4-FFF2-40B4-BE49-F238E27FC236}">
                  <a16:creationId xmlns:a16="http://schemas.microsoft.com/office/drawing/2014/main" id="{9EBA905B-D3BA-5DD2-076C-C182BA2EDA76}"/>
                </a:ext>
              </a:extLst>
            </p:cNvPr>
            <p:cNvSpPr txBox="1"/>
            <p:nvPr>
              <p:custDataLst>
                <p:tags r:id="rId8"/>
              </p:custDataLst>
            </p:nvPr>
          </p:nvSpPr>
          <p:spPr>
            <a:xfrm>
              <a:off x="6958682" y="3192177"/>
              <a:ext cx="212140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Breaks down channel data into granular vendor-level performance metrics, clarifying which platforms drive visitors effectively. </a:t>
              </a:r>
              <a:endParaRPr lang="en-IN" sz="1000" dirty="0">
                <a:sym typeface="Wingdings"/>
              </a:endParaRPr>
            </a:p>
          </p:txBody>
        </p:sp>
        <p:sp>
          <p:nvSpPr>
            <p:cNvPr id="43" name="Rectangle 5">
              <a:extLst>
                <a:ext uri="{FF2B5EF4-FFF2-40B4-BE49-F238E27FC236}">
                  <a16:creationId xmlns:a16="http://schemas.microsoft.com/office/drawing/2014/main" id="{F1C95FCF-5B3D-3C09-CBA5-26B8AC545C8D}"/>
                </a:ext>
              </a:extLst>
            </p:cNvPr>
            <p:cNvSpPr>
              <a:spLocks noChangeArrowheads="1"/>
            </p:cNvSpPr>
            <p:nvPr/>
          </p:nvSpPr>
          <p:spPr bwMode="auto">
            <a:xfrm>
              <a:off x="6958682" y="4002087"/>
              <a:ext cx="212140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Channel Dependency: </a:t>
              </a:r>
              <a:r>
                <a:rPr lang="en-GB" sz="1000" dirty="0">
                  <a:solidFill>
                    <a:schemeClr val="bg1"/>
                  </a:solidFill>
                </a:rPr>
                <a:t>The available dropdown values in Workfront dynamically render based on the parent Channel Type selected by the user.</a:t>
              </a:r>
            </a:p>
            <a:p>
              <a:pPr eaLnBrk="0" fontAlgn="base" hangingPunct="0">
                <a:spcBef>
                  <a:spcPct val="0"/>
                </a:spcBef>
                <a:spcAft>
                  <a:spcPct val="0"/>
                </a:spcAft>
              </a:pPr>
              <a:r>
                <a:rPr lang="en-GB" sz="1000" b="1" dirty="0">
                  <a:solidFill>
                    <a:schemeClr val="bg1"/>
                  </a:solidFill>
                </a:rPr>
                <a:t>Taxonomy Formatting: </a:t>
              </a:r>
              <a:r>
                <a:rPr lang="en-GB" sz="1000" dirty="0">
                  <a:solidFill>
                    <a:schemeClr val="bg1"/>
                  </a:solidFill>
                </a:rPr>
                <a:t>Maps the user-selected friendly label to a lowercase, hyphenated string for consistent reporting rows. </a:t>
              </a:r>
              <a:endParaRPr lang="en-US" altLang="en-US" sz="1000" dirty="0">
                <a:solidFill>
                  <a:schemeClr val="bg1"/>
                </a:solidFill>
              </a:endParaRPr>
            </a:p>
          </p:txBody>
        </p:sp>
        <p:sp>
          <p:nvSpPr>
            <p:cNvPr id="46" name="TextBox 45">
              <a:extLst>
                <a:ext uri="{FF2B5EF4-FFF2-40B4-BE49-F238E27FC236}">
                  <a16:creationId xmlns:a16="http://schemas.microsoft.com/office/drawing/2014/main" id="{A65BFB5E-B478-699E-E429-593D8ADBDABC}"/>
                </a:ext>
              </a:extLst>
            </p:cNvPr>
            <p:cNvSpPr txBox="1"/>
            <p:nvPr/>
          </p:nvSpPr>
          <p:spPr>
            <a:xfrm>
              <a:off x="6958682" y="5946475"/>
              <a:ext cx="212140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a:t>utm_source=linkedin</a:t>
              </a:r>
              <a:endParaRPr lang="en-GB" b="0" dirty="0"/>
            </a:p>
          </p:txBody>
        </p:sp>
      </p:grpSp>
      <p:sp>
        <p:nvSpPr>
          <p:cNvPr id="25" name="TextBox 24">
            <a:extLst>
              <a:ext uri="{FF2B5EF4-FFF2-40B4-BE49-F238E27FC236}">
                <a16:creationId xmlns:a16="http://schemas.microsoft.com/office/drawing/2014/main" id="{7B72C7C4-5106-57BE-F08F-6333D75C93D2}"/>
              </a:ext>
            </a:extLst>
          </p:cNvPr>
          <p:cNvSpPr txBox="1"/>
          <p:nvPr/>
        </p:nvSpPr>
        <p:spPr>
          <a:xfrm>
            <a:off x="3642888" y="6285935"/>
            <a:ext cx="66445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bg1"/>
                </a:solidFill>
              </a:defRPr>
            </a:lvl1pPr>
          </a:lstStyle>
          <a:p>
            <a:r>
              <a:rPr lang="en-US" sz="800" dirty="0"/>
              <a:t>NB:. </a:t>
            </a:r>
            <a:r>
              <a:rPr lang="en-GB" sz="800" dirty="0"/>
              <a:t>Workfront Integration Roadmap: </a:t>
            </a:r>
            <a:r>
              <a:rPr lang="en-GB" sz="800" b="0" dirty="0"/>
              <a:t>When Workfront releases the capability to capture Workfront Channel IDs, the UTM_ID will adopt that value to replace the CCID. The release date is currently to be confirmed, and training documentation will be updated accordingly.</a:t>
            </a:r>
          </a:p>
        </p:txBody>
      </p:sp>
      <p:grpSp>
        <p:nvGrpSpPr>
          <p:cNvPr id="55" name="Group 54">
            <a:extLst>
              <a:ext uri="{FF2B5EF4-FFF2-40B4-BE49-F238E27FC236}">
                <a16:creationId xmlns:a16="http://schemas.microsoft.com/office/drawing/2014/main" id="{A1285CC9-4846-51E7-7161-2EAB755F020A}"/>
              </a:ext>
            </a:extLst>
          </p:cNvPr>
          <p:cNvGrpSpPr/>
          <p:nvPr/>
        </p:nvGrpSpPr>
        <p:grpSpPr>
          <a:xfrm>
            <a:off x="9225593" y="859000"/>
            <a:ext cx="2539848" cy="5333696"/>
            <a:chOff x="9225593" y="859000"/>
            <a:chExt cx="2539848" cy="5333696"/>
          </a:xfrm>
        </p:grpSpPr>
        <p:sp>
          <p:nvSpPr>
            <p:cNvPr id="36" name="TextBox 35">
              <a:extLst>
                <a:ext uri="{FF2B5EF4-FFF2-40B4-BE49-F238E27FC236}">
                  <a16:creationId xmlns:a16="http://schemas.microsoft.com/office/drawing/2014/main" id="{EBEDF3A1-476F-713D-5A2C-434A15171048}"/>
                </a:ext>
              </a:extLst>
            </p:cNvPr>
            <p:cNvSpPr txBox="1"/>
            <p:nvPr>
              <p:custDataLst>
                <p:tags r:id="rId1"/>
              </p:custDataLst>
            </p:nvPr>
          </p:nvSpPr>
          <p:spPr>
            <a:xfrm>
              <a:off x="9225593"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UTM_CREATIVE</a:t>
              </a:r>
              <a:endPar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endParaRPr>
            </a:p>
          </p:txBody>
        </p:sp>
        <p:sp>
          <p:nvSpPr>
            <p:cNvPr id="37" name="TextBox 36">
              <a:extLst>
                <a:ext uri="{FF2B5EF4-FFF2-40B4-BE49-F238E27FC236}">
                  <a16:creationId xmlns:a16="http://schemas.microsoft.com/office/drawing/2014/main" id="{7285693B-516E-22BC-7DCA-082FB7FB7954}"/>
                </a:ext>
              </a:extLst>
            </p:cNvPr>
            <p:cNvSpPr txBox="1"/>
            <p:nvPr>
              <p:custDataLst>
                <p:tags r:id="rId2"/>
              </p:custDataLst>
            </p:nvPr>
          </p:nvSpPr>
          <p:spPr>
            <a:xfrm>
              <a:off x="9435776" y="2164436"/>
              <a:ext cx="2119483" cy="970313"/>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err="1"/>
                <a:t>utm_creative</a:t>
              </a:r>
              <a:r>
                <a:rPr lang="en-GB" dirty="0"/>
                <a:t> parameter captures creative-level identifiers linked directly to ad-serving infrastructure</a:t>
              </a:r>
              <a:endParaRPr lang="en-IN" dirty="0">
                <a:sym typeface="Wingdings"/>
              </a:endParaRPr>
            </a:p>
          </p:txBody>
        </p:sp>
        <p:grpSp>
          <p:nvGrpSpPr>
            <p:cNvPr id="38" name="Group 37">
              <a:extLst>
                <a:ext uri="{FF2B5EF4-FFF2-40B4-BE49-F238E27FC236}">
                  <a16:creationId xmlns:a16="http://schemas.microsoft.com/office/drawing/2014/main" id="{C6886A8B-A93B-5303-D5D5-AD9DC13FEF50}"/>
                </a:ext>
              </a:extLst>
            </p:cNvPr>
            <p:cNvGrpSpPr/>
            <p:nvPr/>
          </p:nvGrpSpPr>
          <p:grpSpPr>
            <a:xfrm>
              <a:off x="10102351" y="1301754"/>
              <a:ext cx="786332" cy="786331"/>
              <a:chOff x="9431957" y="1247111"/>
              <a:chExt cx="786332" cy="786331"/>
            </a:xfrm>
          </p:grpSpPr>
          <p:sp>
            <p:nvSpPr>
              <p:cNvPr id="48" name="Shape3_20250523_195849">
                <a:extLst>
                  <a:ext uri="{FF2B5EF4-FFF2-40B4-BE49-F238E27FC236}">
                    <a16:creationId xmlns:a16="http://schemas.microsoft.com/office/drawing/2014/main" id="{8BB512AC-1516-64B3-3948-C4BB4B169519}"/>
                  </a:ext>
                </a:extLst>
              </p:cNvPr>
              <p:cNvSpPr txBox="1">
                <a:spLocks noChangeAspect="1"/>
              </p:cNvSpPr>
              <p:nvPr>
                <p:custDataLst>
                  <p:tags r:id="rId4"/>
                </p:custDataLst>
              </p:nvPr>
            </p:nvSpPr>
            <p:spPr>
              <a:xfrm>
                <a:off x="9431957" y="124711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49" name="dark3" descr="Palette with solid fill">
                <a:extLst>
                  <a:ext uri="{FF2B5EF4-FFF2-40B4-BE49-F238E27FC236}">
                    <a16:creationId xmlns:a16="http://schemas.microsoft.com/office/drawing/2014/main" id="{792D9E90-79FF-F590-B224-BFA4BD2F0335}"/>
                  </a:ext>
                </a:extLst>
              </p:cNvPr>
              <p:cNvPicPr>
                <a:picLocks noChangeAspect="1"/>
              </p:cNvPicPr>
              <p:nvPr>
                <p:custDataLst>
                  <p:tags r:id="rId5"/>
                </p:custDataLst>
              </p:nvPr>
            </p:nvPicPr>
            <p:blipFill>
              <a:blip>
                <a:extLst>
                  <a:ext uri="{96DAC541-7B7A-43D3-8B79-37D633B846F1}">
                    <asvg:svgBlip xmlns:asvg="http://schemas.microsoft.com/office/drawing/2016/SVG/main" r:embed="rId26"/>
                  </a:ext>
                </a:extLst>
              </a:blip>
              <a:srcRect/>
              <a:stretch/>
            </p:blipFill>
            <p:spPr>
              <a:xfrm>
                <a:off x="9548425" y="1363578"/>
                <a:ext cx="553396" cy="553396"/>
              </a:xfrm>
              <a:prstGeom prst="rect">
                <a:avLst/>
              </a:prstGeom>
            </p:spPr>
          </p:pic>
        </p:grpSp>
        <p:sp>
          <p:nvSpPr>
            <p:cNvPr id="40" name="TextBox 39">
              <a:extLst>
                <a:ext uri="{FF2B5EF4-FFF2-40B4-BE49-F238E27FC236}">
                  <a16:creationId xmlns:a16="http://schemas.microsoft.com/office/drawing/2014/main" id="{18DB4E0F-F754-3295-7254-932448AFA003}"/>
                </a:ext>
              </a:extLst>
            </p:cNvPr>
            <p:cNvSpPr txBox="1"/>
            <p:nvPr>
              <p:custDataLst>
                <p:tags r:id="rId3"/>
              </p:custDataLst>
            </p:nvPr>
          </p:nvSpPr>
          <p:spPr>
            <a:xfrm>
              <a:off x="9434813" y="3192177"/>
              <a:ext cx="2121408" cy="731520"/>
            </a:xfrm>
            <a:prstGeom prst="rect">
              <a:avLst/>
            </a:prstGeom>
            <a:noFill/>
          </p:spPr>
          <p:txBody>
            <a:bodyPr vert="horz" wrap="square" lIns="18288" tIns="18288" rIns="18288" bIns="18288" rtlCol="0" anchor="ctr">
              <a:normAutofit lnSpcReduction="10000"/>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racks user clicks down to the exact ad variation, enabling creative-level optimization and performance diagnostics within downstream analytics. </a:t>
              </a:r>
              <a:endParaRPr lang="en-IN" sz="1000" dirty="0">
                <a:sym typeface="Wingdings"/>
              </a:endParaRPr>
            </a:p>
          </p:txBody>
        </p:sp>
        <p:sp>
          <p:nvSpPr>
            <p:cNvPr id="42" name="Rectangle 5">
              <a:extLst>
                <a:ext uri="{FF2B5EF4-FFF2-40B4-BE49-F238E27FC236}">
                  <a16:creationId xmlns:a16="http://schemas.microsoft.com/office/drawing/2014/main" id="{A6E9B0F5-D58A-ABEC-3E7A-0D7EE49CABDE}"/>
                </a:ext>
              </a:extLst>
            </p:cNvPr>
            <p:cNvSpPr>
              <a:spLocks noChangeArrowheads="1"/>
            </p:cNvSpPr>
            <p:nvPr/>
          </p:nvSpPr>
          <p:spPr bwMode="auto">
            <a:xfrm>
              <a:off x="9435776" y="4002087"/>
              <a:ext cx="2119483"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Channel Restrictions: </a:t>
              </a:r>
              <a:r>
                <a:rPr lang="en-GB" sz="1000" dirty="0">
                  <a:solidFill>
                    <a:schemeClr val="bg1"/>
                  </a:solidFill>
                </a:rPr>
                <a:t>Only required and populated for three specific project types: Direct Media, Programmatic Media, and Paid Social. Omit entirely for other channels. </a:t>
              </a:r>
            </a:p>
            <a:p>
              <a:pPr eaLnBrk="0" fontAlgn="base" hangingPunct="0">
                <a:spcBef>
                  <a:spcPct val="0"/>
                </a:spcBef>
                <a:spcAft>
                  <a:spcPct val="0"/>
                </a:spcAft>
              </a:pPr>
              <a:r>
                <a:rPr lang="en-GB" sz="1000" b="1" dirty="0">
                  <a:solidFill>
                    <a:schemeClr val="bg1"/>
                  </a:solidFill>
                </a:rPr>
                <a:t>Macro Token Automation: </a:t>
              </a:r>
              <a:r>
                <a:rPr lang="en-GB" sz="1000" dirty="0">
                  <a:solidFill>
                    <a:schemeClr val="bg1"/>
                  </a:solidFill>
                </a:rPr>
                <a:t>Automatically appends the static %</a:t>
              </a:r>
              <a:r>
                <a:rPr lang="en-GB" sz="1000" dirty="0" err="1">
                  <a:solidFill>
                    <a:schemeClr val="bg1"/>
                  </a:solidFill>
                </a:rPr>
                <a:t>ecid</a:t>
              </a:r>
              <a:r>
                <a:rPr lang="en-GB" sz="1000" dirty="0">
                  <a:solidFill>
                    <a:schemeClr val="bg1"/>
                  </a:solidFill>
                </a:rPr>
                <a:t>! macro token, which CM360 replaces with a 9-digit ad-server ID upon a live click. </a:t>
              </a:r>
              <a:endParaRPr lang="en-US" altLang="en-US" sz="1000" dirty="0">
                <a:solidFill>
                  <a:schemeClr val="bg1"/>
                </a:solidFill>
              </a:endParaRPr>
            </a:p>
          </p:txBody>
        </p:sp>
        <p:sp>
          <p:nvSpPr>
            <p:cNvPr id="47" name="TextBox 46">
              <a:extLst>
                <a:ext uri="{FF2B5EF4-FFF2-40B4-BE49-F238E27FC236}">
                  <a16:creationId xmlns:a16="http://schemas.microsoft.com/office/drawing/2014/main" id="{0238DDE6-23E4-7DE0-18FE-26563E32AEBB}"/>
                </a:ext>
              </a:extLst>
            </p:cNvPr>
            <p:cNvSpPr txBox="1"/>
            <p:nvPr/>
          </p:nvSpPr>
          <p:spPr>
            <a:xfrm>
              <a:off x="9434813" y="5946475"/>
              <a:ext cx="212140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a:t>utm_source=linkedin</a:t>
              </a:r>
              <a:endParaRPr lang="en-GB" b="0" dirty="0"/>
            </a:p>
          </p:txBody>
        </p:sp>
      </p:grpSp>
    </p:spTree>
    <p:extLst>
      <p:ext uri="{BB962C8B-B14F-4D97-AF65-F5344CB8AC3E}">
        <p14:creationId xmlns:p14="http://schemas.microsoft.com/office/powerpoint/2010/main" val="452864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AA2E1-A6C1-DB44-AA91-871B83496B8A}"/>
              </a:ext>
            </a:extLst>
          </p:cNvPr>
          <p:cNvSpPr>
            <a:spLocks noGrp="1"/>
          </p:cNvSpPr>
          <p:nvPr>
            <p:ph type="title"/>
          </p:nvPr>
        </p:nvSpPr>
        <p:spPr/>
        <p:txBody>
          <a:bodyPr/>
          <a:lstStyle/>
          <a:p>
            <a:r>
              <a:rPr lang="en-US" dirty="0"/>
              <a:t>Empowering the Automation Engine Via Workfront</a:t>
            </a:r>
            <a:endParaRPr lang="en-GB" dirty="0"/>
          </a:p>
        </p:txBody>
      </p:sp>
      <p:grpSp>
        <p:nvGrpSpPr>
          <p:cNvPr id="27" name="Group 26">
            <a:extLst>
              <a:ext uri="{FF2B5EF4-FFF2-40B4-BE49-F238E27FC236}">
                <a16:creationId xmlns:a16="http://schemas.microsoft.com/office/drawing/2014/main" id="{5D7D7A40-53C2-669C-EBAF-07E3424F0F86}"/>
              </a:ext>
            </a:extLst>
          </p:cNvPr>
          <p:cNvGrpSpPr/>
          <p:nvPr/>
        </p:nvGrpSpPr>
        <p:grpSpPr>
          <a:xfrm>
            <a:off x="4631416" y="1176336"/>
            <a:ext cx="3051153" cy="4776724"/>
            <a:chOff x="4631416" y="1176336"/>
            <a:chExt cx="3051153" cy="4776724"/>
          </a:xfrm>
        </p:grpSpPr>
        <p:sp>
          <p:nvSpPr>
            <p:cNvPr id="12" name="Rectangle: Rounded Corners 11">
              <a:extLst>
                <a:ext uri="{FF2B5EF4-FFF2-40B4-BE49-F238E27FC236}">
                  <a16:creationId xmlns:a16="http://schemas.microsoft.com/office/drawing/2014/main" id="{032C461D-3726-2E34-C670-0D95E8B92523}"/>
                </a:ext>
              </a:extLst>
            </p:cNvPr>
            <p:cNvSpPr/>
            <p:nvPr/>
          </p:nvSpPr>
          <p:spPr>
            <a:xfrm>
              <a:off x="4631416" y="1444122"/>
              <a:ext cx="3051153" cy="4508938"/>
            </a:xfrm>
            <a:prstGeom prst="roundRect">
              <a:avLst>
                <a:gd name="adj" fmla="val 981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Rectangle: Rounded Corners 12">
              <a:extLst>
                <a:ext uri="{FF2B5EF4-FFF2-40B4-BE49-F238E27FC236}">
                  <a16:creationId xmlns:a16="http://schemas.microsoft.com/office/drawing/2014/main" id="{1ACB4D82-EC92-C45D-6E9D-5F3203DD9739}"/>
                </a:ext>
              </a:extLst>
            </p:cNvPr>
            <p:cNvSpPr/>
            <p:nvPr/>
          </p:nvSpPr>
          <p:spPr>
            <a:xfrm>
              <a:off x="4939863" y="1176336"/>
              <a:ext cx="2434258" cy="53557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Eliminating Manual Error</a:t>
              </a:r>
              <a:endParaRPr lang="en-GB" sz="1600" b="1" dirty="0">
                <a:solidFill>
                  <a:schemeClr val="bg1"/>
                </a:solidFill>
              </a:endParaRPr>
            </a:p>
          </p:txBody>
        </p:sp>
        <p:sp>
          <p:nvSpPr>
            <p:cNvPr id="14" name="TextBox 13">
              <a:extLst>
                <a:ext uri="{FF2B5EF4-FFF2-40B4-BE49-F238E27FC236}">
                  <a16:creationId xmlns:a16="http://schemas.microsoft.com/office/drawing/2014/main" id="{D3ADF173-2C7F-D88F-C6E7-3CF35A4E4DA3}"/>
                </a:ext>
              </a:extLst>
            </p:cNvPr>
            <p:cNvSpPr txBox="1"/>
            <p:nvPr/>
          </p:nvSpPr>
          <p:spPr>
            <a:xfrm>
              <a:off x="4810617" y="4382814"/>
              <a:ext cx="2692751" cy="111619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Upon submission, Workfront reads intake form fields to auto-generate the complete Tracking URL</a:t>
              </a:r>
              <a:endParaRPr lang="en-GB" sz="1600" kern="1200" dirty="0" err="1">
                <a:solidFill>
                  <a:schemeClr val="bg1"/>
                </a:solidFill>
                <a:latin typeface="+mn-lt"/>
                <a:ea typeface="ＭＳ Ｐゴシック" charset="0"/>
              </a:endParaRPr>
            </a:p>
          </p:txBody>
        </p:sp>
        <p:pic>
          <p:nvPicPr>
            <p:cNvPr id="17" name="Picture 16">
              <a:extLst>
                <a:ext uri="{FF2B5EF4-FFF2-40B4-BE49-F238E27FC236}">
                  <a16:creationId xmlns:a16="http://schemas.microsoft.com/office/drawing/2014/main" id="{8C519797-2C5A-5EC3-C9F8-2BB05E241B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153" y="1979693"/>
              <a:ext cx="2865679" cy="2489120"/>
            </a:xfrm>
            <a:prstGeom prst="rect">
              <a:avLst/>
            </a:prstGeom>
          </p:spPr>
        </p:pic>
      </p:grpSp>
      <p:grpSp>
        <p:nvGrpSpPr>
          <p:cNvPr id="26" name="Group 25">
            <a:extLst>
              <a:ext uri="{FF2B5EF4-FFF2-40B4-BE49-F238E27FC236}">
                <a16:creationId xmlns:a16="http://schemas.microsoft.com/office/drawing/2014/main" id="{F7EA61C3-F2F7-8079-90DC-7B2F356ADD2F}"/>
              </a:ext>
            </a:extLst>
          </p:cNvPr>
          <p:cNvGrpSpPr/>
          <p:nvPr/>
        </p:nvGrpSpPr>
        <p:grpSpPr>
          <a:xfrm>
            <a:off x="1168258" y="1176336"/>
            <a:ext cx="3051153" cy="4776724"/>
            <a:chOff x="1168258" y="1176336"/>
            <a:chExt cx="3051153" cy="4776724"/>
          </a:xfrm>
        </p:grpSpPr>
        <p:grpSp>
          <p:nvGrpSpPr>
            <p:cNvPr id="24" name="Group 23">
              <a:extLst>
                <a:ext uri="{FF2B5EF4-FFF2-40B4-BE49-F238E27FC236}">
                  <a16:creationId xmlns:a16="http://schemas.microsoft.com/office/drawing/2014/main" id="{D7FB4F94-B613-473F-E0D6-1F03B42750D1}"/>
                </a:ext>
              </a:extLst>
            </p:cNvPr>
            <p:cNvGrpSpPr/>
            <p:nvPr/>
          </p:nvGrpSpPr>
          <p:grpSpPr>
            <a:xfrm>
              <a:off x="1168258" y="1176336"/>
              <a:ext cx="3051153" cy="4776724"/>
              <a:chOff x="1168258" y="1176336"/>
              <a:chExt cx="3051153" cy="4776724"/>
            </a:xfrm>
          </p:grpSpPr>
          <p:grpSp>
            <p:nvGrpSpPr>
              <p:cNvPr id="10" name="Group 9">
                <a:extLst>
                  <a:ext uri="{FF2B5EF4-FFF2-40B4-BE49-F238E27FC236}">
                    <a16:creationId xmlns:a16="http://schemas.microsoft.com/office/drawing/2014/main" id="{2B31DCAA-5856-82E1-183D-AF14BA1A54B7}"/>
                  </a:ext>
                </a:extLst>
              </p:cNvPr>
              <p:cNvGrpSpPr/>
              <p:nvPr/>
            </p:nvGrpSpPr>
            <p:grpSpPr>
              <a:xfrm>
                <a:off x="1168258" y="1176336"/>
                <a:ext cx="3051153" cy="4776724"/>
                <a:chOff x="1168258" y="1176336"/>
                <a:chExt cx="3051153" cy="4776724"/>
              </a:xfrm>
            </p:grpSpPr>
            <p:sp>
              <p:nvSpPr>
                <p:cNvPr id="3" name="Rectangle: Rounded Corners 2">
                  <a:extLst>
                    <a:ext uri="{FF2B5EF4-FFF2-40B4-BE49-F238E27FC236}">
                      <a16:creationId xmlns:a16="http://schemas.microsoft.com/office/drawing/2014/main" id="{A00F47DA-3D82-AAD7-E23D-F4E8BFC7B1E7}"/>
                    </a:ext>
                  </a:extLst>
                </p:cNvPr>
                <p:cNvSpPr/>
                <p:nvPr/>
              </p:nvSpPr>
              <p:spPr>
                <a:xfrm>
                  <a:off x="1168258" y="1444122"/>
                  <a:ext cx="3051153" cy="4508938"/>
                </a:xfrm>
                <a:prstGeom prst="roundRect">
                  <a:avLst>
                    <a:gd name="adj" fmla="val 981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 name="Rectangle: Rounded Corners 5">
                  <a:extLst>
                    <a:ext uri="{FF2B5EF4-FFF2-40B4-BE49-F238E27FC236}">
                      <a16:creationId xmlns:a16="http://schemas.microsoft.com/office/drawing/2014/main" id="{33F21511-D5FD-B46D-8E25-30B065CE76F6}"/>
                    </a:ext>
                  </a:extLst>
                </p:cNvPr>
                <p:cNvSpPr/>
                <p:nvPr/>
              </p:nvSpPr>
              <p:spPr>
                <a:xfrm>
                  <a:off x="1476705" y="1176336"/>
                  <a:ext cx="2434258" cy="53557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Centralized Intake</a:t>
                  </a:r>
                  <a:endParaRPr lang="en-GB" sz="1600" b="1" dirty="0">
                    <a:solidFill>
                      <a:schemeClr val="bg1"/>
                    </a:solidFill>
                  </a:endParaRPr>
                </a:p>
              </p:txBody>
            </p:sp>
            <p:sp>
              <p:nvSpPr>
                <p:cNvPr id="7" name="TextBox 6">
                  <a:extLst>
                    <a:ext uri="{FF2B5EF4-FFF2-40B4-BE49-F238E27FC236}">
                      <a16:creationId xmlns:a16="http://schemas.microsoft.com/office/drawing/2014/main" id="{3790E6A5-2217-A06D-89D8-B13E938A6965}"/>
                    </a:ext>
                  </a:extLst>
                </p:cNvPr>
                <p:cNvSpPr txBox="1"/>
                <p:nvPr/>
              </p:nvSpPr>
              <p:spPr>
                <a:xfrm>
                  <a:off x="1347459" y="4382814"/>
                  <a:ext cx="2692751" cy="111619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Workfront is the absolute source of truth for campaign intake</a:t>
                  </a:r>
                  <a:endParaRPr lang="en-GB" sz="1600" kern="1200" dirty="0" err="1">
                    <a:solidFill>
                      <a:schemeClr val="bg1"/>
                    </a:solidFill>
                    <a:latin typeface="+mn-lt"/>
                    <a:ea typeface="ＭＳ Ｐゴシック" charset="0"/>
                  </a:endParaRPr>
                </a:p>
              </p:txBody>
            </p:sp>
          </p:grpSp>
          <p:pic>
            <p:nvPicPr>
              <p:cNvPr id="19" name="Picture 18">
                <a:extLst>
                  <a:ext uri="{FF2B5EF4-FFF2-40B4-BE49-F238E27FC236}">
                    <a16:creationId xmlns:a16="http://schemas.microsoft.com/office/drawing/2014/main" id="{E66DDB4D-4B4A-989A-57BD-E3A0C6900A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1435" y="2049069"/>
                <a:ext cx="2711959" cy="2419744"/>
              </a:xfrm>
              <a:prstGeom prst="rect">
                <a:avLst/>
              </a:prstGeom>
            </p:spPr>
          </p:pic>
        </p:grpSp>
        <p:sp>
          <p:nvSpPr>
            <p:cNvPr id="20" name="TextBox 19">
              <a:extLst>
                <a:ext uri="{FF2B5EF4-FFF2-40B4-BE49-F238E27FC236}">
                  <a16:creationId xmlns:a16="http://schemas.microsoft.com/office/drawing/2014/main" id="{E1C916AA-6D6E-C887-E65E-8549B5814932}"/>
                </a:ext>
              </a:extLst>
            </p:cNvPr>
            <p:cNvSpPr txBox="1"/>
            <p:nvPr/>
          </p:nvSpPr>
          <p:spPr>
            <a:xfrm>
              <a:off x="1377238" y="3042242"/>
              <a:ext cx="834893" cy="310372"/>
            </a:xfrm>
            <a:prstGeom prst="rect">
              <a:avLst/>
            </a:prstGeom>
            <a:noFill/>
          </p:spPr>
          <p:txBody>
            <a:bodyPr wrap="square" lIns="0" tIns="0" rIns="0" bIns="0" rtlCol="0">
              <a:noAutofit/>
            </a:bodyPr>
            <a:lstStyle/>
            <a:p>
              <a:pPr algn="ctr" defTabSz="912276" rtl="0" eaLnBrk="1" fontAlgn="base" hangingPunct="1">
                <a:lnSpc>
                  <a:spcPct val="100000"/>
                </a:lnSpc>
                <a:spcBef>
                  <a:spcPts val="0"/>
                </a:spcBef>
                <a:buClr>
                  <a:schemeClr val="bg1"/>
                </a:buClr>
                <a:buSzPct val="100000"/>
              </a:pPr>
              <a:r>
                <a:rPr lang="en-US" sz="900" b="1" kern="1200" dirty="0">
                  <a:solidFill>
                    <a:schemeClr val="bg1"/>
                  </a:solidFill>
                  <a:latin typeface="+mn-lt"/>
                  <a:ea typeface="ＭＳ Ｐゴシック" charset="0"/>
                </a:rPr>
                <a:t>TEAM A</a:t>
              </a:r>
            </a:p>
            <a:p>
              <a:pPr algn="ctr" defTabSz="912276" rtl="0" eaLnBrk="1" fontAlgn="base" hangingPunct="1">
                <a:lnSpc>
                  <a:spcPct val="100000"/>
                </a:lnSpc>
                <a:spcBef>
                  <a:spcPts val="0"/>
                </a:spcBef>
                <a:buClr>
                  <a:schemeClr val="bg1"/>
                </a:buClr>
                <a:buSzPct val="100000"/>
              </a:pPr>
              <a:r>
                <a:rPr lang="en-US" sz="900" dirty="0">
                  <a:solidFill>
                    <a:schemeClr val="bg1"/>
                  </a:solidFill>
                  <a:ea typeface="ＭＳ Ｐゴシック" charset="0"/>
                </a:rPr>
                <a:t>Global Media</a:t>
              </a:r>
              <a:endParaRPr lang="en-GB" sz="9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F1440149-87DC-4138-346A-8004AD886B41}"/>
                </a:ext>
              </a:extLst>
            </p:cNvPr>
            <p:cNvSpPr txBox="1"/>
            <p:nvPr/>
          </p:nvSpPr>
          <p:spPr>
            <a:xfrm>
              <a:off x="3215374" y="3103755"/>
              <a:ext cx="951197" cy="310372"/>
            </a:xfrm>
            <a:prstGeom prst="rect">
              <a:avLst/>
            </a:prstGeom>
            <a:noFill/>
          </p:spPr>
          <p:txBody>
            <a:bodyPr wrap="square" lIns="0" tIns="0" rIns="0" bIns="0" rtlCol="0">
              <a:noAutofit/>
            </a:bodyPr>
            <a:lstStyle/>
            <a:p>
              <a:pPr algn="ctr" defTabSz="912276" rtl="0" eaLnBrk="1" fontAlgn="base" hangingPunct="1">
                <a:lnSpc>
                  <a:spcPct val="100000"/>
                </a:lnSpc>
                <a:spcBef>
                  <a:spcPts val="0"/>
                </a:spcBef>
                <a:buClr>
                  <a:schemeClr val="bg1"/>
                </a:buClr>
                <a:buSzPct val="100000"/>
              </a:pPr>
              <a:r>
                <a:rPr lang="en-US" sz="900" b="1" kern="1200" dirty="0">
                  <a:solidFill>
                    <a:schemeClr val="bg1"/>
                  </a:solidFill>
                  <a:latin typeface="+mn-lt"/>
                  <a:ea typeface="ＭＳ Ｐゴシック" charset="0"/>
                </a:rPr>
                <a:t>TEAM B</a:t>
              </a:r>
            </a:p>
            <a:p>
              <a:pPr algn="ctr" defTabSz="912276" rtl="0" eaLnBrk="1" fontAlgn="base" hangingPunct="1">
                <a:lnSpc>
                  <a:spcPct val="100000"/>
                </a:lnSpc>
                <a:spcBef>
                  <a:spcPts val="0"/>
                </a:spcBef>
                <a:buClr>
                  <a:schemeClr val="bg1"/>
                </a:buClr>
                <a:buSzPct val="100000"/>
              </a:pPr>
              <a:r>
                <a:rPr lang="en-US" sz="900" dirty="0">
                  <a:solidFill>
                    <a:schemeClr val="bg1"/>
                  </a:solidFill>
                  <a:ea typeface="ＭＳ Ｐゴシック" charset="0"/>
                </a:rPr>
                <a:t>Field Marketing</a:t>
              </a:r>
              <a:endParaRPr lang="en-GB" sz="900" kern="1200" dirty="0" err="1">
                <a:solidFill>
                  <a:schemeClr val="bg1"/>
                </a:solidFill>
                <a:latin typeface="+mn-lt"/>
                <a:ea typeface="ＭＳ Ｐゴシック" charset="0"/>
              </a:endParaRPr>
            </a:p>
          </p:txBody>
        </p:sp>
        <p:sp>
          <p:nvSpPr>
            <p:cNvPr id="22" name="TextBox 21">
              <a:extLst>
                <a:ext uri="{FF2B5EF4-FFF2-40B4-BE49-F238E27FC236}">
                  <a16:creationId xmlns:a16="http://schemas.microsoft.com/office/drawing/2014/main" id="{5E696301-90F9-7727-1EA6-E91B8F9A872E}"/>
                </a:ext>
              </a:extLst>
            </p:cNvPr>
            <p:cNvSpPr txBox="1"/>
            <p:nvPr/>
          </p:nvSpPr>
          <p:spPr>
            <a:xfrm>
              <a:off x="2967251" y="4188187"/>
              <a:ext cx="1199320" cy="310372"/>
            </a:xfrm>
            <a:prstGeom prst="rect">
              <a:avLst/>
            </a:prstGeom>
            <a:noFill/>
          </p:spPr>
          <p:txBody>
            <a:bodyPr wrap="square" lIns="0" tIns="0" rIns="0" bIns="0" rtlCol="0">
              <a:noAutofit/>
            </a:bodyPr>
            <a:lstStyle/>
            <a:p>
              <a:pPr algn="ctr" defTabSz="912276" rtl="0" eaLnBrk="1" fontAlgn="base" hangingPunct="1">
                <a:lnSpc>
                  <a:spcPct val="100000"/>
                </a:lnSpc>
                <a:spcBef>
                  <a:spcPts val="0"/>
                </a:spcBef>
                <a:buClr>
                  <a:schemeClr val="bg1"/>
                </a:buClr>
                <a:buSzPct val="100000"/>
              </a:pPr>
              <a:r>
                <a:rPr lang="en-US" sz="900" b="1" kern="1200" dirty="0">
                  <a:solidFill>
                    <a:schemeClr val="bg1"/>
                  </a:solidFill>
                  <a:latin typeface="+mn-lt"/>
                  <a:ea typeface="ＭＳ Ｐゴシック" charset="0"/>
                </a:rPr>
                <a:t>TEAM C</a:t>
              </a:r>
            </a:p>
            <a:p>
              <a:pPr algn="ctr" defTabSz="912276" rtl="0" eaLnBrk="1" fontAlgn="base" hangingPunct="1">
                <a:lnSpc>
                  <a:spcPct val="100000"/>
                </a:lnSpc>
                <a:spcBef>
                  <a:spcPts val="0"/>
                </a:spcBef>
                <a:buClr>
                  <a:schemeClr val="bg1"/>
                </a:buClr>
                <a:buSzPct val="100000"/>
              </a:pPr>
              <a:r>
                <a:rPr lang="en-US" sz="900" dirty="0">
                  <a:solidFill>
                    <a:schemeClr val="bg1"/>
                  </a:solidFill>
                  <a:ea typeface="ＭＳ Ｐゴシック" charset="0"/>
                </a:rPr>
                <a:t>Integrated Marketing</a:t>
              </a:r>
              <a:endParaRPr lang="en-GB" sz="900" kern="1200" dirty="0" err="1">
                <a:solidFill>
                  <a:schemeClr val="bg1"/>
                </a:solidFill>
                <a:latin typeface="+mn-lt"/>
                <a:ea typeface="ＭＳ Ｐゴシック" charset="0"/>
              </a:endParaRPr>
            </a:p>
          </p:txBody>
        </p:sp>
      </p:grpSp>
      <p:grpSp>
        <p:nvGrpSpPr>
          <p:cNvPr id="35" name="Group 34">
            <a:extLst>
              <a:ext uri="{FF2B5EF4-FFF2-40B4-BE49-F238E27FC236}">
                <a16:creationId xmlns:a16="http://schemas.microsoft.com/office/drawing/2014/main" id="{A9FFFF1E-889A-E5C9-081C-E833B7D2DF5E}"/>
              </a:ext>
            </a:extLst>
          </p:cNvPr>
          <p:cNvGrpSpPr/>
          <p:nvPr/>
        </p:nvGrpSpPr>
        <p:grpSpPr>
          <a:xfrm>
            <a:off x="8170249" y="1101712"/>
            <a:ext cx="3051153" cy="4776724"/>
            <a:chOff x="8170249" y="1101712"/>
            <a:chExt cx="3051153" cy="4776724"/>
          </a:xfrm>
        </p:grpSpPr>
        <p:grpSp>
          <p:nvGrpSpPr>
            <p:cNvPr id="28" name="Group 27">
              <a:extLst>
                <a:ext uri="{FF2B5EF4-FFF2-40B4-BE49-F238E27FC236}">
                  <a16:creationId xmlns:a16="http://schemas.microsoft.com/office/drawing/2014/main" id="{6D2E1408-9343-F159-8458-27FAFE765DF5}"/>
                </a:ext>
              </a:extLst>
            </p:cNvPr>
            <p:cNvGrpSpPr/>
            <p:nvPr/>
          </p:nvGrpSpPr>
          <p:grpSpPr>
            <a:xfrm>
              <a:off x="8170249" y="1101712"/>
              <a:ext cx="3051153" cy="4776724"/>
              <a:chOff x="4631416" y="1176336"/>
              <a:chExt cx="3051153" cy="4776724"/>
            </a:xfrm>
          </p:grpSpPr>
          <p:sp>
            <p:nvSpPr>
              <p:cNvPr id="29" name="Rectangle: Rounded Corners 28">
                <a:extLst>
                  <a:ext uri="{FF2B5EF4-FFF2-40B4-BE49-F238E27FC236}">
                    <a16:creationId xmlns:a16="http://schemas.microsoft.com/office/drawing/2014/main" id="{DE592B3C-024D-E1E4-CEEA-04D8A2C6F9CC}"/>
                  </a:ext>
                </a:extLst>
              </p:cNvPr>
              <p:cNvSpPr/>
              <p:nvPr/>
            </p:nvSpPr>
            <p:spPr>
              <a:xfrm>
                <a:off x="4631416" y="1444122"/>
                <a:ext cx="3051153" cy="4508938"/>
              </a:xfrm>
              <a:prstGeom prst="roundRect">
                <a:avLst>
                  <a:gd name="adj" fmla="val 981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0" name="Rectangle: Rounded Corners 29">
                <a:extLst>
                  <a:ext uri="{FF2B5EF4-FFF2-40B4-BE49-F238E27FC236}">
                    <a16:creationId xmlns:a16="http://schemas.microsoft.com/office/drawing/2014/main" id="{6A6A6C73-A3DB-F9C7-4B96-6D7D142F7B65}"/>
                  </a:ext>
                </a:extLst>
              </p:cNvPr>
              <p:cNvSpPr/>
              <p:nvPr/>
            </p:nvSpPr>
            <p:spPr>
              <a:xfrm>
                <a:off x="4939863" y="1176336"/>
                <a:ext cx="2434258" cy="53557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Platform Parity</a:t>
                </a:r>
                <a:endParaRPr lang="en-GB" sz="1600" b="1" dirty="0">
                  <a:solidFill>
                    <a:schemeClr val="bg1"/>
                  </a:solidFill>
                </a:endParaRPr>
              </a:p>
            </p:txBody>
          </p:sp>
          <p:sp>
            <p:nvSpPr>
              <p:cNvPr id="31" name="TextBox 30">
                <a:extLst>
                  <a:ext uri="{FF2B5EF4-FFF2-40B4-BE49-F238E27FC236}">
                    <a16:creationId xmlns:a16="http://schemas.microsoft.com/office/drawing/2014/main" id="{CB36560A-416E-A6C3-451B-78E17C5CCF73}"/>
                  </a:ext>
                </a:extLst>
              </p:cNvPr>
              <p:cNvSpPr txBox="1"/>
              <p:nvPr/>
            </p:nvSpPr>
            <p:spPr>
              <a:xfrm>
                <a:off x="4810617" y="4382814"/>
                <a:ext cx="2730556" cy="137370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Execution Teams may use different platforms, but all must strictly apply the exact same underlying tagging rules dictated by Workfront</a:t>
                </a:r>
                <a:endParaRPr lang="en-GB" sz="1600" kern="1200" dirty="0" err="1">
                  <a:solidFill>
                    <a:schemeClr val="bg1"/>
                  </a:solidFill>
                  <a:latin typeface="+mn-lt"/>
                  <a:ea typeface="ＭＳ Ｐゴシック" charset="0"/>
                </a:endParaRPr>
              </a:p>
            </p:txBody>
          </p:sp>
        </p:grpSp>
        <p:pic>
          <p:nvPicPr>
            <p:cNvPr id="34" name="Picture 33">
              <a:extLst>
                <a:ext uri="{FF2B5EF4-FFF2-40B4-BE49-F238E27FC236}">
                  <a16:creationId xmlns:a16="http://schemas.microsoft.com/office/drawing/2014/main" id="{09B8A333-4377-DF3F-28A1-B5686A41B7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4923" y="2171072"/>
              <a:ext cx="2821804" cy="1847664"/>
            </a:xfrm>
            <a:prstGeom prst="rect">
              <a:avLst/>
            </a:prstGeom>
          </p:spPr>
        </p:pic>
      </p:grpSp>
    </p:spTree>
    <p:extLst>
      <p:ext uri="{BB962C8B-B14F-4D97-AF65-F5344CB8AC3E}">
        <p14:creationId xmlns:p14="http://schemas.microsoft.com/office/powerpoint/2010/main" val="3905933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29DA6-7DB3-04BE-9569-90FFAC437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A83BE-D2AB-F5B9-1C4F-E5A9D8DEEE1F}"/>
              </a:ext>
            </a:extLst>
          </p:cNvPr>
          <p:cNvSpPr>
            <a:spLocks noGrp="1"/>
          </p:cNvSpPr>
          <p:nvPr>
            <p:ph type="title"/>
          </p:nvPr>
        </p:nvSpPr>
        <p:spPr/>
        <p:txBody>
          <a:bodyPr/>
          <a:lstStyle/>
          <a:p>
            <a:r>
              <a:rPr lang="en-US" dirty="0"/>
              <a:t>Dissecting the Hybrid URL Requirements</a:t>
            </a:r>
            <a:endParaRPr lang="en-GB" dirty="0"/>
          </a:p>
        </p:txBody>
      </p:sp>
      <p:grpSp>
        <p:nvGrpSpPr>
          <p:cNvPr id="8" name="Group 7">
            <a:extLst>
              <a:ext uri="{FF2B5EF4-FFF2-40B4-BE49-F238E27FC236}">
                <a16:creationId xmlns:a16="http://schemas.microsoft.com/office/drawing/2014/main" id="{2EB3E931-235B-141E-F1E5-6D03CA1D3474}"/>
              </a:ext>
            </a:extLst>
          </p:cNvPr>
          <p:cNvGrpSpPr/>
          <p:nvPr/>
        </p:nvGrpSpPr>
        <p:grpSpPr>
          <a:xfrm>
            <a:off x="702275" y="4393977"/>
            <a:ext cx="1554480" cy="1023056"/>
            <a:chOff x="567559" y="4419201"/>
            <a:chExt cx="1822493" cy="1023056"/>
          </a:xfrm>
        </p:grpSpPr>
        <p:sp>
          <p:nvSpPr>
            <p:cNvPr id="4" name="Rectangle: Rounded Corners 3">
              <a:extLst>
                <a:ext uri="{FF2B5EF4-FFF2-40B4-BE49-F238E27FC236}">
                  <a16:creationId xmlns:a16="http://schemas.microsoft.com/office/drawing/2014/main" id="{3296B2D5-6D2C-70F2-D82A-9216ED498B5D}"/>
                </a:ext>
              </a:extLst>
            </p:cNvPr>
            <p:cNvSpPr/>
            <p:nvPr/>
          </p:nvSpPr>
          <p:spPr>
            <a:xfrm>
              <a:off x="567559" y="4433263"/>
              <a:ext cx="1822493" cy="1008994"/>
            </a:xfrm>
            <a:prstGeom prst="roundRect">
              <a:avLst>
                <a:gd name="adj" fmla="val 13542"/>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5" name="Straight Connector 4">
              <a:extLst>
                <a:ext uri="{FF2B5EF4-FFF2-40B4-BE49-F238E27FC236}">
                  <a16:creationId xmlns:a16="http://schemas.microsoft.com/office/drawing/2014/main" id="{15EA829B-6A03-D592-B352-1EB2DBCBF127}"/>
                </a:ext>
              </a:extLst>
            </p:cNvPr>
            <p:cNvCxnSpPr>
              <a:cxnSpLocks/>
            </p:cNvCxnSpPr>
            <p:nvPr/>
          </p:nvCxnSpPr>
          <p:spPr>
            <a:xfrm>
              <a:off x="568977" y="4759736"/>
              <a:ext cx="1819656" cy="0"/>
            </a:xfrm>
            <a:prstGeom prst="line">
              <a:avLst/>
            </a:prstGeom>
            <a:noFill/>
            <a:ln w="508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6" name="TextBox 5">
              <a:extLst>
                <a:ext uri="{FF2B5EF4-FFF2-40B4-BE49-F238E27FC236}">
                  <a16:creationId xmlns:a16="http://schemas.microsoft.com/office/drawing/2014/main" id="{D8234B7D-D63B-8742-0CF9-F29069F67C66}"/>
                </a:ext>
              </a:extLst>
            </p:cNvPr>
            <p:cNvSpPr txBox="1"/>
            <p:nvPr/>
          </p:nvSpPr>
          <p:spPr>
            <a:xfrm>
              <a:off x="854491" y="4419201"/>
              <a:ext cx="1248629"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Activity ID</a:t>
              </a:r>
              <a:endParaRPr lang="en-GB" sz="16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BB06BECC-5FD9-B0F9-64F5-3B59120618AA}"/>
                </a:ext>
              </a:extLst>
            </p:cNvPr>
            <p:cNvSpPr txBox="1"/>
            <p:nvPr/>
          </p:nvSpPr>
          <p:spPr>
            <a:xfrm>
              <a:off x="687376" y="4854328"/>
              <a:ext cx="1582858"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Legacy Marketing Initiative Activation</a:t>
              </a:r>
              <a:endParaRPr lang="en-GB" sz="1200" kern="1200" dirty="0" err="1">
                <a:solidFill>
                  <a:schemeClr val="bg1"/>
                </a:solidFill>
                <a:latin typeface="+mn-lt"/>
                <a:ea typeface="ＭＳ Ｐゴシック" charset="0"/>
              </a:endParaRPr>
            </a:p>
          </p:txBody>
        </p:sp>
      </p:grpSp>
      <p:grpSp>
        <p:nvGrpSpPr>
          <p:cNvPr id="9" name="Group 8">
            <a:extLst>
              <a:ext uri="{FF2B5EF4-FFF2-40B4-BE49-F238E27FC236}">
                <a16:creationId xmlns:a16="http://schemas.microsoft.com/office/drawing/2014/main" id="{9D4AEC54-C693-55ED-F010-E741E43F280A}"/>
              </a:ext>
            </a:extLst>
          </p:cNvPr>
          <p:cNvGrpSpPr/>
          <p:nvPr/>
        </p:nvGrpSpPr>
        <p:grpSpPr>
          <a:xfrm>
            <a:off x="2573343" y="4393977"/>
            <a:ext cx="1554480" cy="1023056"/>
            <a:chOff x="567559" y="4419201"/>
            <a:chExt cx="1822493" cy="1023056"/>
          </a:xfrm>
        </p:grpSpPr>
        <p:sp>
          <p:nvSpPr>
            <p:cNvPr id="10" name="Rectangle: Rounded Corners 9">
              <a:extLst>
                <a:ext uri="{FF2B5EF4-FFF2-40B4-BE49-F238E27FC236}">
                  <a16:creationId xmlns:a16="http://schemas.microsoft.com/office/drawing/2014/main" id="{5DBBA2A8-E620-2BAB-06DC-D3DABACC3A0E}"/>
                </a:ext>
              </a:extLst>
            </p:cNvPr>
            <p:cNvSpPr/>
            <p:nvPr/>
          </p:nvSpPr>
          <p:spPr>
            <a:xfrm>
              <a:off x="567559" y="4433263"/>
              <a:ext cx="1822493" cy="1008994"/>
            </a:xfrm>
            <a:prstGeom prst="roundRect">
              <a:avLst>
                <a:gd name="adj" fmla="val 13542"/>
              </a:avLst>
            </a:prstGeom>
            <a:noFill/>
            <a:ln w="158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1" name="Straight Connector 10">
              <a:extLst>
                <a:ext uri="{FF2B5EF4-FFF2-40B4-BE49-F238E27FC236}">
                  <a16:creationId xmlns:a16="http://schemas.microsoft.com/office/drawing/2014/main" id="{317E4738-C75E-F3C7-0626-43F09DF7FDA1}"/>
                </a:ext>
              </a:extLst>
            </p:cNvPr>
            <p:cNvCxnSpPr>
              <a:cxnSpLocks/>
            </p:cNvCxnSpPr>
            <p:nvPr/>
          </p:nvCxnSpPr>
          <p:spPr>
            <a:xfrm>
              <a:off x="568977" y="4759736"/>
              <a:ext cx="1819656" cy="0"/>
            </a:xfrm>
            <a:prstGeom prst="line">
              <a:avLst/>
            </a:prstGeom>
            <a:noFill/>
            <a:ln w="508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6BA74218-48E3-0D07-C092-F52908539A2A}"/>
                </a:ext>
              </a:extLst>
            </p:cNvPr>
            <p:cNvSpPr txBox="1"/>
            <p:nvPr/>
          </p:nvSpPr>
          <p:spPr>
            <a:xfrm>
              <a:off x="854491" y="4419201"/>
              <a:ext cx="1248629"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Drive To ID</a:t>
              </a:r>
              <a:endParaRPr lang="en-GB" sz="16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D84D5BCB-FE51-7AFC-5D9C-5C8F2B1BD083}"/>
                </a:ext>
              </a:extLst>
            </p:cNvPr>
            <p:cNvSpPr txBox="1"/>
            <p:nvPr/>
          </p:nvSpPr>
          <p:spPr>
            <a:xfrm>
              <a:off x="687376" y="4854328"/>
              <a:ext cx="1582858"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Legacy Channel Type</a:t>
              </a:r>
              <a:endParaRPr lang="en-GB" sz="1200" kern="1200" dirty="0" err="1">
                <a:solidFill>
                  <a:schemeClr val="bg1"/>
                </a:solidFill>
                <a:latin typeface="+mn-lt"/>
                <a:ea typeface="ＭＳ Ｐゴシック" charset="0"/>
              </a:endParaRPr>
            </a:p>
          </p:txBody>
        </p:sp>
      </p:grpSp>
      <p:grpSp>
        <p:nvGrpSpPr>
          <p:cNvPr id="14" name="Group 13">
            <a:extLst>
              <a:ext uri="{FF2B5EF4-FFF2-40B4-BE49-F238E27FC236}">
                <a16:creationId xmlns:a16="http://schemas.microsoft.com/office/drawing/2014/main" id="{48EEFFED-4312-EB73-A85D-3B1FBCD51CD5}"/>
              </a:ext>
            </a:extLst>
          </p:cNvPr>
          <p:cNvGrpSpPr/>
          <p:nvPr/>
        </p:nvGrpSpPr>
        <p:grpSpPr>
          <a:xfrm>
            <a:off x="4444411" y="4393977"/>
            <a:ext cx="1554480" cy="1023056"/>
            <a:chOff x="567559" y="4419201"/>
            <a:chExt cx="1822493" cy="1023056"/>
          </a:xfrm>
        </p:grpSpPr>
        <p:sp>
          <p:nvSpPr>
            <p:cNvPr id="15" name="Rectangle: Rounded Corners 14">
              <a:extLst>
                <a:ext uri="{FF2B5EF4-FFF2-40B4-BE49-F238E27FC236}">
                  <a16:creationId xmlns:a16="http://schemas.microsoft.com/office/drawing/2014/main" id="{136DC2DC-E8A9-BDD1-535E-6CA1A71A3BF4}"/>
                </a:ext>
              </a:extLst>
            </p:cNvPr>
            <p:cNvSpPr/>
            <p:nvPr/>
          </p:nvSpPr>
          <p:spPr>
            <a:xfrm>
              <a:off x="567559" y="4433263"/>
              <a:ext cx="1822493" cy="1008994"/>
            </a:xfrm>
            <a:prstGeom prst="roundRect">
              <a:avLst>
                <a:gd name="adj" fmla="val 13542"/>
              </a:avLst>
            </a:prstGeom>
            <a:noFill/>
            <a:ln w="1587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6" name="Straight Connector 15">
              <a:extLst>
                <a:ext uri="{FF2B5EF4-FFF2-40B4-BE49-F238E27FC236}">
                  <a16:creationId xmlns:a16="http://schemas.microsoft.com/office/drawing/2014/main" id="{7C19FAE6-1439-4D00-DE86-914F0F22294C}"/>
                </a:ext>
              </a:extLst>
            </p:cNvPr>
            <p:cNvCxnSpPr>
              <a:cxnSpLocks/>
            </p:cNvCxnSpPr>
            <p:nvPr/>
          </p:nvCxnSpPr>
          <p:spPr>
            <a:xfrm>
              <a:off x="568977" y="4759736"/>
              <a:ext cx="1819656" cy="0"/>
            </a:xfrm>
            <a:prstGeom prst="line">
              <a:avLst/>
            </a:prstGeom>
            <a:noFill/>
            <a:ln w="508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17" name="TextBox 16">
              <a:extLst>
                <a:ext uri="{FF2B5EF4-FFF2-40B4-BE49-F238E27FC236}">
                  <a16:creationId xmlns:a16="http://schemas.microsoft.com/office/drawing/2014/main" id="{6956104C-E348-EB88-94FC-BD7148AC00D5}"/>
                </a:ext>
              </a:extLst>
            </p:cNvPr>
            <p:cNvSpPr txBox="1"/>
            <p:nvPr/>
          </p:nvSpPr>
          <p:spPr>
            <a:xfrm>
              <a:off x="854491" y="4419201"/>
              <a:ext cx="1248629"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UTM ID</a:t>
              </a:r>
              <a:endParaRPr lang="en-GB" sz="1600" kern="1200" dirty="0" err="1">
                <a:solidFill>
                  <a:schemeClr val="bg1"/>
                </a:solidFill>
                <a:latin typeface="+mn-lt"/>
                <a:ea typeface="ＭＳ Ｐゴシック" charset="0"/>
              </a:endParaRPr>
            </a:p>
          </p:txBody>
        </p:sp>
        <p:sp>
          <p:nvSpPr>
            <p:cNvPr id="18" name="TextBox 17">
              <a:extLst>
                <a:ext uri="{FF2B5EF4-FFF2-40B4-BE49-F238E27FC236}">
                  <a16:creationId xmlns:a16="http://schemas.microsoft.com/office/drawing/2014/main" id="{E23D4DA8-2568-8007-5451-D18522E15F8A}"/>
                </a:ext>
              </a:extLst>
            </p:cNvPr>
            <p:cNvSpPr txBox="1"/>
            <p:nvPr/>
          </p:nvSpPr>
          <p:spPr>
            <a:xfrm>
              <a:off x="687376" y="4854328"/>
              <a:ext cx="1582858"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Modern Marketing Initiative Activation </a:t>
              </a:r>
              <a:r>
                <a:rPr lang="en-US" sz="900" dirty="0">
                  <a:solidFill>
                    <a:schemeClr val="accent2"/>
                  </a:solidFill>
                  <a:ea typeface="ＭＳ Ｐゴシック" charset="0"/>
                </a:rPr>
                <a:t>(currently CCID , but will move to Workfront ID)</a:t>
              </a:r>
              <a:endParaRPr lang="en-GB" sz="900" kern="1200" dirty="0" err="1">
                <a:solidFill>
                  <a:schemeClr val="accent2"/>
                </a:solidFill>
                <a:latin typeface="+mn-lt"/>
                <a:ea typeface="ＭＳ Ｐゴシック" charset="0"/>
              </a:endParaRPr>
            </a:p>
          </p:txBody>
        </p:sp>
      </p:grpSp>
      <p:grpSp>
        <p:nvGrpSpPr>
          <p:cNvPr id="37" name="Group 36">
            <a:extLst>
              <a:ext uri="{FF2B5EF4-FFF2-40B4-BE49-F238E27FC236}">
                <a16:creationId xmlns:a16="http://schemas.microsoft.com/office/drawing/2014/main" id="{7CBBD05E-C430-4483-2E59-8C076A11B83B}"/>
              </a:ext>
            </a:extLst>
          </p:cNvPr>
          <p:cNvGrpSpPr/>
          <p:nvPr/>
        </p:nvGrpSpPr>
        <p:grpSpPr>
          <a:xfrm>
            <a:off x="6315479" y="4393977"/>
            <a:ext cx="1554479" cy="1023056"/>
            <a:chOff x="6242056" y="4393977"/>
            <a:chExt cx="1554479" cy="1023056"/>
          </a:xfrm>
        </p:grpSpPr>
        <p:sp>
          <p:nvSpPr>
            <p:cNvPr id="20" name="Rectangle: Rounded Corners 19">
              <a:extLst>
                <a:ext uri="{FF2B5EF4-FFF2-40B4-BE49-F238E27FC236}">
                  <a16:creationId xmlns:a16="http://schemas.microsoft.com/office/drawing/2014/main" id="{6EF87EEA-2A17-A518-48A7-3FB082E10032}"/>
                </a:ext>
              </a:extLst>
            </p:cNvPr>
            <p:cNvSpPr/>
            <p:nvPr/>
          </p:nvSpPr>
          <p:spPr>
            <a:xfrm>
              <a:off x="6242056" y="4408039"/>
              <a:ext cx="1554479" cy="1008994"/>
            </a:xfrm>
            <a:prstGeom prst="roundRect">
              <a:avLst>
                <a:gd name="adj" fmla="val 13542"/>
              </a:avLst>
            </a:prstGeom>
            <a:noFill/>
            <a:ln w="15875">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1" name="Straight Connector 20">
              <a:extLst>
                <a:ext uri="{FF2B5EF4-FFF2-40B4-BE49-F238E27FC236}">
                  <a16:creationId xmlns:a16="http://schemas.microsoft.com/office/drawing/2014/main" id="{2E933F7B-A70F-8A5C-A3FF-4E0C7DCF85AA}"/>
                </a:ext>
              </a:extLst>
            </p:cNvPr>
            <p:cNvCxnSpPr>
              <a:cxnSpLocks/>
            </p:cNvCxnSpPr>
            <p:nvPr/>
          </p:nvCxnSpPr>
          <p:spPr>
            <a:xfrm>
              <a:off x="6243266" y="4734512"/>
              <a:ext cx="1552059" cy="0"/>
            </a:xfrm>
            <a:prstGeom prst="line">
              <a:avLst/>
            </a:prstGeom>
            <a:noFill/>
            <a:ln w="508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22" name="TextBox 21">
              <a:extLst>
                <a:ext uri="{FF2B5EF4-FFF2-40B4-BE49-F238E27FC236}">
                  <a16:creationId xmlns:a16="http://schemas.microsoft.com/office/drawing/2014/main" id="{B98D00F8-AFD0-CA1D-AFEB-BE1D3B5CCC40}"/>
                </a:ext>
              </a:extLst>
            </p:cNvPr>
            <p:cNvSpPr txBox="1"/>
            <p:nvPr/>
          </p:nvSpPr>
          <p:spPr>
            <a:xfrm>
              <a:off x="6340735" y="4393977"/>
              <a:ext cx="1357121"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UTM MEDIUM</a:t>
              </a:r>
              <a:endParaRPr lang="en-GB" sz="1600" kern="1200" dirty="0" err="1">
                <a:solidFill>
                  <a:schemeClr val="bg1"/>
                </a:solidFill>
                <a:latin typeface="+mn-lt"/>
                <a:ea typeface="ＭＳ Ｐゴシック" charset="0"/>
              </a:endParaRPr>
            </a:p>
          </p:txBody>
        </p:sp>
        <p:sp>
          <p:nvSpPr>
            <p:cNvPr id="23" name="TextBox 22">
              <a:extLst>
                <a:ext uri="{FF2B5EF4-FFF2-40B4-BE49-F238E27FC236}">
                  <a16:creationId xmlns:a16="http://schemas.microsoft.com/office/drawing/2014/main" id="{19CB2811-811F-6DA3-3241-24ABE3B19562}"/>
                </a:ext>
              </a:extLst>
            </p:cNvPr>
            <p:cNvSpPr txBox="1"/>
            <p:nvPr/>
          </p:nvSpPr>
          <p:spPr>
            <a:xfrm>
              <a:off x="6344253" y="4829104"/>
              <a:ext cx="1350084"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kern="1200" dirty="0">
                  <a:solidFill>
                    <a:schemeClr val="bg1"/>
                  </a:solidFill>
                  <a:latin typeface="+mn-lt"/>
                  <a:ea typeface="ＭＳ Ｐゴシック" charset="0"/>
                </a:rPr>
                <a:t>Moder</a:t>
              </a:r>
              <a:r>
                <a:rPr lang="en-US" sz="1200" dirty="0">
                  <a:solidFill>
                    <a:schemeClr val="bg1"/>
                  </a:solidFill>
                  <a:ea typeface="ＭＳ Ｐゴシック" charset="0"/>
                </a:rPr>
                <a:t>n Channel Capture</a:t>
              </a:r>
              <a:endParaRPr lang="en-GB" sz="1200" kern="1200" dirty="0" err="1">
                <a:solidFill>
                  <a:schemeClr val="bg1"/>
                </a:solidFill>
                <a:latin typeface="+mn-lt"/>
                <a:ea typeface="ＭＳ Ｐゴシック" charset="0"/>
              </a:endParaRPr>
            </a:p>
          </p:txBody>
        </p:sp>
      </p:grpSp>
      <p:grpSp>
        <p:nvGrpSpPr>
          <p:cNvPr id="38" name="Group 37">
            <a:extLst>
              <a:ext uri="{FF2B5EF4-FFF2-40B4-BE49-F238E27FC236}">
                <a16:creationId xmlns:a16="http://schemas.microsoft.com/office/drawing/2014/main" id="{DC349A59-00D2-2634-C22C-C94833C9A19C}"/>
              </a:ext>
            </a:extLst>
          </p:cNvPr>
          <p:cNvGrpSpPr/>
          <p:nvPr/>
        </p:nvGrpSpPr>
        <p:grpSpPr>
          <a:xfrm>
            <a:off x="8186546" y="4393977"/>
            <a:ext cx="1554480" cy="1023056"/>
            <a:chOff x="8127278" y="4393977"/>
            <a:chExt cx="1554480" cy="1023056"/>
          </a:xfrm>
        </p:grpSpPr>
        <p:sp>
          <p:nvSpPr>
            <p:cNvPr id="25" name="Rectangle: Rounded Corners 24">
              <a:extLst>
                <a:ext uri="{FF2B5EF4-FFF2-40B4-BE49-F238E27FC236}">
                  <a16:creationId xmlns:a16="http://schemas.microsoft.com/office/drawing/2014/main" id="{4FA851EF-8345-6BF9-6956-A4AD99BED9DF}"/>
                </a:ext>
              </a:extLst>
            </p:cNvPr>
            <p:cNvSpPr/>
            <p:nvPr/>
          </p:nvSpPr>
          <p:spPr>
            <a:xfrm>
              <a:off x="8127278" y="4408039"/>
              <a:ext cx="1554480" cy="1008994"/>
            </a:xfrm>
            <a:prstGeom prst="roundRect">
              <a:avLst>
                <a:gd name="adj" fmla="val 13542"/>
              </a:avLst>
            </a:prstGeom>
            <a:no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6" name="Straight Connector 25">
              <a:extLst>
                <a:ext uri="{FF2B5EF4-FFF2-40B4-BE49-F238E27FC236}">
                  <a16:creationId xmlns:a16="http://schemas.microsoft.com/office/drawing/2014/main" id="{EAFE2138-49F3-8E57-43D8-FCB071215C11}"/>
                </a:ext>
              </a:extLst>
            </p:cNvPr>
            <p:cNvCxnSpPr>
              <a:cxnSpLocks/>
            </p:cNvCxnSpPr>
            <p:nvPr/>
          </p:nvCxnSpPr>
          <p:spPr>
            <a:xfrm>
              <a:off x="8128488" y="4734512"/>
              <a:ext cx="1552061" cy="0"/>
            </a:xfrm>
            <a:prstGeom prst="line">
              <a:avLst/>
            </a:prstGeom>
            <a:noFill/>
            <a:ln w="508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27" name="TextBox 26">
              <a:extLst>
                <a:ext uri="{FF2B5EF4-FFF2-40B4-BE49-F238E27FC236}">
                  <a16:creationId xmlns:a16="http://schemas.microsoft.com/office/drawing/2014/main" id="{BB98D56E-028D-C1E4-B403-C0EAB99F41CC}"/>
                </a:ext>
              </a:extLst>
            </p:cNvPr>
            <p:cNvSpPr txBox="1"/>
            <p:nvPr/>
          </p:nvSpPr>
          <p:spPr>
            <a:xfrm>
              <a:off x="8172998" y="4393977"/>
              <a:ext cx="1463041" cy="3405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UTM SOURCE</a:t>
              </a:r>
              <a:endParaRPr lang="en-GB" sz="1600" kern="1200" dirty="0" err="1">
                <a:solidFill>
                  <a:schemeClr val="bg1"/>
                </a:solidFill>
                <a:latin typeface="+mn-lt"/>
                <a:ea typeface="ＭＳ Ｐゴシック" charset="0"/>
              </a:endParaRPr>
            </a:p>
          </p:txBody>
        </p:sp>
        <p:sp>
          <p:nvSpPr>
            <p:cNvPr id="28" name="TextBox 27">
              <a:extLst>
                <a:ext uri="{FF2B5EF4-FFF2-40B4-BE49-F238E27FC236}">
                  <a16:creationId xmlns:a16="http://schemas.microsoft.com/office/drawing/2014/main" id="{20542DAF-19AD-39A3-663E-4BB2F1CABF88}"/>
                </a:ext>
              </a:extLst>
            </p:cNvPr>
            <p:cNvSpPr txBox="1"/>
            <p:nvPr/>
          </p:nvSpPr>
          <p:spPr>
            <a:xfrm>
              <a:off x="8229475" y="4829104"/>
              <a:ext cx="1350086"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200" dirty="0">
                  <a:solidFill>
                    <a:schemeClr val="bg1"/>
                  </a:solidFill>
                  <a:ea typeface="ＭＳ Ｐゴシック" charset="0"/>
                </a:rPr>
                <a:t>Modern Traffic Vendor/Platform</a:t>
              </a:r>
              <a:endParaRPr lang="en-GB" sz="1200" kern="1200" dirty="0" err="1">
                <a:solidFill>
                  <a:schemeClr val="bg1"/>
                </a:solidFill>
                <a:latin typeface="+mn-lt"/>
                <a:ea typeface="ＭＳ Ｐゴシック" charset="0"/>
              </a:endParaRPr>
            </a:p>
          </p:txBody>
        </p:sp>
      </p:grpSp>
      <p:grpSp>
        <p:nvGrpSpPr>
          <p:cNvPr id="40" name="Group 39">
            <a:extLst>
              <a:ext uri="{FF2B5EF4-FFF2-40B4-BE49-F238E27FC236}">
                <a16:creationId xmlns:a16="http://schemas.microsoft.com/office/drawing/2014/main" id="{89042F5B-0526-49CA-2D57-39FF85F7A3AC}"/>
              </a:ext>
            </a:extLst>
          </p:cNvPr>
          <p:cNvGrpSpPr/>
          <p:nvPr/>
        </p:nvGrpSpPr>
        <p:grpSpPr>
          <a:xfrm>
            <a:off x="10057615" y="4408039"/>
            <a:ext cx="1555791" cy="1008994"/>
            <a:chOff x="10057615" y="4408039"/>
            <a:chExt cx="1555791" cy="1008994"/>
          </a:xfrm>
        </p:grpSpPr>
        <p:sp>
          <p:nvSpPr>
            <p:cNvPr id="30" name="Rectangle: Rounded Corners 29">
              <a:extLst>
                <a:ext uri="{FF2B5EF4-FFF2-40B4-BE49-F238E27FC236}">
                  <a16:creationId xmlns:a16="http://schemas.microsoft.com/office/drawing/2014/main" id="{83C77651-1593-01A9-8049-6A6100FF7F04}"/>
                </a:ext>
              </a:extLst>
            </p:cNvPr>
            <p:cNvSpPr/>
            <p:nvPr/>
          </p:nvSpPr>
          <p:spPr>
            <a:xfrm>
              <a:off x="10057615" y="4408039"/>
              <a:ext cx="1554479" cy="1008994"/>
            </a:xfrm>
            <a:prstGeom prst="roundRect">
              <a:avLst>
                <a:gd name="adj" fmla="val 13542"/>
              </a:avLst>
            </a:prstGeom>
            <a:noFill/>
            <a:ln w="15875">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1" name="Straight Connector 30">
              <a:extLst>
                <a:ext uri="{FF2B5EF4-FFF2-40B4-BE49-F238E27FC236}">
                  <a16:creationId xmlns:a16="http://schemas.microsoft.com/office/drawing/2014/main" id="{8C698ADC-0A60-B066-03F8-64FBA45A5C0E}"/>
                </a:ext>
              </a:extLst>
            </p:cNvPr>
            <p:cNvCxnSpPr>
              <a:cxnSpLocks/>
            </p:cNvCxnSpPr>
            <p:nvPr/>
          </p:nvCxnSpPr>
          <p:spPr>
            <a:xfrm>
              <a:off x="10058825" y="4734512"/>
              <a:ext cx="1552059" cy="0"/>
            </a:xfrm>
            <a:prstGeom prst="line">
              <a:avLst/>
            </a:prstGeom>
            <a:noFill/>
            <a:ln w="508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32" name="TextBox 31">
              <a:extLst>
                <a:ext uri="{FF2B5EF4-FFF2-40B4-BE49-F238E27FC236}">
                  <a16:creationId xmlns:a16="http://schemas.microsoft.com/office/drawing/2014/main" id="{E63C3E17-324A-2157-099E-E72D7AC4C76A}"/>
                </a:ext>
              </a:extLst>
            </p:cNvPr>
            <p:cNvSpPr txBox="1"/>
            <p:nvPr/>
          </p:nvSpPr>
          <p:spPr>
            <a:xfrm>
              <a:off x="10058926" y="4443139"/>
              <a:ext cx="1554480" cy="245940"/>
            </a:xfrm>
            <a:prstGeom prst="rect">
              <a:avLst/>
            </a:prstGeom>
            <a:noFill/>
            <a:ln>
              <a:noFill/>
            </a:ln>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UTM CREATIVE</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85D7065E-C605-0607-C5B7-D2E130F13522}"/>
                </a:ext>
              </a:extLst>
            </p:cNvPr>
            <p:cNvSpPr txBox="1"/>
            <p:nvPr/>
          </p:nvSpPr>
          <p:spPr>
            <a:xfrm>
              <a:off x="10108713" y="4829104"/>
              <a:ext cx="1452283" cy="49333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buClr>
                  <a:schemeClr val="bg1"/>
                </a:buClr>
                <a:buSzPct val="100000"/>
              </a:pPr>
              <a:r>
                <a:rPr lang="en-US" sz="1200" kern="1200" dirty="0">
                  <a:solidFill>
                    <a:schemeClr val="bg1"/>
                  </a:solidFill>
                  <a:latin typeface="+mn-lt"/>
                  <a:ea typeface="ＭＳ Ｐゴシック" charset="0"/>
                </a:rPr>
                <a:t>Ad-Server Creative ID</a:t>
              </a:r>
              <a:r>
                <a:rPr lang="en-GB" sz="1200" dirty="0">
                  <a:solidFill>
                    <a:schemeClr val="bg1"/>
                  </a:solidFill>
                  <a:ea typeface="ＭＳ Ｐゴシック" charset="0"/>
                </a:rPr>
                <a:t> </a:t>
              </a:r>
            </a:p>
            <a:p>
              <a:pPr algn="ctr" defTabSz="912276" rtl="0" eaLnBrk="1" fontAlgn="base" hangingPunct="1">
                <a:lnSpc>
                  <a:spcPct val="100000"/>
                </a:lnSpc>
                <a:spcBef>
                  <a:spcPts val="0"/>
                </a:spcBef>
                <a:buClr>
                  <a:schemeClr val="bg1"/>
                </a:buClr>
                <a:buSzPct val="100000"/>
              </a:pPr>
              <a:r>
                <a:rPr lang="en-GB" sz="900" dirty="0">
                  <a:solidFill>
                    <a:schemeClr val="accent2"/>
                  </a:solidFill>
                  <a:ea typeface="ＭＳ Ｐゴシック" charset="0"/>
                </a:rPr>
                <a:t>(Global Media Team Only)</a:t>
              </a:r>
              <a:endParaRPr lang="en-US" sz="900" kern="1200" dirty="0">
                <a:solidFill>
                  <a:schemeClr val="accent2"/>
                </a:solidFill>
                <a:latin typeface="+mn-lt"/>
                <a:ea typeface="ＭＳ Ｐゴシック" charset="0"/>
              </a:endParaRPr>
            </a:p>
          </p:txBody>
        </p:sp>
      </p:grpSp>
      <p:sp>
        <p:nvSpPr>
          <p:cNvPr id="43" name="TextBox 42">
            <a:extLst>
              <a:ext uri="{FF2B5EF4-FFF2-40B4-BE49-F238E27FC236}">
                <a16:creationId xmlns:a16="http://schemas.microsoft.com/office/drawing/2014/main" id="{A676A84F-C585-1F48-DA5D-D87482F87D24}"/>
              </a:ext>
            </a:extLst>
          </p:cNvPr>
          <p:cNvSpPr txBox="1"/>
          <p:nvPr/>
        </p:nvSpPr>
        <p:spPr>
          <a:xfrm>
            <a:off x="1355834" y="3429000"/>
            <a:ext cx="2869325" cy="726791"/>
          </a:xfrm>
          <a:prstGeom prst="rect">
            <a:avLst/>
          </a:prstGeom>
          <a:noFill/>
        </p:spPr>
        <p:txBody>
          <a:bodyPr wrap="squar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
        <p:nvSpPr>
          <p:cNvPr id="45" name="TextBox 44">
            <a:extLst>
              <a:ext uri="{FF2B5EF4-FFF2-40B4-BE49-F238E27FC236}">
                <a16:creationId xmlns:a16="http://schemas.microsoft.com/office/drawing/2014/main" id="{FE553757-973F-52E7-C105-D31896C79F04}"/>
              </a:ext>
            </a:extLst>
          </p:cNvPr>
          <p:cNvSpPr txBox="1"/>
          <p:nvPr/>
        </p:nvSpPr>
        <p:spPr>
          <a:xfrm>
            <a:off x="352888" y="1599908"/>
            <a:ext cx="10802533" cy="723320"/>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2400" u="sng" dirty="0">
                <a:solidFill>
                  <a:schemeClr val="bg1"/>
                </a:solidFill>
              </a:rPr>
              <a:t>https://www.cisco.com/site/us/en/about/why-cisco/ai-ready-data-centers/index.html?ccid=cc010375</a:t>
            </a:r>
            <a:endParaRPr lang="en-GB" sz="2400" kern="1200" dirty="0">
              <a:solidFill>
                <a:schemeClr val="bg1"/>
              </a:solidFill>
              <a:latin typeface="+mn-lt"/>
              <a:ea typeface="ＭＳ Ｐゴシック" charset="0"/>
            </a:endParaRPr>
          </a:p>
        </p:txBody>
      </p:sp>
      <p:sp>
        <p:nvSpPr>
          <p:cNvPr id="46" name="TextBox 45">
            <a:extLst>
              <a:ext uri="{FF2B5EF4-FFF2-40B4-BE49-F238E27FC236}">
                <a16:creationId xmlns:a16="http://schemas.microsoft.com/office/drawing/2014/main" id="{AFBECFEC-9255-C27A-C1FD-F25464D95013}"/>
              </a:ext>
            </a:extLst>
          </p:cNvPr>
          <p:cNvSpPr txBox="1"/>
          <p:nvPr/>
        </p:nvSpPr>
        <p:spPr>
          <a:xfrm>
            <a:off x="5363911" y="1966289"/>
            <a:ext cx="3062147" cy="408010"/>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2400" u="sng" dirty="0">
                <a:solidFill>
                  <a:srgbClr val="07182D"/>
                </a:solidFill>
                <a:hlinkClick r:id="rId2">
                  <a:extLst>
                    <a:ext uri="{A12FA001-AC4F-418D-AE19-62706E023703}">
                      <ahyp:hlinkClr xmlns:ahyp="http://schemas.microsoft.com/office/drawing/2018/hyperlinkcolor" val="tx"/>
                    </a:ext>
                  </a:extLst>
                </a:hlinkClick>
              </a:rPr>
              <a:t>&amp;</a:t>
            </a:r>
            <a:r>
              <a:rPr lang="en-GB" sz="2400" u="sng" dirty="0">
                <a:solidFill>
                  <a:schemeClr val="accent1"/>
                </a:solidFill>
                <a:hlinkClick r:id="rId2">
                  <a:extLst>
                    <a:ext uri="{A12FA001-AC4F-418D-AE19-62706E023703}">
                      <ahyp:hlinkClr xmlns:ahyp="http://schemas.microsoft.com/office/drawing/2018/hyperlinkcolor" val="tx"/>
                    </a:ext>
                  </a:extLst>
                </a:hlinkClick>
              </a:rPr>
              <a:t>dtid=pdixsp001642</a:t>
            </a:r>
            <a:endParaRPr lang="en-GB" sz="2400" kern="1200" dirty="0">
              <a:solidFill>
                <a:schemeClr val="accent1"/>
              </a:solidFill>
              <a:latin typeface="+mn-lt"/>
              <a:ea typeface="ＭＳ Ｐゴシック" charset="0"/>
            </a:endParaRPr>
          </a:p>
        </p:txBody>
      </p:sp>
      <p:sp>
        <p:nvSpPr>
          <p:cNvPr id="48" name="TextBox 47">
            <a:extLst>
              <a:ext uri="{FF2B5EF4-FFF2-40B4-BE49-F238E27FC236}">
                <a16:creationId xmlns:a16="http://schemas.microsoft.com/office/drawing/2014/main" id="{0F5CC7B7-58AC-9D4A-C9B7-C2970061985E}"/>
              </a:ext>
            </a:extLst>
          </p:cNvPr>
          <p:cNvSpPr txBox="1"/>
          <p:nvPr/>
        </p:nvSpPr>
        <p:spPr>
          <a:xfrm>
            <a:off x="8329185" y="1962819"/>
            <a:ext cx="3231811" cy="411480"/>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2400" u="sng" dirty="0">
                <a:solidFill>
                  <a:srgbClr val="07182D"/>
                </a:solidFill>
                <a:hlinkClick r:id="rId2">
                  <a:extLst>
                    <a:ext uri="{A12FA001-AC4F-418D-AE19-62706E023703}">
                      <ahyp:hlinkClr xmlns:ahyp="http://schemas.microsoft.com/office/drawing/2018/hyperlinkcolor" val="tx"/>
                    </a:ext>
                  </a:extLst>
                </a:hlinkClick>
              </a:rPr>
              <a:t>&amp;</a:t>
            </a:r>
            <a:r>
              <a:rPr lang="en-GB" sz="2400" u="sng" dirty="0" err="1">
                <a:solidFill>
                  <a:schemeClr val="accent3"/>
                </a:solidFill>
                <a:hlinkClick r:id="rId2">
                  <a:extLst>
                    <a:ext uri="{A12FA001-AC4F-418D-AE19-62706E023703}">
                      <ahyp:hlinkClr xmlns:ahyp="http://schemas.microsoft.com/office/drawing/2018/hyperlinkcolor" val="tx"/>
                    </a:ext>
                  </a:extLst>
                </a:hlinkClick>
              </a:rPr>
              <a:t>utm_id</a:t>
            </a:r>
            <a:r>
              <a:rPr lang="en-GB" sz="2400" u="sng" dirty="0">
                <a:solidFill>
                  <a:schemeClr val="accent3"/>
                </a:solidFill>
                <a:hlinkClick r:id="rId2">
                  <a:extLst>
                    <a:ext uri="{A12FA001-AC4F-418D-AE19-62706E023703}">
                      <ahyp:hlinkClr xmlns:ahyp="http://schemas.microsoft.com/office/drawing/2018/hyperlinkcolor" val="tx"/>
                    </a:ext>
                  </a:extLst>
                </a:hlinkClick>
              </a:rPr>
              <a:t>=</a:t>
            </a:r>
            <a:r>
              <a:rPr lang="en-GB" sz="2400" dirty="0">
                <a:solidFill>
                  <a:schemeClr val="accent3"/>
                </a:solidFill>
              </a:rPr>
              <a:t>CHL000093</a:t>
            </a:r>
            <a:endParaRPr lang="en-GB" sz="2400" kern="1200" dirty="0">
              <a:solidFill>
                <a:schemeClr val="accent3"/>
              </a:solidFill>
              <a:latin typeface="+mn-lt"/>
              <a:ea typeface="ＭＳ Ｐゴシック" charset="0"/>
            </a:endParaRPr>
          </a:p>
        </p:txBody>
      </p:sp>
      <p:sp>
        <p:nvSpPr>
          <p:cNvPr id="49" name="TextBox 48">
            <a:extLst>
              <a:ext uri="{FF2B5EF4-FFF2-40B4-BE49-F238E27FC236}">
                <a16:creationId xmlns:a16="http://schemas.microsoft.com/office/drawing/2014/main" id="{47D35A63-01A7-C4E0-4427-8575B1F2A788}"/>
              </a:ext>
            </a:extLst>
          </p:cNvPr>
          <p:cNvSpPr txBox="1"/>
          <p:nvPr/>
        </p:nvSpPr>
        <p:spPr>
          <a:xfrm>
            <a:off x="352888" y="2359197"/>
            <a:ext cx="3970286" cy="371852"/>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sz="2400" u="sng" dirty="0">
                <a:solidFill>
                  <a:srgbClr val="07182D"/>
                </a:solidFill>
              </a:rPr>
              <a:t>&amp;</a:t>
            </a:r>
            <a:r>
              <a:rPr lang="en-GB" sz="2400" u="sng" dirty="0">
                <a:solidFill>
                  <a:schemeClr val="accent4"/>
                </a:solidFill>
              </a:rPr>
              <a:t>utm_medium=paid-direct</a:t>
            </a:r>
            <a:endParaRPr lang="en-GB" sz="2400" kern="1200" dirty="0">
              <a:solidFill>
                <a:schemeClr val="accent4"/>
              </a:solidFill>
              <a:latin typeface="+mn-lt"/>
              <a:ea typeface="ＭＳ Ｐゴシック" charset="0"/>
            </a:endParaRPr>
          </a:p>
        </p:txBody>
      </p:sp>
      <p:sp>
        <p:nvSpPr>
          <p:cNvPr id="50" name="TextBox 49">
            <a:extLst>
              <a:ext uri="{FF2B5EF4-FFF2-40B4-BE49-F238E27FC236}">
                <a16:creationId xmlns:a16="http://schemas.microsoft.com/office/drawing/2014/main" id="{694D8956-8554-7463-AC5E-C427697AEE87}"/>
              </a:ext>
            </a:extLst>
          </p:cNvPr>
          <p:cNvSpPr txBox="1"/>
          <p:nvPr/>
        </p:nvSpPr>
        <p:spPr>
          <a:xfrm>
            <a:off x="4177955" y="2360326"/>
            <a:ext cx="8221576" cy="364865"/>
          </a:xfrm>
          <a:prstGeom prst="rect">
            <a:avLst/>
          </a:prstGeom>
          <a:noFill/>
          <a:ln>
            <a:noFill/>
          </a:ln>
        </p:spPr>
        <p:txBody>
          <a:bodyPr wrap="square" lIns="0" tIns="0" rIns="0" bIns="0" rtlCol="0">
            <a:noAutofit/>
          </a:bodyPr>
          <a:lstStyle/>
          <a:p>
            <a:pPr defTabSz="912276" fontAlgn="base">
              <a:spcAft>
                <a:spcPts val="1000"/>
              </a:spcAft>
              <a:buClr>
                <a:schemeClr val="bg1"/>
              </a:buClr>
              <a:buSzPct val="100000"/>
            </a:pPr>
            <a:r>
              <a:rPr lang="en-GB" sz="2400" u="sng" dirty="0">
                <a:solidFill>
                  <a:srgbClr val="07182D"/>
                </a:solidFill>
                <a:hlinkClick r:id="rId2">
                  <a:extLst>
                    <a:ext uri="{A12FA001-AC4F-418D-AE19-62706E023703}">
                      <ahyp:hlinkClr xmlns:ahyp="http://schemas.microsoft.com/office/drawing/2018/hyperlinkcolor" val="tx"/>
                    </a:ext>
                  </a:extLst>
                </a:hlinkClick>
              </a:rPr>
              <a:t>&amp;</a:t>
            </a:r>
            <a:r>
              <a:rPr lang="en-GB" sz="2400" u="sng" dirty="0" err="1">
                <a:solidFill>
                  <a:schemeClr val="accent2"/>
                </a:solidFill>
                <a:hlinkClick r:id="rId2">
                  <a:extLst>
                    <a:ext uri="{A12FA001-AC4F-418D-AE19-62706E023703}">
                      <ahyp:hlinkClr xmlns:ahyp="http://schemas.microsoft.com/office/drawing/2018/hyperlinkcolor" val="tx"/>
                    </a:ext>
                  </a:extLst>
                </a:hlinkClick>
              </a:rPr>
              <a:t>utm_source</a:t>
            </a:r>
            <a:r>
              <a:rPr lang="en-GB" sz="2400" u="sng" dirty="0">
                <a:solidFill>
                  <a:schemeClr val="accent2"/>
                </a:solidFill>
                <a:hlinkClick r:id="rId2">
                  <a:extLst>
                    <a:ext uri="{A12FA001-AC4F-418D-AE19-62706E023703}">
                      <ahyp:hlinkClr xmlns:ahyp="http://schemas.microsoft.com/office/drawing/2018/hyperlinkcolor" val="tx"/>
                    </a:ext>
                  </a:extLst>
                </a:hlinkClick>
              </a:rPr>
              <a:t>=</a:t>
            </a:r>
            <a:r>
              <a:rPr lang="en-GB" sz="2400" u="sng" dirty="0" err="1">
                <a:solidFill>
                  <a:schemeClr val="accent2"/>
                </a:solidFill>
                <a:hlinkClick r:id="rId2">
                  <a:extLst>
                    <a:ext uri="{A12FA001-AC4F-418D-AE19-62706E023703}">
                      <ahyp:hlinkClr xmlns:ahyp="http://schemas.microsoft.com/office/drawing/2018/hyperlinkcolor" val="tx"/>
                    </a:ext>
                  </a:extLst>
                </a:hlinkClick>
              </a:rPr>
              <a:t>businessinsider</a:t>
            </a:r>
            <a:r>
              <a:rPr lang="en-GB" sz="2400" u="sng" dirty="0" err="1">
                <a:solidFill>
                  <a:srgbClr val="07182D"/>
                </a:solidFill>
                <a:hlinkClick r:id="rId2">
                  <a:extLst>
                    <a:ext uri="{A12FA001-AC4F-418D-AE19-62706E023703}">
                      <ahyp:hlinkClr xmlns:ahyp="http://schemas.microsoft.com/office/drawing/2018/hyperlinkcolor" val="tx"/>
                    </a:ext>
                  </a:extLst>
                </a:hlinkClick>
              </a:rPr>
              <a:t>&amp;</a:t>
            </a:r>
            <a:r>
              <a:rPr lang="en-GB" sz="2400" u="sng" dirty="0" err="1">
                <a:solidFill>
                  <a:schemeClr val="accent6"/>
                </a:solidFill>
                <a:hlinkClick r:id="rId2">
                  <a:extLst>
                    <a:ext uri="{A12FA001-AC4F-418D-AE19-62706E023703}">
                      <ahyp:hlinkClr xmlns:ahyp="http://schemas.microsoft.com/office/drawing/2018/hyperlinkcolor" val="tx"/>
                    </a:ext>
                  </a:extLst>
                </a:hlinkClick>
              </a:rPr>
              <a:t>utm_creative</a:t>
            </a:r>
            <a:r>
              <a:rPr lang="en-GB" sz="2400" u="sng" dirty="0">
                <a:solidFill>
                  <a:schemeClr val="accent6"/>
                </a:solidFill>
                <a:hlinkClick r:id="rId2">
                  <a:extLst>
                    <a:ext uri="{A12FA001-AC4F-418D-AE19-62706E023703}">
                      <ahyp:hlinkClr xmlns:ahyp="http://schemas.microsoft.com/office/drawing/2018/hyperlinkcolor" val="tx"/>
                    </a:ext>
                  </a:extLst>
                </a:hlinkClick>
              </a:rPr>
              <a:t>=%ecid</a:t>
            </a:r>
            <a:endParaRPr lang="en-GB" sz="2400" dirty="0">
              <a:solidFill>
                <a:schemeClr val="accent6"/>
              </a:solidFill>
            </a:endParaRPr>
          </a:p>
          <a:p>
            <a:pPr algn="l" defTabSz="912276" rtl="0" eaLnBrk="1" fontAlgn="base" hangingPunct="1">
              <a:lnSpc>
                <a:spcPct val="100000"/>
              </a:lnSpc>
              <a:spcBef>
                <a:spcPts val="0"/>
              </a:spcBef>
              <a:spcAft>
                <a:spcPts val="1000"/>
              </a:spcAft>
              <a:buClr>
                <a:schemeClr val="bg1"/>
              </a:buClr>
              <a:buSzPct val="100000"/>
            </a:pPr>
            <a:endParaRPr lang="en-GB" sz="2400" kern="1200" dirty="0" err="1">
              <a:solidFill>
                <a:schemeClr val="bg1"/>
              </a:solidFill>
              <a:latin typeface="+mn-lt"/>
              <a:ea typeface="ＭＳ Ｐゴシック" charset="0"/>
            </a:endParaRPr>
          </a:p>
        </p:txBody>
      </p:sp>
      <p:cxnSp>
        <p:nvCxnSpPr>
          <p:cNvPr id="53" name="Connector: Elbow 52">
            <a:extLst>
              <a:ext uri="{FF2B5EF4-FFF2-40B4-BE49-F238E27FC236}">
                <a16:creationId xmlns:a16="http://schemas.microsoft.com/office/drawing/2014/main" id="{28C1F1C8-0B6C-D8F5-89F8-38DB01E193CE}"/>
              </a:ext>
            </a:extLst>
          </p:cNvPr>
          <p:cNvCxnSpPr>
            <a:cxnSpLocks/>
            <a:stCxn id="55" idx="2"/>
            <a:endCxn id="6" idx="0"/>
          </p:cNvCxnSpPr>
          <p:nvPr/>
        </p:nvCxnSpPr>
        <p:spPr>
          <a:xfrm rot="5400000">
            <a:off x="1637961" y="2138333"/>
            <a:ext cx="2097198" cy="2414090"/>
          </a:xfrm>
          <a:prstGeom prst="bentConnector3">
            <a:avLst>
              <a:gd name="adj1" fmla="val 38279"/>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DD382F04-E580-3EFA-99A0-6C92ECFA76DD}"/>
              </a:ext>
            </a:extLst>
          </p:cNvPr>
          <p:cNvCxnSpPr>
            <a:cxnSpLocks/>
            <a:stCxn id="44" idx="2"/>
            <a:endCxn id="12" idx="0"/>
          </p:cNvCxnSpPr>
          <p:nvPr/>
        </p:nvCxnSpPr>
        <p:spPr>
          <a:xfrm rot="5400000">
            <a:off x="3946920" y="1693412"/>
            <a:ext cx="2104229" cy="3296901"/>
          </a:xfrm>
          <a:prstGeom prst="bentConnector3">
            <a:avLst>
              <a:gd name="adj1" fmla="val 45094"/>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E39EDAAF-D125-C050-DD23-71DC127ECC94}"/>
              </a:ext>
            </a:extLst>
          </p:cNvPr>
          <p:cNvCxnSpPr>
            <a:cxnSpLocks/>
            <a:stCxn id="39" idx="2"/>
            <a:endCxn id="17" idx="0"/>
          </p:cNvCxnSpPr>
          <p:nvPr/>
        </p:nvCxnSpPr>
        <p:spPr>
          <a:xfrm rot="5400000">
            <a:off x="6428902" y="1083062"/>
            <a:ext cx="2103664" cy="4518166"/>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4197278C-251D-BFE6-CF93-6ABE1B727735}"/>
              </a:ext>
            </a:extLst>
          </p:cNvPr>
          <p:cNvCxnSpPr>
            <a:cxnSpLocks/>
            <a:stCxn id="60" idx="2"/>
            <a:endCxn id="22" idx="0"/>
          </p:cNvCxnSpPr>
          <p:nvPr/>
        </p:nvCxnSpPr>
        <p:spPr>
          <a:xfrm rot="16200000" flipH="1">
            <a:off x="3656243" y="957501"/>
            <a:ext cx="1700892" cy="5172060"/>
          </a:xfrm>
          <a:prstGeom prst="bentConnector3">
            <a:avLst>
              <a:gd name="adj1" fmla="val 50000"/>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76ADC85D-9F9A-8FAA-E77C-B2B3C46D2632}"/>
              </a:ext>
            </a:extLst>
          </p:cNvPr>
          <p:cNvCxnSpPr>
            <a:cxnSpLocks/>
            <a:stCxn id="34" idx="2"/>
            <a:endCxn id="27" idx="0"/>
          </p:cNvCxnSpPr>
          <p:nvPr/>
        </p:nvCxnSpPr>
        <p:spPr>
          <a:xfrm rot="16200000" flipH="1">
            <a:off x="7398182" y="2828371"/>
            <a:ext cx="1725985" cy="1405226"/>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9D5F42BA-F642-E79B-5C5C-F7ECCD5041ED}"/>
              </a:ext>
            </a:extLst>
          </p:cNvPr>
          <p:cNvCxnSpPr>
            <a:cxnSpLocks/>
            <a:endCxn id="32" idx="0"/>
          </p:cNvCxnSpPr>
          <p:nvPr/>
        </p:nvCxnSpPr>
        <p:spPr>
          <a:xfrm rot="16200000" flipH="1">
            <a:off x="9613705" y="3220678"/>
            <a:ext cx="1712090" cy="732832"/>
          </a:xfrm>
          <a:prstGeom prst="bentConnector3">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96923AA8-0BF5-9944-7827-5F1123F53C12}"/>
              </a:ext>
            </a:extLst>
          </p:cNvPr>
          <p:cNvSpPr/>
          <p:nvPr/>
        </p:nvSpPr>
        <p:spPr>
          <a:xfrm>
            <a:off x="7393217" y="2478721"/>
            <a:ext cx="330688" cy="189271"/>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9" name="Rectangle 38">
            <a:extLst>
              <a:ext uri="{FF2B5EF4-FFF2-40B4-BE49-F238E27FC236}">
                <a16:creationId xmlns:a16="http://schemas.microsoft.com/office/drawing/2014/main" id="{058EFB3B-3F1B-FE03-3B13-E93CD3870F00}"/>
              </a:ext>
            </a:extLst>
          </p:cNvPr>
          <p:cNvSpPr/>
          <p:nvPr/>
        </p:nvSpPr>
        <p:spPr>
          <a:xfrm>
            <a:off x="9589875" y="2039590"/>
            <a:ext cx="299883" cy="250723"/>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44" name="Rectangle 43">
            <a:extLst>
              <a:ext uri="{FF2B5EF4-FFF2-40B4-BE49-F238E27FC236}">
                <a16:creationId xmlns:a16="http://schemas.microsoft.com/office/drawing/2014/main" id="{EA6040FA-01AA-6A51-EBF8-842F02E4503D}"/>
              </a:ext>
            </a:extLst>
          </p:cNvPr>
          <p:cNvSpPr/>
          <p:nvPr/>
        </p:nvSpPr>
        <p:spPr>
          <a:xfrm>
            <a:off x="6359890" y="1955451"/>
            <a:ext cx="575187" cy="334297"/>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55" name="Rectangle 54">
            <a:extLst>
              <a:ext uri="{FF2B5EF4-FFF2-40B4-BE49-F238E27FC236}">
                <a16:creationId xmlns:a16="http://schemas.microsoft.com/office/drawing/2014/main" id="{B3F957F3-58F0-0C55-8A35-1553E744B075}"/>
              </a:ext>
            </a:extLst>
          </p:cNvPr>
          <p:cNvSpPr/>
          <p:nvPr/>
        </p:nvSpPr>
        <p:spPr>
          <a:xfrm>
            <a:off x="3682211" y="1956244"/>
            <a:ext cx="422787" cy="340535"/>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0" name="Rectangle 59">
            <a:extLst>
              <a:ext uri="{FF2B5EF4-FFF2-40B4-BE49-F238E27FC236}">
                <a16:creationId xmlns:a16="http://schemas.microsoft.com/office/drawing/2014/main" id="{D838189E-A39D-5D24-83A3-98BE8B580DBD}"/>
              </a:ext>
            </a:extLst>
          </p:cNvPr>
          <p:cNvSpPr/>
          <p:nvPr/>
        </p:nvSpPr>
        <p:spPr>
          <a:xfrm>
            <a:off x="1652730" y="2321235"/>
            <a:ext cx="535858" cy="371850"/>
          </a:xfrm>
          <a:prstGeom prst="rect">
            <a:avLst/>
          </a:pr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7" name="TextBox 66">
            <a:extLst>
              <a:ext uri="{FF2B5EF4-FFF2-40B4-BE49-F238E27FC236}">
                <a16:creationId xmlns:a16="http://schemas.microsoft.com/office/drawing/2014/main" id="{4DD7A8F2-8356-B0BF-528B-12DE6FE6A59C}"/>
              </a:ext>
            </a:extLst>
          </p:cNvPr>
          <p:cNvSpPr txBox="1"/>
          <p:nvPr/>
        </p:nvSpPr>
        <p:spPr>
          <a:xfrm>
            <a:off x="2233289" y="5691249"/>
            <a:ext cx="5976722" cy="662237"/>
          </a:xfrm>
          <a:prstGeom prst="rect">
            <a:avLst/>
          </a:prstGeom>
          <a:noFill/>
        </p:spPr>
        <p:txBody>
          <a:bodyPr wrap="square" lIns="0" tIns="0" rIns="0" bIns="0" rtlCol="0" anchor="ctr">
            <a:noAutofit/>
          </a:bodyPr>
          <a:lstStyle/>
          <a:p>
            <a:pPr lvl="1" algn="ctr" defTabSz="912276" fontAlgn="base">
              <a:spcAft>
                <a:spcPts val="1000"/>
              </a:spcAft>
              <a:buClr>
                <a:schemeClr val="bg1"/>
              </a:buClr>
              <a:buSzPct val="100000"/>
            </a:pPr>
            <a:r>
              <a:rPr lang="en-US" sz="1600" i="1" kern="1200" dirty="0">
                <a:solidFill>
                  <a:schemeClr val="bg1"/>
                </a:solidFill>
                <a:latin typeface="+mn-lt"/>
                <a:ea typeface="ＭＳ Ｐゴシック" charset="0"/>
              </a:rPr>
              <a:t>Parameters start after th</a:t>
            </a:r>
            <a:r>
              <a:rPr lang="en-US" sz="1600" i="1" dirty="0">
                <a:solidFill>
                  <a:schemeClr val="bg1"/>
                </a:solidFill>
                <a:ea typeface="ＭＳ Ｐゴシック" charset="0"/>
              </a:rPr>
              <a:t>e destination URL with a ? And </a:t>
            </a:r>
            <a:r>
              <a:rPr lang="en-US" sz="1600" i="1" kern="1200" dirty="0">
                <a:solidFill>
                  <a:schemeClr val="bg1"/>
                </a:solidFill>
                <a:latin typeface="+mn-lt"/>
                <a:ea typeface="ＭＳ Ｐゴシック" charset="0"/>
              </a:rPr>
              <a:t>are separated by the &amp; symbol with all values lower case</a:t>
            </a:r>
            <a:endParaRPr lang="en-GB" sz="1600" i="1" kern="1200" dirty="0" err="1">
              <a:solidFill>
                <a:schemeClr val="bg1"/>
              </a:solidFill>
              <a:latin typeface="+mn-lt"/>
              <a:ea typeface="ＭＳ Ｐゴシック" charset="0"/>
            </a:endParaRPr>
          </a:p>
        </p:txBody>
      </p:sp>
      <p:sp>
        <p:nvSpPr>
          <p:cNvPr id="71" name="Rectangle: Rounded Corners 70">
            <a:extLst>
              <a:ext uri="{FF2B5EF4-FFF2-40B4-BE49-F238E27FC236}">
                <a16:creationId xmlns:a16="http://schemas.microsoft.com/office/drawing/2014/main" id="{A4F2E082-CF1D-68B7-18E5-63D4C2D0337E}"/>
              </a:ext>
            </a:extLst>
          </p:cNvPr>
          <p:cNvSpPr/>
          <p:nvPr/>
        </p:nvSpPr>
        <p:spPr>
          <a:xfrm>
            <a:off x="2399216" y="5670966"/>
            <a:ext cx="6055156" cy="732331"/>
          </a:xfrm>
          <a:prstGeom prst="roundRect">
            <a:avLst/>
          </a:prstGeom>
          <a:noFill/>
          <a:ln w="12700">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 name="TextBox 2">
            <a:extLst>
              <a:ext uri="{FF2B5EF4-FFF2-40B4-BE49-F238E27FC236}">
                <a16:creationId xmlns:a16="http://schemas.microsoft.com/office/drawing/2014/main" id="{7F887A6C-973A-FD05-551D-4C3614E7450D}"/>
              </a:ext>
            </a:extLst>
          </p:cNvPr>
          <p:cNvSpPr txBox="1"/>
          <p:nvPr/>
        </p:nvSpPr>
        <p:spPr>
          <a:xfrm>
            <a:off x="2289152" y="851338"/>
            <a:ext cx="7485468" cy="712601"/>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We are in an active transition phase and to marry legacy platforms with new architecture, all active links currently require the following parameters</a:t>
            </a:r>
            <a:endParaRPr lang="en-GB" sz="1600" kern="1200" dirty="0" err="1">
              <a:solidFill>
                <a:schemeClr val="bg1"/>
              </a:solidFill>
              <a:latin typeface="+mn-lt"/>
              <a:ea typeface="ＭＳ Ｐゴシック" charset="0"/>
            </a:endParaRPr>
          </a:p>
        </p:txBody>
      </p:sp>
    </p:spTree>
    <p:extLst>
      <p:ext uri="{BB962C8B-B14F-4D97-AF65-F5344CB8AC3E}">
        <p14:creationId xmlns:p14="http://schemas.microsoft.com/office/powerpoint/2010/main" val="188425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up)">
                                      <p:cBhvr>
                                        <p:cTn id="7" dur="1000"/>
                                        <p:tgtEl>
                                          <p:spTgt spid="53"/>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up)">
                                      <p:cBhvr>
                                        <p:cTn id="15" dur="1000"/>
                                        <p:tgtEl>
                                          <p:spTgt spid="59"/>
                                        </p:tgtEl>
                                      </p:cBhvr>
                                    </p:animEffect>
                                  </p:childTnLst>
                                </p:cTn>
                              </p:par>
                            </p:childTnLst>
                          </p:cTn>
                        </p:par>
                        <p:par>
                          <p:cTn id="16" fill="hold">
                            <p:stCondLst>
                              <p:cond delay="1000"/>
                            </p:stCondLst>
                            <p:childTnLst>
                              <p:par>
                                <p:cTn id="17" presetID="1"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wipe(up)">
                                      <p:cBhvr>
                                        <p:cTn id="23" dur="1000"/>
                                        <p:tgtEl>
                                          <p:spTgt spid="65"/>
                                        </p:tgtEl>
                                      </p:cBhvr>
                                    </p:animEffec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wipe(up)">
                                      <p:cBhvr>
                                        <p:cTn id="31" dur="1000"/>
                                        <p:tgtEl>
                                          <p:spTgt spid="70"/>
                                        </p:tgtEl>
                                      </p:cBhvr>
                                    </p:animEffec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80"/>
                                        </p:tgtEl>
                                        <p:attrNameLst>
                                          <p:attrName>style.visibility</p:attrName>
                                        </p:attrNameLst>
                                      </p:cBhvr>
                                      <p:to>
                                        <p:strVal val="visible"/>
                                      </p:to>
                                    </p:set>
                                    <p:animEffect transition="in" filter="wipe(up)">
                                      <p:cBhvr>
                                        <p:cTn id="39" dur="1000"/>
                                        <p:tgtEl>
                                          <p:spTgt spid="80"/>
                                        </p:tgtEl>
                                      </p:cBhvr>
                                    </p:animEffect>
                                  </p:childTnLst>
                                </p:cTn>
                              </p:par>
                            </p:childTnLst>
                          </p:cTn>
                        </p:par>
                        <p:par>
                          <p:cTn id="40" fill="hold">
                            <p:stCondLst>
                              <p:cond delay="1000"/>
                            </p:stCondLst>
                            <p:childTnLst>
                              <p:par>
                                <p:cTn id="41" presetID="1" presetClass="entr" presetSubtype="0" fill="hold" nodeType="after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85"/>
                                        </p:tgtEl>
                                        <p:attrNameLst>
                                          <p:attrName>style.visibility</p:attrName>
                                        </p:attrNameLst>
                                      </p:cBhvr>
                                      <p:to>
                                        <p:strVal val="visible"/>
                                      </p:to>
                                    </p:set>
                                    <p:animEffect transition="in" filter="wipe(up)">
                                      <p:cBhvr>
                                        <p:cTn id="47" dur="1000"/>
                                        <p:tgtEl>
                                          <p:spTgt spid="85"/>
                                        </p:tgtEl>
                                      </p:cBhvr>
                                    </p:animEffect>
                                  </p:childTnLst>
                                </p:cTn>
                              </p:par>
                            </p:childTnLst>
                          </p:cTn>
                        </p:par>
                        <p:par>
                          <p:cTn id="48" fill="hold">
                            <p:stCondLst>
                              <p:cond delay="1000"/>
                            </p:stCondLst>
                            <p:childTnLst>
                              <p:par>
                                <p:cTn id="49" presetID="1" presetClass="entr" presetSubtype="0" fill="hold" nodeType="after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70A25-B7E9-6C30-38F0-CB73A81AD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1E7F1C-8DBE-0F72-FF84-2F2514B79DC8}"/>
              </a:ext>
            </a:extLst>
          </p:cNvPr>
          <p:cNvSpPr>
            <a:spLocks noGrp="1"/>
          </p:cNvSpPr>
          <p:nvPr>
            <p:ph type="title"/>
          </p:nvPr>
        </p:nvSpPr>
        <p:spPr/>
        <p:txBody>
          <a:bodyPr/>
          <a:lstStyle/>
          <a:p>
            <a:r>
              <a:rPr lang="en-US" dirty="0"/>
              <a:t>Module 5: Workfront IDs</a:t>
            </a:r>
            <a:endParaRPr lang="en-GB" dirty="0"/>
          </a:p>
        </p:txBody>
      </p:sp>
    </p:spTree>
    <p:extLst>
      <p:ext uri="{BB962C8B-B14F-4D97-AF65-F5344CB8AC3E}">
        <p14:creationId xmlns:p14="http://schemas.microsoft.com/office/powerpoint/2010/main" val="25295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9BBAF-9D0D-4CFF-B6B1-FD3EC6BE199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BDAAB3-DDD3-DEE9-539A-EBC6B1729D07}"/>
              </a:ext>
            </a:extLst>
          </p:cNvPr>
          <p:cNvSpPr>
            <a:spLocks noGrp="1"/>
          </p:cNvSpPr>
          <p:nvPr>
            <p:ph type="title"/>
          </p:nvPr>
        </p:nvSpPr>
        <p:spPr/>
        <p:txBody>
          <a:bodyPr/>
          <a:lstStyle/>
          <a:p>
            <a:r>
              <a:rPr lang="en-US" dirty="0"/>
              <a:t>Strategic Value of Workfront IDs</a:t>
            </a:r>
            <a:endParaRPr lang="en-GB" dirty="0"/>
          </a:p>
        </p:txBody>
      </p:sp>
      <p:sp>
        <p:nvSpPr>
          <p:cNvPr id="6" name="TextBox 5">
            <a:extLst>
              <a:ext uri="{FF2B5EF4-FFF2-40B4-BE49-F238E27FC236}">
                <a16:creationId xmlns:a16="http://schemas.microsoft.com/office/drawing/2014/main" id="{D7C0B313-379F-D510-A9C0-28D1B31135FC}"/>
              </a:ext>
            </a:extLst>
          </p:cNvPr>
          <p:cNvSpPr txBox="1"/>
          <p:nvPr/>
        </p:nvSpPr>
        <p:spPr>
          <a:xfrm>
            <a:off x="4865532" y="2848425"/>
            <a:ext cx="2560320" cy="2743200"/>
          </a:xfrm>
          <a:prstGeom prst="rect">
            <a:avLst/>
          </a:prstGeom>
          <a:noFill/>
        </p:spPr>
        <p:txBody>
          <a:bodyPr wrap="square" lIns="0" tIns="0" rIns="0" bIns="0" rtlCol="0">
            <a:noAutofit/>
          </a:bodyPr>
          <a:lstStyle/>
          <a:p>
            <a:pPr algn="ctr"/>
            <a:endParaRPr lang="en-GB" sz="16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43D69F8D-2988-5180-39F9-3124E9CEE87B}"/>
              </a:ext>
            </a:extLst>
          </p:cNvPr>
          <p:cNvSpPr txBox="1"/>
          <p:nvPr/>
        </p:nvSpPr>
        <p:spPr>
          <a:xfrm>
            <a:off x="8486375" y="2961151"/>
            <a:ext cx="331012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285750" indent="-285750" eaLnBrk="0" fontAlgn="base" hangingPunct="0">
              <a:spcBef>
                <a:spcPct val="0"/>
              </a:spcBef>
              <a:spcAft>
                <a:spcPct val="0"/>
              </a:spcAft>
              <a:buFont typeface="Arial" panose="020B0604020202020204" pitchFamily="34" charset="0"/>
              <a:buChar char="•"/>
              <a:defRPr sz="1400">
                <a:solidFill>
                  <a:schemeClr val="bg1"/>
                </a:solidFill>
              </a:defRPr>
            </a:lvl1pPr>
          </a:lstStyle>
          <a:p>
            <a:r>
              <a:rPr lang="en-GB" dirty="0"/>
              <a:t>Establishes a governed, central repository where precise data elements are appended to the Workfront ID. This locks the taxonomy matrix required to power all downstream channel-level operational reporting, executive overview metrics, and flawless fractional attribution models.</a:t>
            </a:r>
          </a:p>
        </p:txBody>
      </p:sp>
      <p:grpSp>
        <p:nvGrpSpPr>
          <p:cNvPr id="15" name="Group 14">
            <a:extLst>
              <a:ext uri="{FF2B5EF4-FFF2-40B4-BE49-F238E27FC236}">
                <a16:creationId xmlns:a16="http://schemas.microsoft.com/office/drawing/2014/main" id="{D39DF5A4-063E-31FD-C562-4D7178B620D7}"/>
              </a:ext>
            </a:extLst>
          </p:cNvPr>
          <p:cNvGrpSpPr/>
          <p:nvPr/>
        </p:nvGrpSpPr>
        <p:grpSpPr>
          <a:xfrm>
            <a:off x="8414729" y="2083028"/>
            <a:ext cx="3453421" cy="3749040"/>
            <a:chOff x="771331" y="2157451"/>
            <a:chExt cx="2929812" cy="3447138"/>
          </a:xfrm>
        </p:grpSpPr>
        <p:sp>
          <p:nvSpPr>
            <p:cNvPr id="16" name="Freeform: Shape 15">
              <a:extLst>
                <a:ext uri="{FF2B5EF4-FFF2-40B4-BE49-F238E27FC236}">
                  <a16:creationId xmlns:a16="http://schemas.microsoft.com/office/drawing/2014/main" id="{822AEE2C-A25A-FFC6-BD44-236DE4FC910F}"/>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Rectangle: Rounded Corners 16">
              <a:extLst>
                <a:ext uri="{FF2B5EF4-FFF2-40B4-BE49-F238E27FC236}">
                  <a16:creationId xmlns:a16="http://schemas.microsoft.com/office/drawing/2014/main" id="{A02ED79A-D54B-105D-E2AC-61BA3D6FB32C}"/>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Scalable Reporting</a:t>
              </a:r>
              <a:endParaRPr lang="en-GB" sz="1600" b="1" dirty="0">
                <a:solidFill>
                  <a:schemeClr val="bg1"/>
                </a:solidFill>
              </a:endParaRPr>
            </a:p>
          </p:txBody>
        </p:sp>
      </p:grpSp>
      <p:grpSp>
        <p:nvGrpSpPr>
          <p:cNvPr id="18" name="Group 17">
            <a:extLst>
              <a:ext uri="{FF2B5EF4-FFF2-40B4-BE49-F238E27FC236}">
                <a16:creationId xmlns:a16="http://schemas.microsoft.com/office/drawing/2014/main" id="{61308845-D2B6-A168-7D54-82C9BC51AA57}"/>
              </a:ext>
            </a:extLst>
          </p:cNvPr>
          <p:cNvGrpSpPr/>
          <p:nvPr/>
        </p:nvGrpSpPr>
        <p:grpSpPr>
          <a:xfrm>
            <a:off x="423234" y="2083028"/>
            <a:ext cx="3453421" cy="3749040"/>
            <a:chOff x="771331" y="2157451"/>
            <a:chExt cx="2929812" cy="3447138"/>
          </a:xfrm>
        </p:grpSpPr>
        <p:sp>
          <p:nvSpPr>
            <p:cNvPr id="19" name="Freeform: Shape 18">
              <a:extLst>
                <a:ext uri="{FF2B5EF4-FFF2-40B4-BE49-F238E27FC236}">
                  <a16:creationId xmlns:a16="http://schemas.microsoft.com/office/drawing/2014/main" id="{5D9C574C-0F65-4178-1C41-A64DA3812A4D}"/>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Rectangle: Rounded Corners 19">
              <a:extLst>
                <a:ext uri="{FF2B5EF4-FFF2-40B4-BE49-F238E27FC236}">
                  <a16:creationId xmlns:a16="http://schemas.microsoft.com/office/drawing/2014/main" id="{42E5C34F-CBC2-B41C-EF2D-069AD5478C7B}"/>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Centralized Intake</a:t>
              </a:r>
              <a:endParaRPr lang="en-GB" sz="1600" b="1" dirty="0">
                <a:solidFill>
                  <a:schemeClr val="bg1"/>
                </a:solidFill>
              </a:endParaRPr>
            </a:p>
          </p:txBody>
        </p:sp>
      </p:grpSp>
      <p:grpSp>
        <p:nvGrpSpPr>
          <p:cNvPr id="21" name="Group 20">
            <a:extLst>
              <a:ext uri="{FF2B5EF4-FFF2-40B4-BE49-F238E27FC236}">
                <a16:creationId xmlns:a16="http://schemas.microsoft.com/office/drawing/2014/main" id="{BFEA5491-65AC-4D55-321E-E7BB2CEEAF6D}"/>
              </a:ext>
            </a:extLst>
          </p:cNvPr>
          <p:cNvGrpSpPr/>
          <p:nvPr/>
        </p:nvGrpSpPr>
        <p:grpSpPr>
          <a:xfrm>
            <a:off x="4418982" y="2083027"/>
            <a:ext cx="3453421" cy="3751313"/>
            <a:chOff x="771331" y="2157451"/>
            <a:chExt cx="2929812" cy="3447138"/>
          </a:xfrm>
        </p:grpSpPr>
        <p:sp>
          <p:nvSpPr>
            <p:cNvPr id="22" name="Freeform: Shape 21">
              <a:extLst>
                <a:ext uri="{FF2B5EF4-FFF2-40B4-BE49-F238E27FC236}">
                  <a16:creationId xmlns:a16="http://schemas.microsoft.com/office/drawing/2014/main" id="{4DAE5175-E0CF-44F5-DA76-A13657524A9F}"/>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3" name="Rectangle: Rounded Corners 22">
              <a:extLst>
                <a:ext uri="{FF2B5EF4-FFF2-40B4-BE49-F238E27FC236}">
                  <a16:creationId xmlns:a16="http://schemas.microsoft.com/office/drawing/2014/main" id="{27EBE97C-BDDC-2E28-B484-4D521C8E17D5}"/>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Automated Solution</a:t>
              </a:r>
              <a:endParaRPr lang="en-GB" sz="1600" b="1" dirty="0">
                <a:solidFill>
                  <a:schemeClr val="bg1"/>
                </a:solidFill>
              </a:endParaRPr>
            </a:p>
          </p:txBody>
        </p:sp>
      </p:grpSp>
      <p:sp>
        <p:nvSpPr>
          <p:cNvPr id="2" name="Rectangle 1">
            <a:extLst>
              <a:ext uri="{FF2B5EF4-FFF2-40B4-BE49-F238E27FC236}">
                <a16:creationId xmlns:a16="http://schemas.microsoft.com/office/drawing/2014/main" id="{6C5849B0-22A3-6407-A032-7AC95CF4D288}"/>
              </a:ext>
            </a:extLst>
          </p:cNvPr>
          <p:cNvSpPr>
            <a:spLocks noChangeArrowheads="1"/>
          </p:cNvSpPr>
          <p:nvPr/>
        </p:nvSpPr>
        <p:spPr bwMode="auto">
          <a:xfrm>
            <a:off x="4491218" y="3130428"/>
            <a:ext cx="330894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GB" sz="1400" dirty="0">
                <a:solidFill>
                  <a:schemeClr val="bg1"/>
                </a:solidFill>
              </a:rPr>
              <a:t>Guarantees absolute accuracy by automating the generation and construction of complex tracking URLs, including the mapping of standardized </a:t>
            </a:r>
            <a:r>
              <a:rPr lang="en-GB" sz="1400" dirty="0" err="1">
                <a:solidFill>
                  <a:schemeClr val="bg1"/>
                </a:solidFill>
              </a:rPr>
              <a:t>utm_medium</a:t>
            </a:r>
            <a:r>
              <a:rPr lang="en-GB" sz="1400" dirty="0">
                <a:solidFill>
                  <a:schemeClr val="bg1"/>
                </a:solidFill>
              </a:rPr>
              <a:t> and </a:t>
            </a:r>
            <a:r>
              <a:rPr lang="en-GB" sz="1400" dirty="0" err="1">
                <a:solidFill>
                  <a:schemeClr val="bg1"/>
                </a:solidFill>
              </a:rPr>
              <a:t>utm_source</a:t>
            </a:r>
            <a:r>
              <a:rPr lang="en-GB" sz="1400" dirty="0">
                <a:solidFill>
                  <a:schemeClr val="bg1"/>
                </a:solidFill>
              </a:rPr>
              <a:t> values. This systemic flow completely removes manual intervention and human error from the URL building process.</a:t>
            </a:r>
            <a:endParaRPr lang="en-US" altLang="en-US" sz="1400" dirty="0">
              <a:solidFill>
                <a:schemeClr val="bg1"/>
              </a:solidFill>
            </a:endParaRPr>
          </a:p>
        </p:txBody>
      </p:sp>
      <p:sp>
        <p:nvSpPr>
          <p:cNvPr id="8" name="Rectangle 2">
            <a:extLst>
              <a:ext uri="{FF2B5EF4-FFF2-40B4-BE49-F238E27FC236}">
                <a16:creationId xmlns:a16="http://schemas.microsoft.com/office/drawing/2014/main" id="{0F553525-1DEB-112C-28C4-9F3B3AFC92E3}"/>
              </a:ext>
            </a:extLst>
          </p:cNvPr>
          <p:cNvSpPr>
            <a:spLocks noChangeArrowheads="1"/>
          </p:cNvSpPr>
          <p:nvPr/>
        </p:nvSpPr>
        <p:spPr bwMode="auto">
          <a:xfrm>
            <a:off x="495469" y="2961151"/>
            <a:ext cx="330895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GB" sz="1400" dirty="0">
                <a:solidFill>
                  <a:schemeClr val="bg1"/>
                </a:solidFill>
              </a:rPr>
              <a:t>Leverages Workfront as the standard, automated intake solution for all campaign activations across digital channels. This approach, built entirely within the unified Adobe ecosystem, consolidates all project requests into one governed pipeline.</a:t>
            </a:r>
            <a:endParaRPr lang="en-US" altLang="en-US" sz="1400" dirty="0">
              <a:solidFill>
                <a:schemeClr val="bg1"/>
              </a:solidFill>
            </a:endParaRPr>
          </a:p>
        </p:txBody>
      </p:sp>
      <p:sp>
        <p:nvSpPr>
          <p:cNvPr id="5" name="TextBox 4">
            <a:extLst>
              <a:ext uri="{FF2B5EF4-FFF2-40B4-BE49-F238E27FC236}">
                <a16:creationId xmlns:a16="http://schemas.microsoft.com/office/drawing/2014/main" id="{A37B09C3-9860-0968-29B4-E6963ACF75F6}"/>
              </a:ext>
            </a:extLst>
          </p:cNvPr>
          <p:cNvSpPr txBox="1"/>
          <p:nvPr/>
        </p:nvSpPr>
        <p:spPr>
          <a:xfrm>
            <a:off x="495469" y="841600"/>
            <a:ext cx="11098635" cy="984375"/>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b="1" dirty="0">
                <a:solidFill>
                  <a:schemeClr val="bg1"/>
                </a:solidFill>
              </a:rPr>
              <a:t>Why We Track:</a:t>
            </a:r>
            <a:r>
              <a:rPr lang="en-GB" dirty="0">
                <a:solidFill>
                  <a:schemeClr val="bg1"/>
                </a:solidFill>
              </a:rPr>
              <a:t> Standardizing intake through Workfront ensures every marketing activity is automatically tagged at the point of request, protecting data integrity and simplifying downstream reporting</a:t>
            </a:r>
            <a:endParaRPr lang="en-GB" sz="1600" kern="1200" dirty="0">
              <a:solidFill>
                <a:schemeClr val="bg1"/>
              </a:solidFill>
              <a:latin typeface="+mn-lt"/>
              <a:ea typeface="ＭＳ Ｐゴシック" charset="0"/>
            </a:endParaRPr>
          </a:p>
        </p:txBody>
      </p:sp>
    </p:spTree>
    <p:extLst>
      <p:ext uri="{BB962C8B-B14F-4D97-AF65-F5344CB8AC3E}">
        <p14:creationId xmlns:p14="http://schemas.microsoft.com/office/powerpoint/2010/main" val="315286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6DF71-B314-9FBE-936C-DBC6B186B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F072F-B1A9-6C64-3798-5122DBE73E33}"/>
              </a:ext>
            </a:extLst>
          </p:cNvPr>
          <p:cNvSpPr>
            <a:spLocks noGrp="1"/>
          </p:cNvSpPr>
          <p:nvPr>
            <p:ph type="title"/>
          </p:nvPr>
        </p:nvSpPr>
        <p:spPr/>
        <p:txBody>
          <a:bodyPr/>
          <a:lstStyle/>
          <a:p>
            <a:r>
              <a:rPr lang="en-US" dirty="0"/>
              <a:t>Workfront ID Types</a:t>
            </a:r>
            <a:endParaRPr lang="en-GB" dirty="0"/>
          </a:p>
        </p:txBody>
      </p:sp>
      <p:cxnSp>
        <p:nvCxnSpPr>
          <p:cNvPr id="3" name="Straight Connector 2">
            <a:extLst>
              <a:ext uri="{FF2B5EF4-FFF2-40B4-BE49-F238E27FC236}">
                <a16:creationId xmlns:a16="http://schemas.microsoft.com/office/drawing/2014/main" id="{4B0CACC8-18D7-47F7-F8CD-A9BAE4600F32}"/>
              </a:ext>
            </a:extLst>
          </p:cNvPr>
          <p:cNvCxnSpPr>
            <a:cxnSpLocks/>
          </p:cNvCxnSpPr>
          <p:nvPr/>
        </p:nvCxnSpPr>
        <p:spPr>
          <a:xfrm>
            <a:off x="0" y="1694919"/>
            <a:ext cx="12192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D2B8812C-7DB9-021B-A939-3996E374B9D2}"/>
              </a:ext>
            </a:extLst>
          </p:cNvPr>
          <p:cNvCxnSpPr>
            <a:cxnSpLocks/>
          </p:cNvCxnSpPr>
          <p:nvPr/>
        </p:nvCxnSpPr>
        <p:spPr>
          <a:xfrm>
            <a:off x="1892561" y="3204454"/>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3911B4BC-5173-64B7-5DC7-B6A0DB056F23}"/>
              </a:ext>
            </a:extLst>
          </p:cNvPr>
          <p:cNvCxnSpPr>
            <a:cxnSpLocks/>
          </p:cNvCxnSpPr>
          <p:nvPr/>
        </p:nvCxnSpPr>
        <p:spPr>
          <a:xfrm>
            <a:off x="1972775" y="407537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0" name="TextBox 29">
            <a:extLst>
              <a:ext uri="{FF2B5EF4-FFF2-40B4-BE49-F238E27FC236}">
                <a16:creationId xmlns:a16="http://schemas.microsoft.com/office/drawing/2014/main" id="{C6A71EE2-FED0-A37F-CBDF-AB49C18988D8}"/>
              </a:ext>
            </a:extLst>
          </p:cNvPr>
          <p:cNvSpPr txBox="1"/>
          <p:nvPr/>
        </p:nvSpPr>
        <p:spPr>
          <a:xfrm>
            <a:off x="323850" y="3488636"/>
            <a:ext cx="1280160" cy="30255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What it Does</a:t>
            </a:r>
            <a:endParaRPr lang="en-GB" sz="1600" kern="1200" dirty="0" err="1">
              <a:solidFill>
                <a:schemeClr val="bg1"/>
              </a:solidFill>
              <a:latin typeface="+mn-lt"/>
              <a:ea typeface="ＭＳ Ｐゴシック" charset="0"/>
            </a:endParaRPr>
          </a:p>
        </p:txBody>
      </p:sp>
      <p:sp>
        <p:nvSpPr>
          <p:cNvPr id="31" name="TextBox 30">
            <a:extLst>
              <a:ext uri="{FF2B5EF4-FFF2-40B4-BE49-F238E27FC236}">
                <a16:creationId xmlns:a16="http://schemas.microsoft.com/office/drawing/2014/main" id="{0A5089E0-A062-9D33-6772-E4D5DC7CDEF9}"/>
              </a:ext>
            </a:extLst>
          </p:cNvPr>
          <p:cNvSpPr txBox="1"/>
          <p:nvPr/>
        </p:nvSpPr>
        <p:spPr>
          <a:xfrm>
            <a:off x="323850" y="4754620"/>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Key Rules</a:t>
            </a:r>
            <a:endParaRPr lang="en-GB" sz="1600" kern="1200" dirty="0" err="1">
              <a:solidFill>
                <a:schemeClr val="bg1"/>
              </a:solidFill>
              <a:latin typeface="+mn-lt"/>
              <a:ea typeface="ＭＳ Ｐゴシック" charset="0"/>
            </a:endParaRPr>
          </a:p>
        </p:txBody>
      </p:sp>
      <p:sp>
        <p:nvSpPr>
          <p:cNvPr id="32" name="TextBox 31">
            <a:extLst>
              <a:ext uri="{FF2B5EF4-FFF2-40B4-BE49-F238E27FC236}">
                <a16:creationId xmlns:a16="http://schemas.microsoft.com/office/drawing/2014/main" id="{0744194C-825E-76A0-C875-F4C62CC8DE20}"/>
              </a:ext>
            </a:extLst>
          </p:cNvPr>
          <p:cNvSpPr txBox="1"/>
          <p:nvPr/>
        </p:nvSpPr>
        <p:spPr>
          <a:xfrm>
            <a:off x="323850" y="5918709"/>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Example</a:t>
            </a:r>
            <a:endParaRPr lang="en-GB" sz="1600" kern="1200" dirty="0" err="1">
              <a:solidFill>
                <a:schemeClr val="bg1"/>
              </a:solidFill>
              <a:latin typeface="+mn-lt"/>
              <a:ea typeface="ＭＳ Ｐゴシック" charset="0"/>
            </a:endParaRPr>
          </a:p>
        </p:txBody>
      </p:sp>
      <p:cxnSp>
        <p:nvCxnSpPr>
          <p:cNvPr id="34" name="Straight Connector 33">
            <a:extLst>
              <a:ext uri="{FF2B5EF4-FFF2-40B4-BE49-F238E27FC236}">
                <a16:creationId xmlns:a16="http://schemas.microsoft.com/office/drawing/2014/main" id="{4A96C7A8-A1F3-8F14-C3E6-DA349B1C5F5D}"/>
              </a:ext>
            </a:extLst>
          </p:cNvPr>
          <p:cNvCxnSpPr>
            <a:cxnSpLocks/>
          </p:cNvCxnSpPr>
          <p:nvPr/>
        </p:nvCxnSpPr>
        <p:spPr>
          <a:xfrm>
            <a:off x="2015542" y="569210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 name="TextBox 5">
            <a:extLst>
              <a:ext uri="{FF2B5EF4-FFF2-40B4-BE49-F238E27FC236}">
                <a16:creationId xmlns:a16="http://schemas.microsoft.com/office/drawing/2014/main" id="{E3BA808C-627E-0AED-2B1B-F7B030BE7124}"/>
              </a:ext>
            </a:extLst>
          </p:cNvPr>
          <p:cNvSpPr txBox="1"/>
          <p:nvPr>
            <p:custDataLst>
              <p:tags r:id="rId1"/>
            </p:custDataLst>
          </p:nvPr>
        </p:nvSpPr>
        <p:spPr>
          <a:xfrm>
            <a:off x="2137968"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Project ID</a:t>
            </a:r>
          </a:p>
        </p:txBody>
      </p:sp>
      <p:grpSp>
        <p:nvGrpSpPr>
          <p:cNvPr id="22" name="Group 21">
            <a:extLst>
              <a:ext uri="{FF2B5EF4-FFF2-40B4-BE49-F238E27FC236}">
                <a16:creationId xmlns:a16="http://schemas.microsoft.com/office/drawing/2014/main" id="{7A1DC304-E0CF-57CB-7ED8-87D52541B371}"/>
              </a:ext>
            </a:extLst>
          </p:cNvPr>
          <p:cNvGrpSpPr/>
          <p:nvPr/>
        </p:nvGrpSpPr>
        <p:grpSpPr>
          <a:xfrm>
            <a:off x="3014726" y="1301754"/>
            <a:ext cx="786332" cy="786331"/>
            <a:chOff x="2401016" y="1237421"/>
            <a:chExt cx="786332" cy="786331"/>
          </a:xfrm>
        </p:grpSpPr>
        <p:sp>
          <p:nvSpPr>
            <p:cNvPr id="5" name="Shape1_20250523_195849">
              <a:extLst>
                <a:ext uri="{FF2B5EF4-FFF2-40B4-BE49-F238E27FC236}">
                  <a16:creationId xmlns:a16="http://schemas.microsoft.com/office/drawing/2014/main" id="{4AB40629-AF1C-66F9-CEA3-5D569C7095D7}"/>
                </a:ext>
              </a:extLst>
            </p:cNvPr>
            <p:cNvSpPr txBox="1">
              <a:spLocks noChangeAspect="1"/>
            </p:cNvSpPr>
            <p:nvPr>
              <p:custDataLst>
                <p:tags r:id="rId14"/>
              </p:custDataLst>
            </p:nvPr>
          </p:nvSpPr>
          <p:spPr>
            <a:xfrm>
              <a:off x="2401016" y="123742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8" name="dark1" descr="Mandala with solid fill">
              <a:extLst>
                <a:ext uri="{FF2B5EF4-FFF2-40B4-BE49-F238E27FC236}">
                  <a16:creationId xmlns:a16="http://schemas.microsoft.com/office/drawing/2014/main" id="{579866CA-53F6-8FF9-BB2A-49CA0E9AE6E5}"/>
                </a:ext>
              </a:extLst>
            </p:cNvPr>
            <p:cNvPicPr>
              <a:picLocks noChangeAspect="1"/>
            </p:cNvPicPr>
            <p:nvPr>
              <p:custDataLst>
                <p:tags r:id="rId15"/>
              </p:custDataLst>
            </p:nvPr>
          </p:nvPicPr>
          <p:blipFill>
            <a:blip>
              <a:extLst>
                <a:ext uri="{96DAC541-7B7A-43D3-8B79-37D633B846F1}">
                  <asvg:svgBlip xmlns:asvg="http://schemas.microsoft.com/office/drawing/2016/SVG/main" r:embed="rId18"/>
                </a:ext>
              </a:extLst>
            </a:blip>
            <a:srcRect/>
            <a:stretch/>
          </p:blipFill>
          <p:spPr>
            <a:xfrm>
              <a:off x="2517484" y="1353888"/>
              <a:ext cx="553396" cy="553396"/>
            </a:xfrm>
            <a:prstGeom prst="rect">
              <a:avLst/>
            </a:prstGeom>
          </p:spPr>
        </p:pic>
      </p:grpSp>
      <p:sp>
        <p:nvSpPr>
          <p:cNvPr id="7" name="TextBox 6">
            <a:extLst>
              <a:ext uri="{FF2B5EF4-FFF2-40B4-BE49-F238E27FC236}">
                <a16:creationId xmlns:a16="http://schemas.microsoft.com/office/drawing/2014/main" id="{DA84A3D3-7AEA-7CB3-0135-1FD90B226593}"/>
              </a:ext>
            </a:extLst>
          </p:cNvPr>
          <p:cNvSpPr txBox="1"/>
          <p:nvPr>
            <p:custDataLst>
              <p:tags r:id="rId2"/>
            </p:custDataLst>
          </p:nvPr>
        </p:nvSpPr>
        <p:spPr>
          <a:xfrm>
            <a:off x="1935708" y="2164436"/>
            <a:ext cx="2944368" cy="970317"/>
          </a:xfrm>
          <a:prstGeom prst="rect">
            <a:avLst/>
          </a:prstGeom>
          <a:noFill/>
        </p:spPr>
        <p:txBody>
          <a:bodyPr vert="horz" wrap="square" lIns="18288" tIns="18288" rIns="18288" bIns="18288" rtlCol="0" anchor="t">
            <a:no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lvl="0" algn="ctr"/>
            <a:r>
              <a:rPr lang="en-GB" sz="1200" dirty="0">
                <a:solidFill>
                  <a:schemeClr val="bg1"/>
                </a:solidFill>
                <a:latin typeface="+mn-lt"/>
                <a:cs typeface="Arial" panose="020B0604020202020204" pitchFamily="34" charset="0"/>
              </a:rPr>
              <a:t>The </a:t>
            </a:r>
            <a:r>
              <a:rPr lang="en-GB" sz="1200" b="1" dirty="0">
                <a:solidFill>
                  <a:schemeClr val="bg1"/>
                </a:solidFill>
                <a:latin typeface="+mn-lt"/>
                <a:cs typeface="Arial" panose="020B0604020202020204" pitchFamily="34" charset="0"/>
              </a:rPr>
              <a:t>Project ID </a:t>
            </a:r>
            <a:r>
              <a:rPr lang="en-GB" sz="1200" dirty="0">
                <a:solidFill>
                  <a:schemeClr val="bg1"/>
                </a:solidFill>
                <a:latin typeface="+mn-lt"/>
                <a:cs typeface="Arial" panose="020B0604020202020204" pitchFamily="34" charset="0"/>
              </a:rPr>
              <a:t>is the umbrella identifier for an overarching marketing initiative created within Workfront, </a:t>
            </a:r>
            <a:endParaRPr kumimoji="0" lang="en-IN" sz="1200" b="0" i="0" u="none" strike="noStrike" kern="1200" cap="none" spc="0" normalizeH="0" baseline="0" noProof="0" dirty="0">
              <a:solidFill>
                <a:schemeClr val="bg1"/>
              </a:solidFill>
              <a:uLnTx/>
              <a:uFillTx/>
              <a:latin typeface="+mn-lt"/>
              <a:cs typeface="Arial" panose="020B0604020202020204" pitchFamily="34" charset="0"/>
              <a:sym typeface="Wingdings"/>
            </a:endParaRPr>
          </a:p>
        </p:txBody>
      </p:sp>
      <p:sp>
        <p:nvSpPr>
          <p:cNvPr id="19" name="TextBox 18">
            <a:extLst>
              <a:ext uri="{FF2B5EF4-FFF2-40B4-BE49-F238E27FC236}">
                <a16:creationId xmlns:a16="http://schemas.microsoft.com/office/drawing/2014/main" id="{F762DE16-A4E2-5FDC-B164-4A35C548E4A9}"/>
              </a:ext>
            </a:extLst>
          </p:cNvPr>
          <p:cNvSpPr txBox="1"/>
          <p:nvPr>
            <p:custDataLst>
              <p:tags r:id="rId3"/>
            </p:custDataLst>
          </p:nvPr>
        </p:nvSpPr>
        <p:spPr>
          <a:xfrm>
            <a:off x="1935708" y="3274155"/>
            <a:ext cx="2944368" cy="731520"/>
          </a:xfrm>
          <a:prstGeom prst="rect">
            <a:avLst/>
          </a:prstGeom>
          <a:noFill/>
        </p:spPr>
        <p:txBody>
          <a:bodyPr vert="horz" wrap="square" lIns="18288" tIns="18288" rIns="18288" bIns="18288" rtlCol="0" anchor="ctr">
            <a:normAutofit lnSpcReduction="10000"/>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This identifier does not appear on any external-facing URLs. Instead, it serves as the foundational data link that connects all associated tasks back to the single, comprehensive campaign initiative</a:t>
            </a:r>
            <a:endParaRPr lang="en-IN" sz="1000" dirty="0">
              <a:sym typeface="Wingdings"/>
            </a:endParaRPr>
          </a:p>
        </p:txBody>
      </p:sp>
      <p:sp>
        <p:nvSpPr>
          <p:cNvPr id="39" name="Rectangle 3">
            <a:extLst>
              <a:ext uri="{FF2B5EF4-FFF2-40B4-BE49-F238E27FC236}">
                <a16:creationId xmlns:a16="http://schemas.microsoft.com/office/drawing/2014/main" id="{5D593B9A-0F29-4F87-CC73-D34FE9055DED}"/>
              </a:ext>
            </a:extLst>
          </p:cNvPr>
          <p:cNvSpPr>
            <a:spLocks noChangeArrowheads="1"/>
          </p:cNvSpPr>
          <p:nvPr/>
        </p:nvSpPr>
        <p:spPr bwMode="auto">
          <a:xfrm>
            <a:off x="1935708" y="4145079"/>
            <a:ext cx="2944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GB" sz="1000" b="1" dirty="0">
                <a:solidFill>
                  <a:schemeClr val="bg1"/>
                </a:solidFill>
              </a:rPr>
              <a:t>Operational Link: </a:t>
            </a:r>
            <a:r>
              <a:rPr lang="en-GB" sz="1000" dirty="0">
                <a:solidFill>
                  <a:schemeClr val="bg1"/>
                </a:solidFill>
              </a:rPr>
              <a:t>All individual campaign activations (Channel IDs) and related gated assets (Content IDs) must be nested under one Project ID to guarantee integrated performance reporting.</a:t>
            </a:r>
            <a:endParaRPr lang="en-GB" sz="1000" b="1" dirty="0">
              <a:solidFill>
                <a:schemeClr val="bg1"/>
              </a:solidFill>
            </a:endParaRPr>
          </a:p>
          <a:p>
            <a:pPr lvl="0" eaLnBrk="0" fontAlgn="base" hangingPunct="0">
              <a:spcBef>
                <a:spcPct val="0"/>
              </a:spcBef>
              <a:spcAft>
                <a:spcPct val="0"/>
              </a:spcAft>
            </a:pPr>
            <a:r>
              <a:rPr lang="en-GB" sz="1000" b="1" dirty="0">
                <a:solidFill>
                  <a:schemeClr val="bg1"/>
                </a:solidFill>
              </a:rPr>
              <a:t>URL Usage:</a:t>
            </a:r>
            <a:r>
              <a:rPr lang="en-GB" sz="1000" dirty="0">
                <a:solidFill>
                  <a:schemeClr val="bg1"/>
                </a:solidFill>
              </a:rPr>
              <a:t> Do </a:t>
            </a:r>
            <a:r>
              <a:rPr lang="en-GB" sz="1000" b="1" dirty="0">
                <a:solidFill>
                  <a:schemeClr val="bg1"/>
                </a:solidFill>
              </a:rPr>
              <a:t>NOT</a:t>
            </a:r>
            <a:r>
              <a:rPr lang="en-GB" sz="1000" dirty="0">
                <a:solidFill>
                  <a:schemeClr val="bg1"/>
                </a:solidFill>
              </a:rPr>
              <a:t> use the Project ID on any external query strings (UTM parameters); its usage is strictly internal to maintain data taxonomy.</a:t>
            </a:r>
            <a:endParaRPr kumimoji="0" lang="en-US" altLang="en-US" sz="1000" b="0" i="0" u="none" strike="noStrike" cap="none" normalizeH="0" baseline="0" dirty="0">
              <a:ln>
                <a:noFill/>
              </a:ln>
              <a:solidFill>
                <a:schemeClr val="bg1"/>
              </a:solidFill>
              <a:effectLst/>
            </a:endParaRPr>
          </a:p>
        </p:txBody>
      </p:sp>
      <p:sp>
        <p:nvSpPr>
          <p:cNvPr id="44" name="TextBox 43">
            <a:extLst>
              <a:ext uri="{FF2B5EF4-FFF2-40B4-BE49-F238E27FC236}">
                <a16:creationId xmlns:a16="http://schemas.microsoft.com/office/drawing/2014/main" id="{244D3707-F4BD-3DAD-C99D-FC7CD5A6B39C}"/>
              </a:ext>
            </a:extLst>
          </p:cNvPr>
          <p:cNvSpPr txBox="1"/>
          <p:nvPr/>
        </p:nvSpPr>
        <p:spPr>
          <a:xfrm>
            <a:off x="1935708" y="5761809"/>
            <a:ext cx="294436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bg1"/>
                </a:solidFill>
              </a:defRPr>
            </a:lvl1pPr>
          </a:lstStyle>
          <a:p>
            <a:r>
              <a:rPr lang="en-GB" dirty="0">
                <a:solidFill>
                  <a:schemeClr val="accent2"/>
                </a:solidFill>
              </a:rPr>
              <a:t>PA000120 </a:t>
            </a:r>
          </a:p>
          <a:p>
            <a:r>
              <a:rPr lang="en-US" sz="800" b="0" dirty="0" err="1">
                <a:solidFill>
                  <a:schemeClr val="accent2"/>
                </a:solidFill>
              </a:rPr>
              <a:t>web_pa_Build</a:t>
            </a:r>
            <a:r>
              <a:rPr lang="en-US" sz="800" b="0" dirty="0">
                <a:solidFill>
                  <a:schemeClr val="accent2"/>
                </a:solidFill>
              </a:rPr>
              <a:t> Your Practice - Global Subpage_gl_fy26_07_6586992 (23)</a:t>
            </a:r>
            <a:endParaRPr lang="en-GB" sz="800" b="0" dirty="0">
              <a:solidFill>
                <a:schemeClr val="accent2"/>
              </a:solidFill>
            </a:endParaRPr>
          </a:p>
        </p:txBody>
      </p:sp>
      <p:sp>
        <p:nvSpPr>
          <p:cNvPr id="11" name="TextBox 10">
            <a:extLst>
              <a:ext uri="{FF2B5EF4-FFF2-40B4-BE49-F238E27FC236}">
                <a16:creationId xmlns:a16="http://schemas.microsoft.com/office/drawing/2014/main" id="{44B0FB07-C87C-573C-471A-BB31F77705B9}"/>
              </a:ext>
            </a:extLst>
          </p:cNvPr>
          <p:cNvSpPr txBox="1"/>
          <p:nvPr>
            <p:custDataLst>
              <p:tags r:id="rId4"/>
            </p:custDataLst>
          </p:nvPr>
        </p:nvSpPr>
        <p:spPr>
          <a:xfrm>
            <a:off x="5378526"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Channel </a:t>
            </a: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ID</a:t>
            </a:r>
          </a:p>
        </p:txBody>
      </p:sp>
      <p:grpSp>
        <p:nvGrpSpPr>
          <p:cNvPr id="23" name="Group 22">
            <a:extLst>
              <a:ext uri="{FF2B5EF4-FFF2-40B4-BE49-F238E27FC236}">
                <a16:creationId xmlns:a16="http://schemas.microsoft.com/office/drawing/2014/main" id="{89D01208-2D19-8635-3193-8854610F6A81}"/>
              </a:ext>
            </a:extLst>
          </p:cNvPr>
          <p:cNvGrpSpPr/>
          <p:nvPr/>
        </p:nvGrpSpPr>
        <p:grpSpPr>
          <a:xfrm>
            <a:off x="6255284" y="1301754"/>
            <a:ext cx="786332" cy="786331"/>
            <a:chOff x="4981422" y="1366087"/>
            <a:chExt cx="786332" cy="786331"/>
          </a:xfrm>
        </p:grpSpPr>
        <p:sp>
          <p:nvSpPr>
            <p:cNvPr id="10" name="Shape2_20250523_195849">
              <a:extLst>
                <a:ext uri="{FF2B5EF4-FFF2-40B4-BE49-F238E27FC236}">
                  <a16:creationId xmlns:a16="http://schemas.microsoft.com/office/drawing/2014/main" id="{E2834A97-0AE3-AEF1-1F83-F616E9EAB0DD}"/>
                </a:ext>
              </a:extLst>
            </p:cNvPr>
            <p:cNvSpPr txBox="1">
              <a:spLocks noChangeAspect="1"/>
            </p:cNvSpPr>
            <p:nvPr>
              <p:custDataLst>
                <p:tags r:id="rId12"/>
              </p:custDataLst>
            </p:nvPr>
          </p:nvSpPr>
          <p:spPr>
            <a:xfrm>
              <a:off x="4981422" y="136608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a:sym typeface="Arial"/>
                </a:rPr>
                <a:t> </a:t>
              </a:r>
              <a:endParaRPr>
                <a:sym typeface="Arial"/>
              </a:endParaRPr>
            </a:p>
          </p:txBody>
        </p:sp>
        <p:pic>
          <p:nvPicPr>
            <p:cNvPr id="13" name="dark2" descr="Steering Wheel with solid fill">
              <a:extLst>
                <a:ext uri="{FF2B5EF4-FFF2-40B4-BE49-F238E27FC236}">
                  <a16:creationId xmlns:a16="http://schemas.microsoft.com/office/drawing/2014/main" id="{D4F3D855-383A-51D6-9D24-B3413704BBEC}"/>
                </a:ext>
              </a:extLst>
            </p:cNvPr>
            <p:cNvPicPr>
              <a:picLocks noChangeAspect="1"/>
            </p:cNvPicPr>
            <p:nvPr>
              <p:custDataLst>
                <p:tags r:id="rId13"/>
              </p:custDataLst>
            </p:nvPr>
          </p:nvPicPr>
          <p:blipFill>
            <a:blip>
              <a:extLst>
                <a:ext uri="{96DAC541-7B7A-43D3-8B79-37D633B846F1}">
                  <asvg:svgBlip xmlns:asvg="http://schemas.microsoft.com/office/drawing/2016/SVG/main" r:embed="rId19"/>
                </a:ext>
              </a:extLst>
            </a:blip>
            <a:srcRect/>
            <a:stretch/>
          </p:blipFill>
          <p:spPr>
            <a:xfrm>
              <a:off x="5102911" y="1487575"/>
              <a:ext cx="543355" cy="543355"/>
            </a:xfrm>
            <a:prstGeom prst="rect">
              <a:avLst/>
            </a:prstGeom>
          </p:spPr>
        </p:pic>
      </p:grpSp>
      <p:sp>
        <p:nvSpPr>
          <p:cNvPr id="12" name="TextBox 11">
            <a:extLst>
              <a:ext uri="{FF2B5EF4-FFF2-40B4-BE49-F238E27FC236}">
                <a16:creationId xmlns:a16="http://schemas.microsoft.com/office/drawing/2014/main" id="{3E0E654D-0FC9-479D-88F6-B8ECB42B7C95}"/>
              </a:ext>
            </a:extLst>
          </p:cNvPr>
          <p:cNvSpPr txBox="1"/>
          <p:nvPr>
            <p:custDataLst>
              <p:tags r:id="rId5"/>
            </p:custDataLst>
          </p:nvPr>
        </p:nvSpPr>
        <p:spPr>
          <a:xfrm>
            <a:off x="5176266" y="2164436"/>
            <a:ext cx="2944368" cy="970317"/>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Channel ID</a:t>
            </a:r>
            <a:r>
              <a:rPr lang="en-GB" dirty="0"/>
              <a:t> denotes a unique, specific marketing execution vehicle that is automatically generated within a Workfront project</a:t>
            </a:r>
            <a:endParaRPr lang="en-IN" dirty="0">
              <a:sym typeface="Wingdings"/>
            </a:endParaRPr>
          </a:p>
        </p:txBody>
      </p:sp>
      <p:sp>
        <p:nvSpPr>
          <p:cNvPr id="20" name="TextBox 19">
            <a:extLst>
              <a:ext uri="{FF2B5EF4-FFF2-40B4-BE49-F238E27FC236}">
                <a16:creationId xmlns:a16="http://schemas.microsoft.com/office/drawing/2014/main" id="{9DCB46F8-4E23-26FB-92DB-C14B60ADBB94}"/>
              </a:ext>
            </a:extLst>
          </p:cNvPr>
          <p:cNvSpPr txBox="1"/>
          <p:nvPr>
            <p:custDataLst>
              <p:tags r:id="rId6"/>
            </p:custDataLst>
          </p:nvPr>
        </p:nvSpPr>
        <p:spPr>
          <a:xfrm>
            <a:off x="5176266"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The Channel ID is the foundational key that MUST be appended to the </a:t>
            </a:r>
            <a:r>
              <a:rPr lang="en-GB" dirty="0" err="1"/>
              <a:t>utm_id</a:t>
            </a:r>
            <a:r>
              <a:rPr lang="en-GB" sz="1000" dirty="0"/>
              <a:t> field on every external-facing tracking URL driving traffic to </a:t>
            </a:r>
            <a:r>
              <a:rPr lang="en-GB" sz="1000" i="1" dirty="0"/>
              <a:t>Cisco.com</a:t>
            </a:r>
            <a:r>
              <a:rPr lang="en-GB" sz="1000" dirty="0"/>
              <a:t> properties[</a:t>
            </a:r>
            <a:endParaRPr lang="en-IN" sz="1000" dirty="0">
              <a:sym typeface="Wingdings"/>
            </a:endParaRPr>
          </a:p>
        </p:txBody>
      </p:sp>
      <p:sp>
        <p:nvSpPr>
          <p:cNvPr id="41" name="Rectangle 4">
            <a:extLst>
              <a:ext uri="{FF2B5EF4-FFF2-40B4-BE49-F238E27FC236}">
                <a16:creationId xmlns:a16="http://schemas.microsoft.com/office/drawing/2014/main" id="{6F91EFB1-988C-659B-FF41-CFF40EEB8B60}"/>
              </a:ext>
            </a:extLst>
          </p:cNvPr>
          <p:cNvSpPr>
            <a:spLocks noChangeArrowheads="1"/>
          </p:cNvSpPr>
          <p:nvPr/>
        </p:nvSpPr>
        <p:spPr bwMode="auto">
          <a:xfrm>
            <a:off x="5176266" y="4145078"/>
            <a:ext cx="2944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GB" sz="1000" b="1" dirty="0">
                <a:solidFill>
                  <a:schemeClr val="bg1"/>
                </a:solidFill>
              </a:rPr>
              <a:t>Unique Execution Key:</a:t>
            </a:r>
            <a:r>
              <a:rPr lang="en-GB" sz="1000" dirty="0">
                <a:solidFill>
                  <a:schemeClr val="bg1"/>
                </a:solidFill>
              </a:rPr>
              <a:t> Create one (and only one) Channel ID per specific platform activation. If a project deploys two emails and one social post, three distinct Channel IDs must be generated.</a:t>
            </a:r>
          </a:p>
          <a:p>
            <a:pPr eaLnBrk="0" fontAlgn="base" hangingPunct="0">
              <a:spcBef>
                <a:spcPct val="0"/>
              </a:spcBef>
              <a:spcAft>
                <a:spcPct val="0"/>
              </a:spcAft>
            </a:pPr>
            <a:r>
              <a:rPr lang="en-GB" altLang="en-US" sz="1000" b="1" dirty="0">
                <a:solidFill>
                  <a:schemeClr val="bg1"/>
                </a:solidFill>
              </a:rPr>
              <a:t>UTM Integrations: </a:t>
            </a:r>
            <a:r>
              <a:rPr lang="en-GB" sz="1000" dirty="0">
                <a:solidFill>
                  <a:schemeClr val="bg1"/>
                </a:solidFill>
              </a:rPr>
              <a:t>The system uses the information associated with the Channel ID to automatically map standardized </a:t>
            </a:r>
            <a:r>
              <a:rPr lang="en-GB" sz="1000" dirty="0" err="1">
                <a:solidFill>
                  <a:schemeClr val="bg1"/>
                </a:solidFill>
              </a:rPr>
              <a:t>utm_source</a:t>
            </a:r>
            <a:r>
              <a:rPr lang="en-GB" sz="1000" dirty="0">
                <a:solidFill>
                  <a:schemeClr val="bg1"/>
                </a:solidFill>
              </a:rPr>
              <a:t> and </a:t>
            </a:r>
            <a:r>
              <a:rPr lang="en-GB" sz="1000" dirty="0" err="1">
                <a:solidFill>
                  <a:schemeClr val="bg1"/>
                </a:solidFill>
              </a:rPr>
              <a:t>utm_medium</a:t>
            </a:r>
            <a:r>
              <a:rPr lang="en-GB" sz="1000" dirty="0">
                <a:solidFill>
                  <a:schemeClr val="bg1"/>
                </a:solidFill>
              </a:rPr>
              <a:t> values to the query string</a:t>
            </a:r>
            <a:endParaRPr lang="en-US" altLang="en-US" sz="1000" dirty="0">
              <a:solidFill>
                <a:schemeClr val="bg1"/>
              </a:solidFill>
            </a:endParaRPr>
          </a:p>
        </p:txBody>
      </p:sp>
      <p:sp>
        <p:nvSpPr>
          <p:cNvPr id="45" name="TextBox 44">
            <a:extLst>
              <a:ext uri="{FF2B5EF4-FFF2-40B4-BE49-F238E27FC236}">
                <a16:creationId xmlns:a16="http://schemas.microsoft.com/office/drawing/2014/main" id="{07F4407F-561D-96F8-938A-4EE66CD12E5B}"/>
              </a:ext>
            </a:extLst>
          </p:cNvPr>
          <p:cNvSpPr txBox="1"/>
          <p:nvPr/>
        </p:nvSpPr>
        <p:spPr>
          <a:xfrm>
            <a:off x="5176266" y="5761809"/>
            <a:ext cx="29443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800" b="1">
                <a:solidFill>
                  <a:schemeClr val="accent2"/>
                </a:solidFill>
              </a:defRPr>
            </a:lvl1pPr>
          </a:lstStyle>
          <a:p>
            <a:r>
              <a:rPr lang="en-GB" sz="1000" dirty="0"/>
              <a:t>CHL000100</a:t>
            </a:r>
          </a:p>
          <a:p>
            <a:r>
              <a:rPr lang="en-GB" b="0" dirty="0" err="1"/>
              <a:t>SecureCampus-ContainThreats_PSRD</a:t>
            </a:r>
            <a:endParaRPr lang="en-GB" b="0" dirty="0"/>
          </a:p>
        </p:txBody>
      </p:sp>
      <p:sp>
        <p:nvSpPr>
          <p:cNvPr id="16" name="TextBox 15">
            <a:extLst>
              <a:ext uri="{FF2B5EF4-FFF2-40B4-BE49-F238E27FC236}">
                <a16:creationId xmlns:a16="http://schemas.microsoft.com/office/drawing/2014/main" id="{4AF94D62-3ECA-85D9-A5BF-D528D1AE5930}"/>
              </a:ext>
            </a:extLst>
          </p:cNvPr>
          <p:cNvSpPr txBox="1"/>
          <p:nvPr>
            <p:custDataLst>
              <p:tags r:id="rId7"/>
            </p:custDataLst>
          </p:nvPr>
        </p:nvSpPr>
        <p:spPr>
          <a:xfrm>
            <a:off x="8619084"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Content ID</a:t>
            </a:r>
            <a:endPar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endParaRPr>
          </a:p>
        </p:txBody>
      </p:sp>
      <p:sp>
        <p:nvSpPr>
          <p:cNvPr id="17" name="TextBox 16">
            <a:extLst>
              <a:ext uri="{FF2B5EF4-FFF2-40B4-BE49-F238E27FC236}">
                <a16:creationId xmlns:a16="http://schemas.microsoft.com/office/drawing/2014/main" id="{ECA5D570-38EB-E3AA-115F-20B382BDA00B}"/>
              </a:ext>
            </a:extLst>
          </p:cNvPr>
          <p:cNvSpPr txBox="1"/>
          <p:nvPr>
            <p:custDataLst>
              <p:tags r:id="rId8"/>
            </p:custDataLst>
          </p:nvPr>
        </p:nvSpPr>
        <p:spPr>
          <a:xfrm>
            <a:off x="8416824" y="2164436"/>
            <a:ext cx="2944368" cy="970317"/>
          </a:xfrm>
          <a:prstGeom prst="rect">
            <a:avLst/>
          </a:prstGeom>
          <a:noFill/>
        </p:spPr>
        <p:txBody>
          <a:bodyPr vert="horz" wrap="square" lIns="18288" tIns="18288" rIns="18288" bIns="18288" rtlCol="0" anchor="t">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Content ID</a:t>
            </a:r>
            <a:r>
              <a:rPr lang="en-GB" dirty="0"/>
              <a:t> is a task-level identifier nested under the Project ID that tracks specific customer-consumed assets</a:t>
            </a:r>
            <a:endParaRPr lang="en-IN" dirty="0">
              <a:sym typeface="Wingdings"/>
            </a:endParaRPr>
          </a:p>
        </p:txBody>
      </p:sp>
      <p:grpSp>
        <p:nvGrpSpPr>
          <p:cNvPr id="24" name="Group 23">
            <a:extLst>
              <a:ext uri="{FF2B5EF4-FFF2-40B4-BE49-F238E27FC236}">
                <a16:creationId xmlns:a16="http://schemas.microsoft.com/office/drawing/2014/main" id="{D8A169E6-00A7-E6F2-9DF6-4E55280E5736}"/>
              </a:ext>
            </a:extLst>
          </p:cNvPr>
          <p:cNvGrpSpPr/>
          <p:nvPr/>
        </p:nvGrpSpPr>
        <p:grpSpPr>
          <a:xfrm>
            <a:off x="9495842" y="1301754"/>
            <a:ext cx="786332" cy="786331"/>
            <a:chOff x="9431957" y="1247111"/>
            <a:chExt cx="786332" cy="786331"/>
          </a:xfrm>
        </p:grpSpPr>
        <p:sp>
          <p:nvSpPr>
            <p:cNvPr id="15" name="Shape3_20250523_195849">
              <a:extLst>
                <a:ext uri="{FF2B5EF4-FFF2-40B4-BE49-F238E27FC236}">
                  <a16:creationId xmlns:a16="http://schemas.microsoft.com/office/drawing/2014/main" id="{4E2200F8-483D-B389-E88D-7AD530199EC3}"/>
                </a:ext>
              </a:extLst>
            </p:cNvPr>
            <p:cNvSpPr txBox="1">
              <a:spLocks noChangeAspect="1"/>
            </p:cNvSpPr>
            <p:nvPr>
              <p:custDataLst>
                <p:tags r:id="rId10"/>
              </p:custDataLst>
            </p:nvPr>
          </p:nvSpPr>
          <p:spPr>
            <a:xfrm>
              <a:off x="9431957" y="124711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18" name="dark3" descr="Shield Tick with solid fill">
              <a:extLst>
                <a:ext uri="{FF2B5EF4-FFF2-40B4-BE49-F238E27FC236}">
                  <a16:creationId xmlns:a16="http://schemas.microsoft.com/office/drawing/2014/main" id="{C4B1BA4A-A104-0C2B-B485-2BDBEA1A21C9}"/>
                </a:ext>
              </a:extLst>
            </p:cNvPr>
            <p:cNvPicPr>
              <a:picLocks noChangeAspect="1"/>
            </p:cNvPicPr>
            <p:nvPr>
              <p:custDataLst>
                <p:tags r:id="rId11"/>
              </p:custDataLst>
            </p:nvPr>
          </p:nvPicPr>
          <p:blipFill>
            <a:blip>
              <a:extLst>
                <a:ext uri="{96DAC541-7B7A-43D3-8B79-37D633B846F1}">
                  <asvg:svgBlip xmlns:asvg="http://schemas.microsoft.com/office/drawing/2016/SVG/main" r:embed="rId20"/>
                </a:ext>
              </a:extLst>
            </a:blip>
            <a:srcRect/>
            <a:stretch/>
          </p:blipFill>
          <p:spPr>
            <a:xfrm>
              <a:off x="9548425" y="1363578"/>
              <a:ext cx="553396" cy="553396"/>
            </a:xfrm>
            <a:prstGeom prst="rect">
              <a:avLst/>
            </a:prstGeom>
          </p:spPr>
        </p:pic>
      </p:grpSp>
      <p:sp>
        <p:nvSpPr>
          <p:cNvPr id="21" name="TextBox 20">
            <a:extLst>
              <a:ext uri="{FF2B5EF4-FFF2-40B4-BE49-F238E27FC236}">
                <a16:creationId xmlns:a16="http://schemas.microsoft.com/office/drawing/2014/main" id="{13ECEE5B-2FA1-62CB-89DF-880566F2D425}"/>
              </a:ext>
            </a:extLst>
          </p:cNvPr>
          <p:cNvSpPr txBox="1"/>
          <p:nvPr>
            <p:custDataLst>
              <p:tags r:id="rId9"/>
            </p:custDataLst>
          </p:nvPr>
        </p:nvSpPr>
        <p:spPr>
          <a:xfrm>
            <a:off x="8416824" y="3274155"/>
            <a:ext cx="2944368" cy="731520"/>
          </a:xfrm>
          <a:prstGeom prst="rect">
            <a:avLst/>
          </a:prstGeom>
          <a:noFill/>
        </p:spPr>
        <p:txBody>
          <a:bodyPr vert="horz" wrap="square" lIns="18288" tIns="18288" rIns="18288" bIns="18288" rtlCol="0" anchor="ctr">
            <a:normAutofit lnSpcReduction="10000"/>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The Content ID ensures that all customer interactions with an asset (touches) are accurately aligned with the master marketing initiative (the Project) for fractional attribution and touchpoint analytics</a:t>
            </a:r>
            <a:endParaRPr lang="en-IN" sz="1000" dirty="0">
              <a:sym typeface="Wingdings"/>
            </a:endParaRPr>
          </a:p>
        </p:txBody>
      </p:sp>
      <p:sp>
        <p:nvSpPr>
          <p:cNvPr id="43" name="Rectangle 5">
            <a:extLst>
              <a:ext uri="{FF2B5EF4-FFF2-40B4-BE49-F238E27FC236}">
                <a16:creationId xmlns:a16="http://schemas.microsoft.com/office/drawing/2014/main" id="{30C23347-9A78-9CEF-3AB5-E77988D37BED}"/>
              </a:ext>
            </a:extLst>
          </p:cNvPr>
          <p:cNvSpPr>
            <a:spLocks noChangeArrowheads="1"/>
          </p:cNvSpPr>
          <p:nvPr/>
        </p:nvSpPr>
        <p:spPr bwMode="auto">
          <a:xfrm>
            <a:off x="8416824" y="4145077"/>
            <a:ext cx="2944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GB" sz="1000" b="1" dirty="0">
                <a:solidFill>
                  <a:schemeClr val="bg1"/>
                </a:solidFill>
              </a:rPr>
              <a:t>Content and Page Mapping:</a:t>
            </a:r>
            <a:r>
              <a:rPr lang="en-GB" sz="1000" dirty="0">
                <a:solidFill>
                  <a:schemeClr val="bg1"/>
                </a:solidFill>
              </a:rPr>
              <a:t> The Content ID must be appended to the specific Adobe Experience Manager (AEM) page where the content is hosted.</a:t>
            </a:r>
          </a:p>
          <a:p>
            <a:pPr lvl="0"/>
            <a:r>
              <a:rPr lang="en-GB" sz="1000" b="1" dirty="0">
                <a:solidFill>
                  <a:schemeClr val="bg1"/>
                </a:solidFill>
              </a:rPr>
              <a:t>Multi-Offer Support:</a:t>
            </a:r>
            <a:r>
              <a:rPr lang="en-GB" sz="1000" dirty="0">
                <a:solidFill>
                  <a:schemeClr val="bg1"/>
                </a:solidFill>
              </a:rPr>
              <a:t> A single Project ID can contain multiple Content IDs. For example, one campaign can offer a white paper </a:t>
            </a:r>
            <a:r>
              <a:rPr lang="en-GB" sz="1000" i="1" dirty="0">
                <a:solidFill>
                  <a:schemeClr val="bg1"/>
                </a:solidFill>
              </a:rPr>
              <a:t>and</a:t>
            </a:r>
            <a:r>
              <a:rPr lang="en-GB" sz="1000" dirty="0">
                <a:solidFill>
                  <a:schemeClr val="bg1"/>
                </a:solidFill>
              </a:rPr>
              <a:t> a free trial simultaneously.</a:t>
            </a:r>
          </a:p>
          <a:p>
            <a:pPr eaLnBrk="0" fontAlgn="base" hangingPunct="0">
              <a:spcBef>
                <a:spcPct val="0"/>
              </a:spcBef>
              <a:spcAft>
                <a:spcPct val="0"/>
              </a:spcAft>
            </a:pPr>
            <a:endParaRPr lang="en-US" altLang="en-US" sz="1000" dirty="0">
              <a:solidFill>
                <a:schemeClr val="bg1"/>
              </a:solidFill>
            </a:endParaRPr>
          </a:p>
        </p:txBody>
      </p:sp>
      <p:sp>
        <p:nvSpPr>
          <p:cNvPr id="46" name="TextBox 45">
            <a:extLst>
              <a:ext uri="{FF2B5EF4-FFF2-40B4-BE49-F238E27FC236}">
                <a16:creationId xmlns:a16="http://schemas.microsoft.com/office/drawing/2014/main" id="{CAD16127-52CB-12A1-7C04-4CD88B58A28B}"/>
              </a:ext>
            </a:extLst>
          </p:cNvPr>
          <p:cNvSpPr txBox="1"/>
          <p:nvPr/>
        </p:nvSpPr>
        <p:spPr>
          <a:xfrm>
            <a:off x="8416824" y="5761809"/>
            <a:ext cx="294436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dirty="0"/>
              <a:t>CON001089 </a:t>
            </a:r>
          </a:p>
          <a:p>
            <a:r>
              <a:rPr lang="en-US" b="0" dirty="0"/>
              <a:t>customer story or case study-banco do brasil (</a:t>
            </a:r>
            <a:r>
              <a:rPr lang="en-US" b="0" dirty="0" err="1"/>
              <a:t>portuguese</a:t>
            </a:r>
            <a:r>
              <a:rPr lang="en-US" b="0" dirty="0"/>
              <a:t>) customer story-us-</a:t>
            </a:r>
            <a:r>
              <a:rPr lang="en-US" b="0" dirty="0" err="1"/>
              <a:t>en</a:t>
            </a:r>
            <a:endParaRPr lang="en-GB" b="0" dirty="0"/>
          </a:p>
        </p:txBody>
      </p:sp>
    </p:spTree>
    <p:extLst>
      <p:ext uri="{BB962C8B-B14F-4D97-AF65-F5344CB8AC3E}">
        <p14:creationId xmlns:p14="http://schemas.microsoft.com/office/powerpoint/2010/main" val="109786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92C7B-9A85-5248-3137-FB6348038FA2}"/>
            </a:ext>
          </a:extLst>
        </p:cNvPr>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03F7597C-B0F7-1F07-DC14-A40912DBC687}"/>
              </a:ext>
            </a:extLst>
          </p:cNvPr>
          <p:cNvSpPr/>
          <p:nvPr/>
        </p:nvSpPr>
        <p:spPr>
          <a:xfrm>
            <a:off x="466272" y="1914966"/>
            <a:ext cx="5682781" cy="3899066"/>
          </a:xfrm>
          <a:prstGeom prst="roundRect">
            <a:avLst>
              <a:gd name="adj" fmla="val 5289"/>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buFont typeface="Arial" panose="020B0604020202020204" pitchFamily="34" charset="0"/>
              <a:buChar char="•"/>
            </a:pPr>
            <a:endParaRPr lang="en-GB" sz="1600" dirty="0">
              <a:solidFill>
                <a:schemeClr val="bg1"/>
              </a:solidFill>
            </a:endParaRPr>
          </a:p>
        </p:txBody>
      </p:sp>
      <p:sp>
        <p:nvSpPr>
          <p:cNvPr id="2" name="Title 1">
            <a:extLst>
              <a:ext uri="{FF2B5EF4-FFF2-40B4-BE49-F238E27FC236}">
                <a16:creationId xmlns:a16="http://schemas.microsoft.com/office/drawing/2014/main" id="{D0DD7B32-C127-C5C7-C0A8-5075EEE655B9}"/>
              </a:ext>
            </a:extLst>
          </p:cNvPr>
          <p:cNvSpPr>
            <a:spLocks noGrp="1"/>
          </p:cNvSpPr>
          <p:nvPr>
            <p:ph type="title"/>
          </p:nvPr>
        </p:nvSpPr>
        <p:spPr/>
        <p:txBody>
          <a:bodyPr/>
          <a:lstStyle/>
          <a:p>
            <a:r>
              <a:rPr lang="en-US" dirty="0"/>
              <a:t>Structure of an Channel ID</a:t>
            </a:r>
            <a:endParaRPr lang="en-GB" dirty="0"/>
          </a:p>
        </p:txBody>
      </p:sp>
      <p:grpSp>
        <p:nvGrpSpPr>
          <p:cNvPr id="45" name="Group 44">
            <a:extLst>
              <a:ext uri="{FF2B5EF4-FFF2-40B4-BE49-F238E27FC236}">
                <a16:creationId xmlns:a16="http://schemas.microsoft.com/office/drawing/2014/main" id="{9022214C-10EA-4DCE-5837-9A72F5DE5E15}"/>
              </a:ext>
            </a:extLst>
          </p:cNvPr>
          <p:cNvGrpSpPr/>
          <p:nvPr/>
        </p:nvGrpSpPr>
        <p:grpSpPr>
          <a:xfrm>
            <a:off x="2702173" y="4826778"/>
            <a:ext cx="1411101" cy="832570"/>
            <a:chOff x="5225124" y="4067734"/>
            <a:chExt cx="2267712" cy="1337983"/>
          </a:xfrm>
        </p:grpSpPr>
        <p:grpSp>
          <p:nvGrpSpPr>
            <p:cNvPr id="8" name="Group 7">
              <a:extLst>
                <a:ext uri="{FF2B5EF4-FFF2-40B4-BE49-F238E27FC236}">
                  <a16:creationId xmlns:a16="http://schemas.microsoft.com/office/drawing/2014/main" id="{8A3EE545-32C3-71B3-1ED7-1C121D4C7652}"/>
                </a:ext>
              </a:extLst>
            </p:cNvPr>
            <p:cNvGrpSpPr/>
            <p:nvPr/>
          </p:nvGrpSpPr>
          <p:grpSpPr>
            <a:xfrm>
              <a:off x="5225124" y="4067734"/>
              <a:ext cx="2267712" cy="1337983"/>
              <a:chOff x="2521324" y="4067735"/>
              <a:chExt cx="2267712" cy="1337983"/>
            </a:xfrm>
          </p:grpSpPr>
          <p:sp>
            <p:nvSpPr>
              <p:cNvPr id="9" name="Rectangle: Rounded Corners 8">
                <a:extLst>
                  <a:ext uri="{FF2B5EF4-FFF2-40B4-BE49-F238E27FC236}">
                    <a16:creationId xmlns:a16="http://schemas.microsoft.com/office/drawing/2014/main" id="{1B01C232-48FD-80E0-427B-099EF43F0A8F}"/>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0" name="Straight Connector 9">
                <a:extLst>
                  <a:ext uri="{FF2B5EF4-FFF2-40B4-BE49-F238E27FC236}">
                    <a16:creationId xmlns:a16="http://schemas.microsoft.com/office/drawing/2014/main" id="{15C81CBB-9918-F013-EB36-E29FCA7893FA}"/>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 name="TextBox 10">
                <a:extLst>
                  <a:ext uri="{FF2B5EF4-FFF2-40B4-BE49-F238E27FC236}">
                    <a16:creationId xmlns:a16="http://schemas.microsoft.com/office/drawing/2014/main" id="{3FDE351F-93C8-B6C7-91C1-53767A4598DD}"/>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12" name="TextBox 11">
                <a:extLst>
                  <a:ext uri="{FF2B5EF4-FFF2-40B4-BE49-F238E27FC236}">
                    <a16:creationId xmlns:a16="http://schemas.microsoft.com/office/drawing/2014/main" id="{A8ADB29D-CF0A-C998-80A8-4CDE8EDC1464}"/>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Mid Market - Less uh-ohs. More ah-has.</a:t>
                </a:r>
                <a:endParaRPr lang="en-GB" sz="1000" kern="1200" dirty="0">
                  <a:solidFill>
                    <a:schemeClr val="bg1"/>
                  </a:solidFill>
                  <a:latin typeface="+mn-lt"/>
                  <a:ea typeface="ＭＳ Ｐゴシック" charset="0"/>
                </a:endParaRPr>
              </a:p>
            </p:txBody>
          </p:sp>
        </p:grpSp>
        <p:pic>
          <p:nvPicPr>
            <p:cNvPr id="39" name="Graphic 38" descr="Processor with solid fill">
              <a:extLst>
                <a:ext uri="{FF2B5EF4-FFF2-40B4-BE49-F238E27FC236}">
                  <a16:creationId xmlns:a16="http://schemas.microsoft.com/office/drawing/2014/main" id="{E154655C-029C-543D-FED7-E7E44020FD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44" name="Group 43">
            <a:extLst>
              <a:ext uri="{FF2B5EF4-FFF2-40B4-BE49-F238E27FC236}">
                <a16:creationId xmlns:a16="http://schemas.microsoft.com/office/drawing/2014/main" id="{078CB278-9B42-279A-D406-E0B99EEB09FD}"/>
              </a:ext>
            </a:extLst>
          </p:cNvPr>
          <p:cNvGrpSpPr/>
          <p:nvPr/>
        </p:nvGrpSpPr>
        <p:grpSpPr>
          <a:xfrm>
            <a:off x="4544889" y="4826778"/>
            <a:ext cx="1411101" cy="832570"/>
            <a:chOff x="7928924" y="4067733"/>
            <a:chExt cx="2267712" cy="1337983"/>
          </a:xfrm>
        </p:grpSpPr>
        <p:grpSp>
          <p:nvGrpSpPr>
            <p:cNvPr id="13" name="Group 12">
              <a:extLst>
                <a:ext uri="{FF2B5EF4-FFF2-40B4-BE49-F238E27FC236}">
                  <a16:creationId xmlns:a16="http://schemas.microsoft.com/office/drawing/2014/main" id="{4D27DF86-84C6-F0FF-5066-B9B213CFB5C5}"/>
                </a:ext>
              </a:extLst>
            </p:cNvPr>
            <p:cNvGrpSpPr/>
            <p:nvPr/>
          </p:nvGrpSpPr>
          <p:grpSpPr>
            <a:xfrm>
              <a:off x="7928924" y="4067733"/>
              <a:ext cx="2267712" cy="1337983"/>
              <a:chOff x="2521324" y="4067735"/>
              <a:chExt cx="2267712" cy="1337983"/>
            </a:xfrm>
          </p:grpSpPr>
          <p:sp>
            <p:nvSpPr>
              <p:cNvPr id="14" name="Rectangle: Rounded Corners 13">
                <a:extLst>
                  <a:ext uri="{FF2B5EF4-FFF2-40B4-BE49-F238E27FC236}">
                    <a16:creationId xmlns:a16="http://schemas.microsoft.com/office/drawing/2014/main" id="{C0C14DD2-5405-F0E5-0247-924DF4FC169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5" name="Straight Connector 14">
                <a:extLst>
                  <a:ext uri="{FF2B5EF4-FFF2-40B4-BE49-F238E27FC236}">
                    <a16:creationId xmlns:a16="http://schemas.microsoft.com/office/drawing/2014/main" id="{249B1969-5C5D-1092-AC92-C8A3A5A60497}"/>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2DAAC22B-18C5-E6F8-2B9B-A05D50E70457}"/>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Funnel Stage</a:t>
                </a:r>
                <a:endParaRPr lang="en-GB" sz="1000" kern="1200" dirty="0" err="1">
                  <a:solidFill>
                    <a:schemeClr val="accent4"/>
                  </a:solidFill>
                  <a:latin typeface="+mn-lt"/>
                  <a:ea typeface="ＭＳ Ｐゴシック" charset="0"/>
                </a:endParaRPr>
              </a:p>
            </p:txBody>
          </p:sp>
          <p:sp>
            <p:nvSpPr>
              <p:cNvPr id="17" name="TextBox 16">
                <a:extLst>
                  <a:ext uri="{FF2B5EF4-FFF2-40B4-BE49-F238E27FC236}">
                    <a16:creationId xmlns:a16="http://schemas.microsoft.com/office/drawing/2014/main" id="{EF15A85B-A314-77CA-8195-B3904A72903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Awareness </a:t>
                </a:r>
                <a:endParaRPr lang="en-GB" sz="1000" kern="1200" dirty="0" err="1">
                  <a:solidFill>
                    <a:schemeClr val="bg1"/>
                  </a:solidFill>
                  <a:latin typeface="+mn-lt"/>
                  <a:ea typeface="ＭＳ Ｐゴシック" charset="0"/>
                </a:endParaRPr>
              </a:p>
            </p:txBody>
          </p:sp>
        </p:grpSp>
        <p:pic>
          <p:nvPicPr>
            <p:cNvPr id="41" name="Graphic 40" descr="Circles with arrows with solid fill">
              <a:extLst>
                <a:ext uri="{FF2B5EF4-FFF2-40B4-BE49-F238E27FC236}">
                  <a16:creationId xmlns:a16="http://schemas.microsoft.com/office/drawing/2014/main" id="{9D02C7C8-DAE9-EBEB-B580-ECDA21CA07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46" name="Group 45">
            <a:extLst>
              <a:ext uri="{FF2B5EF4-FFF2-40B4-BE49-F238E27FC236}">
                <a16:creationId xmlns:a16="http://schemas.microsoft.com/office/drawing/2014/main" id="{1C5D3E3A-9C96-746C-5A91-76C010D2FB45}"/>
              </a:ext>
            </a:extLst>
          </p:cNvPr>
          <p:cNvGrpSpPr/>
          <p:nvPr/>
        </p:nvGrpSpPr>
        <p:grpSpPr>
          <a:xfrm>
            <a:off x="859457" y="4826778"/>
            <a:ext cx="1411101" cy="840689"/>
            <a:chOff x="2521324" y="4054687"/>
            <a:chExt cx="2267712" cy="1351031"/>
          </a:xfrm>
        </p:grpSpPr>
        <p:grpSp>
          <p:nvGrpSpPr>
            <p:cNvPr id="7" name="Group 6">
              <a:extLst>
                <a:ext uri="{FF2B5EF4-FFF2-40B4-BE49-F238E27FC236}">
                  <a16:creationId xmlns:a16="http://schemas.microsoft.com/office/drawing/2014/main" id="{8F63B529-293A-6C28-6153-09FD0796332B}"/>
                </a:ext>
              </a:extLst>
            </p:cNvPr>
            <p:cNvGrpSpPr/>
            <p:nvPr/>
          </p:nvGrpSpPr>
          <p:grpSpPr>
            <a:xfrm>
              <a:off x="2521324" y="4067735"/>
              <a:ext cx="2267712" cy="1337983"/>
              <a:chOff x="2521324" y="4067735"/>
              <a:chExt cx="2267712" cy="1337983"/>
            </a:xfrm>
          </p:grpSpPr>
          <p:sp>
            <p:nvSpPr>
              <p:cNvPr id="3" name="Rectangle: Rounded Corners 2">
                <a:extLst>
                  <a:ext uri="{FF2B5EF4-FFF2-40B4-BE49-F238E27FC236}">
                    <a16:creationId xmlns:a16="http://schemas.microsoft.com/office/drawing/2014/main" id="{5B84D2E4-DE1F-9A0D-975D-32CE4671B1DD}"/>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 name="Straight Connector 3">
                <a:extLst>
                  <a:ext uri="{FF2B5EF4-FFF2-40B4-BE49-F238E27FC236}">
                    <a16:creationId xmlns:a16="http://schemas.microsoft.com/office/drawing/2014/main" id="{70826E5F-A589-6D9C-37D9-38D24BD2691E}"/>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 name="TextBox 4">
                <a:extLst>
                  <a:ext uri="{FF2B5EF4-FFF2-40B4-BE49-F238E27FC236}">
                    <a16:creationId xmlns:a16="http://schemas.microsoft.com/office/drawing/2014/main" id="{FD817D2C-BDF6-E5A7-2E75-EDEE92B0D892}"/>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6" name="TextBox 5">
                <a:extLst>
                  <a:ext uri="{FF2B5EF4-FFF2-40B4-BE49-F238E27FC236}">
                    <a16:creationId xmlns:a16="http://schemas.microsoft.com/office/drawing/2014/main" id="{586EA5C3-4165-55EC-F238-CB33ADCEB0AE}"/>
                  </a:ext>
                </a:extLst>
              </p:cNvPr>
              <p:cNvSpPr txBox="1"/>
              <p:nvPr/>
            </p:nvSpPr>
            <p:spPr>
              <a:xfrm>
                <a:off x="2796964" y="4674789"/>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Mid Market - Modernize and Secure Network</a:t>
                </a:r>
                <a:endParaRPr lang="en-GB" sz="1000" kern="1200" dirty="0">
                  <a:solidFill>
                    <a:schemeClr val="bg1"/>
                  </a:solidFill>
                  <a:latin typeface="+mn-lt"/>
                  <a:ea typeface="ＭＳ Ｐゴシック" charset="0"/>
                </a:endParaRPr>
              </a:p>
            </p:txBody>
          </p:sp>
        </p:grpSp>
        <p:pic>
          <p:nvPicPr>
            <p:cNvPr id="43" name="Graphic 42" descr="Cycle with people with solid fill">
              <a:extLst>
                <a:ext uri="{FF2B5EF4-FFF2-40B4-BE49-F238E27FC236}">
                  <a16:creationId xmlns:a16="http://schemas.microsoft.com/office/drawing/2014/main" id="{B30D1E78-CBAF-4F21-D7A7-FF8A36DDB2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sp>
        <p:nvSpPr>
          <p:cNvPr id="47" name="TextBox 46">
            <a:extLst>
              <a:ext uri="{FF2B5EF4-FFF2-40B4-BE49-F238E27FC236}">
                <a16:creationId xmlns:a16="http://schemas.microsoft.com/office/drawing/2014/main" id="{9897F81F-E210-BAEF-4ED5-C4239D3C7A02}"/>
              </a:ext>
            </a:extLst>
          </p:cNvPr>
          <p:cNvSpPr txBox="1"/>
          <p:nvPr/>
        </p:nvSpPr>
        <p:spPr>
          <a:xfrm>
            <a:off x="589988" y="2166715"/>
            <a:ext cx="5499311" cy="1398208"/>
          </a:xfrm>
          <a:prstGeom prst="rect">
            <a:avLst/>
          </a:prstGeom>
          <a:noFill/>
        </p:spPr>
        <p:txBody>
          <a:bodyPr wrap="square" lIns="0" tIns="0" rIns="0" bIns="0" rtlCol="0">
            <a:noAutofit/>
          </a:bodyPr>
          <a:lstStyle/>
          <a:p>
            <a:pPr defTabSz="912276" fontAlgn="base">
              <a:buClr>
                <a:schemeClr val="bg1"/>
              </a:buClr>
              <a:buSzPct val="100000"/>
            </a:pPr>
            <a:r>
              <a:rPr lang="en-US" sz="10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1000" dirty="0" err="1">
                <a:solidFill>
                  <a:schemeClr val="accent2"/>
                </a:solidFill>
              </a:rPr>
              <a:t>SecureCampusTransformation</a:t>
            </a:r>
            <a:endParaRPr lang="en-GB" sz="1000" dirty="0">
              <a:solidFill>
                <a:schemeClr val="accent2"/>
              </a:solidFill>
            </a:endParaRPr>
          </a:p>
          <a:p>
            <a:pPr defTabSz="912276" fontAlgn="base">
              <a:buClr>
                <a:schemeClr val="bg1"/>
              </a:buClr>
              <a:buSzPct val="100000"/>
            </a:pPr>
            <a:endParaRPr lang="en-GB" sz="1000" dirty="0">
              <a:solidFill>
                <a:schemeClr val="accent2"/>
              </a:solidFill>
            </a:endParaRPr>
          </a:p>
          <a:p>
            <a:pPr defTabSz="912276" fontAlgn="base">
              <a:buClr>
                <a:schemeClr val="bg1"/>
              </a:buClr>
              <a:buSzPct val="100000"/>
            </a:pPr>
            <a:r>
              <a:rPr lang="en-GB" sz="1000" b="1" dirty="0">
                <a:solidFill>
                  <a:schemeClr val="bg1"/>
                </a:solidFill>
                <a:ea typeface="ＭＳ Ｐゴシック" charset="0"/>
              </a:rPr>
              <a:t>Description: </a:t>
            </a:r>
          </a:p>
          <a:p>
            <a:pPr marL="171450" indent="-171450" defTabSz="912276" fontAlgn="base">
              <a:buClr>
                <a:schemeClr val="bg1"/>
              </a:buClr>
              <a:buSzPct val="100000"/>
              <a:buFont typeface="Arial" panose="020B0604020202020204" pitchFamily="34" charset="0"/>
              <a:buChar char="•"/>
            </a:pPr>
            <a:r>
              <a:rPr lang="en-GB" sz="1000" dirty="0">
                <a:solidFill>
                  <a:schemeClr val="accent2"/>
                </a:solidFill>
              </a:rPr>
              <a:t>Reduce lateral movement by 70% in the AI era. Cisco helps you contain threats at machine speed with identity-based segmentation, zero-trust access, and post-quantum-ready protection.</a:t>
            </a:r>
            <a:endParaRPr lang="en-GB" sz="1000" b="1" dirty="0">
              <a:solidFill>
                <a:schemeClr val="accent2"/>
              </a:solidFill>
              <a:ea typeface="ＭＳ Ｐゴシック" charset="0"/>
            </a:endParaRPr>
          </a:p>
        </p:txBody>
      </p:sp>
      <p:grpSp>
        <p:nvGrpSpPr>
          <p:cNvPr id="60" name="Group 59">
            <a:extLst>
              <a:ext uri="{FF2B5EF4-FFF2-40B4-BE49-F238E27FC236}">
                <a16:creationId xmlns:a16="http://schemas.microsoft.com/office/drawing/2014/main" id="{B5BB69D2-4F94-5068-23ED-2307412FB9F7}"/>
              </a:ext>
            </a:extLst>
          </p:cNvPr>
          <p:cNvGrpSpPr/>
          <p:nvPr/>
        </p:nvGrpSpPr>
        <p:grpSpPr>
          <a:xfrm>
            <a:off x="911970" y="1631412"/>
            <a:ext cx="4180978" cy="567111"/>
            <a:chOff x="2568046" y="940853"/>
            <a:chExt cx="6719046" cy="911376"/>
          </a:xfrm>
        </p:grpSpPr>
        <p:sp>
          <p:nvSpPr>
            <p:cNvPr id="58" name="Rectangle: Rounded Corners 57">
              <a:extLst>
                <a:ext uri="{FF2B5EF4-FFF2-40B4-BE49-F238E27FC236}">
                  <a16:creationId xmlns:a16="http://schemas.microsoft.com/office/drawing/2014/main" id="{F220588B-0D03-F1E4-A24D-5F004F08AB00}"/>
                </a:ext>
              </a:extLst>
            </p:cNvPr>
            <p:cNvSpPr/>
            <p:nvPr/>
          </p:nvSpPr>
          <p:spPr>
            <a:xfrm>
              <a:off x="2568046" y="940853"/>
              <a:ext cx="6719046" cy="911376"/>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57" name="TextBox 56">
              <a:extLst>
                <a:ext uri="{FF2B5EF4-FFF2-40B4-BE49-F238E27FC236}">
                  <a16:creationId xmlns:a16="http://schemas.microsoft.com/office/drawing/2014/main" id="{90826F3E-4E62-95A3-DD7B-5F7CD867E196}"/>
                </a:ext>
              </a:extLst>
            </p:cNvPr>
            <p:cNvSpPr txBox="1"/>
            <p:nvPr/>
          </p:nvSpPr>
          <p:spPr>
            <a:xfrm>
              <a:off x="3980329" y="1058663"/>
              <a:ext cx="3745006" cy="597856"/>
            </a:xfrm>
            <a:prstGeom prst="rect">
              <a:avLst/>
            </a:prstGeom>
            <a:noFill/>
          </p:spPr>
          <p:txBody>
            <a:bodyPr wrap="square" lIns="0" tIns="0" rIns="0" bIns="0" rtlCol="0">
              <a:noAutofit/>
            </a:bodyPr>
            <a:lstStyle/>
            <a:p>
              <a:r>
                <a:rPr lang="en-GB" sz="2400" dirty="0">
                  <a:solidFill>
                    <a:schemeClr val="accent2"/>
                  </a:solidFill>
                </a:rPr>
                <a:t>CHL000093</a:t>
              </a:r>
            </a:p>
          </p:txBody>
        </p:sp>
      </p:grpSp>
      <p:cxnSp>
        <p:nvCxnSpPr>
          <p:cNvPr id="102" name="Straight Connector 101">
            <a:extLst>
              <a:ext uri="{FF2B5EF4-FFF2-40B4-BE49-F238E27FC236}">
                <a16:creationId xmlns:a16="http://schemas.microsoft.com/office/drawing/2014/main" id="{8C098731-2E8C-33E4-1483-8D9BB328ECB2}"/>
              </a:ext>
            </a:extLst>
          </p:cNvPr>
          <p:cNvCxnSpPr>
            <a:cxnSpLocks/>
          </p:cNvCxnSpPr>
          <p:nvPr/>
        </p:nvCxnSpPr>
        <p:spPr>
          <a:xfrm>
            <a:off x="6489479" y="1049032"/>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131" name="Group 130">
            <a:extLst>
              <a:ext uri="{FF2B5EF4-FFF2-40B4-BE49-F238E27FC236}">
                <a16:creationId xmlns:a16="http://schemas.microsoft.com/office/drawing/2014/main" id="{CD96CB44-B144-A80F-589A-B8E52CE070B9}"/>
              </a:ext>
            </a:extLst>
          </p:cNvPr>
          <p:cNvGrpSpPr/>
          <p:nvPr/>
        </p:nvGrpSpPr>
        <p:grpSpPr>
          <a:xfrm>
            <a:off x="6679726" y="540599"/>
            <a:ext cx="5179799" cy="529877"/>
            <a:chOff x="6689663" y="2085046"/>
            <a:chExt cx="5179799" cy="529877"/>
          </a:xfrm>
        </p:grpSpPr>
        <p:sp>
          <p:nvSpPr>
            <p:cNvPr id="104" name="Rectangle: Rounded Corners 103">
              <a:extLst>
                <a:ext uri="{FF2B5EF4-FFF2-40B4-BE49-F238E27FC236}">
                  <a16:creationId xmlns:a16="http://schemas.microsoft.com/office/drawing/2014/main" id="{D78387FF-ED39-222E-200E-B892CB933423}"/>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5" name="Arrow: Pentagon 104">
              <a:extLst>
                <a:ext uri="{FF2B5EF4-FFF2-40B4-BE49-F238E27FC236}">
                  <a16:creationId xmlns:a16="http://schemas.microsoft.com/office/drawing/2014/main" id="{02F79C3A-38BF-C52D-4D23-DAFA3A4832AE}"/>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6" name="TextBox 105">
              <a:extLst>
                <a:ext uri="{FF2B5EF4-FFF2-40B4-BE49-F238E27FC236}">
                  <a16:creationId xmlns:a16="http://schemas.microsoft.com/office/drawing/2014/main" id="{F5688128-6AA4-360F-858F-E119F2CCA745}"/>
                </a:ext>
              </a:extLst>
            </p:cNvPr>
            <p:cNvSpPr txBox="1"/>
            <p:nvPr/>
          </p:nvSpPr>
          <p:spPr>
            <a:xfrm>
              <a:off x="7276762" y="2272968"/>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Channel ID</a:t>
              </a:r>
              <a:endParaRPr lang="en-GB" sz="1600" kern="1200" dirty="0" err="1">
                <a:solidFill>
                  <a:schemeClr val="bg1"/>
                </a:solidFill>
                <a:latin typeface="+mn-lt"/>
                <a:ea typeface="ＭＳ Ｐゴシック" charset="0"/>
              </a:endParaRPr>
            </a:p>
          </p:txBody>
        </p:sp>
        <p:sp>
          <p:nvSpPr>
            <p:cNvPr id="108" name="TextBox 107">
              <a:extLst>
                <a:ext uri="{FF2B5EF4-FFF2-40B4-BE49-F238E27FC236}">
                  <a16:creationId xmlns:a16="http://schemas.microsoft.com/office/drawing/2014/main" id="{32C1199B-943F-10AB-45E8-C920005DDFCA}"/>
                </a:ext>
              </a:extLst>
            </p:cNvPr>
            <p:cNvSpPr txBox="1"/>
            <p:nvPr/>
          </p:nvSpPr>
          <p:spPr>
            <a:xfrm>
              <a:off x="8642230" y="2184234"/>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On Creation of Workfront Channel Task a Channel ID is automatically generated</a:t>
              </a:r>
            </a:p>
          </p:txBody>
        </p:sp>
        <p:sp>
          <p:nvSpPr>
            <p:cNvPr id="111" name="Oval 110">
              <a:extLst>
                <a:ext uri="{FF2B5EF4-FFF2-40B4-BE49-F238E27FC236}">
                  <a16:creationId xmlns:a16="http://schemas.microsoft.com/office/drawing/2014/main" id="{3380818E-E1C5-3F68-8846-1D66E8F83D31}"/>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32" name="Group 131">
            <a:extLst>
              <a:ext uri="{FF2B5EF4-FFF2-40B4-BE49-F238E27FC236}">
                <a16:creationId xmlns:a16="http://schemas.microsoft.com/office/drawing/2014/main" id="{E2165673-2862-8D26-E3B1-033626287A46}"/>
              </a:ext>
            </a:extLst>
          </p:cNvPr>
          <p:cNvGrpSpPr/>
          <p:nvPr/>
        </p:nvGrpSpPr>
        <p:grpSpPr>
          <a:xfrm>
            <a:off x="6679726" y="1325985"/>
            <a:ext cx="5179799" cy="529877"/>
            <a:chOff x="6689663" y="2850599"/>
            <a:chExt cx="5179799" cy="529877"/>
          </a:xfrm>
        </p:grpSpPr>
        <p:sp>
          <p:nvSpPr>
            <p:cNvPr id="114" name="Rectangle: Rounded Corners 113">
              <a:extLst>
                <a:ext uri="{FF2B5EF4-FFF2-40B4-BE49-F238E27FC236}">
                  <a16:creationId xmlns:a16="http://schemas.microsoft.com/office/drawing/2014/main" id="{E7A2ECFB-5CE5-A6B2-C97F-958B90315624}"/>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5" name="Arrow: Pentagon 114">
              <a:extLst>
                <a:ext uri="{FF2B5EF4-FFF2-40B4-BE49-F238E27FC236}">
                  <a16:creationId xmlns:a16="http://schemas.microsoft.com/office/drawing/2014/main" id="{20D72D84-D5C3-3859-DD3F-5BEBE2B5B5B5}"/>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6" name="TextBox 115">
              <a:extLst>
                <a:ext uri="{FF2B5EF4-FFF2-40B4-BE49-F238E27FC236}">
                  <a16:creationId xmlns:a16="http://schemas.microsoft.com/office/drawing/2014/main" id="{B2E02AEF-ABD3-3474-A270-8E6BF0DA099C}"/>
                </a:ext>
              </a:extLst>
            </p:cNvPr>
            <p:cNvSpPr txBox="1"/>
            <p:nvPr/>
          </p:nvSpPr>
          <p:spPr>
            <a:xfrm>
              <a:off x="7293096" y="30198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Description</a:t>
              </a:r>
              <a:endParaRPr lang="en-GB" sz="1600" kern="1200" dirty="0" err="1">
                <a:solidFill>
                  <a:schemeClr val="bg1"/>
                </a:solidFill>
                <a:latin typeface="+mn-lt"/>
                <a:ea typeface="ＭＳ Ｐゴシック" charset="0"/>
              </a:endParaRPr>
            </a:p>
          </p:txBody>
        </p:sp>
        <p:sp>
          <p:nvSpPr>
            <p:cNvPr id="117" name="TextBox 116">
              <a:extLst>
                <a:ext uri="{FF2B5EF4-FFF2-40B4-BE49-F238E27FC236}">
                  <a16:creationId xmlns:a16="http://schemas.microsoft.com/office/drawing/2014/main" id="{B88A71D9-6618-478A-0A16-308296095C9C}"/>
                </a:ext>
              </a:extLst>
            </p:cNvPr>
            <p:cNvSpPr txBox="1"/>
            <p:nvPr/>
          </p:nvSpPr>
          <p:spPr>
            <a:xfrm>
              <a:off x="8642230" y="2877979"/>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Passed downstream to sellers &amp; must reflect the specific marketing activity used to target the customer.</a:t>
              </a:r>
            </a:p>
          </p:txBody>
        </p:sp>
        <p:sp>
          <p:nvSpPr>
            <p:cNvPr id="118" name="Oval 117">
              <a:extLst>
                <a:ext uri="{FF2B5EF4-FFF2-40B4-BE49-F238E27FC236}">
                  <a16:creationId xmlns:a16="http://schemas.microsoft.com/office/drawing/2014/main" id="{F2D598BC-1BA1-11CA-9685-15FF62106CC6}"/>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133" name="Group 132">
            <a:extLst>
              <a:ext uri="{FF2B5EF4-FFF2-40B4-BE49-F238E27FC236}">
                <a16:creationId xmlns:a16="http://schemas.microsoft.com/office/drawing/2014/main" id="{311FE0A6-0F31-E110-D21F-429B84F09554}"/>
              </a:ext>
            </a:extLst>
          </p:cNvPr>
          <p:cNvGrpSpPr/>
          <p:nvPr/>
        </p:nvGrpSpPr>
        <p:grpSpPr>
          <a:xfrm>
            <a:off x="6679726" y="4467529"/>
            <a:ext cx="5179799" cy="529877"/>
            <a:chOff x="6704329" y="3670911"/>
            <a:chExt cx="5179799" cy="529877"/>
          </a:xfrm>
        </p:grpSpPr>
        <p:sp>
          <p:nvSpPr>
            <p:cNvPr id="120" name="Rectangle: Rounded Corners 119">
              <a:extLst>
                <a:ext uri="{FF2B5EF4-FFF2-40B4-BE49-F238E27FC236}">
                  <a16:creationId xmlns:a16="http://schemas.microsoft.com/office/drawing/2014/main" id="{17665B62-02B0-2E7E-0CFB-26CA937E2686}"/>
                </a:ext>
              </a:extLst>
            </p:cNvPr>
            <p:cNvSpPr/>
            <p:nvPr/>
          </p:nvSpPr>
          <p:spPr>
            <a:xfrm>
              <a:off x="7952208" y="3698290"/>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1" name="Arrow: Pentagon 120">
              <a:extLst>
                <a:ext uri="{FF2B5EF4-FFF2-40B4-BE49-F238E27FC236}">
                  <a16:creationId xmlns:a16="http://schemas.microsoft.com/office/drawing/2014/main" id="{D4FC5C7D-DC31-7298-4263-79D9105EFF44}"/>
                </a:ext>
              </a:extLst>
            </p:cNvPr>
            <p:cNvSpPr/>
            <p:nvPr/>
          </p:nvSpPr>
          <p:spPr>
            <a:xfrm>
              <a:off x="7051241" y="3698290"/>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2" name="TextBox 121">
              <a:extLst>
                <a:ext uri="{FF2B5EF4-FFF2-40B4-BE49-F238E27FC236}">
                  <a16:creationId xmlns:a16="http://schemas.microsoft.com/office/drawing/2014/main" id="{B42D6ED5-0AAE-7A6C-BB00-4A808FFB2D5D}"/>
                </a:ext>
              </a:extLst>
            </p:cNvPr>
            <p:cNvSpPr txBox="1"/>
            <p:nvPr/>
          </p:nvSpPr>
          <p:spPr>
            <a:xfrm>
              <a:off x="7324371" y="385885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Campaign</a:t>
              </a:r>
              <a:endParaRPr lang="en-GB" sz="1600" kern="1200" dirty="0" err="1">
                <a:solidFill>
                  <a:schemeClr val="bg1"/>
                </a:solidFill>
                <a:latin typeface="+mn-lt"/>
                <a:ea typeface="ＭＳ Ｐゴシック" charset="0"/>
              </a:endParaRPr>
            </a:p>
          </p:txBody>
        </p:sp>
        <p:sp>
          <p:nvSpPr>
            <p:cNvPr id="123" name="TextBox 122">
              <a:extLst>
                <a:ext uri="{FF2B5EF4-FFF2-40B4-BE49-F238E27FC236}">
                  <a16:creationId xmlns:a16="http://schemas.microsoft.com/office/drawing/2014/main" id="{1A9B86C3-CBF6-5E3D-77E7-E05BD045F668}"/>
                </a:ext>
              </a:extLst>
            </p:cNvPr>
            <p:cNvSpPr txBox="1"/>
            <p:nvPr/>
          </p:nvSpPr>
          <p:spPr>
            <a:xfrm>
              <a:off x="8656896" y="3698291"/>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 coordinated, structured set of marketing activities targeted at a specific audience segment to achieve a defined, short-term objective..</a:t>
              </a:r>
            </a:p>
          </p:txBody>
        </p:sp>
        <p:sp>
          <p:nvSpPr>
            <p:cNvPr id="124" name="Oval 123">
              <a:extLst>
                <a:ext uri="{FF2B5EF4-FFF2-40B4-BE49-F238E27FC236}">
                  <a16:creationId xmlns:a16="http://schemas.microsoft.com/office/drawing/2014/main" id="{DF412CCB-4528-1A46-9BB0-EA08351C098B}"/>
                </a:ext>
              </a:extLst>
            </p:cNvPr>
            <p:cNvSpPr/>
            <p:nvPr/>
          </p:nvSpPr>
          <p:spPr>
            <a:xfrm>
              <a:off x="6704329" y="3670911"/>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6</a:t>
              </a:r>
              <a:endParaRPr lang="en-GB" dirty="0">
                <a:solidFill>
                  <a:schemeClr val="bg1"/>
                </a:solidFill>
              </a:endParaRPr>
            </a:p>
          </p:txBody>
        </p:sp>
      </p:grpSp>
      <p:grpSp>
        <p:nvGrpSpPr>
          <p:cNvPr id="134" name="Group 133">
            <a:extLst>
              <a:ext uri="{FF2B5EF4-FFF2-40B4-BE49-F238E27FC236}">
                <a16:creationId xmlns:a16="http://schemas.microsoft.com/office/drawing/2014/main" id="{28E52BF6-D3CF-8879-95E9-86841C8AA734}"/>
              </a:ext>
            </a:extLst>
          </p:cNvPr>
          <p:cNvGrpSpPr/>
          <p:nvPr/>
        </p:nvGrpSpPr>
        <p:grpSpPr>
          <a:xfrm>
            <a:off x="6679726" y="5252915"/>
            <a:ext cx="5179799" cy="529877"/>
            <a:chOff x="6775864" y="4491223"/>
            <a:chExt cx="5179799" cy="529877"/>
          </a:xfrm>
        </p:grpSpPr>
        <p:sp>
          <p:nvSpPr>
            <p:cNvPr id="126" name="Rectangle: Rounded Corners 125">
              <a:extLst>
                <a:ext uri="{FF2B5EF4-FFF2-40B4-BE49-F238E27FC236}">
                  <a16:creationId xmlns:a16="http://schemas.microsoft.com/office/drawing/2014/main" id="{F93234C6-CA52-531A-B251-0A89E5C90E15}"/>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7" name="Arrow: Pentagon 126">
              <a:extLst>
                <a:ext uri="{FF2B5EF4-FFF2-40B4-BE49-F238E27FC236}">
                  <a16:creationId xmlns:a16="http://schemas.microsoft.com/office/drawing/2014/main" id="{11297E98-769D-B65C-923C-F01C0D53A904}"/>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8" name="TextBox 127">
              <a:extLst>
                <a:ext uri="{FF2B5EF4-FFF2-40B4-BE49-F238E27FC236}">
                  <a16:creationId xmlns:a16="http://schemas.microsoft.com/office/drawing/2014/main" id="{12BED1CB-27FE-8A37-BC6F-24AAD593265D}"/>
                </a:ext>
              </a:extLst>
            </p:cNvPr>
            <p:cNvSpPr txBox="1"/>
            <p:nvPr/>
          </p:nvSpPr>
          <p:spPr>
            <a:xfrm>
              <a:off x="7395906"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Program</a:t>
              </a:r>
              <a:endParaRPr lang="en-GB" sz="1600" kern="1200" dirty="0" err="1">
                <a:solidFill>
                  <a:schemeClr val="bg1"/>
                </a:solidFill>
                <a:latin typeface="+mn-lt"/>
                <a:ea typeface="ＭＳ Ｐゴシック" charset="0"/>
              </a:endParaRPr>
            </a:p>
          </p:txBody>
        </p:sp>
        <p:sp>
          <p:nvSpPr>
            <p:cNvPr id="129" name="TextBox 128">
              <a:extLst>
                <a:ext uri="{FF2B5EF4-FFF2-40B4-BE49-F238E27FC236}">
                  <a16:creationId xmlns:a16="http://schemas.microsoft.com/office/drawing/2014/main" id="{FB586898-EC66-453E-574F-D3D1CAE61E43}"/>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 broader, ongoing strategic framework that encompasses and coordinates multiple related campaigns and initiatives over a longer period.</a:t>
              </a:r>
            </a:p>
          </p:txBody>
        </p:sp>
        <p:sp>
          <p:nvSpPr>
            <p:cNvPr id="130" name="Oval 129">
              <a:extLst>
                <a:ext uri="{FF2B5EF4-FFF2-40B4-BE49-F238E27FC236}">
                  <a16:creationId xmlns:a16="http://schemas.microsoft.com/office/drawing/2014/main" id="{F96B52DC-E944-AC27-FD30-3FF1F8F444F0}"/>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7</a:t>
              </a:r>
              <a:endParaRPr lang="en-GB" dirty="0">
                <a:solidFill>
                  <a:schemeClr val="bg1"/>
                </a:solidFill>
              </a:endParaRPr>
            </a:p>
          </p:txBody>
        </p:sp>
      </p:grpSp>
      <p:grpSp>
        <p:nvGrpSpPr>
          <p:cNvPr id="135" name="Group 134">
            <a:extLst>
              <a:ext uri="{FF2B5EF4-FFF2-40B4-BE49-F238E27FC236}">
                <a16:creationId xmlns:a16="http://schemas.microsoft.com/office/drawing/2014/main" id="{9BF3B291-3600-118E-FE5C-2353BF17C526}"/>
              </a:ext>
            </a:extLst>
          </p:cNvPr>
          <p:cNvGrpSpPr/>
          <p:nvPr/>
        </p:nvGrpSpPr>
        <p:grpSpPr>
          <a:xfrm>
            <a:off x="6679726" y="6038299"/>
            <a:ext cx="5179799" cy="529877"/>
            <a:chOff x="6775864" y="4491223"/>
            <a:chExt cx="5179799" cy="529877"/>
          </a:xfrm>
        </p:grpSpPr>
        <p:sp>
          <p:nvSpPr>
            <p:cNvPr id="136" name="Rectangle: Rounded Corners 135">
              <a:extLst>
                <a:ext uri="{FF2B5EF4-FFF2-40B4-BE49-F238E27FC236}">
                  <a16:creationId xmlns:a16="http://schemas.microsoft.com/office/drawing/2014/main" id="{B41D92BA-8FDC-30FC-A7EA-4E7C18D8AD38}"/>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7" name="Arrow: Pentagon 136">
              <a:extLst>
                <a:ext uri="{FF2B5EF4-FFF2-40B4-BE49-F238E27FC236}">
                  <a16:creationId xmlns:a16="http://schemas.microsoft.com/office/drawing/2014/main" id="{292DC541-7C92-5A43-53F1-D04B1CC88419}"/>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8" name="TextBox 137">
              <a:extLst>
                <a:ext uri="{FF2B5EF4-FFF2-40B4-BE49-F238E27FC236}">
                  <a16:creationId xmlns:a16="http://schemas.microsoft.com/office/drawing/2014/main" id="{9513A231-27A9-B8C2-192F-7BEA08148794}"/>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Funnel</a:t>
              </a:r>
              <a:endParaRPr lang="en-GB" sz="1600" kern="1200" dirty="0" err="1">
                <a:solidFill>
                  <a:schemeClr val="bg1"/>
                </a:solidFill>
                <a:latin typeface="+mn-lt"/>
                <a:ea typeface="ＭＳ Ｐゴシック" charset="0"/>
              </a:endParaRPr>
            </a:p>
          </p:txBody>
        </p:sp>
        <p:sp>
          <p:nvSpPr>
            <p:cNvPr id="139" name="TextBox 138">
              <a:extLst>
                <a:ext uri="{FF2B5EF4-FFF2-40B4-BE49-F238E27FC236}">
                  <a16:creationId xmlns:a16="http://schemas.microsoft.com/office/drawing/2014/main" id="{3830D71F-B3DD-C6B8-519D-2E8DE61FE512}"/>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 step in the customer journey that categorizes prospects based on their level of awareness, intent, and readiness to purchase.</a:t>
              </a:r>
            </a:p>
          </p:txBody>
        </p:sp>
        <p:sp>
          <p:nvSpPr>
            <p:cNvPr id="140" name="Oval 139">
              <a:extLst>
                <a:ext uri="{FF2B5EF4-FFF2-40B4-BE49-F238E27FC236}">
                  <a16:creationId xmlns:a16="http://schemas.microsoft.com/office/drawing/2014/main" id="{2BBA1A4A-45D3-5081-1138-0D4596742C89}"/>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8</a:t>
              </a:r>
              <a:endParaRPr lang="en-GB" dirty="0">
                <a:solidFill>
                  <a:schemeClr val="bg1"/>
                </a:solidFill>
              </a:endParaRPr>
            </a:p>
          </p:txBody>
        </p:sp>
      </p:grpSp>
      <p:sp>
        <p:nvSpPr>
          <p:cNvPr id="141" name="Oval 140">
            <a:extLst>
              <a:ext uri="{FF2B5EF4-FFF2-40B4-BE49-F238E27FC236}">
                <a16:creationId xmlns:a16="http://schemas.microsoft.com/office/drawing/2014/main" id="{1F24B262-E075-6B43-7EB7-CABE411A09A2}"/>
              </a:ext>
            </a:extLst>
          </p:cNvPr>
          <p:cNvSpPr/>
          <p:nvPr/>
        </p:nvSpPr>
        <p:spPr>
          <a:xfrm>
            <a:off x="114664" y="1681827"/>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142" name="Oval 141">
            <a:extLst>
              <a:ext uri="{FF2B5EF4-FFF2-40B4-BE49-F238E27FC236}">
                <a16:creationId xmlns:a16="http://schemas.microsoft.com/office/drawing/2014/main" id="{DFBC2AA2-C70C-0C24-90C2-D311F1F0B508}"/>
              </a:ext>
            </a:extLst>
          </p:cNvPr>
          <p:cNvSpPr/>
          <p:nvPr/>
        </p:nvSpPr>
        <p:spPr>
          <a:xfrm>
            <a:off x="109510" y="262585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143" name="Oval 142">
            <a:extLst>
              <a:ext uri="{FF2B5EF4-FFF2-40B4-BE49-F238E27FC236}">
                <a16:creationId xmlns:a16="http://schemas.microsoft.com/office/drawing/2014/main" id="{16D0CC27-6309-6E9F-4153-F107D4E2F9CF}"/>
              </a:ext>
            </a:extLst>
          </p:cNvPr>
          <p:cNvSpPr/>
          <p:nvPr/>
        </p:nvSpPr>
        <p:spPr>
          <a:xfrm>
            <a:off x="1382040" y="3371524"/>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144" name="Oval 143">
            <a:extLst>
              <a:ext uri="{FF2B5EF4-FFF2-40B4-BE49-F238E27FC236}">
                <a16:creationId xmlns:a16="http://schemas.microsoft.com/office/drawing/2014/main" id="{D8559BA3-A99D-7893-DB40-5873B5E6830D}"/>
              </a:ext>
            </a:extLst>
          </p:cNvPr>
          <p:cNvSpPr/>
          <p:nvPr/>
        </p:nvSpPr>
        <p:spPr>
          <a:xfrm>
            <a:off x="3281960" y="3371524"/>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145" name="Oval 144">
            <a:extLst>
              <a:ext uri="{FF2B5EF4-FFF2-40B4-BE49-F238E27FC236}">
                <a16:creationId xmlns:a16="http://schemas.microsoft.com/office/drawing/2014/main" id="{115701EB-A72F-0296-C16D-55BFF9722C22}"/>
              </a:ext>
            </a:extLst>
          </p:cNvPr>
          <p:cNvSpPr/>
          <p:nvPr/>
        </p:nvSpPr>
        <p:spPr>
          <a:xfrm>
            <a:off x="5092124" y="3371524"/>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pic>
        <p:nvPicPr>
          <p:cNvPr id="19" name="Picture 18">
            <a:extLst>
              <a:ext uri="{FF2B5EF4-FFF2-40B4-BE49-F238E27FC236}">
                <a16:creationId xmlns:a16="http://schemas.microsoft.com/office/drawing/2014/main" id="{CE81145C-5C09-072C-3141-A93DA26EC2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95643" y="1660358"/>
            <a:ext cx="325518" cy="372021"/>
          </a:xfrm>
          <a:prstGeom prst="rect">
            <a:avLst/>
          </a:prstGeom>
        </p:spPr>
      </p:pic>
      <p:grpSp>
        <p:nvGrpSpPr>
          <p:cNvPr id="20" name="Group 19">
            <a:extLst>
              <a:ext uri="{FF2B5EF4-FFF2-40B4-BE49-F238E27FC236}">
                <a16:creationId xmlns:a16="http://schemas.microsoft.com/office/drawing/2014/main" id="{CE91C890-1C5A-BE5B-11A9-88547F3CED42}"/>
              </a:ext>
            </a:extLst>
          </p:cNvPr>
          <p:cNvGrpSpPr/>
          <p:nvPr/>
        </p:nvGrpSpPr>
        <p:grpSpPr>
          <a:xfrm>
            <a:off x="859457" y="3756341"/>
            <a:ext cx="1411101" cy="840689"/>
            <a:chOff x="2521324" y="4054687"/>
            <a:chExt cx="2267712" cy="1351031"/>
          </a:xfrm>
        </p:grpSpPr>
        <p:grpSp>
          <p:nvGrpSpPr>
            <p:cNvPr id="21" name="Group 20">
              <a:extLst>
                <a:ext uri="{FF2B5EF4-FFF2-40B4-BE49-F238E27FC236}">
                  <a16:creationId xmlns:a16="http://schemas.microsoft.com/office/drawing/2014/main" id="{2AA30C4B-7C7C-7B62-3795-A063B14BBE98}"/>
                </a:ext>
              </a:extLst>
            </p:cNvPr>
            <p:cNvGrpSpPr/>
            <p:nvPr/>
          </p:nvGrpSpPr>
          <p:grpSpPr>
            <a:xfrm>
              <a:off x="2521324" y="4067735"/>
              <a:ext cx="2267712" cy="1337983"/>
              <a:chOff x="2521324" y="4067735"/>
              <a:chExt cx="2267712" cy="1337983"/>
            </a:xfrm>
          </p:grpSpPr>
          <p:sp>
            <p:nvSpPr>
              <p:cNvPr id="23" name="Rectangle: Rounded Corners 22">
                <a:extLst>
                  <a:ext uri="{FF2B5EF4-FFF2-40B4-BE49-F238E27FC236}">
                    <a16:creationId xmlns:a16="http://schemas.microsoft.com/office/drawing/2014/main" id="{C5B4E483-CB22-2C5D-F4A4-CFF8055A0940}"/>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4" name="Straight Connector 23">
                <a:extLst>
                  <a:ext uri="{FF2B5EF4-FFF2-40B4-BE49-F238E27FC236}">
                    <a16:creationId xmlns:a16="http://schemas.microsoft.com/office/drawing/2014/main" id="{5FE41BC1-C650-1829-5D16-BEE72277DEFC}"/>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5" name="TextBox 24">
                <a:extLst>
                  <a:ext uri="{FF2B5EF4-FFF2-40B4-BE49-F238E27FC236}">
                    <a16:creationId xmlns:a16="http://schemas.microsoft.com/office/drawing/2014/main" id="{0EF0790E-C0B7-29EE-E17C-54B8037C06DA}"/>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Technology</a:t>
                </a:r>
                <a:endParaRPr lang="en-GB" sz="1000" kern="1200" dirty="0" err="1">
                  <a:solidFill>
                    <a:schemeClr val="accent2"/>
                  </a:solidFill>
                  <a:latin typeface="+mn-lt"/>
                  <a:ea typeface="ＭＳ Ｐゴシック" charset="0"/>
                </a:endParaRPr>
              </a:p>
            </p:txBody>
          </p:sp>
          <p:sp>
            <p:nvSpPr>
              <p:cNvPr id="26" name="TextBox 25">
                <a:extLst>
                  <a:ext uri="{FF2B5EF4-FFF2-40B4-BE49-F238E27FC236}">
                    <a16:creationId xmlns:a16="http://schemas.microsoft.com/office/drawing/2014/main" id="{4004BC60-A82F-8438-9F5A-D55840DA45FD}"/>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Networking</a:t>
                </a:r>
                <a:endParaRPr lang="en-GB" sz="1000" kern="1200" dirty="0" err="1">
                  <a:solidFill>
                    <a:schemeClr val="bg1"/>
                  </a:solidFill>
                  <a:latin typeface="+mn-lt"/>
                  <a:ea typeface="ＭＳ Ｐゴシック" charset="0"/>
                </a:endParaRPr>
              </a:p>
            </p:txBody>
          </p:sp>
        </p:grpSp>
        <p:pic>
          <p:nvPicPr>
            <p:cNvPr id="22" name="Graphic 21" descr="Qr Code with solid fill">
              <a:extLst>
                <a:ext uri="{FF2B5EF4-FFF2-40B4-BE49-F238E27FC236}">
                  <a16:creationId xmlns:a16="http://schemas.microsoft.com/office/drawing/2014/main" id="{5CCF48F8-20AB-839A-5A40-0C0AC47B238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646830" y="4054687"/>
              <a:ext cx="400109" cy="400109"/>
            </a:xfrm>
            <a:prstGeom prst="rect">
              <a:avLst/>
            </a:prstGeom>
          </p:spPr>
        </p:pic>
      </p:grpSp>
      <p:grpSp>
        <p:nvGrpSpPr>
          <p:cNvPr id="27" name="Group 26">
            <a:extLst>
              <a:ext uri="{FF2B5EF4-FFF2-40B4-BE49-F238E27FC236}">
                <a16:creationId xmlns:a16="http://schemas.microsoft.com/office/drawing/2014/main" id="{EB0916E3-2E74-809E-0685-8F989D514691}"/>
              </a:ext>
            </a:extLst>
          </p:cNvPr>
          <p:cNvGrpSpPr/>
          <p:nvPr/>
        </p:nvGrpSpPr>
        <p:grpSpPr>
          <a:xfrm>
            <a:off x="2702173" y="3788514"/>
            <a:ext cx="1411101" cy="832570"/>
            <a:chOff x="5225124" y="4067734"/>
            <a:chExt cx="2267712" cy="1337983"/>
          </a:xfrm>
        </p:grpSpPr>
        <p:grpSp>
          <p:nvGrpSpPr>
            <p:cNvPr id="28" name="Group 27">
              <a:extLst>
                <a:ext uri="{FF2B5EF4-FFF2-40B4-BE49-F238E27FC236}">
                  <a16:creationId xmlns:a16="http://schemas.microsoft.com/office/drawing/2014/main" id="{F9FCE920-9FE2-00E5-5F01-CAE2A2DD477B}"/>
                </a:ext>
              </a:extLst>
            </p:cNvPr>
            <p:cNvGrpSpPr/>
            <p:nvPr/>
          </p:nvGrpSpPr>
          <p:grpSpPr>
            <a:xfrm>
              <a:off x="5225124" y="4067734"/>
              <a:ext cx="2267712" cy="1337983"/>
              <a:chOff x="2521324" y="4067735"/>
              <a:chExt cx="2267712" cy="1337983"/>
            </a:xfrm>
          </p:grpSpPr>
          <p:sp>
            <p:nvSpPr>
              <p:cNvPr id="30" name="Rectangle: Rounded Corners 29">
                <a:extLst>
                  <a:ext uri="{FF2B5EF4-FFF2-40B4-BE49-F238E27FC236}">
                    <a16:creationId xmlns:a16="http://schemas.microsoft.com/office/drawing/2014/main" id="{6336D77F-4E57-99BA-6127-1CFC7F5EFA1C}"/>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1" name="Straight Connector 30">
                <a:extLst>
                  <a:ext uri="{FF2B5EF4-FFF2-40B4-BE49-F238E27FC236}">
                    <a16:creationId xmlns:a16="http://schemas.microsoft.com/office/drawing/2014/main" id="{0E826B71-8752-D322-5430-E92B7A20947E}"/>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2" name="TextBox 31">
                <a:extLst>
                  <a:ext uri="{FF2B5EF4-FFF2-40B4-BE49-F238E27FC236}">
                    <a16:creationId xmlns:a16="http://schemas.microsoft.com/office/drawing/2014/main" id="{DDB235D1-C7FE-AA6B-AC0D-83EFBE88FBB4}"/>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Stakeholder</a:t>
                </a:r>
                <a:endParaRPr lang="en-GB" sz="1000" kern="1200" dirty="0" err="1">
                  <a:solidFill>
                    <a:schemeClr val="accent3"/>
                  </a:solidFill>
                  <a:latin typeface="+mn-lt"/>
                  <a:ea typeface="ＭＳ Ｐゴシック" charset="0"/>
                </a:endParaRPr>
              </a:p>
            </p:txBody>
          </p:sp>
          <p:sp>
            <p:nvSpPr>
              <p:cNvPr id="33" name="TextBox 32">
                <a:extLst>
                  <a:ext uri="{FF2B5EF4-FFF2-40B4-BE49-F238E27FC236}">
                    <a16:creationId xmlns:a16="http://schemas.microsoft.com/office/drawing/2014/main" id="{38BF1A02-206B-BB96-FEBD-25D48B85992C}"/>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Integrated Marketing</a:t>
                </a:r>
                <a:endParaRPr lang="en-GB" sz="1000" kern="1200" dirty="0" err="1">
                  <a:solidFill>
                    <a:schemeClr val="bg1"/>
                  </a:solidFill>
                  <a:latin typeface="+mn-lt"/>
                  <a:ea typeface="ＭＳ Ｐゴシック" charset="0"/>
                </a:endParaRPr>
              </a:p>
            </p:txBody>
          </p:sp>
        </p:grpSp>
        <p:pic>
          <p:nvPicPr>
            <p:cNvPr id="29" name="Graphic 28" descr="Users with solid fill">
              <a:extLst>
                <a:ext uri="{FF2B5EF4-FFF2-40B4-BE49-F238E27FC236}">
                  <a16:creationId xmlns:a16="http://schemas.microsoft.com/office/drawing/2014/main" id="{20920D18-D386-EE29-DC59-25FC8A262CFE}"/>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5371354" y="4079928"/>
              <a:ext cx="400109" cy="400109"/>
            </a:xfrm>
            <a:prstGeom prst="rect">
              <a:avLst/>
            </a:prstGeom>
          </p:spPr>
        </p:pic>
      </p:grpSp>
      <p:grpSp>
        <p:nvGrpSpPr>
          <p:cNvPr id="34" name="Group 33">
            <a:extLst>
              <a:ext uri="{FF2B5EF4-FFF2-40B4-BE49-F238E27FC236}">
                <a16:creationId xmlns:a16="http://schemas.microsoft.com/office/drawing/2014/main" id="{58E4EEBE-F21D-AA4C-C10B-9CA40AF04264}"/>
              </a:ext>
            </a:extLst>
          </p:cNvPr>
          <p:cNvGrpSpPr/>
          <p:nvPr/>
        </p:nvGrpSpPr>
        <p:grpSpPr>
          <a:xfrm>
            <a:off x="4544889" y="3790636"/>
            <a:ext cx="1411101" cy="832570"/>
            <a:chOff x="7928924" y="4067733"/>
            <a:chExt cx="2267712" cy="1337983"/>
          </a:xfrm>
        </p:grpSpPr>
        <p:grpSp>
          <p:nvGrpSpPr>
            <p:cNvPr id="35" name="Group 34">
              <a:extLst>
                <a:ext uri="{FF2B5EF4-FFF2-40B4-BE49-F238E27FC236}">
                  <a16:creationId xmlns:a16="http://schemas.microsoft.com/office/drawing/2014/main" id="{8E308C43-215A-8436-99CC-4889DD44A746}"/>
                </a:ext>
              </a:extLst>
            </p:cNvPr>
            <p:cNvGrpSpPr/>
            <p:nvPr/>
          </p:nvGrpSpPr>
          <p:grpSpPr>
            <a:xfrm>
              <a:off x="7928924" y="4067733"/>
              <a:ext cx="2267712" cy="1337983"/>
              <a:chOff x="2521324" y="4067735"/>
              <a:chExt cx="2267712" cy="1337983"/>
            </a:xfrm>
          </p:grpSpPr>
          <p:sp>
            <p:nvSpPr>
              <p:cNvPr id="37" name="Rectangle: Rounded Corners 36">
                <a:extLst>
                  <a:ext uri="{FF2B5EF4-FFF2-40B4-BE49-F238E27FC236}">
                    <a16:creationId xmlns:a16="http://schemas.microsoft.com/office/drawing/2014/main" id="{CEB92496-2F37-0212-1470-602D8C5959F1}"/>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8" name="Straight Connector 37">
                <a:extLst>
                  <a:ext uri="{FF2B5EF4-FFF2-40B4-BE49-F238E27FC236}">
                    <a16:creationId xmlns:a16="http://schemas.microsoft.com/office/drawing/2014/main" id="{767AFF77-E3AA-251C-F87F-0FC5A896BBA7}"/>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40" name="TextBox 39">
                <a:extLst>
                  <a:ext uri="{FF2B5EF4-FFF2-40B4-BE49-F238E27FC236}">
                    <a16:creationId xmlns:a16="http://schemas.microsoft.com/office/drawing/2014/main" id="{A439EA3E-E5DE-7C9A-AD6E-28875B1D7A31}"/>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Language</a:t>
                </a:r>
                <a:endParaRPr lang="en-GB" sz="1000" kern="1200" dirty="0" err="1">
                  <a:solidFill>
                    <a:schemeClr val="accent4"/>
                  </a:solidFill>
                  <a:latin typeface="+mn-lt"/>
                  <a:ea typeface="ＭＳ Ｐゴシック" charset="0"/>
                </a:endParaRPr>
              </a:p>
            </p:txBody>
          </p:sp>
          <p:sp>
            <p:nvSpPr>
              <p:cNvPr id="42" name="TextBox 41">
                <a:extLst>
                  <a:ext uri="{FF2B5EF4-FFF2-40B4-BE49-F238E27FC236}">
                    <a16:creationId xmlns:a16="http://schemas.microsoft.com/office/drawing/2014/main" id="{B4CD092B-9988-4ECF-5D10-C264A644CECC}"/>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UK_EN</a:t>
                </a:r>
                <a:endParaRPr lang="en-GB" sz="1000" kern="1200" dirty="0" err="1">
                  <a:solidFill>
                    <a:schemeClr val="bg1"/>
                  </a:solidFill>
                  <a:latin typeface="+mn-lt"/>
                  <a:ea typeface="ＭＳ Ｐゴシック" charset="0"/>
                </a:endParaRPr>
              </a:p>
            </p:txBody>
          </p:sp>
        </p:grpSp>
        <p:pic>
          <p:nvPicPr>
            <p:cNvPr id="36" name="Graphic 35" descr="Remote learning language with solid fill">
              <a:extLst>
                <a:ext uri="{FF2B5EF4-FFF2-40B4-BE49-F238E27FC236}">
                  <a16:creationId xmlns:a16="http://schemas.microsoft.com/office/drawing/2014/main" id="{73671F85-F60E-D106-588E-1BDA0957F384}"/>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8000955" y="4079927"/>
              <a:ext cx="400109" cy="400109"/>
            </a:xfrm>
            <a:prstGeom prst="rect">
              <a:avLst/>
            </a:prstGeom>
          </p:spPr>
        </p:pic>
      </p:grpSp>
      <p:sp>
        <p:nvSpPr>
          <p:cNvPr id="49" name="Oval 48">
            <a:extLst>
              <a:ext uri="{FF2B5EF4-FFF2-40B4-BE49-F238E27FC236}">
                <a16:creationId xmlns:a16="http://schemas.microsoft.com/office/drawing/2014/main" id="{702D71C4-8BCE-10B8-DB12-E92E14AEDB28}"/>
              </a:ext>
            </a:extLst>
          </p:cNvPr>
          <p:cNvSpPr/>
          <p:nvPr/>
        </p:nvSpPr>
        <p:spPr>
          <a:xfrm>
            <a:off x="1387303" y="5912315"/>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6</a:t>
            </a:r>
            <a:endParaRPr lang="en-GB" sz="1100" dirty="0">
              <a:solidFill>
                <a:schemeClr val="bg1"/>
              </a:solidFill>
            </a:endParaRPr>
          </a:p>
        </p:txBody>
      </p:sp>
      <p:sp>
        <p:nvSpPr>
          <p:cNvPr id="50" name="Oval 49">
            <a:extLst>
              <a:ext uri="{FF2B5EF4-FFF2-40B4-BE49-F238E27FC236}">
                <a16:creationId xmlns:a16="http://schemas.microsoft.com/office/drawing/2014/main" id="{08335519-2C0B-A120-2240-4D43BBF3DC01}"/>
              </a:ext>
            </a:extLst>
          </p:cNvPr>
          <p:cNvSpPr/>
          <p:nvPr/>
        </p:nvSpPr>
        <p:spPr>
          <a:xfrm>
            <a:off x="3287223" y="5912315"/>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7</a:t>
            </a:r>
            <a:endParaRPr lang="en-GB" sz="1100" dirty="0">
              <a:solidFill>
                <a:schemeClr val="bg1"/>
              </a:solidFill>
            </a:endParaRPr>
          </a:p>
        </p:txBody>
      </p:sp>
      <p:sp>
        <p:nvSpPr>
          <p:cNvPr id="51" name="Oval 50">
            <a:extLst>
              <a:ext uri="{FF2B5EF4-FFF2-40B4-BE49-F238E27FC236}">
                <a16:creationId xmlns:a16="http://schemas.microsoft.com/office/drawing/2014/main" id="{E2AF482D-C7E1-50FB-4851-8CA5154991F9}"/>
              </a:ext>
            </a:extLst>
          </p:cNvPr>
          <p:cNvSpPr/>
          <p:nvPr/>
        </p:nvSpPr>
        <p:spPr>
          <a:xfrm>
            <a:off x="5097387" y="5912315"/>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8</a:t>
            </a:r>
            <a:endParaRPr lang="en-GB" sz="1100" dirty="0">
              <a:solidFill>
                <a:schemeClr val="bg1"/>
              </a:solidFill>
            </a:endParaRPr>
          </a:p>
        </p:txBody>
      </p:sp>
      <p:grpSp>
        <p:nvGrpSpPr>
          <p:cNvPr id="52" name="Group 51">
            <a:extLst>
              <a:ext uri="{FF2B5EF4-FFF2-40B4-BE49-F238E27FC236}">
                <a16:creationId xmlns:a16="http://schemas.microsoft.com/office/drawing/2014/main" id="{372D7FF4-D51C-0EAD-CC4E-8D1D1E612568}"/>
              </a:ext>
            </a:extLst>
          </p:cNvPr>
          <p:cNvGrpSpPr/>
          <p:nvPr/>
        </p:nvGrpSpPr>
        <p:grpSpPr>
          <a:xfrm>
            <a:off x="6679726" y="2111371"/>
            <a:ext cx="5179799" cy="529877"/>
            <a:chOff x="6704329" y="3670911"/>
            <a:chExt cx="5179799" cy="529877"/>
          </a:xfrm>
        </p:grpSpPr>
        <p:sp>
          <p:nvSpPr>
            <p:cNvPr id="53" name="Rectangle: Rounded Corners 52">
              <a:extLst>
                <a:ext uri="{FF2B5EF4-FFF2-40B4-BE49-F238E27FC236}">
                  <a16:creationId xmlns:a16="http://schemas.microsoft.com/office/drawing/2014/main" id="{D2C41876-B2F6-A22F-8D2F-2C73586EDD66}"/>
                </a:ext>
              </a:extLst>
            </p:cNvPr>
            <p:cNvSpPr/>
            <p:nvPr/>
          </p:nvSpPr>
          <p:spPr>
            <a:xfrm>
              <a:off x="7952208" y="3698290"/>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54" name="Arrow: Pentagon 53">
              <a:extLst>
                <a:ext uri="{FF2B5EF4-FFF2-40B4-BE49-F238E27FC236}">
                  <a16:creationId xmlns:a16="http://schemas.microsoft.com/office/drawing/2014/main" id="{CE099241-8580-0086-7B5D-5730FE5F7925}"/>
                </a:ext>
              </a:extLst>
            </p:cNvPr>
            <p:cNvSpPr/>
            <p:nvPr/>
          </p:nvSpPr>
          <p:spPr>
            <a:xfrm>
              <a:off x="7051241" y="3698290"/>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55" name="TextBox 54">
              <a:extLst>
                <a:ext uri="{FF2B5EF4-FFF2-40B4-BE49-F238E27FC236}">
                  <a16:creationId xmlns:a16="http://schemas.microsoft.com/office/drawing/2014/main" id="{73F9007D-1FF6-DA4C-F8FA-27AB5935A52B}"/>
                </a:ext>
              </a:extLst>
            </p:cNvPr>
            <p:cNvSpPr txBox="1"/>
            <p:nvPr/>
          </p:nvSpPr>
          <p:spPr>
            <a:xfrm>
              <a:off x="7291428" y="3846402"/>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Technology</a:t>
              </a:r>
              <a:endParaRPr lang="en-GB" sz="1600" kern="1200" dirty="0" err="1">
                <a:solidFill>
                  <a:schemeClr val="bg1"/>
                </a:solidFill>
                <a:latin typeface="+mn-lt"/>
                <a:ea typeface="ＭＳ Ｐゴシック" charset="0"/>
              </a:endParaRPr>
            </a:p>
          </p:txBody>
        </p:sp>
        <p:sp>
          <p:nvSpPr>
            <p:cNvPr id="61" name="TextBox 60">
              <a:extLst>
                <a:ext uri="{FF2B5EF4-FFF2-40B4-BE49-F238E27FC236}">
                  <a16:creationId xmlns:a16="http://schemas.microsoft.com/office/drawing/2014/main" id="{B467BA01-80BC-C100-A915-7D7B94C2EBE5}"/>
                </a:ext>
              </a:extLst>
            </p:cNvPr>
            <p:cNvSpPr txBox="1"/>
            <p:nvPr/>
          </p:nvSpPr>
          <p:spPr>
            <a:xfrm>
              <a:off x="8656896" y="3698291"/>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Defines the core IT infrastructure capabilities and domain-specific architectures that enable, scale, and protect the business digital operations.</a:t>
              </a:r>
            </a:p>
          </p:txBody>
        </p:sp>
        <p:sp>
          <p:nvSpPr>
            <p:cNvPr id="63" name="Oval 62">
              <a:extLst>
                <a:ext uri="{FF2B5EF4-FFF2-40B4-BE49-F238E27FC236}">
                  <a16:creationId xmlns:a16="http://schemas.microsoft.com/office/drawing/2014/main" id="{B11D40C2-B29F-FB76-B803-AA77C770FDBB}"/>
                </a:ext>
              </a:extLst>
            </p:cNvPr>
            <p:cNvSpPr/>
            <p:nvPr/>
          </p:nvSpPr>
          <p:spPr>
            <a:xfrm>
              <a:off x="6704329" y="3670911"/>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64" name="Group 63">
            <a:extLst>
              <a:ext uri="{FF2B5EF4-FFF2-40B4-BE49-F238E27FC236}">
                <a16:creationId xmlns:a16="http://schemas.microsoft.com/office/drawing/2014/main" id="{82A51E9E-9440-1965-651C-F9CA9DFB37CD}"/>
              </a:ext>
            </a:extLst>
          </p:cNvPr>
          <p:cNvGrpSpPr/>
          <p:nvPr/>
        </p:nvGrpSpPr>
        <p:grpSpPr>
          <a:xfrm>
            <a:off x="6679726" y="2896757"/>
            <a:ext cx="5179799" cy="529877"/>
            <a:chOff x="6775864" y="4491223"/>
            <a:chExt cx="5179799" cy="529877"/>
          </a:xfrm>
        </p:grpSpPr>
        <p:sp>
          <p:nvSpPr>
            <p:cNvPr id="65" name="Rectangle: Rounded Corners 64">
              <a:extLst>
                <a:ext uri="{FF2B5EF4-FFF2-40B4-BE49-F238E27FC236}">
                  <a16:creationId xmlns:a16="http://schemas.microsoft.com/office/drawing/2014/main" id="{4D4F711A-40A3-5C38-1A75-C2B80B27C3AA}"/>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6" name="Arrow: Pentagon 65">
              <a:extLst>
                <a:ext uri="{FF2B5EF4-FFF2-40B4-BE49-F238E27FC236}">
                  <a16:creationId xmlns:a16="http://schemas.microsoft.com/office/drawing/2014/main" id="{D086B8D0-5B24-E691-6E3C-34E2CD5B0790}"/>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7" name="TextBox 66">
              <a:extLst>
                <a:ext uri="{FF2B5EF4-FFF2-40B4-BE49-F238E27FC236}">
                  <a16:creationId xmlns:a16="http://schemas.microsoft.com/office/drawing/2014/main" id="{1B41902F-4A59-92DE-5AAB-B9FE6582A367}"/>
                </a:ext>
              </a:extLst>
            </p:cNvPr>
            <p:cNvSpPr txBox="1"/>
            <p:nvPr/>
          </p:nvSpPr>
          <p:spPr>
            <a:xfrm>
              <a:off x="7379297"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Stakeholder</a:t>
              </a:r>
              <a:endParaRPr lang="en-GB" sz="1600" kern="1200" dirty="0" err="1">
                <a:solidFill>
                  <a:schemeClr val="bg1"/>
                </a:solidFill>
                <a:latin typeface="+mn-lt"/>
                <a:ea typeface="ＭＳ Ｐゴシック" charset="0"/>
              </a:endParaRPr>
            </a:p>
          </p:txBody>
        </p:sp>
        <p:sp>
          <p:nvSpPr>
            <p:cNvPr id="68" name="TextBox 67">
              <a:extLst>
                <a:ext uri="{FF2B5EF4-FFF2-40B4-BE49-F238E27FC236}">
                  <a16:creationId xmlns:a16="http://schemas.microsoft.com/office/drawing/2014/main" id="{A2EBDA85-4213-0918-0099-347B22A8D66E}"/>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An individual, team, or group with a direct interest in a project or business initiative, possessing the power to influence its outcome or be affected by its results.</a:t>
              </a:r>
            </a:p>
          </p:txBody>
        </p:sp>
        <p:sp>
          <p:nvSpPr>
            <p:cNvPr id="69" name="Oval 68">
              <a:extLst>
                <a:ext uri="{FF2B5EF4-FFF2-40B4-BE49-F238E27FC236}">
                  <a16:creationId xmlns:a16="http://schemas.microsoft.com/office/drawing/2014/main" id="{E3875C8C-89CF-D1F4-0AAB-7E7DF568A29B}"/>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70" name="Group 69">
            <a:extLst>
              <a:ext uri="{FF2B5EF4-FFF2-40B4-BE49-F238E27FC236}">
                <a16:creationId xmlns:a16="http://schemas.microsoft.com/office/drawing/2014/main" id="{8647C30F-5A41-F67D-20CD-CE2723DEB42D}"/>
              </a:ext>
            </a:extLst>
          </p:cNvPr>
          <p:cNvGrpSpPr/>
          <p:nvPr/>
        </p:nvGrpSpPr>
        <p:grpSpPr>
          <a:xfrm>
            <a:off x="6679726" y="3682143"/>
            <a:ext cx="5179799" cy="529877"/>
            <a:chOff x="6775864" y="4491223"/>
            <a:chExt cx="5179799" cy="529877"/>
          </a:xfrm>
        </p:grpSpPr>
        <p:sp>
          <p:nvSpPr>
            <p:cNvPr id="71" name="Rectangle: Rounded Corners 70">
              <a:extLst>
                <a:ext uri="{FF2B5EF4-FFF2-40B4-BE49-F238E27FC236}">
                  <a16:creationId xmlns:a16="http://schemas.microsoft.com/office/drawing/2014/main" id="{F141C936-79DB-E12A-49AF-9D5F62EAC7D3}"/>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2" name="Arrow: Pentagon 71">
              <a:extLst>
                <a:ext uri="{FF2B5EF4-FFF2-40B4-BE49-F238E27FC236}">
                  <a16:creationId xmlns:a16="http://schemas.microsoft.com/office/drawing/2014/main" id="{484AE25E-201C-69AA-7D56-8B68402FE4C9}"/>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3" name="TextBox 72">
              <a:extLst>
                <a:ext uri="{FF2B5EF4-FFF2-40B4-BE49-F238E27FC236}">
                  <a16:creationId xmlns:a16="http://schemas.microsoft.com/office/drawing/2014/main" id="{3268949C-125C-C571-DBCE-32EE3377F57F}"/>
                </a:ext>
              </a:extLst>
            </p:cNvPr>
            <p:cNvSpPr txBox="1"/>
            <p:nvPr/>
          </p:nvSpPr>
          <p:spPr>
            <a:xfrm>
              <a:off x="7395907" y="468990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Language</a:t>
              </a:r>
              <a:endParaRPr lang="en-GB" sz="1600" kern="1200" dirty="0" err="1">
                <a:solidFill>
                  <a:schemeClr val="bg1"/>
                </a:solidFill>
                <a:latin typeface="+mn-lt"/>
                <a:ea typeface="ＭＳ Ｐゴシック" charset="0"/>
              </a:endParaRPr>
            </a:p>
          </p:txBody>
        </p:sp>
        <p:sp>
          <p:nvSpPr>
            <p:cNvPr id="74" name="TextBox 73">
              <a:extLst>
                <a:ext uri="{FF2B5EF4-FFF2-40B4-BE49-F238E27FC236}">
                  <a16:creationId xmlns:a16="http://schemas.microsoft.com/office/drawing/2014/main" id="{08443E45-F020-A4B9-4AEC-003F72059013}"/>
                </a:ext>
              </a:extLst>
            </p:cNvPr>
            <p:cNvSpPr txBox="1"/>
            <p:nvPr/>
          </p:nvSpPr>
          <p:spPr>
            <a:xfrm>
              <a:off x="8728430" y="4565421"/>
              <a:ext cx="3155697" cy="35019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sz="1000" dirty="0"/>
                <a:t>D</a:t>
              </a:r>
              <a:r>
                <a:rPr lang="en-GB" sz="1000" dirty="0" err="1"/>
                <a:t>etermines</a:t>
              </a:r>
              <a:r>
                <a:rPr lang="en-GB" sz="1000" dirty="0"/>
                <a:t> the country and language the main communication is being created </a:t>
              </a:r>
            </a:p>
          </p:txBody>
        </p:sp>
        <p:sp>
          <p:nvSpPr>
            <p:cNvPr id="75" name="Oval 74">
              <a:extLst>
                <a:ext uri="{FF2B5EF4-FFF2-40B4-BE49-F238E27FC236}">
                  <a16:creationId xmlns:a16="http://schemas.microsoft.com/office/drawing/2014/main" id="{4FFC1F25-BF34-E3E8-BFB1-527289105AAF}"/>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Tree>
    <p:extLst>
      <p:ext uri="{BB962C8B-B14F-4D97-AF65-F5344CB8AC3E}">
        <p14:creationId xmlns:p14="http://schemas.microsoft.com/office/powerpoint/2010/main" val="275771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A5B25-44AC-695D-9644-E49ECF5BA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9155E-C0CC-DDA5-E439-3A40811BDAE2}"/>
              </a:ext>
            </a:extLst>
          </p:cNvPr>
          <p:cNvSpPr>
            <a:spLocks noGrp="1"/>
          </p:cNvSpPr>
          <p:nvPr>
            <p:ph type="title"/>
          </p:nvPr>
        </p:nvSpPr>
        <p:spPr/>
        <p:txBody>
          <a:bodyPr/>
          <a:lstStyle/>
          <a:p>
            <a:r>
              <a:rPr lang="en-US" dirty="0"/>
              <a:t>Module 6: When to use your IDs</a:t>
            </a:r>
            <a:endParaRPr lang="en-GB" dirty="0"/>
          </a:p>
        </p:txBody>
      </p:sp>
    </p:spTree>
    <p:extLst>
      <p:ext uri="{BB962C8B-B14F-4D97-AF65-F5344CB8AC3E}">
        <p14:creationId xmlns:p14="http://schemas.microsoft.com/office/powerpoint/2010/main" val="2646727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E61D9E-49DD-EF6A-7AB9-9B0561512C2E}"/>
              </a:ext>
            </a:extLst>
          </p:cNvPr>
          <p:cNvSpPr>
            <a:spLocks noGrp="1"/>
          </p:cNvSpPr>
          <p:nvPr>
            <p:ph type="title"/>
          </p:nvPr>
        </p:nvSpPr>
        <p:spPr/>
        <p:txBody>
          <a:bodyPr/>
          <a:lstStyle/>
          <a:p>
            <a:r>
              <a:rPr lang="en-US" dirty="0"/>
              <a:t>When to Use your IDs</a:t>
            </a:r>
            <a:endParaRPr lang="en-GB" dirty="0"/>
          </a:p>
        </p:txBody>
      </p:sp>
      <p:graphicFrame>
        <p:nvGraphicFramePr>
          <p:cNvPr id="10" name="Table 9">
            <a:extLst>
              <a:ext uri="{FF2B5EF4-FFF2-40B4-BE49-F238E27FC236}">
                <a16:creationId xmlns:a16="http://schemas.microsoft.com/office/drawing/2014/main" id="{010178CE-8AE6-644B-4678-3E865079EB6D}"/>
              </a:ext>
            </a:extLst>
          </p:cNvPr>
          <p:cNvGraphicFramePr>
            <a:graphicFrameLocks noGrp="1"/>
          </p:cNvGraphicFramePr>
          <p:nvPr>
            <p:extLst>
              <p:ext uri="{D42A27DB-BD31-4B8C-83A1-F6EECF244321}">
                <p14:modId xmlns:p14="http://schemas.microsoft.com/office/powerpoint/2010/main" val="1432476003"/>
              </p:ext>
            </p:extLst>
          </p:nvPr>
        </p:nvGraphicFramePr>
        <p:xfrm>
          <a:off x="470646" y="1532466"/>
          <a:ext cx="10999241" cy="3967480"/>
        </p:xfrm>
        <a:graphic>
          <a:graphicData uri="http://schemas.openxmlformats.org/drawingml/2006/table">
            <a:tbl>
              <a:tblPr firstRow="1" bandRow="1">
                <a:tableStyleId>{5C22544A-7EE6-4342-B048-85BDC9FD1C3A}</a:tableStyleId>
              </a:tblPr>
              <a:tblGrid>
                <a:gridCol w="1791761">
                  <a:extLst>
                    <a:ext uri="{9D8B030D-6E8A-4147-A177-3AD203B41FA5}">
                      <a16:colId xmlns:a16="http://schemas.microsoft.com/office/drawing/2014/main" val="3714344103"/>
                    </a:ext>
                  </a:extLst>
                </a:gridCol>
                <a:gridCol w="920748">
                  <a:extLst>
                    <a:ext uri="{9D8B030D-6E8A-4147-A177-3AD203B41FA5}">
                      <a16:colId xmlns:a16="http://schemas.microsoft.com/office/drawing/2014/main" val="376913677"/>
                    </a:ext>
                  </a:extLst>
                </a:gridCol>
                <a:gridCol w="920748">
                  <a:extLst>
                    <a:ext uri="{9D8B030D-6E8A-4147-A177-3AD203B41FA5}">
                      <a16:colId xmlns:a16="http://schemas.microsoft.com/office/drawing/2014/main" val="1568334484"/>
                    </a:ext>
                  </a:extLst>
                </a:gridCol>
                <a:gridCol w="920748">
                  <a:extLst>
                    <a:ext uri="{9D8B030D-6E8A-4147-A177-3AD203B41FA5}">
                      <a16:colId xmlns:a16="http://schemas.microsoft.com/office/drawing/2014/main" val="1390885826"/>
                    </a:ext>
                  </a:extLst>
                </a:gridCol>
                <a:gridCol w="920748">
                  <a:extLst>
                    <a:ext uri="{9D8B030D-6E8A-4147-A177-3AD203B41FA5}">
                      <a16:colId xmlns:a16="http://schemas.microsoft.com/office/drawing/2014/main" val="3789696672"/>
                    </a:ext>
                  </a:extLst>
                </a:gridCol>
                <a:gridCol w="920748">
                  <a:extLst>
                    <a:ext uri="{9D8B030D-6E8A-4147-A177-3AD203B41FA5}">
                      <a16:colId xmlns:a16="http://schemas.microsoft.com/office/drawing/2014/main" val="3578502812"/>
                    </a:ext>
                  </a:extLst>
                </a:gridCol>
                <a:gridCol w="920748">
                  <a:extLst>
                    <a:ext uri="{9D8B030D-6E8A-4147-A177-3AD203B41FA5}">
                      <a16:colId xmlns:a16="http://schemas.microsoft.com/office/drawing/2014/main" val="1220857553"/>
                    </a:ext>
                  </a:extLst>
                </a:gridCol>
                <a:gridCol w="920748">
                  <a:extLst>
                    <a:ext uri="{9D8B030D-6E8A-4147-A177-3AD203B41FA5}">
                      <a16:colId xmlns:a16="http://schemas.microsoft.com/office/drawing/2014/main" val="2492984934"/>
                    </a:ext>
                  </a:extLst>
                </a:gridCol>
                <a:gridCol w="920748">
                  <a:extLst>
                    <a:ext uri="{9D8B030D-6E8A-4147-A177-3AD203B41FA5}">
                      <a16:colId xmlns:a16="http://schemas.microsoft.com/office/drawing/2014/main" val="1514119620"/>
                    </a:ext>
                  </a:extLst>
                </a:gridCol>
                <a:gridCol w="920748">
                  <a:extLst>
                    <a:ext uri="{9D8B030D-6E8A-4147-A177-3AD203B41FA5}">
                      <a16:colId xmlns:a16="http://schemas.microsoft.com/office/drawing/2014/main" val="3799999169"/>
                    </a:ext>
                  </a:extLst>
                </a:gridCol>
                <a:gridCol w="920748">
                  <a:extLst>
                    <a:ext uri="{9D8B030D-6E8A-4147-A177-3AD203B41FA5}">
                      <a16:colId xmlns:a16="http://schemas.microsoft.com/office/drawing/2014/main" val="2168399365"/>
                    </a:ext>
                  </a:extLst>
                </a:gridCol>
              </a:tblGrid>
              <a:tr h="370840">
                <a:tc>
                  <a:txBody>
                    <a:bodyPr/>
                    <a:lstStyle/>
                    <a:p>
                      <a:r>
                        <a:rPr lang="en-US" sz="1000" dirty="0"/>
                        <a:t>Use Case</a:t>
                      </a:r>
                      <a:endParaRPr lang="en-GB" sz="1000" dirty="0"/>
                    </a:p>
                  </a:txBody>
                  <a:tcPr/>
                </a:tc>
                <a:tc>
                  <a:txBody>
                    <a:bodyPr/>
                    <a:lstStyle/>
                    <a:p>
                      <a:pPr algn="ctr"/>
                      <a:r>
                        <a:rPr lang="en-US" sz="1000" dirty="0"/>
                        <a:t>Activity ID</a:t>
                      </a:r>
                      <a:endParaRPr lang="en-GB" sz="1000" dirty="0"/>
                    </a:p>
                  </a:txBody>
                  <a:tcPr anchor="ctr"/>
                </a:tc>
                <a:tc>
                  <a:txBody>
                    <a:bodyPr/>
                    <a:lstStyle/>
                    <a:p>
                      <a:pPr algn="ctr"/>
                      <a:r>
                        <a:rPr lang="en-US" sz="1000" dirty="0"/>
                        <a:t>Drive To ID</a:t>
                      </a:r>
                      <a:endParaRPr lang="en-GB" sz="1000" dirty="0"/>
                    </a:p>
                  </a:txBody>
                  <a:tcPr anchor="ctr"/>
                </a:tc>
                <a:tc>
                  <a:txBody>
                    <a:bodyPr/>
                    <a:lstStyle/>
                    <a:p>
                      <a:pPr algn="ctr"/>
                      <a:r>
                        <a:rPr lang="en-US" sz="1000" dirty="0"/>
                        <a:t>Offer ID</a:t>
                      </a:r>
                      <a:endParaRPr lang="en-GB" sz="1000" dirty="0"/>
                    </a:p>
                  </a:txBody>
                  <a:tcPr anchor="ctr"/>
                </a:tc>
                <a:tc>
                  <a:txBody>
                    <a:bodyPr/>
                    <a:lstStyle/>
                    <a:p>
                      <a:pPr algn="ctr"/>
                      <a:r>
                        <a:rPr lang="en-US" sz="1000" dirty="0"/>
                        <a:t>Event ID</a:t>
                      </a:r>
                      <a:endParaRPr lang="en-GB" sz="1000" dirty="0"/>
                    </a:p>
                  </a:txBody>
                  <a:tcPr anchor="ctr"/>
                </a:tc>
                <a:tc>
                  <a:txBody>
                    <a:bodyPr/>
                    <a:lstStyle/>
                    <a:p>
                      <a:pPr algn="ctr"/>
                      <a:r>
                        <a:rPr lang="en-US" sz="1000" dirty="0"/>
                        <a:t>ID</a:t>
                      </a:r>
                      <a:endParaRPr lang="en-GB" sz="1000" dirty="0"/>
                    </a:p>
                  </a:txBody>
                  <a:tcPr anchor="ctr"/>
                </a:tc>
                <a:tc>
                  <a:txBody>
                    <a:bodyPr/>
                    <a:lstStyle/>
                    <a:p>
                      <a:pPr algn="ctr"/>
                      <a:r>
                        <a:rPr lang="en-US" sz="1000" dirty="0"/>
                        <a:t>MEDIUM</a:t>
                      </a:r>
                      <a:endParaRPr lang="en-GB" sz="1000" dirty="0"/>
                    </a:p>
                  </a:txBody>
                  <a:tcPr anchor="ctr"/>
                </a:tc>
                <a:tc>
                  <a:txBody>
                    <a:bodyPr/>
                    <a:lstStyle/>
                    <a:p>
                      <a:pPr algn="ctr"/>
                      <a:r>
                        <a:rPr lang="en-US" sz="1000" dirty="0"/>
                        <a:t>SOURCE</a:t>
                      </a:r>
                      <a:endParaRPr lang="en-GB" sz="1000" dirty="0"/>
                    </a:p>
                  </a:txBody>
                  <a:tcPr anchor="ctr"/>
                </a:tc>
                <a:tc>
                  <a:txBody>
                    <a:bodyPr/>
                    <a:lstStyle/>
                    <a:p>
                      <a:pPr algn="ctr"/>
                      <a:r>
                        <a:rPr lang="en-US" sz="1000" dirty="0"/>
                        <a:t>CREATIVE</a:t>
                      </a:r>
                      <a:endParaRPr lang="en-GB" sz="1000" dirty="0"/>
                    </a:p>
                  </a:txBody>
                  <a:tcPr anchor="ctr"/>
                </a:tc>
                <a:tc>
                  <a:txBody>
                    <a:bodyPr/>
                    <a:lstStyle/>
                    <a:p>
                      <a:pPr algn="ctr"/>
                      <a:r>
                        <a:rPr lang="en-US" sz="1000" dirty="0"/>
                        <a:t>Channel</a:t>
                      </a:r>
                      <a:endParaRPr lang="en-GB" sz="1000" dirty="0"/>
                    </a:p>
                  </a:txBody>
                  <a:tcPr anchor="ctr"/>
                </a:tc>
                <a:tc>
                  <a:txBody>
                    <a:bodyPr/>
                    <a:lstStyle/>
                    <a:p>
                      <a:pPr algn="ctr"/>
                      <a:r>
                        <a:rPr lang="en-US" sz="1000" dirty="0"/>
                        <a:t>Content</a:t>
                      </a:r>
                      <a:endParaRPr lang="en-GB" sz="1000" dirty="0"/>
                    </a:p>
                  </a:txBody>
                  <a:tcPr anchor="ctr"/>
                </a:tc>
                <a:extLst>
                  <a:ext uri="{0D108BD9-81ED-4DB2-BD59-A6C34878D82A}">
                    <a16:rowId xmlns:a16="http://schemas.microsoft.com/office/drawing/2014/main" val="71265998"/>
                  </a:ext>
                </a:extLst>
              </a:tr>
              <a:tr h="370840">
                <a:tc>
                  <a:txBody>
                    <a:bodyPr/>
                    <a:lstStyle/>
                    <a:p>
                      <a:r>
                        <a:rPr lang="en-GB" sz="1100" dirty="0"/>
                        <a:t>Appended to any URL that is driving Traffic to .com such as an email, paid search, social link, traffic from an external site</a:t>
                      </a: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chemeClr val="accent4"/>
                          </a:solidFill>
                          <a:sym typeface="Wingdings" panose="05000000000000000000" pitchFamily="2" charset="2"/>
                        </a:rPr>
                        <a:t>?</a:t>
                      </a:r>
                      <a:endParaRPr lang="en-GB" sz="2000" b="0" dirty="0">
                        <a:solidFill>
                          <a:schemeClr val="accent4"/>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latin typeface="+mn-lt"/>
                          <a:ea typeface="+mn-ea"/>
                          <a:cs typeface="+mn-cs"/>
                          <a:sym typeface="Wingdings" panose="05000000000000000000" pitchFamily="2" charset="2"/>
                        </a:rPr>
                        <a:t></a:t>
                      </a:r>
                      <a:endParaRPr lang="en-GB" sz="2000" b="0" kern="1200" dirty="0">
                        <a:solidFill>
                          <a:srgbClr val="00B050"/>
                        </a:solidFill>
                        <a:latin typeface="+mn-lt"/>
                        <a:ea typeface="+mn-ea"/>
                        <a:cs typeface="+mn-cs"/>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latin typeface="+mn-lt"/>
                          <a:ea typeface="+mn-ea"/>
                          <a:cs typeface="+mn-cs"/>
                          <a:sym typeface="Wingdings" panose="05000000000000000000" pitchFamily="2" charset="2"/>
                        </a:rPr>
                        <a:t></a:t>
                      </a:r>
                      <a:endParaRPr lang="en-GB" sz="2000" b="0" kern="1200" dirty="0">
                        <a:solidFill>
                          <a:srgbClr val="00B050"/>
                        </a:solidFill>
                        <a:latin typeface="+mn-lt"/>
                        <a:ea typeface="+mn-ea"/>
                        <a:cs typeface="+mn-cs"/>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latin typeface="+mn-lt"/>
                          <a:ea typeface="+mn-ea"/>
                          <a:cs typeface="+mn-cs"/>
                          <a:sym typeface="Wingdings" panose="05000000000000000000" pitchFamily="2" charset="2"/>
                        </a:rPr>
                        <a:t></a:t>
                      </a:r>
                      <a:endParaRPr lang="en-GB" sz="2000" b="0" kern="1200" dirty="0">
                        <a:solidFill>
                          <a:srgbClr val="00B050"/>
                        </a:solidFill>
                        <a:latin typeface="+mn-lt"/>
                        <a:ea typeface="+mn-ea"/>
                        <a:cs typeface="+mn-cs"/>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US" sz="2000" b="0" kern="1200" dirty="0">
                          <a:solidFill>
                            <a:schemeClr val="accent4"/>
                          </a:solidFill>
                          <a:latin typeface="+mn-lt"/>
                          <a:ea typeface="+mn-ea"/>
                          <a:cs typeface="+mn-cs"/>
                        </a:rPr>
                        <a:t>?</a:t>
                      </a:r>
                      <a:endParaRPr lang="en-GB" sz="2000" b="0" kern="1200" dirty="0">
                        <a:solidFill>
                          <a:schemeClr val="accent4"/>
                        </a:solidFill>
                        <a:latin typeface="+mn-lt"/>
                        <a:ea typeface="+mn-ea"/>
                        <a:cs typeface="+mn-cs"/>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kern="1200" dirty="0">
                          <a:solidFill>
                            <a:srgbClr val="00B050"/>
                          </a:solidFill>
                          <a:latin typeface="+mn-lt"/>
                          <a:ea typeface="+mn-ea"/>
                          <a:cs typeface="+mn-cs"/>
                          <a:sym typeface="Wingdings" panose="05000000000000000000" pitchFamily="2" charset="2"/>
                        </a:rPr>
                        <a:t></a:t>
                      </a:r>
                      <a:endParaRPr lang="en-GB" sz="2000" b="0" kern="1200" dirty="0">
                        <a:solidFill>
                          <a:srgbClr val="00B050"/>
                        </a:solidFill>
                        <a:latin typeface="+mn-lt"/>
                        <a:ea typeface="+mn-ea"/>
                        <a:cs typeface="+mn-cs"/>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extLst>
                  <a:ext uri="{0D108BD9-81ED-4DB2-BD59-A6C34878D82A}">
                    <a16:rowId xmlns:a16="http://schemas.microsoft.com/office/drawing/2014/main" val="1384411348"/>
                  </a:ext>
                </a:extLst>
              </a:tr>
              <a:tr h="301823">
                <a:tc>
                  <a:txBody>
                    <a:bodyPr/>
                    <a:lstStyle/>
                    <a:p>
                      <a:pPr marL="0" algn="l" defTabSz="914362" rtl="0" eaLnBrk="1" latinLnBrk="0" hangingPunct="1"/>
                      <a:r>
                        <a:rPr lang="en-GB" sz="1100" kern="1200" dirty="0">
                          <a:solidFill>
                            <a:schemeClr val="dk1"/>
                          </a:solidFill>
                        </a:rPr>
                        <a:t>Cisco.com call to actions or page links</a:t>
                      </a:r>
                      <a:endParaRPr lang="en-GB" sz="1100" kern="1200" dirty="0">
                        <a:solidFill>
                          <a:schemeClr val="dk1"/>
                        </a:solidFill>
                        <a:latin typeface="+mn-lt"/>
                        <a:ea typeface="+mn-ea"/>
                        <a:cs typeface="+mn-cs"/>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extLst>
                  <a:ext uri="{0D108BD9-81ED-4DB2-BD59-A6C34878D82A}">
                    <a16:rowId xmlns:a16="http://schemas.microsoft.com/office/drawing/2014/main" val="3698738497"/>
                  </a:ext>
                </a:extLst>
              </a:tr>
              <a:tr h="370840">
                <a:tc>
                  <a:txBody>
                    <a:bodyPr/>
                    <a:lstStyle/>
                    <a:p>
                      <a:r>
                        <a:rPr lang="en-GB" sz="1100" dirty="0"/>
                        <a:t>Landing Pages containing a Gated Offer</a:t>
                      </a: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chemeClr val="accent4"/>
                          </a:solidFill>
                          <a:sym typeface="Wingdings" panose="05000000000000000000" pitchFamily="2" charset="2"/>
                        </a:rPr>
                        <a:t>?</a:t>
                      </a:r>
                      <a:endParaRPr lang="en-GB" sz="2000" b="0" dirty="0">
                        <a:solidFill>
                          <a:schemeClr val="accent4"/>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b="0" dirty="0">
                          <a:solidFill>
                            <a:srgbClr val="00B050"/>
                          </a:solidFill>
                          <a:sym typeface="Wingdings" panose="05000000000000000000" pitchFamily="2" charset="2"/>
                        </a:rPr>
                        <a:t></a:t>
                      </a:r>
                      <a:endParaRPr lang="en-GB" sz="1800" b="0" dirty="0">
                        <a:solidFill>
                          <a:srgbClr val="00B050"/>
                        </a:solidFill>
                      </a:endParaRPr>
                    </a:p>
                  </a:txBody>
                  <a:tcPr anchor="ctr"/>
                </a:tc>
                <a:extLst>
                  <a:ext uri="{0D108BD9-81ED-4DB2-BD59-A6C34878D82A}">
                    <a16:rowId xmlns:a16="http://schemas.microsoft.com/office/drawing/2014/main" val="1684568493"/>
                  </a:ext>
                </a:extLst>
              </a:tr>
              <a:tr h="370840">
                <a:tc>
                  <a:txBody>
                    <a:bodyPr/>
                    <a:lstStyle/>
                    <a:p>
                      <a:r>
                        <a:rPr lang="en-GB" sz="1100" dirty="0"/>
                        <a:t>Manual Uploads via the MUSE Template</a:t>
                      </a: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b="0" dirty="0">
                          <a:solidFill>
                            <a:srgbClr val="00B050"/>
                          </a:solidFill>
                          <a:sym typeface="Wingdings" panose="05000000000000000000" pitchFamily="2" charset="2"/>
                        </a:rPr>
                        <a:t></a:t>
                      </a:r>
                      <a:endParaRPr lang="en-GB" sz="18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b="0" dirty="0">
                          <a:solidFill>
                            <a:schemeClr val="accent4"/>
                          </a:solidFill>
                          <a:sym typeface="Wingdings" panose="05000000000000000000" pitchFamily="2" charset="2"/>
                        </a:rPr>
                        <a:t>?</a:t>
                      </a:r>
                      <a:endParaRPr lang="en-GB" sz="1800" b="0" dirty="0">
                        <a:solidFill>
                          <a:schemeClr val="accent4"/>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b="0" dirty="0">
                          <a:solidFill>
                            <a:schemeClr val="accent4"/>
                          </a:solidFill>
                          <a:sym typeface="Wingdings" panose="05000000000000000000" pitchFamily="2" charset="2"/>
                        </a:rPr>
                        <a:t>?</a:t>
                      </a:r>
                      <a:endParaRPr lang="en-GB" sz="1800" b="0" dirty="0">
                        <a:solidFill>
                          <a:schemeClr val="accent4"/>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extLst>
                  <a:ext uri="{0D108BD9-81ED-4DB2-BD59-A6C34878D82A}">
                    <a16:rowId xmlns:a16="http://schemas.microsoft.com/office/drawing/2014/main" val="1918673873"/>
                  </a:ext>
                </a:extLst>
              </a:tr>
              <a:tr h="370840">
                <a:tc>
                  <a:txBody>
                    <a:bodyPr/>
                    <a:lstStyle/>
                    <a:p>
                      <a:r>
                        <a:rPr lang="en-GB" sz="1100" dirty="0"/>
                        <a:t>Content Syndication via Integrate</a:t>
                      </a: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extLst>
                  <a:ext uri="{0D108BD9-81ED-4DB2-BD59-A6C34878D82A}">
                    <a16:rowId xmlns:a16="http://schemas.microsoft.com/office/drawing/2014/main" val="2088818272"/>
                  </a:ext>
                </a:extLst>
              </a:tr>
              <a:tr h="370840">
                <a:tc>
                  <a:txBody>
                    <a:bodyPr/>
                    <a:lstStyle/>
                    <a:p>
                      <a:r>
                        <a:rPr lang="en-GB" sz="1100" dirty="0" err="1"/>
                        <a:t>Pathfactory</a:t>
                      </a:r>
                      <a:r>
                        <a:rPr lang="en-GB" sz="1100" dirty="0"/>
                        <a:t> Integrations</a:t>
                      </a: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chemeClr val="accent4"/>
                          </a:solidFill>
                          <a:sym typeface="Wingdings" panose="05000000000000000000" pitchFamily="2" charset="2"/>
                        </a:rPr>
                        <a:t>?</a:t>
                      </a:r>
                      <a:endParaRPr lang="en-GB" sz="2000" b="0" dirty="0">
                        <a:solidFill>
                          <a:schemeClr val="accent4"/>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extLst>
                  <a:ext uri="{0D108BD9-81ED-4DB2-BD59-A6C34878D82A}">
                    <a16:rowId xmlns:a16="http://schemas.microsoft.com/office/drawing/2014/main" val="1599789868"/>
                  </a:ext>
                </a:extLst>
              </a:tr>
              <a:tr h="370840">
                <a:tc>
                  <a:txBody>
                    <a:bodyPr/>
                    <a:lstStyle/>
                    <a:p>
                      <a:pPr marL="0" marR="0" lvl="0" indent="0" algn="l" defTabSz="914362" rtl="0" eaLnBrk="1" fontAlgn="auto" latinLnBrk="0" hangingPunct="1">
                        <a:lnSpc>
                          <a:spcPct val="100000"/>
                        </a:lnSpc>
                        <a:spcBef>
                          <a:spcPts val="0"/>
                        </a:spcBef>
                        <a:spcAft>
                          <a:spcPts val="0"/>
                        </a:spcAft>
                        <a:buClrTx/>
                        <a:buSzTx/>
                        <a:buFontTx/>
                        <a:buNone/>
                        <a:tabLst/>
                        <a:defRPr/>
                      </a:pPr>
                      <a:r>
                        <a:rPr lang="en-GB" sz="1100" dirty="0" err="1"/>
                        <a:t>BrightTalk</a:t>
                      </a:r>
                      <a:r>
                        <a:rPr lang="en-GB" sz="1100" dirty="0"/>
                        <a:t> Integration</a:t>
                      </a: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rgbClr val="00B050"/>
                          </a:solidFill>
                          <a:sym typeface="Wingdings" panose="05000000000000000000" pitchFamily="2" charset="2"/>
                        </a:rPr>
                        <a:t></a:t>
                      </a:r>
                      <a:endParaRPr lang="en-GB" sz="2000" b="0" dirty="0">
                        <a:solidFill>
                          <a:srgbClr val="00B05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b="0" dirty="0">
                          <a:solidFill>
                            <a:schemeClr val="accent4"/>
                          </a:solidFill>
                          <a:sym typeface="Wingdings" panose="05000000000000000000" pitchFamily="2" charset="2"/>
                        </a:rPr>
                        <a:t>?</a:t>
                      </a:r>
                      <a:endParaRPr lang="en-GB" sz="2000" b="0" dirty="0">
                        <a:solidFill>
                          <a:schemeClr val="accent4"/>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2000" dirty="0">
                          <a:solidFill>
                            <a:srgbClr val="C00000"/>
                          </a:solidFill>
                          <a:sym typeface="Wingdings" panose="05000000000000000000" pitchFamily="2" charset="2"/>
                        </a:rPr>
                        <a:t></a:t>
                      </a:r>
                      <a:endParaRPr lang="en-GB" sz="20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tc>
                  <a:txBody>
                    <a:bodyPr/>
                    <a:lstStyle/>
                    <a:p>
                      <a:pPr marL="0" marR="0" lvl="0" indent="0" algn="ctr" defTabSz="914362" rtl="0" eaLnBrk="1" fontAlgn="auto" latinLnBrk="0" hangingPunct="1">
                        <a:lnSpc>
                          <a:spcPct val="100000"/>
                        </a:lnSpc>
                        <a:spcBef>
                          <a:spcPts val="0"/>
                        </a:spcBef>
                        <a:spcAft>
                          <a:spcPts val="0"/>
                        </a:spcAft>
                        <a:buClrTx/>
                        <a:buSzTx/>
                        <a:buFontTx/>
                        <a:buNone/>
                        <a:tabLst/>
                        <a:defRPr/>
                      </a:pPr>
                      <a:r>
                        <a:rPr lang="en-GB" sz="1800" dirty="0">
                          <a:solidFill>
                            <a:srgbClr val="C00000"/>
                          </a:solidFill>
                          <a:sym typeface="Wingdings" panose="05000000000000000000" pitchFamily="2" charset="2"/>
                        </a:rPr>
                        <a:t></a:t>
                      </a:r>
                      <a:endParaRPr lang="en-GB" sz="1800" dirty="0">
                        <a:solidFill>
                          <a:srgbClr val="C00000"/>
                        </a:solidFill>
                      </a:endParaRPr>
                    </a:p>
                  </a:txBody>
                  <a:tcPr anchor="ctr"/>
                </a:tc>
                <a:extLst>
                  <a:ext uri="{0D108BD9-81ED-4DB2-BD59-A6C34878D82A}">
                    <a16:rowId xmlns:a16="http://schemas.microsoft.com/office/drawing/2014/main" val="2370342444"/>
                  </a:ext>
                </a:extLst>
              </a:tr>
            </a:tbl>
          </a:graphicData>
        </a:graphic>
      </p:graphicFrame>
    </p:spTree>
    <p:extLst>
      <p:ext uri="{BB962C8B-B14F-4D97-AF65-F5344CB8AC3E}">
        <p14:creationId xmlns:p14="http://schemas.microsoft.com/office/powerpoint/2010/main" val="4159187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R3Z3N" val="04c5cae0-5854-4bfb-90de-0538ce5ee3ac"/>
</p:tagLst>
</file>

<file path=ppt/tags/tag2.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3.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4.xml><?xml version="1.0" encoding="utf-8"?>
<p:tagLst xmlns:a="http://schemas.openxmlformats.org/drawingml/2006/main" xmlns:r="http://schemas.openxmlformats.org/officeDocument/2006/relationships" xmlns:p="http://schemas.openxmlformats.org/presentationml/2006/main">
  <p:tag name="PR3Z3N" val="f01732bc-3441-40b0-b196-d7b6fc147a5f"/>
</p:tagLst>
</file>

<file path=ppt/tags/tag5.xml><?xml version="1.0" encoding="utf-8"?>
<p:tagLst xmlns:a="http://schemas.openxmlformats.org/drawingml/2006/main" xmlns:r="http://schemas.openxmlformats.org/officeDocument/2006/relationships" xmlns:p="http://schemas.openxmlformats.org/presentationml/2006/main">
  <p:tag name="PR3Z3N" val="c8ce80b5-4a7e-4c52-ae84-840bc3e45cc0"/>
</p:tagLst>
</file>

<file path=ppt/tags/tag6.xml><?xml version="1.0" encoding="utf-8"?>
<p:tagLst xmlns:a="http://schemas.openxmlformats.org/drawingml/2006/main" xmlns:r="http://schemas.openxmlformats.org/officeDocument/2006/relationships" xmlns:p="http://schemas.openxmlformats.org/presentationml/2006/main">
  <p:tag name="PR3Z3N" val="2dba0975-2a50-45c4-a9c9-193d6d5bbe87"/>
</p:tagLst>
</file>

<file path=ppt/tags/tag7.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8.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9.xml><?xml version="1.0" encoding="utf-8"?>
<p:tagLst xmlns:a="http://schemas.openxmlformats.org/drawingml/2006/main" xmlns:r="http://schemas.openxmlformats.org/officeDocument/2006/relationships" xmlns:p="http://schemas.openxmlformats.org/presentationml/2006/main">
  <p:tag name="PR3Z3N" val="e7734f56-076a-4261-828b-bc2793cb955e"/>
</p:tagLst>
</file>

<file path=ppt/tags/tag10.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11.xml><?xml version="1.0" encoding="utf-8"?>
<p:tagLst xmlns:a="http://schemas.openxmlformats.org/drawingml/2006/main" xmlns:r="http://schemas.openxmlformats.org/officeDocument/2006/relationships" xmlns:p="http://schemas.openxmlformats.org/presentationml/2006/main">
  <p:tag name="PR3Z3N" val="51df8a30-f5a2-4597-a665-713e28302360"/>
</p:tagLst>
</file>

<file path=ppt/tags/tag12.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13.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14.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5.xml><?xml version="1.0" encoding="utf-8"?>
<p:tagLst xmlns:a="http://schemas.openxmlformats.org/drawingml/2006/main" xmlns:r="http://schemas.openxmlformats.org/officeDocument/2006/relationships" xmlns:p="http://schemas.openxmlformats.org/presentationml/2006/main">
  <p:tag name="PR3Z3N" val="fbfe69f5-d7b7-46b4-80d1-b9ab0160c87d"/>
</p:tagLst>
</file>

<file path=ppt/tags/tag16.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7.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8.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9.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20.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21.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22.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23.xml><?xml version="1.0" encoding="utf-8"?>
<p:tagLst xmlns:a="http://schemas.openxmlformats.org/drawingml/2006/main" xmlns:r="http://schemas.openxmlformats.org/officeDocument/2006/relationships" xmlns:p="http://schemas.openxmlformats.org/presentationml/2006/main">
  <p:tag name="PR3Z3N" val="04c5cae0-5854-4bfb-90de-0538ce5ee3ac"/>
</p:tagLst>
</file>

<file path=ppt/tags/tag24.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25.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26.xml><?xml version="1.0" encoding="utf-8"?>
<p:tagLst xmlns:a="http://schemas.openxmlformats.org/drawingml/2006/main" xmlns:r="http://schemas.openxmlformats.org/officeDocument/2006/relationships" xmlns:p="http://schemas.openxmlformats.org/presentationml/2006/main">
  <p:tag name="PR3Z3N" val="f01732bc-3441-40b0-b196-d7b6fc147a5f"/>
</p:tagLst>
</file>

<file path=ppt/tags/tag27.xml><?xml version="1.0" encoding="utf-8"?>
<p:tagLst xmlns:a="http://schemas.openxmlformats.org/drawingml/2006/main" xmlns:r="http://schemas.openxmlformats.org/officeDocument/2006/relationships" xmlns:p="http://schemas.openxmlformats.org/presentationml/2006/main">
  <p:tag name="PR3Z3N" val="c8ce80b5-4a7e-4c52-ae84-840bc3e45cc0"/>
</p:tagLst>
</file>

<file path=ppt/tags/tag28.xml><?xml version="1.0" encoding="utf-8"?>
<p:tagLst xmlns:a="http://schemas.openxmlformats.org/drawingml/2006/main" xmlns:r="http://schemas.openxmlformats.org/officeDocument/2006/relationships" xmlns:p="http://schemas.openxmlformats.org/presentationml/2006/main">
  <p:tag name="PR3Z3N" val="04c5cae0-5854-4bfb-90de-0538ce5ee3ac"/>
</p:tagLst>
</file>

<file path=ppt/tags/tag29.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30.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31.xml><?xml version="1.0" encoding="utf-8"?>
<p:tagLst xmlns:a="http://schemas.openxmlformats.org/drawingml/2006/main" xmlns:r="http://schemas.openxmlformats.org/officeDocument/2006/relationships" xmlns:p="http://schemas.openxmlformats.org/presentationml/2006/main">
  <p:tag name="PR3Z3N" val="f01732bc-3441-40b0-b196-d7b6fc147a5f"/>
</p:tagLst>
</file>

<file path=ppt/tags/tag32.xml><?xml version="1.0" encoding="utf-8"?>
<p:tagLst xmlns:a="http://schemas.openxmlformats.org/drawingml/2006/main" xmlns:r="http://schemas.openxmlformats.org/officeDocument/2006/relationships" xmlns:p="http://schemas.openxmlformats.org/presentationml/2006/main">
  <p:tag name="PR3Z3N" val="c8ce80b5-4a7e-4c52-ae84-840bc3e45cc0"/>
</p:tagLst>
</file>

<file path=ppt/tags/tag33.xml><?xml version="1.0" encoding="utf-8"?>
<p:tagLst xmlns:a="http://schemas.openxmlformats.org/drawingml/2006/main" xmlns:r="http://schemas.openxmlformats.org/officeDocument/2006/relationships" xmlns:p="http://schemas.openxmlformats.org/presentationml/2006/main">
  <p:tag name="PR3Z3N" val="2dba0975-2a50-45c4-a9c9-193d6d5bbe87"/>
</p:tagLst>
</file>

<file path=ppt/tags/tag34.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35.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36.xml><?xml version="1.0" encoding="utf-8"?>
<p:tagLst xmlns:a="http://schemas.openxmlformats.org/drawingml/2006/main" xmlns:r="http://schemas.openxmlformats.org/officeDocument/2006/relationships" xmlns:p="http://schemas.openxmlformats.org/presentationml/2006/main">
  <p:tag name="PR3Z3N" val="e7734f56-076a-4261-828b-bc2793cb955e"/>
</p:tagLst>
</file>

<file path=ppt/tags/tag37.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38.xml><?xml version="1.0" encoding="utf-8"?>
<p:tagLst xmlns:a="http://schemas.openxmlformats.org/drawingml/2006/main" xmlns:r="http://schemas.openxmlformats.org/officeDocument/2006/relationships" xmlns:p="http://schemas.openxmlformats.org/presentationml/2006/main">
  <p:tag name="PR3Z3N" val="51df8a30-f5a2-4597-a665-713e28302360"/>
</p:tagLst>
</file>

<file path=ppt/tags/tag39.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40.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41.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42.xml><?xml version="1.0" encoding="utf-8"?>
<p:tagLst xmlns:a="http://schemas.openxmlformats.org/drawingml/2006/main" xmlns:r="http://schemas.openxmlformats.org/officeDocument/2006/relationships" xmlns:p="http://schemas.openxmlformats.org/presentationml/2006/main">
  <p:tag name="PR3Z3N" val="fbfe69f5-d7b7-46b4-80d1-b9ab0160c87d"/>
</p:tagLst>
</file>

<file path=ppt/tags/tag43.xml><?xml version="1.0" encoding="utf-8"?>
<p:tagLst xmlns:a="http://schemas.openxmlformats.org/drawingml/2006/main" xmlns:r="http://schemas.openxmlformats.org/officeDocument/2006/relationships" xmlns:p="http://schemas.openxmlformats.org/presentationml/2006/main">
  <p:tag name="PR3Z3N" val="51df8a30-f5a2-4597-a665-713e28302360"/>
</p:tagLst>
</file>

<file path=ppt/tags/tag44.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45.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46.xml><?xml version="1.0" encoding="utf-8"?>
<p:tagLst xmlns:a="http://schemas.openxmlformats.org/drawingml/2006/main" xmlns:r="http://schemas.openxmlformats.org/officeDocument/2006/relationships" xmlns:p="http://schemas.openxmlformats.org/presentationml/2006/main">
  <p:tag name="PR3Z3N" val="2dba0975-2a50-45c4-a9c9-193d6d5bbe87"/>
</p:tagLst>
</file>

<file path=ppt/tags/tag47.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48.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49.xml><?xml version="1.0" encoding="utf-8"?>
<p:tagLst xmlns:a="http://schemas.openxmlformats.org/drawingml/2006/main" xmlns:r="http://schemas.openxmlformats.org/officeDocument/2006/relationships" xmlns:p="http://schemas.openxmlformats.org/presentationml/2006/main">
  <p:tag name="PR3Z3N" val="04c5cae0-5854-4bfb-90de-0538ce5ee3ac"/>
</p:tagLst>
</file>

<file path=ppt/tags/tag50.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51.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52.xml><?xml version="1.0" encoding="utf-8"?>
<p:tagLst xmlns:a="http://schemas.openxmlformats.org/drawingml/2006/main" xmlns:r="http://schemas.openxmlformats.org/officeDocument/2006/relationships" xmlns:p="http://schemas.openxmlformats.org/presentationml/2006/main">
  <p:tag name="PR3Z3N" val="f01732bc-3441-40b0-b196-d7b6fc147a5f"/>
</p:tagLst>
</file>

<file path=ppt/tags/tag53.xml><?xml version="1.0" encoding="utf-8"?>
<p:tagLst xmlns:a="http://schemas.openxmlformats.org/drawingml/2006/main" xmlns:r="http://schemas.openxmlformats.org/officeDocument/2006/relationships" xmlns:p="http://schemas.openxmlformats.org/presentationml/2006/main">
  <p:tag name="PR3Z3N" val="c8ce80b5-4a7e-4c52-ae84-840bc3e45cc0"/>
</p:tagLst>
</file>

<file path=ppt/tags/tag54.xml><?xml version="1.0" encoding="utf-8"?>
<p:tagLst xmlns:a="http://schemas.openxmlformats.org/drawingml/2006/main" xmlns:r="http://schemas.openxmlformats.org/officeDocument/2006/relationships" xmlns:p="http://schemas.openxmlformats.org/presentationml/2006/main">
  <p:tag name="PR3Z3N" val="e7734f56-076a-4261-828b-bc2793cb955e"/>
</p:tagLst>
</file>

<file path=ppt/tags/tag55.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56.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57.xml><?xml version="1.0" encoding="utf-8"?>
<p:tagLst xmlns:a="http://schemas.openxmlformats.org/drawingml/2006/main" xmlns:r="http://schemas.openxmlformats.org/officeDocument/2006/relationships" xmlns:p="http://schemas.openxmlformats.org/presentationml/2006/main">
  <p:tag name="PR3Z3N" val="fbfe69f5-d7b7-46b4-80d1-b9ab0160c87d"/>
</p:tagLst>
</file>

<file path=ppt/theme/theme1.xml><?xml version="1.0" encoding="utf-8"?>
<a:theme xmlns:a="http://schemas.openxmlformats.org/drawingml/2006/main" name="FY26 Cisco Default Lite">
  <a:themeElements>
    <a:clrScheme name="Cisco Light 04-16-2025">
      <a:dk1>
        <a:srgbClr val="07182D"/>
      </a:dk1>
      <a:lt1>
        <a:srgbClr val="FFFFFF"/>
      </a:lt1>
      <a:dk2>
        <a:srgbClr val="525E6C"/>
      </a:dk2>
      <a:lt2>
        <a:srgbClr val="B4B9C0"/>
      </a:lt2>
      <a:accent1>
        <a:srgbClr val="02C8FF"/>
      </a:accent1>
      <a:accent2>
        <a:srgbClr val="0A60FF"/>
      </a:accent2>
      <a:accent3>
        <a:srgbClr val="FF007F"/>
      </a:accent3>
      <a:accent4>
        <a:srgbClr val="FF9000"/>
      </a:accent4>
      <a:accent5>
        <a:srgbClr val="D6D6D6"/>
      </a:accent5>
      <a:accent6>
        <a:srgbClr val="6B6B6B"/>
      </a:accent6>
      <a:hlink>
        <a:srgbClr val="07182D"/>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lIns="182880" tIns="182880" rIns="182880" bIns="182880" rtlCol="0" anchor="t" anchorCtr="0">
        <a:noAutofit/>
      </a:bodyPr>
      <a:lstStyle>
        <a:defPPr marL="182880" indent="-182880" algn="l">
          <a:buFont typeface="Arial" panose="020B0604020202020204" pitchFamily="34" charset="0"/>
          <a:buChar cha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FY26 Cisco Default Lite" id="{F6C7F7AC-E1D6-45EE-8B20-455D1551AF7D}" vid="{CB715792-BBCD-4822-A472-92D55CCFFC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39D6B2EE83DB14EAE4D4E887B3F81DB" ma:contentTypeVersion="11" ma:contentTypeDescription="Create a new document." ma:contentTypeScope="" ma:versionID="7cfedeb2a821f50de8ec69fdca3c6975">
  <xsd:schema xmlns:xsd="http://www.w3.org/2001/XMLSchema" xmlns:xs="http://www.w3.org/2001/XMLSchema" xmlns:p="http://schemas.microsoft.com/office/2006/metadata/properties" xmlns:ns2="6223803d-db04-4a26-90f0-03146355f1f7" xmlns:ns3="4870b60d-91a9-42aa-92e9-819e01b9fe5e" targetNamespace="http://schemas.microsoft.com/office/2006/metadata/properties" ma:root="true" ma:fieldsID="c55c233f9708fa5900bc8b0973ab318a" ns2:_="" ns3:_="">
    <xsd:import namespace="6223803d-db04-4a26-90f0-03146355f1f7"/>
    <xsd:import namespace="4870b60d-91a9-42aa-92e9-819e01b9fe5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23803d-db04-4a26-90f0-03146355f1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70b60d-91a9-42aa-92e9-819e01b9fe5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FBF91C-F517-4E7A-A244-7AD1DF409265}">
  <ds:schemaRefs>
    <ds:schemaRef ds:uri="http://schemas.microsoft.com/office/2006/documentManagement/types"/>
    <ds:schemaRef ds:uri="http://schemas.openxmlformats.org/package/2006/metadata/core-properties"/>
    <ds:schemaRef ds:uri="4870b60d-91a9-42aa-92e9-819e01b9fe5e"/>
    <ds:schemaRef ds:uri="http://purl.org/dc/dcmitype/"/>
    <ds:schemaRef ds:uri="http://www.w3.org/XML/1998/namespace"/>
    <ds:schemaRef ds:uri="6223803d-db04-4a26-90f0-03146355f1f7"/>
    <ds:schemaRef ds:uri="http://schemas.microsoft.com/office/2006/metadata/properties"/>
    <ds:schemaRef ds:uri="http://schemas.microsoft.com/office/infopath/2007/PartnerControls"/>
    <ds:schemaRef ds:uri="http://purl.org/dc/terms/"/>
    <ds:schemaRef ds:uri="http://purl.org/dc/elements/1.1/"/>
  </ds:schemaRefs>
</ds:datastoreItem>
</file>

<file path=customXml/itemProps2.xml><?xml version="1.0" encoding="utf-8"?>
<ds:datastoreItem xmlns:ds="http://schemas.openxmlformats.org/officeDocument/2006/customXml" ds:itemID="{BEDC515B-992C-43E2-9B90-3C6BDE7FC6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223803d-db04-4a26-90f0-03146355f1f7"/>
    <ds:schemaRef ds:uri="4870b60d-91a9-42aa-92e9-819e01b9fe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5A0EF1-5509-40F7-9EEA-8C5148581DB5}">
  <ds:schemaRefs>
    <ds:schemaRef ds:uri="http://schemas.microsoft.com/sharepoint/v3/contenttype/forms"/>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emplate>Default Theme</Template>
  <TotalTime>9392</TotalTime>
  <Words>4999</Words>
  <Application>Microsoft Office PowerPoint</Application>
  <PresentationFormat>Widescreen</PresentationFormat>
  <Paragraphs>669</Paragraphs>
  <Slides>34</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Wingdings</vt:lpstr>
      <vt:lpstr>MS PGothic</vt:lpstr>
      <vt:lpstr>CiscoSansTT Medium</vt:lpstr>
      <vt:lpstr>CiscoSansTT</vt:lpstr>
      <vt:lpstr>Impact</vt:lpstr>
      <vt:lpstr>Aptos</vt:lpstr>
      <vt:lpstr>Calibri</vt:lpstr>
      <vt:lpstr>Arial</vt:lpstr>
      <vt:lpstr>FY26 Cisco Default Lite</vt:lpstr>
      <vt:lpstr>Tagging &amp; Tracking Overview</vt:lpstr>
      <vt:lpstr>Module1: Introduction &amp; Overview</vt:lpstr>
      <vt:lpstr>PowerPoint Presentation</vt:lpstr>
      <vt:lpstr>Current State</vt:lpstr>
      <vt:lpstr>Strategic Value of Campaign Tagging &amp; Tracking</vt:lpstr>
      <vt:lpstr>Navigating the Hybrid Tracking Landscape</vt:lpstr>
      <vt:lpstr>Campaign Tagging &amp; Tracking ID Types</vt:lpstr>
      <vt:lpstr>Module2: Activity IDs</vt:lpstr>
      <vt:lpstr>Operational Impact of an Activity ID</vt:lpstr>
      <vt:lpstr>Structure of an Activity ID</vt:lpstr>
      <vt:lpstr>Create an ID for Each of your Initiatives</vt:lpstr>
      <vt:lpstr>Technology Insights Reporting</vt:lpstr>
      <vt:lpstr>VDC Executive Overview</vt:lpstr>
      <vt:lpstr>Self Service Deep Dive</vt:lpstr>
      <vt:lpstr>Seller Enablement</vt:lpstr>
      <vt:lpstr>Module 3: Drive To &amp; Offer IDs</vt:lpstr>
      <vt:lpstr>Structure of a Drive To ID</vt:lpstr>
      <vt:lpstr>Structure of an Offer ID</vt:lpstr>
      <vt:lpstr>Anatomy of a Deal</vt:lpstr>
      <vt:lpstr>Vehicle Demand Performance</vt:lpstr>
      <vt:lpstr>Content Impact Scorecard</vt:lpstr>
      <vt:lpstr>ID Relationships</vt:lpstr>
      <vt:lpstr>Why Legacy Tracking is No Longer Enough</vt:lpstr>
      <vt:lpstr>Module 4: UTM Tagging</vt:lpstr>
      <vt:lpstr>Strategic Value of UTM Tracking</vt:lpstr>
      <vt:lpstr>UTM Tracking ID Types</vt:lpstr>
      <vt:lpstr>Empowering the Automation Engine Via Workfront</vt:lpstr>
      <vt:lpstr>Dissecting the Hybrid URL Requirements</vt:lpstr>
      <vt:lpstr>Module 5: Workfront IDs</vt:lpstr>
      <vt:lpstr>Strategic Value of Workfront IDs</vt:lpstr>
      <vt:lpstr>Workfront ID Types</vt:lpstr>
      <vt:lpstr>Structure of an Channel ID</vt:lpstr>
      <vt:lpstr>Module 6: When to use your IDs</vt:lpstr>
      <vt:lpstr>When to Use your IDs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Chenery (achenery)</dc:creator>
  <cp:lastModifiedBy>Amanda Chenery (achenery)</cp:lastModifiedBy>
  <cp:revision>2</cp:revision>
  <dcterms:created xsi:type="dcterms:W3CDTF">2026-06-16T14:36:29Z</dcterms:created>
  <dcterms:modified xsi:type="dcterms:W3CDTF">2026-08-17T16:51:07Z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0x010100A39D6B2EE83DB14EAE4D4E887B3F81DB</vt:lpwstr>
  </property>
</Properties>
</file>