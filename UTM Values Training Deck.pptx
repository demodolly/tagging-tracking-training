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>
                <a:solidFill>
                  <a:srgbClr val="005596"/>
                </a:solidFill>
              </a:defRPr>
            </a:pPr>
            <a:r>
              <a:t>How to Use UTM Values</a:t>
            </a:r>
          </a:p>
          <a:p>
            <a:pPr>
              <a:defRPr sz="1800">
                <a:solidFill>
                  <a:srgbClr val="5C7080"/>
                </a:solidFill>
              </a:defRPr>
            </a:pPr>
            <a:r>
              <a:t>Repository-backed draft for FY27 training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880360"/>
            <a:ext cx="10881360" cy="19202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What UTM values do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Which UTM values are required today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How Workfront maps intake selections to UTM values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When to include optional or conditional values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What goes wrong when UTM values are incorrect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687568"/>
            <a:ext cx="10881360" cy="658368"/>
          </a:xfrm>
          <a:prstGeom prst="roundRect">
            <a:avLst/>
          </a:prstGeom>
          <a:solidFill>
            <a:srgbClr val="F5F8FB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C7080"/>
                </a:solidFill>
              </a:defRPr>
            </a:pPr>
            <a:r>
              <a:t>Facilitator note: This is a focused deck for users who need to understand UTM values specifically, separate from the broader CTT and precedence/persistence 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C7080"/>
                </a:solidFill>
              </a:defRPr>
            </a:pPr>
            <a:r>
              <a:t>UTM Values Training | Repository-backed draft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5596"/>
                </a:solidFill>
              </a:defRPr>
            </a:pPr>
            <a:r>
              <a:t>Why UTM values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881360" cy="45262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UTMs standardize how digital marketing traffic is classified in analytics.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They identify the channel, platform or vendor, campaign identifier, and creative context.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They help compare which sources are driving traffic and which channels are performing.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They reduce manual naming variations that split reporting across duplicate buckets.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They support the transition from legacy CCID/DTID tracking to a UTM-based framework.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687568"/>
            <a:ext cx="10881360" cy="658368"/>
          </a:xfrm>
          <a:prstGeom prst="roundRect">
            <a:avLst/>
          </a:prstGeom>
          <a:solidFill>
            <a:srgbClr val="F5F8FB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C7080"/>
                </a:solidFill>
              </a:defRPr>
            </a:pPr>
            <a:r>
              <a:t>Facilitator note: Source basis: the framework states Cisco is actively transitioning from legacy CCID/DTID tracking to a UTM-based framework managed through Workfront.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C7080"/>
                </a:solidFill>
              </a:defRPr>
            </a:pPr>
            <a:r>
              <a:t>UTM Values Training | Repository-backed draft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5596"/>
                </a:solidFill>
              </a:defRPr>
            </a:pPr>
            <a:r>
              <a:t>Current-state UTM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881360" cy="45262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Every standard tracking URL must include: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utm_id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utm_medium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utm_source</a:t>
            </a:r>
          </a:p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Also required during the current hybrid state: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ccid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dtid</a:t>
            </a:r>
          </a:p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Conditional: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utm_creative is required only for Paid Direct, Paid Programmatic, and Paid Social.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687568"/>
            <a:ext cx="10881360" cy="658368"/>
          </a:xfrm>
          <a:prstGeom prst="roundRect">
            <a:avLst/>
          </a:prstGeom>
          <a:solidFill>
            <a:srgbClr val="F5F8FB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C7080"/>
                </a:solidFill>
              </a:defRPr>
            </a:pPr>
            <a:r>
              <a:t>Facilitator note: The source document requires ccid, dtid, utm_id, utm_medium, and utm_source on every tracking URL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C7080"/>
                </a:solidFill>
              </a:defRPr>
            </a:pPr>
            <a:r>
              <a:t>UTM Values Training | Repository-backed draft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5596"/>
                </a:solidFill>
              </a:defRPr>
            </a:pPr>
            <a:r>
              <a:t>Future-state UTM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881360" cy="45262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Future-state direction from the UTM framework: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Workfront Channel IDs will replace the current ccid value in utm_id.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dtid will be replaced by utm_source and utm_medium.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When that future state is available, ccid and dtid can be removed from standard URLs.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utm_campaign remains reserved until an organization-wide strategy is defined.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687568"/>
            <a:ext cx="10881360" cy="658368"/>
          </a:xfrm>
          <a:prstGeom prst="roundRect">
            <a:avLst/>
          </a:prstGeom>
          <a:solidFill>
            <a:srgbClr val="F5F8FB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C7080"/>
                </a:solidFill>
              </a:defRPr>
            </a:pPr>
            <a:r>
              <a:t>Facilitator note: Keep this slide as the transition anchor: users should not remove ccid or dtid until the future-state criteria are confirmed.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C7080"/>
                </a:solidFill>
              </a:defRPr>
            </a:pPr>
            <a:r>
              <a:t>UTM Values Training | Repository-backed draft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5596"/>
                </a:solidFill>
              </a:defRPr>
            </a:pPr>
            <a:r>
              <a:t>UTM value roles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881360" cy="45262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5C7080"/>
                </a:solidFill>
              </a:defRPr>
            </a:pPr>
            <a:r>
              <a:t>UTM value | What it identifies | Required today?</a:t>
            </a:r>
          </a:p>
          <a:p>
            <a:pPr>
              <a:spcAft>
                <a:spcPts val="300"/>
              </a:spcAft>
              <a:defRPr sz="1300">
                <a:solidFill>
                  <a:srgbClr val="5C7080"/>
                </a:solidFill>
              </a:defRPr>
            </a:pPr>
            <a:r>
              <a:t>utm_id | Campaign or activation identifier | Yes</a:t>
            </a:r>
          </a:p>
          <a:p>
            <a:pPr>
              <a:spcAft>
                <a:spcPts val="300"/>
              </a:spcAft>
              <a:defRPr sz="1300">
                <a:solidFill>
                  <a:srgbClr val="5C7080"/>
                </a:solidFill>
              </a:defRPr>
            </a:pPr>
            <a:r>
              <a:t>utm_medium | Marketing channel | Yes</a:t>
            </a:r>
          </a:p>
          <a:p>
            <a:pPr>
              <a:spcAft>
                <a:spcPts val="300"/>
              </a:spcAft>
              <a:defRPr sz="1300">
                <a:solidFill>
                  <a:srgbClr val="5C7080"/>
                </a:solidFill>
              </a:defRPr>
            </a:pPr>
            <a:r>
              <a:t>utm_source | Platform or vendor | Yes</a:t>
            </a:r>
          </a:p>
          <a:p>
            <a:pPr>
              <a:spcAft>
                <a:spcPts val="300"/>
              </a:spcAft>
              <a:defRPr sz="1300">
                <a:solidFill>
                  <a:srgbClr val="5C7080"/>
                </a:solidFill>
              </a:defRPr>
            </a:pPr>
            <a:r>
              <a:t>utm_campaign | Future campaign grouping | No; reserved</a:t>
            </a:r>
          </a:p>
          <a:p>
            <a:pPr>
              <a:spcAft>
                <a:spcPts val="300"/>
              </a:spcAft>
              <a:defRPr sz="1300">
                <a:solidFill>
                  <a:srgbClr val="5C7080"/>
                </a:solidFill>
              </a:defRPr>
            </a:pPr>
            <a:r>
              <a:t>utm_creative | Ad-server creative ID | Only for selected paid channels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687568"/>
            <a:ext cx="10881360" cy="658368"/>
          </a:xfrm>
          <a:prstGeom prst="roundRect">
            <a:avLst/>
          </a:prstGeom>
          <a:solidFill>
            <a:srgbClr val="F5F8FB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C7080"/>
                </a:solidFill>
              </a:defRPr>
            </a:pPr>
            <a:r>
              <a:t>Facilitator note: The current framework uses six core parameters on standard tracking URLs, but utm_campaign is optional and reserved for future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C7080"/>
                </a:solidFill>
              </a:defRPr>
            </a:pPr>
            <a:r>
              <a:t>UTM Values Training | Repository-backed draft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5596"/>
                </a:solidFill>
              </a:defRPr>
            </a:pPr>
            <a:r>
              <a:t>`utm_id`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881360" cy="45262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Purpose: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Passes the campaign or activation identifier into analytics.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Today, it must equal the ccid value exactly.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Future state will use Workfront Channel IDs when available.</a:t>
            </a:r>
          </a:p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Correct current-state example:</a:t>
            </a:r>
          </a:p>
          <a:p>
            <a:pPr>
              <a:spcAft>
                <a:spcPts val="300"/>
              </a:spcAft>
              <a:defRPr sz="1100">
                <a:solidFill>
                  <a:srgbClr val="008060"/>
                </a:solidFill>
                <a:latin typeface="Courier New"/>
              </a:defRPr>
            </a:pPr>
            <a:r>
              <a:t>ccid=cc008317&amp;utm_id=cc008317</a:t>
            </a:r>
          </a:p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Impact of misuse: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If utm_id does not match ccid, campaign-level attribution can break or split.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687568"/>
            <a:ext cx="10881360" cy="658368"/>
          </a:xfrm>
          <a:prstGeom prst="roundRect">
            <a:avLst/>
          </a:prstGeom>
          <a:solidFill>
            <a:srgbClr val="F5F8FB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C7080"/>
                </a:solidFill>
              </a:defRPr>
            </a:pPr>
            <a:r>
              <a:t>Facilitator note: This is one of the easiest validation checks for users: utm_id and ccid should be identical in current-state URLs.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C7080"/>
                </a:solidFill>
              </a:defRPr>
            </a:pPr>
            <a:r>
              <a:t>UTM Values Training | Repository-backed draft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5596"/>
                </a:solidFill>
              </a:defRPr>
            </a:pPr>
            <a:r>
              <a:t>`utm_medium`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881360" cy="45262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Purpose: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Identifies the marketing channel.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It is the highest-priority input for channel classification in analytics.</a:t>
            </a:r>
          </a:p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Approved values: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paid-direct, programmatic, cpc, paid-social, social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syndication, ratings-reviews, email, direct-mail, web-referral</a:t>
            </a:r>
          </a:p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Impact of misuse: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Missing or inconsistent utm_medium values cause channel misattribution.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687568"/>
            <a:ext cx="10881360" cy="658368"/>
          </a:xfrm>
          <a:prstGeom prst="roundRect">
            <a:avLst/>
          </a:prstGeom>
          <a:solidFill>
            <a:srgbClr val="F5F8FB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C7080"/>
                </a:solidFill>
              </a:defRPr>
            </a:pPr>
            <a:r>
              <a:t>Facilitator note: web-referral is for URL generator or manual builds only; there is no Workfront project type for web referral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C7080"/>
                </a:solidFill>
              </a:defRPr>
            </a:pPr>
            <a:r>
              <a:t>UTM Values Training | Repository-backed draft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5596"/>
                </a:solidFill>
              </a:defRPr>
            </a:pPr>
            <a:r>
              <a:t>`utm_source`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881360" cy="45262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Purpose: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Identifies the specific vendor or platform within the channel.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Workfront renders the appropriate platform field based on Channel Type.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The selected friendly value maps to a standardized lowercase, hyphenated source value.</a:t>
            </a:r>
          </a:p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Examples: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Email: eloqua, marketo, salesforce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Paid Search: google, bing, baidu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Paid Social: linkedin, reddit, x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Programmatic: dv360, youtube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687568"/>
            <a:ext cx="10881360" cy="658368"/>
          </a:xfrm>
          <a:prstGeom prst="roundRect">
            <a:avLst/>
          </a:prstGeom>
          <a:solidFill>
            <a:srgbClr val="F5F8FB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C7080"/>
                </a:solidFill>
              </a:defRPr>
            </a:pPr>
            <a:r>
              <a:t>Facilitator note: The authoritative Workfront mapping is Source and Mediums.xlsx; this repo mirrors that mapping for training and analytics audiences.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C7080"/>
                </a:solidFill>
              </a:defRPr>
            </a:pPr>
            <a:r>
              <a:t>UTM Values Training | Repository-backed draft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5596"/>
                </a:solidFill>
              </a:defRPr>
            </a:pPr>
            <a:r>
              <a:t>`utm_campaign`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881360" cy="45262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Purpose: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Reserved for future campaign-level tagging once an organization-wide strategy is defined.</a:t>
            </a:r>
          </a:p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Current rule: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Not required on standard tracking URLs today.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Do not treat omission as a defect for Workfront, Stensul, or URL Builder flows.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Omit it entirely until the strategy is defined.</a:t>
            </a:r>
          </a:p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Impact of misuse: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Early local naming conventions could create inconsistent campaign reporting that must later be cleaned 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687568"/>
            <a:ext cx="10881360" cy="658368"/>
          </a:xfrm>
          <a:prstGeom prst="roundRect">
            <a:avLst/>
          </a:prstGeom>
          <a:solidFill>
            <a:srgbClr val="F5F8FB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C7080"/>
                </a:solidFill>
              </a:defRPr>
            </a:pPr>
            <a:r>
              <a:t>Facilitator note: This slide prevents users from adding empty or locally invented utm_campaign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C7080"/>
                </a:solidFill>
              </a:defRPr>
            </a:pPr>
            <a:r>
              <a:t>UTM Values Training | Repository-backed draft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5596"/>
                </a:solidFill>
              </a:defRPr>
            </a:pPr>
            <a:r>
              <a:t>`utm_creative`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881360" cy="45262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Purpose: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Captures the ad-server creative ID for creative-level attribution.</a:t>
            </a:r>
          </a:p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Required only for: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Paid Direct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Paid Programmatic using DV360 or YouTube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Paid Social</a:t>
            </a:r>
          </a:p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Value:</a:t>
            </a:r>
          </a:p>
          <a:p>
            <a:pPr>
              <a:spcAft>
                <a:spcPts val="300"/>
              </a:spcAft>
              <a:defRPr sz="1100">
                <a:solidFill>
                  <a:srgbClr val="008060"/>
                </a:solidFill>
                <a:latin typeface="Courier New"/>
              </a:defRPr>
            </a:pPr>
            <a:r>
              <a:t>utm_creative=%ecid!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687568"/>
            <a:ext cx="10881360" cy="658368"/>
          </a:xfrm>
          <a:prstGeom prst="roundRect">
            <a:avLst/>
          </a:prstGeom>
          <a:solidFill>
            <a:srgbClr val="F5F8FB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C7080"/>
                </a:solidFill>
              </a:defRPr>
            </a:pPr>
            <a:r>
              <a:t>Facilitator note: CM360 replaces the %ecid! macro when the creative is served or clicked. Omit utm_creative entirely for all other channel types.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C7080"/>
                </a:solidFill>
              </a:defRPr>
            </a:pPr>
            <a:r>
              <a:t>UTM Values Training | Repository-backed draft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5596"/>
                </a:solidFill>
              </a:defRPr>
            </a:pPr>
            <a:r>
              <a:t>Workfront mapping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881360" cy="45262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Workfront uses intake selections to automate UTM values: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uap Channel Type maps to utm_medium.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The channel-specific platform field maps to utm_source.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Example fields include uap Email Platform Type, uap Social Platform, and uap Search Engine.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Paid Programmatic uses the trafficking partner selection to emit dv360 or youtube.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TradeDesk is reserved for future use and hidden in Workfront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687568"/>
            <a:ext cx="10881360" cy="658368"/>
          </a:xfrm>
          <a:prstGeom prst="roundRect">
            <a:avLst/>
          </a:prstGeom>
          <a:solidFill>
            <a:srgbClr val="F5F8FB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C7080"/>
                </a:solidFill>
              </a:defRPr>
            </a:pPr>
            <a:r>
              <a:t>Facilitator note: Workfront should generate the URL for Workfront channel activations so users do not manually build query strings.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C7080"/>
                </a:solidFill>
              </a:defRPr>
            </a:pPr>
            <a:r>
              <a:t>UTM Values Training | Repository-backed draft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5596"/>
                </a:solidFill>
              </a:defRPr>
            </a:pPr>
            <a:r>
              <a:t>Global UTM formatting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881360" cy="45262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Use lowercase values.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Use hyphens instead of spaces.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Omit empty parameters entirely.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Keep utm_id equal to ccid in current-state URLs.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Do not create local source or medium variants.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Do not include spaces or special characters in values.</a:t>
            </a:r>
          </a:p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Correct examples: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paid-social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technologyadvice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security-info-watch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687568"/>
            <a:ext cx="10881360" cy="658368"/>
          </a:xfrm>
          <a:prstGeom prst="roundRect">
            <a:avLst/>
          </a:prstGeom>
          <a:solidFill>
            <a:srgbClr val="F5F8FB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C7080"/>
                </a:solidFill>
              </a:defRPr>
            </a:pPr>
            <a:r>
              <a:t>Facilitator note: The query string uses separators like ?, &amp;, and =, but those should not appear inside parameter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C7080"/>
                </a:solidFill>
              </a:defRPr>
            </a:pPr>
            <a:r>
              <a:t>UTM Values Training | Repository-backed draft |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5596"/>
                </a:solidFill>
              </a:defRPr>
            </a:pPr>
            <a:r>
              <a:t>Correct URL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881360" cy="45262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With creative:</a:t>
            </a:r>
          </a:p>
          <a:p>
            <a:pPr>
              <a:spcAft>
                <a:spcPts val="300"/>
              </a:spcAft>
              <a:defRPr sz="1100">
                <a:solidFill>
                  <a:srgbClr val="008060"/>
                </a:solidFill>
                <a:latin typeface="Courier New"/>
              </a:defRPr>
            </a:pPr>
            <a:r>
              <a:t>URL?ccid=[ccid]&amp;dtid=[dtid]&amp;utm_id=[ccid]&amp;utm_medium=[medium]&amp;utm_source=[source]&amp;utm_creative=%ecid!</a:t>
            </a:r>
          </a:p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Without creative:</a:t>
            </a:r>
          </a:p>
          <a:p>
            <a:pPr>
              <a:spcAft>
                <a:spcPts val="300"/>
              </a:spcAft>
              <a:defRPr sz="1100">
                <a:solidFill>
                  <a:srgbClr val="008060"/>
                </a:solidFill>
                <a:latin typeface="Courier New"/>
              </a:defRPr>
            </a:pPr>
            <a:r>
              <a:t>URL?ccid=[ccid]&amp;dtid=[dtid]&amp;utm_id=[ccid]&amp;utm_medium=[medium]&amp;utm_source=[source]</a:t>
            </a:r>
          </a:p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Parameter order: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ccid, dtid, utm_id, utm_medium, utm_source, utm_creative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687568"/>
            <a:ext cx="10881360" cy="658368"/>
          </a:xfrm>
          <a:prstGeom prst="roundRect">
            <a:avLst/>
          </a:prstGeom>
          <a:solidFill>
            <a:srgbClr val="F5F8FB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C7080"/>
                </a:solidFill>
              </a:defRPr>
            </a:pPr>
            <a:r>
              <a:t>Facilitator note: The order shown mirrors the framework construction rules and makes URLs easier to validate.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C7080"/>
                </a:solidFill>
              </a:defRPr>
            </a:pPr>
            <a:r>
              <a:t>UTM Values Training | Repository-backed draft |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5596"/>
                </a:solidFill>
              </a:defRPr>
            </a:pPr>
            <a:r>
              <a:t>Channel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881360" cy="45262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5C7080"/>
                </a:solidFill>
              </a:defRPr>
            </a:pPr>
            <a:r>
              <a:t>Channel | utm_medium | utm_source example | utm_creative?</a:t>
            </a:r>
          </a:p>
          <a:p>
            <a:pPr>
              <a:spcAft>
                <a:spcPts val="300"/>
              </a:spcAft>
              <a:defRPr sz="1300">
                <a:solidFill>
                  <a:srgbClr val="5C7080"/>
                </a:solidFill>
              </a:defRPr>
            </a:pPr>
            <a:r>
              <a:t>Paid Direct | paid-direct | techtarget | Yes</a:t>
            </a:r>
          </a:p>
          <a:p>
            <a:pPr>
              <a:spcAft>
                <a:spcPts val="300"/>
              </a:spcAft>
              <a:defRPr sz="1300">
                <a:solidFill>
                  <a:srgbClr val="5C7080"/>
                </a:solidFill>
              </a:defRPr>
            </a:pPr>
            <a:r>
              <a:t>Paid Programmatic | programmatic | dv360 | Yes</a:t>
            </a:r>
          </a:p>
          <a:p>
            <a:pPr>
              <a:spcAft>
                <a:spcPts val="300"/>
              </a:spcAft>
              <a:defRPr sz="1300">
                <a:solidFill>
                  <a:srgbClr val="5C7080"/>
                </a:solidFill>
              </a:defRPr>
            </a:pPr>
            <a:r>
              <a:t>Paid Search | cpc | google | No</a:t>
            </a:r>
          </a:p>
          <a:p>
            <a:pPr>
              <a:spcAft>
                <a:spcPts val="300"/>
              </a:spcAft>
              <a:defRPr sz="1300">
                <a:solidFill>
                  <a:srgbClr val="5C7080"/>
                </a:solidFill>
              </a:defRPr>
            </a:pPr>
            <a:r>
              <a:t>Paid Social | paid-social | linkedin | Yes</a:t>
            </a:r>
          </a:p>
          <a:p>
            <a:pPr>
              <a:spcAft>
                <a:spcPts val="300"/>
              </a:spcAft>
              <a:defRPr sz="1300">
                <a:solidFill>
                  <a:srgbClr val="5C7080"/>
                </a:solidFill>
              </a:defRPr>
            </a:pPr>
            <a:r>
              <a:t>Organic Social | social | linkedin | No</a:t>
            </a:r>
          </a:p>
          <a:p>
            <a:pPr>
              <a:spcAft>
                <a:spcPts val="300"/>
              </a:spcAft>
              <a:defRPr sz="1300">
                <a:solidFill>
                  <a:srgbClr val="5C7080"/>
                </a:solidFill>
              </a:defRPr>
            </a:pPr>
            <a:r>
              <a:t>Email | email | eloqua | 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687568"/>
            <a:ext cx="10881360" cy="658368"/>
          </a:xfrm>
          <a:prstGeom prst="roundRect">
            <a:avLst/>
          </a:prstGeom>
          <a:solidFill>
            <a:srgbClr val="F5F8FB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C7080"/>
                </a:solidFill>
              </a:defRPr>
            </a:pPr>
            <a:r>
              <a:t>Facilitator note: Use this as a quick comparison slide to show how channel context changes the required URL pattern.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C7080"/>
                </a:solidFill>
              </a:defRPr>
            </a:pPr>
            <a:r>
              <a:t>UTM Values Training | Repository-backed draft |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5596"/>
                </a:solidFill>
              </a:defRPr>
            </a:pPr>
            <a:r>
              <a:t>Common mistakes and impacts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881360" cy="45262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5C7080"/>
                </a:solidFill>
              </a:defRPr>
            </a:pPr>
            <a:r>
              <a:t>Mistake | Impact</a:t>
            </a:r>
          </a:p>
          <a:p>
            <a:pPr>
              <a:spcAft>
                <a:spcPts val="300"/>
              </a:spcAft>
              <a:defRPr sz="1300">
                <a:solidFill>
                  <a:srgbClr val="5C7080"/>
                </a:solidFill>
              </a:defRPr>
            </a:pPr>
            <a:r>
              <a:t>utm_medium=Paid Social | Capitalization creates inconsistent channel reporting</a:t>
            </a:r>
          </a:p>
          <a:p>
            <a:pPr>
              <a:spcAft>
                <a:spcPts val="300"/>
              </a:spcAft>
              <a:defRPr sz="1300">
                <a:solidFill>
                  <a:srgbClr val="5C7080"/>
                </a:solidFill>
              </a:defRPr>
            </a:pPr>
            <a:r>
              <a:t>utm_medium=social for paid social | Paid activity may report as organic social</a:t>
            </a:r>
          </a:p>
          <a:p>
            <a:pPr>
              <a:spcAft>
                <a:spcPts val="300"/>
              </a:spcAft>
              <a:defRPr sz="1300">
                <a:solidFill>
                  <a:srgbClr val="5C7080"/>
                </a:solidFill>
              </a:defRPr>
            </a:pPr>
            <a:r>
              <a:t>utm_source=LinkedIn Ads | Splits reporting from approved linkedin</a:t>
            </a:r>
          </a:p>
          <a:p>
            <a:pPr>
              <a:spcAft>
                <a:spcPts val="300"/>
              </a:spcAft>
              <a:defRPr sz="1300">
                <a:solidFill>
                  <a:srgbClr val="5C7080"/>
                </a:solidFill>
              </a:defRPr>
            </a:pPr>
            <a:r>
              <a:t>utm_id differs from ccid | Campaign attribution mismatch</a:t>
            </a:r>
          </a:p>
          <a:p>
            <a:pPr>
              <a:spcAft>
                <a:spcPts val="300"/>
              </a:spcAft>
              <a:defRPr sz="1300">
                <a:solidFill>
                  <a:srgbClr val="5C7080"/>
                </a:solidFill>
              </a:defRPr>
            </a:pPr>
            <a:r>
              <a:t>Missing utm_creative on Paid Direct | Creative-level attribution gap</a:t>
            </a:r>
          </a:p>
          <a:p>
            <a:pPr>
              <a:spcAft>
                <a:spcPts val="300"/>
              </a:spcAft>
              <a:defRPr sz="1300">
                <a:solidFill>
                  <a:srgbClr val="5C7080"/>
                </a:solidFill>
              </a:defRPr>
            </a:pPr>
            <a:r>
              <a:t>utm_campaign= with no value | Adds noise; empty parameters should be omitted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687568"/>
            <a:ext cx="10881360" cy="658368"/>
          </a:xfrm>
          <a:prstGeom prst="roundRect">
            <a:avLst/>
          </a:prstGeom>
          <a:solidFill>
            <a:srgbClr val="F5F8FB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C7080"/>
                </a:solidFill>
              </a:defRPr>
            </a:pPr>
            <a:r>
              <a:t>Facilitator note: These examples are intentionally practical so users can spot errors before launch.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C7080"/>
                </a:solidFill>
              </a:defRPr>
            </a:pPr>
            <a:r>
              <a:t>UTM Values Training | Repository-backed draft |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5596"/>
                </a:solidFill>
              </a:defRPr>
            </a:pPr>
            <a:r>
              <a:t>User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881360" cy="45262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Before using a URL, confirm: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The URL was generated through Workfront, Stensul, or the approved URL Builder.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utm_id, utm_medium, and utm_source are present.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ccid and dtid are present during the current hybrid state.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utm_id matches ccid during the current hybrid state.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utm_medium is an approved value.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utm_source is approved for the selected channel.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utm_creative=%ecid! appears only when required.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Empty or future-only parameters are omitted.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687568"/>
            <a:ext cx="10881360" cy="658368"/>
          </a:xfrm>
          <a:prstGeom prst="roundRect">
            <a:avLst/>
          </a:prstGeom>
          <a:solidFill>
            <a:srgbClr val="F5F8FB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C7080"/>
                </a:solidFill>
              </a:defRPr>
            </a:pPr>
            <a:r>
              <a:t>Facilitator note: This slide can be used as a final launch-readiness check.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C7080"/>
                </a:solidFill>
              </a:defRPr>
            </a:pPr>
            <a:r>
              <a:t>UTM Values Training | Repository-backed draft |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5596"/>
                </a:solidFill>
              </a:defRPr>
            </a:pPr>
            <a:r>
              <a:t>Where to go for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881360" cy="45262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Workfront source of truth: Source and Mediums.xlsx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Repository framework: UTM Framework New Training.md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Editable source for this deck: UTM Values Training Deck.md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Generated PowerPoint: UTM Values Training Deck.pptx</a:t>
            </a:r>
          </a:p>
          <a:p>
            <a:pPr>
              <a:spcAft>
                <a:spcPts val="300"/>
              </a:spcAft>
              <a:defRPr sz="1500" b="1">
                <a:solidFill>
                  <a:srgbClr val="005596"/>
                </a:solidFill>
              </a:defRPr>
            </a:pPr>
            <a:r>
              <a:t>Open items to confirm: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Future Workfront Channel ID timing and naming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Final utm_campaign strategy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Any new approved utm_source values</a:t>
            </a:r>
          </a:p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</a:defRPr>
            </a:pPr>
            <a:r>
              <a:t>Any changes to utm_creative channel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687568"/>
            <a:ext cx="10881360" cy="658368"/>
          </a:xfrm>
          <a:prstGeom prst="roundRect">
            <a:avLst/>
          </a:prstGeom>
          <a:solidFill>
            <a:srgbClr val="F5F8FB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C7080"/>
                </a:solidFill>
              </a:defRPr>
            </a:pPr>
            <a:r>
              <a:t>Facilitator note: If the Workfront mapping and this deck differ, the source-of-truth mapping should win and this deck should be updated.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C7080"/>
                </a:solidFill>
              </a:defRPr>
            </a:pPr>
            <a:r>
              <a:t>UTM Values Training | Repository-backed draft | Slide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